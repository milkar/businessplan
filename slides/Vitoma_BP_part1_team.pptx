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9.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74" r:id="rId25"/>
    <p:sldId id="262" r:id="rId10"/>
    <p:sldId id="263" r:id="rId11"/>
    <p:sldId id="268" r:id="rId16"/>
  </p:sldIdLst>
  <p:sldSz cx="12192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1" d="1"/>
          <a:sy n="1" d="1"/>
        </p:scale>
        <p:origin x="0" y="0"/>
      </p:cViewPr>
      <p:guideLst/>
    </p:cSldViewPr>
  </p:slideViewPr>
  <p:gridSpacing cx="76200" cy="76200"/>
</p:viewPr>
</file>

<file path=ppt/_rels/presentation.xml.rels><?xml version="1.0" encoding="utf-8"?><Relationships xmlns="http://schemas.openxmlformats.org/package/2006/relationships"><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 Type="http://schemas.openxmlformats.org/officeDocument/2006/relationships/theme" Target="theme/theme1.xml"/><Relationship Id="rId16" Type="http://schemas.openxmlformats.org/officeDocument/2006/relationships/slide" Target="slides/slide13.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  <Relationship Id="rId25" Type="http://schemas.openxmlformats.org/officeDocument/2006/relationships/slide" Target="slides/slide1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panose="020B0604020202020204"/>
        <a:buChar char="•"/>
        <a:defRPr sz="3200" kern="1200">
          <a:solidFill>
            <a:schemeClr val="tx1"/>
          </a:solidFill>
          <a:latin typeface="+mn-lt"/>
          <a:ea typeface="+mn-lt"/>
          <a:cs typeface="+mn-lt"/>
        </a:defRPr>
      </a:lvl1pPr>
      <a:lvl2pPr marL="742950" indent="-285750" algn="l" defTabSz="914400">
        <a:spcBef>
          <a:spcPct val="20000"/>
        </a:spcBef>
        <a:buFont typeface="Arial" panose="020B0604020202020204"/>
        <a:buChar char="–"/>
        <a:defRPr sz="2800" kern="1200">
          <a:solidFill>
            <a:schemeClr val="tx1"/>
          </a:solidFill>
          <a:latin typeface="+mn-lt"/>
          <a:ea typeface="+mn-lt"/>
          <a:cs typeface="+mn-lt"/>
        </a:defRPr>
      </a:lvl2pPr>
      <a:lvl3pPr marL="1143000" indent="-228600" algn="l" defTabSz="914400">
        <a:spcBef>
          <a:spcPct val="20000"/>
        </a:spcBef>
        <a:buFont typeface="Arial" panose="020B0604020202020204"/>
        <a:buChar char="•"/>
        <a:defRPr sz="2400" kern="1200">
          <a:solidFill>
            <a:schemeClr val="tx1"/>
          </a:solidFill>
          <a:latin typeface="+mn-lt"/>
          <a:ea typeface="+mn-lt"/>
          <a:cs typeface="+mn-lt"/>
        </a:defRPr>
      </a:lvl3pPr>
      <a:lvl4pPr marL="1600200" indent="-228600" algn="l" defTabSz="914400">
        <a:spcBef>
          <a:spcPct val="20000"/>
        </a:spcBef>
        <a:buFont typeface="Arial" panose="020B0604020202020204"/>
        <a:buChar char="–"/>
        <a:defRPr sz="2000" kern="1200">
          <a:solidFill>
            <a:schemeClr val="tx1"/>
          </a:solidFill>
          <a:latin typeface="+mn-lt"/>
          <a:ea typeface="+mn-lt"/>
          <a:cs typeface="+mn-lt"/>
        </a:defRPr>
      </a:lvl4pPr>
      <a:lvl5pPr marL="2057400" indent="-228600" algn="l" defTabSz="914400">
        <a:spcBef>
          <a:spcPct val="20000"/>
        </a:spcBef>
        <a:buFont typeface="Arial" panose="020B0604020202020204"/>
        <a:buChar char="»"/>
        <a:defRPr sz="2000" kern="1200">
          <a:solidFill>
            <a:schemeClr val="tx1"/>
          </a:solidFill>
          <a:latin typeface="+mn-lt"/>
          <a:ea typeface="+mn-lt"/>
          <a:cs typeface="+mn-lt"/>
        </a:defRPr>
      </a:lvl5pPr>
      <a:lvl6pPr marL="2514600" indent="-228600" algn="l" defTabSz="914400">
        <a:spcBef>
          <a:spcPct val="20000"/>
        </a:spcBef>
        <a:buFont typeface="Arial" panose="020B0604020202020204"/>
        <a:buChar char="•"/>
        <a:defRPr sz="2000" kern="1200">
          <a:solidFill>
            <a:schemeClr val="tx1"/>
          </a:solidFill>
          <a:latin typeface="+mn-lt"/>
          <a:ea typeface="+mn-lt"/>
          <a:cs typeface="+mn-lt"/>
        </a:defRPr>
      </a:lvl6pPr>
      <a:lvl7pPr marL="2971800" indent="-228600" algn="l" defTabSz="914400">
        <a:spcBef>
          <a:spcPct val="20000"/>
        </a:spcBef>
        <a:buFont typeface="Arial" panose="020B0604020202020204"/>
        <a:buChar char="•"/>
        <a:defRPr sz="2000" kern="1200">
          <a:solidFill>
            <a:schemeClr val="tx1"/>
          </a:solidFill>
          <a:latin typeface="+mn-lt"/>
          <a:ea typeface="+mn-lt"/>
          <a:cs typeface="+mn-lt"/>
        </a:defRPr>
      </a:lvl7pPr>
      <a:lvl8pPr marL="3429000" indent="-228600" algn="l" defTabSz="914400">
        <a:spcBef>
          <a:spcPct val="20000"/>
        </a:spcBef>
        <a:buFont typeface="Arial" panose="020B0604020202020204"/>
        <a:buChar char="•"/>
        <a:defRPr sz="2000" kern="1200">
          <a:solidFill>
            <a:schemeClr val="tx1"/>
          </a:solidFill>
          <a:latin typeface="+mn-lt"/>
          <a:ea typeface="+mn-lt"/>
          <a:cs typeface="+mn-lt"/>
        </a:defRPr>
      </a:lvl8pPr>
      <a:lvl9pPr marL="3886200" indent="-228600" algn="l" defTabSz="914400">
        <a:spcBef>
          <a:spcPct val="20000"/>
        </a:spcBef>
        <a:buFont typeface="Arial" panose="020B0604020202020204"/>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2.sv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1.xml"/><Relationship Id="rId2" Type="http://schemas.openxmlformats.org/officeDocument/2006/relationships/image" Target="../media/image3.svg"/><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sv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矩形 1"/>
          <p:cNvSpPr>
            <a:spLocks noGrp="1"/>
          </p:cNvSpPr>
          <p:nvPr/>
        </p:nvSpPr>
        <p:spPr>
          <a:xfrm>
            <a:off x="0" y="0"/>
            <a:ext cx="12192000" cy="6858000"/>
          </a:xfrm>
          <a:prstGeom prst="rect">
            <a:avLst/>
          </a:prstGeom>
          <a:solidFill>
            <a:srgbClr val="061F32"/>
          </a:solidFill>
        </p:spPr>
        <p:txBody>
          <a:bodyPr/>
          <a:lstStyle/>
          <a:p/>
        </p:txBody>
      </p:sp>
      <p:pic>
        <p:nvPicPr>
          <p:cNvPr id="15" name="图片 2"/>
          <p:cNvPicPr>
            <a:picLocks noChangeAspect="1"/>
          </p:cNvPicPr>
          <p:nvPr/>
        </p:nvPicPr>
        <p:blipFill>
          <a:blip r:embed="rId1">
            <a:alphaModFix amt="16000"/>
            <a:extLst>
              <a:ext uri="{96DAC541-7B7A-43D3-8B79-37D633B846F1}">
                <asvg:svgBlip xmlns:asvg="http://schemas.microsoft.com/office/drawing/2016/SVG/main" r:embed="rId2"/>
              </a:ext>
            </a:extLst>
          </a:blip>
          <a:stretch>
            <a:fillRect/>
          </a:stretch>
        </p:blipFill>
        <p:spPr>
          <a:xfrm>
            <a:off x="7810500" y="0"/>
            <a:ext cx="4381500" cy="6858000"/>
          </a:xfrm>
          <a:prstGeom prst="rect">
            <a:avLst/>
          </a:prstGeom>
        </p:spPr>
      </p:pic>
      <p:sp>
        <p:nvSpPr>
          <p:cNvPr id="4" name="文本框 3"/>
          <p:cNvSpPr>
            <a:spLocks noGrp="1"/>
          </p:cNvSpPr>
          <p:nvPr/>
        </p:nvSpPr>
        <p:spPr>
          <a:xfrm>
            <a:off x="685800" y="838200"/>
            <a:ext cx="10820400" cy="190500"/>
          </a:xfrm>
          <a:prstGeom prst="rect">
            <a:avLst/>
          </a:prstGeom>
        </p:spPr>
        <p:txBody>
          <a:bodyPr wrap="none" lIns="0" tIns="0" rIns="0" bIns="0"/>
          <a:lstStyle/>
          <a:p>
            <a:pPr>
              <a:lnSpc>
                <a:spcPct val="100000"/>
              </a:lnSpc>
              <a:buNone/>
            </a:pPr>
            <a:r>
              <a:rPr sz="1200" b="1" spc="300">
                <a:solidFill>
                  <a:srgbClr val="08A6F6"/>
                </a:solidFill>
                <a:latin typeface="微软雅黑"/>
                <a:ea typeface="微软雅黑"/>
                <a:cs typeface="微软雅黑"/>
              </a:rPr>
              <a:t>Vitoma · </a:t>
            </a:r>
            <a:r>
              <a:rPr sz="1200" b="1" spc="300">
                <a:solidFill>
                  <a:srgbClr val="08A6F6"/>
                </a:solidFill>
                <a:latin typeface="微软雅黑"/>
                <a:ea typeface="微软雅黑"/>
                <a:cs typeface="微软雅黑"/>
              </a:rPr>
              <a:t>融资商业计划书</a:t>
            </a:r>
            <a:endParaRPr sz="1200" b="1" spc="300">
              <a:solidFill>
                <a:srgbClr val="08A6F6"/>
              </a:solidFill>
              <a:latin typeface="微软雅黑"/>
              <a:ea typeface="微软雅黑"/>
              <a:cs typeface="微软雅黑"/>
            </a:endParaRPr>
          </a:p>
        </p:txBody>
      </p:sp>
      <p:sp>
        <p:nvSpPr>
          <p:cNvPr id="5" name="矩形 4"/>
          <p:cNvSpPr>
            <a:spLocks noGrp="1"/>
          </p:cNvSpPr>
          <p:nvPr/>
        </p:nvSpPr>
        <p:spPr>
          <a:xfrm>
            <a:off x="685800" y="1200150"/>
            <a:ext cx="609600" cy="28575"/>
          </a:xfrm>
          <a:prstGeom prst="rect">
            <a:avLst/>
          </a:prstGeom>
          <a:solidFill>
            <a:srgbClr val="08A6F6"/>
          </a:solidFill>
        </p:spPr>
        <p:txBody>
          <a:bodyPr/>
          <a:lstStyle/>
          <a:p/>
        </p:txBody>
      </p:sp>
      <p:sp>
        <p:nvSpPr>
          <p:cNvPr id="6" name="文本框 5"/>
          <p:cNvSpPr>
            <a:spLocks noGrp="1"/>
          </p:cNvSpPr>
          <p:nvPr/>
        </p:nvSpPr>
        <p:spPr>
          <a:xfrm>
            <a:off x="685800" y="1552575"/>
            <a:ext cx="10820400" cy="2505075"/>
          </a:xfrm>
          <a:prstGeom prst="rect">
            <a:avLst/>
          </a:prstGeom>
        </p:spPr>
        <p:txBody>
          <a:bodyPr wrap="none" lIns="0" tIns="0" rIns="0" bIns="0"/>
          <a:lstStyle/>
          <a:p>
            <a:pPr algn="l">
              <a:lnSpc>
                <a:spcPct val="130000"/>
              </a:lnSpc>
              <a:buNone/>
            </a:pPr>
            <a:r>
              <a:rPr lang="zh-CN" altLang="en-US" sz="4200" b="1">
                <a:solidFill>
                  <a:srgbClr val="FFFFFF"/>
                </a:solidFill>
                <a:latin typeface="微软雅黑"/>
                <a:ea typeface="微软雅黑"/>
                <a:cs typeface="微软雅黑"/>
              </a:rPr>
              <a:t>Vitoma</a:t>
            </a:r>
            <a:endParaRPr lang="zh-CN" altLang="en-US" sz="4200" b="1">
              <a:solidFill>
                <a:srgbClr val="FFFFFF"/>
              </a:solidFill>
              <a:latin typeface="微软雅黑"/>
              <a:ea typeface="微软雅黑"/>
              <a:cs typeface="微软雅黑"/>
            </a:endParaRPr>
          </a:p>
          <a:p>
            <a:pPr algn="l">
              <a:lnSpc>
                <a:spcPct val="150000"/>
              </a:lnSpc>
              <a:buNone/>
            </a:pPr>
            <a:r>
              <a:rPr lang="zh-CN" altLang="en-US" sz="2000">
                <a:solidFill>
                  <a:srgbClr val="99BDED"/>
                </a:solidFill>
                <a:latin typeface="微软雅黑"/>
                <a:ea typeface="微软雅黑"/>
                <a:cs typeface="微软雅黑"/>
              </a:rPr>
              <a:t>Virtual Intelligence Twin &amp; Organism Modeling Architecture</a:t>
            </a:r>
            <a:endParaRPr lang="zh-CN" altLang="en-US" sz="2000">
              <a:solidFill>
                <a:srgbClr val="99BDED"/>
              </a:solidFill>
              <a:latin typeface="微软雅黑"/>
              <a:ea typeface="微软雅黑"/>
              <a:cs typeface="微软雅黑"/>
            </a:endParaRPr>
          </a:p>
          <a:p>
            <a:pPr algn="l">
              <a:lnSpc>
                <a:spcPct val="130000"/>
              </a:lnSpc>
              <a:buNone/>
            </a:pPr>
            <a:r>
              <a:rPr lang="zh-CN" altLang="en-US" sz="3600" b="1">
                <a:solidFill>
                  <a:srgbClr val="FFFFFF"/>
                </a:solidFill>
                <a:latin typeface="微软雅黑"/>
                <a:ea typeface="微软雅黑"/>
                <a:cs typeface="微软雅黑"/>
              </a:rPr>
              <a:t>患者与类器官双轨校准，预见肿瘤的下一步</a:t>
            </a:r>
            <a:endParaRPr lang="zh-CN" altLang="en-US" sz="3600" b="1">
              <a:solidFill>
                <a:srgbClr val="FFFFFF"/>
              </a:solidFill>
              <a:latin typeface="微软雅黑"/>
              <a:ea typeface="微软雅黑"/>
              <a:cs typeface="微软雅黑"/>
            </a:endParaRPr>
          </a:p>
        </p:txBody>
      </p:sp>
      <p:sp>
        <p:nvSpPr>
          <p:cNvPr id="7" name="文本框 6"/>
          <p:cNvSpPr>
            <a:spLocks noGrp="1"/>
          </p:cNvSpPr>
          <p:nvPr/>
        </p:nvSpPr>
        <p:spPr>
          <a:xfrm>
            <a:off x="685800" y="4313555"/>
            <a:ext cx="5457190" cy="457200"/>
          </a:xfrm>
          <a:prstGeom prst="rect">
            <a:avLst/>
          </a:prstGeom>
        </p:spPr>
        <p:txBody>
          <a:bodyPr wrap="none" lIns="0" tIns="0" rIns="0" bIns="0"/>
          <a:lstStyle/>
          <a:p>
            <a:pPr algn="l">
              <a:lnSpc>
                <a:spcPct val="150000"/>
              </a:lnSpc>
              <a:buNone/>
            </a:pPr>
            <a:r>
              <a:rPr sz="1650">
                <a:solidFill>
                  <a:srgbClr val="99BDED"/>
                </a:solidFill>
                <a:latin typeface="微软雅黑"/>
                <a:ea typeface="微软雅黑"/>
                <a:cs typeface="微软雅黑"/>
              </a:rPr>
              <a:t>AIVC 虚拟类器官｜让复发与耐药，在发生之前被看见</a:t>
            </a:r>
            <a:endParaRPr sz="1650">
              <a:solidFill>
                <a:srgbClr val="99BDED"/>
              </a:solidFill>
              <a:latin typeface="微软雅黑"/>
              <a:ea typeface="微软雅黑"/>
              <a:cs typeface="微软雅黑"/>
            </a:endParaRPr>
          </a:p>
        </p:txBody>
      </p:sp>
      <p:sp>
        <p:nvSpPr>
          <p:cNvPr id="8" name="文本框 7"/>
          <p:cNvSpPr>
            <a:spLocks noGrp="1"/>
          </p:cNvSpPr>
          <p:nvPr/>
        </p:nvSpPr>
        <p:spPr>
          <a:xfrm>
            <a:off x="685800" y="5829300"/>
            <a:ext cx="1190625" cy="190500"/>
          </a:xfrm>
          <a:prstGeom prst="rect">
            <a:avLst/>
          </a:prstGeom>
        </p:spPr>
        <p:txBody>
          <a:bodyPr wrap="none" lIns="0" tIns="0" rIns="0" bIns="0"/>
          <a:lstStyle/>
          <a:p>
            <a:pPr>
              <a:lnSpc>
                <a:spcPct val="100000"/>
              </a:lnSpc>
              <a:buNone/>
            </a:pPr>
            <a:r>
              <a:rPr sz="1200" b="1">
                <a:solidFill>
                  <a:srgbClr val="FFFFFF"/>
                </a:solidFill>
                <a:latin typeface="微软雅黑"/>
                <a:ea typeface="微软雅黑"/>
                <a:cs typeface="微软雅黑"/>
              </a:rPr>
              <a:t>AIVC </a:t>
            </a:r>
            <a:r>
              <a:rPr sz="1200" b="1">
                <a:solidFill>
                  <a:srgbClr val="FFFFFF"/>
                </a:solidFill>
                <a:latin typeface="微软雅黑"/>
                <a:ea typeface="微软雅黑"/>
                <a:cs typeface="微软雅黑"/>
              </a:rPr>
              <a:t>虚拟类器官</a:t>
            </a:r>
            <a:endParaRPr sz="1200" b="1">
              <a:solidFill>
                <a:srgbClr val="FFFFFF"/>
              </a:solidFill>
              <a:latin typeface="微软雅黑"/>
              <a:ea typeface="微软雅黑"/>
              <a:cs typeface="微软雅黑"/>
            </a:endParaRPr>
          </a:p>
        </p:txBody>
      </p:sp>
      <p:sp>
        <p:nvSpPr>
          <p:cNvPr id="9" name="矩形 8"/>
          <p:cNvSpPr>
            <a:spLocks noGrp="1"/>
          </p:cNvSpPr>
          <p:nvPr/>
        </p:nvSpPr>
        <p:spPr>
          <a:xfrm>
            <a:off x="2143125" y="5848350"/>
            <a:ext cx="9525" cy="152400"/>
          </a:xfrm>
          <a:prstGeom prst="rect">
            <a:avLst/>
          </a:prstGeom>
          <a:solidFill>
            <a:srgbClr val="44546A"/>
          </a:solidFill>
        </p:spPr>
        <p:txBody>
          <a:bodyPr/>
          <a:lstStyle/>
          <a:p/>
        </p:txBody>
      </p:sp>
      <p:sp>
        <p:nvSpPr>
          <p:cNvPr id="10" name="文本框 9"/>
          <p:cNvSpPr>
            <a:spLocks noGrp="1"/>
          </p:cNvSpPr>
          <p:nvPr/>
        </p:nvSpPr>
        <p:spPr>
          <a:xfrm>
            <a:off x="2419350" y="5829300"/>
            <a:ext cx="1819275" cy="190500"/>
          </a:xfrm>
          <a:prstGeom prst="rect">
            <a:avLst/>
          </a:prstGeom>
        </p:spPr>
        <p:txBody>
          <a:bodyPr wrap="none" lIns="0" tIns="0" rIns="0" bIns="0"/>
          <a:lstStyle/>
          <a:p>
            <a:pPr>
              <a:lnSpc>
                <a:spcPct val="100000"/>
              </a:lnSpc>
              <a:buNone/>
            </a:pPr>
            <a:r>
              <a:rPr sz="1200">
                <a:solidFill>
                  <a:srgbClr val="99BDED"/>
                </a:solidFill>
                <a:latin typeface="微软雅黑"/>
                <a:ea typeface="微软雅黑"/>
                <a:cs typeface="微软雅黑"/>
              </a:rPr>
              <a:t>本轮融资</a:t>
            </a:r>
            <a:r>
              <a:rPr sz="1200">
                <a:solidFill>
                  <a:srgbClr val="99BDED"/>
                </a:solidFill>
                <a:latin typeface="微软雅黑"/>
                <a:ea typeface="微软雅黑"/>
                <a:cs typeface="微软雅黑"/>
              </a:rPr>
              <a:t> 5000 </a:t>
            </a:r>
            <a:r>
              <a:rPr sz="1200">
                <a:solidFill>
                  <a:srgbClr val="99BDED"/>
                </a:solidFill>
                <a:latin typeface="微软雅黑"/>
                <a:ea typeface="微软雅黑"/>
                <a:cs typeface="微软雅黑"/>
              </a:rPr>
              <a:t>万元人民币</a:t>
            </a:r>
            <a:endParaRPr sz="1200">
              <a:solidFill>
                <a:srgbClr val="99BDED"/>
              </a:solidFill>
              <a:latin typeface="微软雅黑"/>
              <a:ea typeface="微软雅黑"/>
              <a:cs typeface="微软雅黑"/>
            </a:endParaRPr>
          </a:p>
        </p:txBody>
      </p:sp>
      <p:sp>
        <p:nvSpPr>
          <p:cNvPr id="11" name="矩形 10"/>
          <p:cNvSpPr>
            <a:spLocks noGrp="1"/>
          </p:cNvSpPr>
          <p:nvPr/>
        </p:nvSpPr>
        <p:spPr>
          <a:xfrm>
            <a:off x="4505325" y="5848350"/>
            <a:ext cx="9525" cy="152400"/>
          </a:xfrm>
          <a:prstGeom prst="rect">
            <a:avLst/>
          </a:prstGeom>
          <a:solidFill>
            <a:srgbClr val="44546A"/>
          </a:solidFill>
        </p:spPr>
        <p:txBody>
          <a:bodyPr/>
          <a:lstStyle/>
          <a:p/>
        </p:txBody>
      </p:sp>
      <p:sp>
        <p:nvSpPr>
          <p:cNvPr id="12" name="文本框 11"/>
          <p:cNvSpPr>
            <a:spLocks noGrp="1"/>
          </p:cNvSpPr>
          <p:nvPr/>
        </p:nvSpPr>
        <p:spPr>
          <a:xfrm>
            <a:off x="4781550" y="5829300"/>
            <a:ext cx="895350" cy="190500"/>
          </a:xfrm>
          <a:prstGeom prst="rect">
            <a:avLst/>
          </a:prstGeom>
        </p:spPr>
        <p:txBody>
          <a:bodyPr wrap="none" lIns="0" tIns="0" rIns="0" bIns="0"/>
          <a:lstStyle/>
          <a:p>
            <a:pPr>
              <a:lnSpc>
                <a:spcPct val="100000"/>
              </a:lnSpc>
              <a:buNone/>
            </a:pPr>
            <a:r>
              <a:rPr sz="1200">
                <a:solidFill>
                  <a:srgbClr val="99BDED">
                    <a:alpha val="100000"/>
                  </a:srgbClr>
                </a:solidFill>
                <a:latin typeface="微软雅黑"/>
                <a:ea typeface="微软雅黑"/>
                <a:cs typeface="微软雅黑"/>
              </a:rPr>
              <a:t>2026 </a:t>
            </a:r>
            <a:r>
              <a:rPr sz="1200">
                <a:solidFill>
                  <a:srgbClr val="99BDED">
                    <a:alpha val="100000"/>
                  </a:srgbClr>
                </a:solidFill>
                <a:latin typeface="微软雅黑"/>
                <a:ea typeface="微软雅黑"/>
                <a:cs typeface="微软雅黑"/>
              </a:rPr>
              <a:t>年</a:t>
            </a:r>
            <a:r>
              <a:rPr sz="1200">
                <a:solidFill>
                  <a:srgbClr val="99BDED">
                    <a:alpha val="100000"/>
                  </a:srgbClr>
                </a:solidFill>
                <a:latin typeface="微软雅黑"/>
                <a:ea typeface="微软雅黑"/>
                <a:cs typeface="微软雅黑"/>
              </a:rPr>
              <a:t> 10 </a:t>
            </a:r>
            <a:r>
              <a:rPr sz="1200">
                <a:solidFill>
                  <a:srgbClr val="99BDED">
                    <a:alpha val="100000"/>
                  </a:srgbClr>
                </a:solidFill>
                <a:latin typeface="微软雅黑"/>
                <a:ea typeface="微软雅黑"/>
                <a:cs typeface="微软雅黑"/>
              </a:rPr>
              <a:t>月</a:t>
            </a:r>
            <a:endParaRPr sz="1200">
              <a:solidFill>
                <a:srgbClr val="99BDED">
                  <a:alpha val="100000"/>
                </a:srgbClr>
              </a:solidFill>
              <a:latin typeface="微软雅黑"/>
              <a:ea typeface="微软雅黑"/>
              <a:cs typeface="微软雅黑"/>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39" name="矩形 201"/>
          <p:cNvSpPr>
            <a:spLocks noGrp="1"/>
          </p:cNvSpPr>
          <p:nvPr/>
        </p:nvSpPr>
        <p:spPr>
          <a:xfrm>
            <a:off x="0" y="0"/>
            <a:ext cx="12192000" cy="6858000"/>
          </a:xfrm>
          <a:prstGeom prst="rect">
            <a:avLst/>
          </a:prstGeom>
          <a:solidFill>
            <a:srgbClr val="FFFFFF"/>
          </a:solidFill>
        </p:spPr>
        <p:txBody>
          <a:bodyPr/>
          <a:lstStyle/>
          <a:p/>
        </p:txBody>
      </p:sp>
      <p:sp>
        <p:nvSpPr>
          <p:cNvPr id="240" name="文本框 202"/>
          <p:cNvSpPr>
            <a:spLocks noGrp="1"/>
          </p:cNvSpPr>
          <p:nvPr/>
        </p:nvSpPr>
        <p:spPr>
          <a:xfrm>
            <a:off x="533400" y="419100"/>
            <a:ext cx="11125200" cy="342900"/>
          </a:xfrm>
          <a:prstGeom prst="rect">
            <a:avLst/>
          </a:prstGeom>
        </p:spPr>
        <p:txBody>
          <a:bodyPr wrap="none" lIns="0" tIns="0" rIns="0" bIns="0"/>
          <a:lstStyle/>
          <a:p>
            <a:pPr>
              <a:lnSpc>
                <a:spcPct val="100000"/>
              </a:lnSpc>
              <a:buNone/>
            </a:pPr>
            <a:r>
              <a:rPr sz="2250" b="1">
                <a:solidFill>
                  <a:srgbClr val="061F32"/>
                </a:solidFill>
                <a:latin typeface="微软雅黑"/>
                <a:ea typeface="微软雅黑"/>
                <a:cs typeface="微软雅黑"/>
              </a:rPr>
              <a:t>目录</a:t>
            </a:r>
            <a:endParaRPr sz="2250" b="1">
              <a:solidFill>
                <a:srgbClr val="061F32"/>
              </a:solidFill>
              <a:latin typeface="微软雅黑"/>
              <a:ea typeface="微软雅黑"/>
              <a:cs typeface="微软雅黑"/>
            </a:endParaRPr>
          </a:p>
        </p:txBody>
      </p:sp>
      <p:sp>
        <p:nvSpPr>
          <p:cNvPr id="241" name="矩形 203"/>
          <p:cNvSpPr>
            <a:spLocks noGrp="1"/>
          </p:cNvSpPr>
          <p:nvPr/>
        </p:nvSpPr>
        <p:spPr>
          <a:xfrm>
            <a:off x="533400" y="857250"/>
            <a:ext cx="11125200" cy="9525"/>
          </a:xfrm>
          <a:prstGeom prst="rect">
            <a:avLst/>
          </a:prstGeom>
          <a:solidFill>
            <a:srgbClr val="061F32"/>
          </a:solidFill>
        </p:spPr>
        <p:txBody>
          <a:bodyPr/>
          <a:lstStyle/>
          <a:p/>
        </p:txBody>
      </p:sp>
      <p:sp>
        <p:nvSpPr>
          <p:cNvPr id="242" name="任意多边形 204"/>
          <p:cNvSpPr>
            <a:spLocks noGrp="1"/>
          </p:cNvSpPr>
          <p:nvPr/>
        </p:nvSpPr>
        <p:spPr>
          <a:xfrm>
            <a:off x="533400" y="2009775"/>
            <a:ext cx="3557016" cy="2466975"/>
          </a:xfrm>
          <a:custGeom>
            <a:avLst/>
            <a:gdLst/>
            <a:ahLst/>
            <a:cxnLst/>
            <a:pathLst>
              <a:path w="572" h="259">
                <a:moveTo>
                  <a:pt x="0" y="0"/>
                </a:moveTo>
                <a:lnTo>
                  <a:pt x="572" y="0"/>
                </a:lnTo>
                <a:lnTo>
                  <a:pt x="572" y="3"/>
                </a:lnTo>
                <a:lnTo>
                  <a:pt x="0" y="3"/>
                </a:lnTo>
                <a:close/>
              </a:path>
            </a:pathLst>
          </a:custGeom>
          <a:solidFill>
            <a:srgbClr val="061F32"/>
          </a:solidFill>
        </p:spPr>
        <p:txBody>
          <a:bodyPr/>
          <a:lstStyle/>
          <a:p/>
        </p:txBody>
      </p:sp>
      <p:sp>
        <p:nvSpPr>
          <p:cNvPr id="243" name="文本框 205"/>
          <p:cNvSpPr>
            <a:spLocks noGrp="1"/>
          </p:cNvSpPr>
          <p:nvPr/>
        </p:nvSpPr>
        <p:spPr>
          <a:xfrm>
            <a:off x="533400" y="2231136"/>
            <a:ext cx="3557016" cy="504825"/>
          </a:xfrm>
          <a:prstGeom prst="rect">
            <a:avLst/>
          </a:prstGeom>
        </p:spPr>
        <p:txBody>
          <a:bodyPr wrap="none" lIns="0" tIns="0" rIns="0" bIns="0"/>
          <a:lstStyle/>
          <a:p>
            <a:pPr>
              <a:lnSpc>
                <a:spcPct val="100000"/>
              </a:lnSpc>
              <a:buNone/>
            </a:pPr>
            <a:r>
              <a:rPr sz="3300" b="1">
                <a:solidFill>
                  <a:srgbClr val="99BDED"/>
                </a:solidFill>
                <a:latin typeface="微软雅黑"/>
                <a:ea typeface="微软雅黑"/>
                <a:cs typeface="微软雅黑"/>
              </a:rPr>
              <a:t>01</a:t>
            </a:r>
            <a:endParaRPr sz="3300" b="1">
              <a:solidFill>
                <a:srgbClr val="99BDED"/>
              </a:solidFill>
              <a:latin typeface="微软雅黑"/>
              <a:ea typeface="微软雅黑"/>
              <a:cs typeface="微软雅黑"/>
            </a:endParaRPr>
          </a:p>
        </p:txBody>
      </p:sp>
      <p:sp>
        <p:nvSpPr>
          <p:cNvPr id="244" name="文本框 206"/>
          <p:cNvSpPr>
            <a:spLocks noGrp="1"/>
          </p:cNvSpPr>
          <p:nvPr/>
        </p:nvSpPr>
        <p:spPr>
          <a:xfrm>
            <a:off x="533400" y="2807207"/>
            <a:ext cx="3557016" cy="365760"/>
          </a:xfrm>
          <a:prstGeom prst="rect">
            <a:avLst/>
          </a:prstGeom>
        </p:spPr>
        <p:txBody>
          <a:bodyPr wrap="none" lIns="0" tIns="0" rIns="0" bIns="0"/>
          <a:lstStyle/>
          <a:p>
            <a:pPr>
              <a:lnSpc>
                <a:spcPct val="100000"/>
              </a:lnSpc>
              <a:buNone/>
            </a:pPr>
            <a:r>
              <a:rPr sz="1950" b="1">
                <a:solidFill>
                  <a:srgbClr val="061F32"/>
                </a:solidFill>
                <a:latin typeface="微软雅黑"/>
                <a:ea typeface="微软雅黑"/>
                <a:cs typeface="微软雅黑"/>
              </a:rPr>
              <a:t>需求与时机</a:t>
            </a:r>
            <a:endParaRPr sz="1950" b="1">
              <a:solidFill>
                <a:srgbClr val="061F32"/>
              </a:solidFill>
              <a:latin typeface="微软雅黑"/>
              <a:ea typeface="微软雅黑"/>
              <a:cs typeface="微软雅黑"/>
            </a:endParaRPr>
          </a:p>
        </p:txBody>
      </p:sp>
      <p:sp>
        <p:nvSpPr>
          <p:cNvPr id="245" name="文本框 207"/>
          <p:cNvSpPr>
            <a:spLocks noGrp="1"/>
          </p:cNvSpPr>
          <p:nvPr/>
        </p:nvSpPr>
        <p:spPr>
          <a:xfrm>
            <a:off x="533400" y="3291840"/>
            <a:ext cx="3557016" cy="3291840"/>
          </a:xfrm>
          <a:prstGeom prst="rect">
            <a:avLst/>
          </a:prstGeom>
        </p:spPr>
        <p:txBody>
          <a:bodyPr wrap="square" lIns="0" tIns="0" rIns="0" bIns="0">
            <a:normAutofit/>
          </a:bodyPr>
          <a:lstStyle/>
          <a:p>
            <a:pPr>
              <a:lnSpc>
                <a:spcPct val="150000"/>
              </a:lnSpc>
              <a:buNone/>
            </a:pPr>
            <a:r>
              <a:rPr sz="1275">
                <a:solidFill>
                  <a:srgbClr val="44546A"/>
                </a:solidFill>
                <a:latin typeface="微软雅黑"/>
                <a:ea typeface="微软雅黑"/>
                <a:cs typeface="微软雅黑"/>
              </a:rPr>
              <a:t>研发「试错」代价高企；临床治疗决策缺少患者特异性的功能证据；类器官、多模态测量、算力与 AI 四项条件已同步成熟</a:t>
            </a:r>
            <a:endParaRPr sz="1275">
              <a:solidFill>
                <a:srgbClr val="44546A"/>
              </a:solidFill>
              <a:latin typeface="微软雅黑"/>
              <a:ea typeface="微软雅黑"/>
              <a:cs typeface="微软雅黑"/>
            </a:endParaRPr>
          </a:p>
        </p:txBody>
      </p:sp>
      <p:sp>
        <p:nvSpPr>
          <p:cNvPr id="246" name="任意多边形 208"/>
          <p:cNvSpPr>
            <a:spLocks noGrp="1"/>
          </p:cNvSpPr>
          <p:nvPr/>
        </p:nvSpPr>
        <p:spPr>
          <a:xfrm>
            <a:off x="4319016" y="2009775"/>
            <a:ext cx="3557016" cy="2466975"/>
          </a:xfrm>
          <a:custGeom>
            <a:avLst/>
            <a:gdLst/>
            <a:ahLst/>
            <a:cxnLst/>
            <a:pathLst>
              <a:path w="572" h="259">
                <a:moveTo>
                  <a:pt x="0" y="0"/>
                </a:moveTo>
                <a:lnTo>
                  <a:pt x="572" y="0"/>
                </a:lnTo>
                <a:lnTo>
                  <a:pt x="572" y="3"/>
                </a:lnTo>
                <a:lnTo>
                  <a:pt x="0" y="3"/>
                </a:lnTo>
                <a:close/>
              </a:path>
            </a:pathLst>
          </a:custGeom>
          <a:solidFill>
            <a:srgbClr val="061F32"/>
          </a:solidFill>
        </p:spPr>
        <p:txBody>
          <a:bodyPr/>
          <a:lstStyle/>
          <a:p/>
        </p:txBody>
      </p:sp>
      <p:sp>
        <p:nvSpPr>
          <p:cNvPr id="247" name="文本框 209"/>
          <p:cNvSpPr>
            <a:spLocks noGrp="1"/>
          </p:cNvSpPr>
          <p:nvPr/>
        </p:nvSpPr>
        <p:spPr>
          <a:xfrm>
            <a:off x="4319016" y="2231136"/>
            <a:ext cx="3557016" cy="504825"/>
          </a:xfrm>
          <a:prstGeom prst="rect">
            <a:avLst/>
          </a:prstGeom>
        </p:spPr>
        <p:txBody>
          <a:bodyPr wrap="none" lIns="0" tIns="0" rIns="0" bIns="0"/>
          <a:lstStyle/>
          <a:p>
            <a:pPr>
              <a:lnSpc>
                <a:spcPct val="100000"/>
              </a:lnSpc>
              <a:buNone/>
            </a:pPr>
            <a:r>
              <a:rPr sz="3300" b="1">
                <a:solidFill>
                  <a:srgbClr val="99BDED"/>
                </a:solidFill>
                <a:latin typeface="微软雅黑"/>
                <a:ea typeface="微软雅黑"/>
                <a:cs typeface="微软雅黑"/>
              </a:rPr>
              <a:t>02</a:t>
            </a:r>
            <a:endParaRPr sz="3300" b="1">
              <a:solidFill>
                <a:srgbClr val="99BDED"/>
              </a:solidFill>
              <a:latin typeface="微软雅黑"/>
              <a:ea typeface="微软雅黑"/>
              <a:cs typeface="微软雅黑"/>
            </a:endParaRPr>
          </a:p>
        </p:txBody>
      </p:sp>
      <p:sp>
        <p:nvSpPr>
          <p:cNvPr id="248" name="文本框 210"/>
          <p:cNvSpPr>
            <a:spLocks noGrp="1"/>
          </p:cNvSpPr>
          <p:nvPr/>
        </p:nvSpPr>
        <p:spPr>
          <a:xfrm>
            <a:off x="4319016" y="2807207"/>
            <a:ext cx="3557016" cy="365760"/>
          </a:xfrm>
          <a:prstGeom prst="rect">
            <a:avLst/>
          </a:prstGeom>
        </p:spPr>
        <p:txBody>
          <a:bodyPr wrap="none" lIns="0" tIns="0" rIns="0" bIns="0"/>
          <a:lstStyle/>
          <a:p>
            <a:pPr>
              <a:lnSpc>
                <a:spcPct val="100000"/>
              </a:lnSpc>
              <a:buNone/>
            </a:pPr>
            <a:r>
              <a:rPr sz="1950" b="1">
                <a:solidFill>
                  <a:srgbClr val="061F32"/>
                </a:solidFill>
                <a:latin typeface="微软雅黑"/>
                <a:ea typeface="微软雅黑"/>
                <a:cs typeface="微软雅黑"/>
              </a:rPr>
              <a:t>技术壁垒与团队</a:t>
            </a:r>
            <a:endParaRPr sz="1950" b="1">
              <a:solidFill>
                <a:srgbClr val="061F32"/>
              </a:solidFill>
              <a:latin typeface="微软雅黑"/>
              <a:ea typeface="微软雅黑"/>
              <a:cs typeface="微软雅黑"/>
            </a:endParaRPr>
          </a:p>
        </p:txBody>
      </p:sp>
      <p:sp>
        <p:nvSpPr>
          <p:cNvPr id="249" name="文本框 211"/>
          <p:cNvSpPr>
            <a:spLocks noGrp="1"/>
          </p:cNvSpPr>
          <p:nvPr/>
        </p:nvSpPr>
        <p:spPr>
          <a:xfrm>
            <a:off x="4319016" y="3291840"/>
            <a:ext cx="3557016" cy="3291840"/>
          </a:xfrm>
          <a:prstGeom prst="rect">
            <a:avLst/>
          </a:prstGeom>
        </p:spPr>
        <p:txBody>
          <a:bodyPr wrap="square" lIns="0" tIns="0" rIns="0" bIns="0">
            <a:normAutofit/>
          </a:bodyPr>
          <a:lstStyle/>
          <a:p>
            <a:pPr>
              <a:lnSpc>
                <a:spcPct val="150000"/>
              </a:lnSpc>
              <a:buNone/>
            </a:pPr>
            <a:r>
              <a:rPr sz="1275">
                <a:solidFill>
                  <a:srgbClr val="44546A"/>
                </a:solidFill>
                <a:latin typeface="微软雅黑"/>
                <a:ea typeface="微软雅黑"/>
                <a:cs typeface="微软雅黑"/>
              </a:rPr>
              <a:t>患者 × 类器官双轨校准，学习干预后的状态转移；数据飞轮与四道护城河；科学 × 数据 × 模型 × 运营团队实现能力闭环</a:t>
            </a:r>
            <a:endParaRPr sz="1275">
              <a:solidFill>
                <a:srgbClr val="44546A"/>
              </a:solidFill>
              <a:latin typeface="微软雅黑"/>
              <a:ea typeface="微软雅黑"/>
              <a:cs typeface="微软雅黑"/>
            </a:endParaRPr>
          </a:p>
        </p:txBody>
      </p:sp>
      <p:sp>
        <p:nvSpPr>
          <p:cNvPr id="250" name="任意多边形 212"/>
          <p:cNvSpPr>
            <a:spLocks noGrp="1"/>
          </p:cNvSpPr>
          <p:nvPr/>
        </p:nvSpPr>
        <p:spPr>
          <a:xfrm>
            <a:off x="8104632" y="2009775"/>
            <a:ext cx="3557016" cy="2466975"/>
          </a:xfrm>
          <a:custGeom>
            <a:avLst/>
            <a:gdLst/>
            <a:ahLst/>
            <a:cxnLst/>
            <a:pathLst>
              <a:path w="572" h="259">
                <a:moveTo>
                  <a:pt x="0" y="0"/>
                </a:moveTo>
                <a:lnTo>
                  <a:pt x="572" y="0"/>
                </a:lnTo>
                <a:lnTo>
                  <a:pt x="572" y="3"/>
                </a:lnTo>
                <a:lnTo>
                  <a:pt x="0" y="3"/>
                </a:lnTo>
                <a:close/>
              </a:path>
            </a:pathLst>
          </a:custGeom>
          <a:solidFill>
            <a:srgbClr val="061F32"/>
          </a:solidFill>
        </p:spPr>
        <p:txBody>
          <a:bodyPr/>
          <a:lstStyle/>
          <a:p/>
        </p:txBody>
      </p:sp>
      <p:sp>
        <p:nvSpPr>
          <p:cNvPr id="251" name="文本框 213"/>
          <p:cNvSpPr>
            <a:spLocks noGrp="1"/>
          </p:cNvSpPr>
          <p:nvPr/>
        </p:nvSpPr>
        <p:spPr>
          <a:xfrm>
            <a:off x="8104632" y="2231136"/>
            <a:ext cx="3557016" cy="504825"/>
          </a:xfrm>
          <a:prstGeom prst="rect">
            <a:avLst/>
          </a:prstGeom>
        </p:spPr>
        <p:txBody>
          <a:bodyPr wrap="none" lIns="0" tIns="0" rIns="0" bIns="0"/>
          <a:lstStyle/>
          <a:p>
            <a:pPr>
              <a:lnSpc>
                <a:spcPct val="100000"/>
              </a:lnSpc>
              <a:buNone/>
            </a:pPr>
            <a:r>
              <a:rPr sz="3300" b="1">
                <a:solidFill>
                  <a:srgbClr val="99BDED"/>
                </a:solidFill>
                <a:latin typeface="微软雅黑"/>
                <a:ea typeface="微软雅黑"/>
                <a:cs typeface="微软雅黑"/>
              </a:rPr>
              <a:t>03</a:t>
            </a:r>
            <a:endParaRPr sz="3300" b="1">
              <a:solidFill>
                <a:srgbClr val="99BDED"/>
              </a:solidFill>
              <a:latin typeface="微软雅黑"/>
              <a:ea typeface="微软雅黑"/>
              <a:cs typeface="微软雅黑"/>
            </a:endParaRPr>
          </a:p>
        </p:txBody>
      </p:sp>
      <p:sp>
        <p:nvSpPr>
          <p:cNvPr id="252" name="文本框 214"/>
          <p:cNvSpPr>
            <a:spLocks noGrp="1"/>
          </p:cNvSpPr>
          <p:nvPr/>
        </p:nvSpPr>
        <p:spPr>
          <a:xfrm>
            <a:off x="8104632" y="2807207"/>
            <a:ext cx="3557016" cy="365760"/>
          </a:xfrm>
          <a:prstGeom prst="rect">
            <a:avLst/>
          </a:prstGeom>
        </p:spPr>
        <p:txBody>
          <a:bodyPr wrap="none" lIns="0" tIns="0" rIns="0" bIns="0"/>
          <a:lstStyle/>
          <a:p>
            <a:pPr>
              <a:lnSpc>
                <a:spcPct val="100000"/>
              </a:lnSpc>
              <a:buNone/>
            </a:pPr>
            <a:r>
              <a:rPr sz="1950" b="1">
                <a:solidFill>
                  <a:srgbClr val="061F32"/>
                </a:solidFill>
                <a:latin typeface="微软雅黑"/>
                <a:ea typeface="微软雅黑"/>
                <a:cs typeface="微软雅黑"/>
              </a:rPr>
              <a:t>商业价值与回报</a:t>
            </a:r>
            <a:endParaRPr sz="1950" b="1">
              <a:solidFill>
                <a:srgbClr val="061F32"/>
              </a:solidFill>
              <a:latin typeface="微软雅黑"/>
              <a:ea typeface="微软雅黑"/>
              <a:cs typeface="微软雅黑"/>
            </a:endParaRPr>
          </a:p>
        </p:txBody>
      </p:sp>
      <p:sp>
        <p:nvSpPr>
          <p:cNvPr id="253" name="文本框 215"/>
          <p:cNvSpPr>
            <a:spLocks noGrp="1"/>
          </p:cNvSpPr>
          <p:nvPr/>
        </p:nvSpPr>
        <p:spPr>
          <a:xfrm>
            <a:off x="8104632" y="3291840"/>
            <a:ext cx="3557016" cy="3291840"/>
          </a:xfrm>
          <a:prstGeom prst="rect">
            <a:avLst/>
          </a:prstGeom>
        </p:spPr>
        <p:txBody>
          <a:bodyPr wrap="square" lIns="0" tIns="0" rIns="0" bIns="0">
            <a:normAutofit/>
          </a:bodyPr>
          <a:lstStyle/>
          <a:p>
            <a:pPr>
              <a:lnSpc>
                <a:spcPct val="150000"/>
              </a:lnSpc>
              <a:buNone/>
            </a:pPr>
            <a:r>
              <a:rPr sz="1275">
                <a:solidFill>
                  <a:srgbClr val="44546A">
                    <a:alpha val="100000"/>
                  </a:srgbClr>
                </a:solidFill>
                <a:latin typeface="微软雅黑"/>
                <a:ea typeface="微软雅黑"/>
                <a:cs typeface="微软雅黑"/>
              </a:rPr>
              <a:t>分阶段商业模式与合作路径；5000 万元 / 12 个月预算与 Plan B 准备金；里程碑与投资回报</a:t>
            </a:r>
            <a:endParaRPr sz="1275">
              <a:solidFill>
                <a:srgbClr val="44546A">
                  <a:alpha val="100000"/>
                </a:srgbClr>
              </a:solidFill>
              <a:latin typeface="微软雅黑"/>
              <a:ea typeface="微软雅黑"/>
              <a:cs typeface="微软雅黑"/>
            </a:endParaRPr>
          </a:p>
        </p:txBody>
      </p:sp>
      <p:sp>
        <p:nvSpPr>
          <p:cNvPr id="258" name="文本框 220"/>
          <p:cNvSpPr>
            <a:spLocks noGrp="1"/>
          </p:cNvSpPr>
          <p:nvPr/>
        </p:nvSpPr>
        <p:spPr>
          <a:xfrm>
            <a:off x="533400" y="6343650"/>
            <a:ext cx="2066925"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Vitoma · AIVC </a:t>
            </a:r>
            <a:r>
              <a:rPr sz="1050">
                <a:solidFill>
                  <a:srgbClr val="808080"/>
                </a:solidFill>
                <a:latin typeface="微软雅黑"/>
                <a:ea typeface="微软雅黑"/>
                <a:cs typeface="微软雅黑"/>
              </a:rPr>
              <a:t>虚拟类器官</a:t>
            </a:r>
            <a:r>
              <a:rPr sz="1050">
                <a:solidFill>
                  <a:srgbClr val="808080"/>
                </a:solidFill>
                <a:latin typeface="微软雅黑"/>
                <a:ea typeface="微软雅黑"/>
                <a:cs typeface="微软雅黑"/>
              </a:rPr>
              <a:t> · </a:t>
            </a:r>
            <a:r>
              <a:rPr sz="1050">
                <a:solidFill>
                  <a:srgbClr val="808080"/>
                </a:solidFill>
                <a:latin typeface="微软雅黑"/>
                <a:ea typeface="微软雅黑"/>
                <a:cs typeface="微软雅黑"/>
              </a:rPr>
              <a:t>融资商业计划书</a:t>
            </a:r>
            <a:endParaRPr sz="1050">
              <a:solidFill>
                <a:srgbClr val="808080"/>
              </a:solidFill>
              <a:latin typeface="微软雅黑"/>
              <a:ea typeface="微软雅黑"/>
              <a:cs typeface="微软雅黑"/>
            </a:endParaRPr>
          </a:p>
        </p:txBody>
      </p:sp>
      <p:sp>
        <p:nvSpPr>
          <p:cNvPr id="259" name="文本框 221"/>
          <p:cNvSpPr>
            <a:spLocks noGrp="1"/>
          </p:cNvSpPr>
          <p:nvPr/>
        </p:nvSpPr>
        <p:spPr>
          <a:xfrm>
            <a:off x="11201400" y="6343650"/>
            <a:ext cx="457200"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02 / 08</a:t>
            </a:r>
            <a:endParaRPr sz="1050">
              <a:solidFill>
                <a:srgbClr val="808080"/>
              </a:solidFill>
              <a:latin typeface="微软雅黑"/>
              <a:ea typeface="微软雅黑"/>
              <a:cs typeface="微软雅黑"/>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61" name="矩形 223"/>
          <p:cNvSpPr>
            <a:spLocks noGrp="1"/>
          </p:cNvSpPr>
          <p:nvPr/>
        </p:nvSpPr>
        <p:spPr>
          <a:xfrm>
            <a:off x="0" y="0"/>
            <a:ext cx="12192000" cy="6858000"/>
          </a:xfrm>
          <a:prstGeom prst="rect">
            <a:avLst/>
          </a:prstGeom>
          <a:solidFill>
            <a:srgbClr val="062032"/>
          </a:solidFill>
        </p:spPr>
        <p:txBody>
          <a:bodyPr/>
          <a:lstStyle/>
          <a:p/>
        </p:txBody>
      </p:sp>
      <p:sp>
        <p:nvSpPr>
          <p:cNvPr id="262" name="文本框 224"/>
          <p:cNvSpPr>
            <a:spLocks noGrp="1"/>
          </p:cNvSpPr>
          <p:nvPr/>
        </p:nvSpPr>
        <p:spPr>
          <a:xfrm>
            <a:off x="4429125" y="2981325"/>
            <a:ext cx="3219450" cy="533400"/>
          </a:xfrm>
          <a:prstGeom prst="rect">
            <a:avLst/>
          </a:prstGeom>
        </p:spPr>
        <p:txBody>
          <a:bodyPr wrap="none" lIns="0" tIns="0" rIns="0" bIns="0"/>
          <a:lstStyle/>
          <a:p>
            <a:pPr>
              <a:lnSpc>
                <a:spcPct val="100000"/>
              </a:lnSpc>
              <a:buNone/>
            </a:pPr>
            <a:r>
              <a:rPr sz="3450" b="1">
                <a:solidFill>
                  <a:srgbClr val="FFFFFF"/>
                </a:solidFill>
                <a:latin typeface="微软雅黑"/>
                <a:ea typeface="微软雅黑"/>
                <a:cs typeface="微软雅黑"/>
              </a:rPr>
              <a:t>需求与时机</a:t>
            </a:r>
            <a:endParaRPr sz="3450" b="1">
              <a:solidFill>
                <a:srgbClr val="FFFFFF"/>
              </a:solidFill>
              <a:latin typeface="微软雅黑"/>
              <a:ea typeface="微软雅黑"/>
              <a:cs typeface="微软雅黑"/>
            </a:endParaRPr>
          </a:p>
        </p:txBody>
      </p:sp>
      <p:sp>
        <p:nvSpPr>
          <p:cNvPr id="263" name="文本框 225"/>
          <p:cNvSpPr>
            <a:spLocks noGrp="1"/>
          </p:cNvSpPr>
          <p:nvPr/>
        </p:nvSpPr>
        <p:spPr>
          <a:xfrm>
            <a:off x="4429125" y="3648075"/>
            <a:ext cx="3219450" cy="228600"/>
          </a:xfrm>
          <a:prstGeom prst="rect">
            <a:avLst/>
          </a:prstGeom>
        </p:spPr>
        <p:txBody>
          <a:bodyPr wrap="none" lIns="0" tIns="0" rIns="0" bIns="0"/>
          <a:lstStyle/>
          <a:p>
            <a:pPr>
              <a:lnSpc>
                <a:spcPct val="100000"/>
              </a:lnSpc>
              <a:buNone/>
            </a:pPr>
            <a:r>
              <a:rPr sz="1500" spc="225">
                <a:solidFill>
                  <a:srgbClr val="99BDED"/>
                </a:solidFill>
                <a:latin typeface="微软雅黑"/>
                <a:ea typeface="微软雅黑"/>
                <a:cs typeface="微软雅黑"/>
              </a:rPr>
              <a:t>THE NEED &amp; WHY NOW</a:t>
            </a:r>
            <a:endParaRPr sz="1500" spc="225">
              <a:solidFill>
                <a:srgbClr val="99BDED"/>
              </a:solidFill>
              <a:latin typeface="微软雅黑"/>
              <a:ea typeface="微软雅黑"/>
              <a:cs typeface="微软雅黑"/>
            </a:endParaRPr>
          </a:p>
        </p:txBody>
      </p:sp>
      <p:sp>
        <p:nvSpPr>
          <p:cNvPr id="264" name="文本框 226"/>
          <p:cNvSpPr>
            <a:spLocks noGrp="1"/>
          </p:cNvSpPr>
          <p:nvPr/>
        </p:nvSpPr>
        <p:spPr>
          <a:xfrm>
            <a:off x="685800" y="1943100"/>
            <a:ext cx="3057525" cy="2971800"/>
          </a:xfrm>
          <a:prstGeom prst="rect">
            <a:avLst/>
          </a:prstGeom>
        </p:spPr>
        <p:txBody>
          <a:bodyPr wrap="none" lIns="0" tIns="0" rIns="0" bIns="0"/>
          <a:lstStyle/>
          <a:p>
            <a:pPr>
              <a:lnSpc>
                <a:spcPct val="100000"/>
              </a:lnSpc>
              <a:buNone/>
            </a:pPr>
            <a:r>
              <a:rPr sz="19500" b="1">
                <a:solidFill>
                  <a:srgbClr val="FFFFFF">
                    <a:alpha val="12000"/>
                  </a:srgbClr>
                </a:solidFill>
                <a:latin typeface="微软雅黑"/>
                <a:ea typeface="微软雅黑"/>
                <a:cs typeface="微软雅黑"/>
              </a:rPr>
              <a:t>01</a:t>
            </a:r>
            <a:endParaRPr sz="19500" b="1">
              <a:solidFill>
                <a:srgbClr val="FFFFFF">
                  <a:alpha val="12000"/>
                </a:srgbClr>
              </a:solidFill>
              <a:latin typeface="微软雅黑"/>
              <a:ea typeface="微软雅黑"/>
              <a:cs typeface="微软雅黑"/>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66" name="矩形 228"/>
          <p:cNvSpPr>
            <a:spLocks noGrp="1"/>
          </p:cNvSpPr>
          <p:nvPr/>
        </p:nvSpPr>
        <p:spPr>
          <a:xfrm>
            <a:off x="0" y="0"/>
            <a:ext cx="12192000" cy="6858000"/>
          </a:xfrm>
          <a:prstGeom prst="rect">
            <a:avLst/>
          </a:prstGeom>
          <a:solidFill>
            <a:srgbClr val="FFFFFF"/>
          </a:solidFill>
        </p:spPr>
        <p:txBody>
          <a:bodyPr/>
          <a:lstStyle/>
          <a:p/>
        </p:txBody>
      </p:sp>
      <p:sp>
        <p:nvSpPr>
          <p:cNvPr id="267" name="文本框 229"/>
          <p:cNvSpPr>
            <a:spLocks noGrp="1"/>
          </p:cNvSpPr>
          <p:nvPr/>
        </p:nvSpPr>
        <p:spPr>
          <a:xfrm>
            <a:off x="533400" y="419100"/>
            <a:ext cx="11125200" cy="381000"/>
          </a:xfrm>
          <a:prstGeom prst="rect">
            <a:avLst/>
          </a:prstGeom>
        </p:spPr>
        <p:txBody>
          <a:bodyPr wrap="none" lIns="0" tIns="0" rIns="0" bIns="0"/>
          <a:lstStyle/>
          <a:p>
            <a:pPr>
              <a:lnSpc>
                <a:spcPct val="100000"/>
              </a:lnSpc>
              <a:buNone/>
            </a:pPr>
            <a:r>
              <a:rPr sz="2475" b="1">
                <a:solidFill>
                  <a:srgbClr val="061F32"/>
                </a:solidFill>
                <a:latin typeface="微软雅黑"/>
                <a:ea typeface="微软雅黑"/>
                <a:cs typeface="微软雅黑"/>
              </a:rPr>
              <a:t>痛点：药物研发的「试错」正在变得不可承受</a:t>
            </a:r>
            <a:endParaRPr sz="2475" b="1">
              <a:solidFill>
                <a:srgbClr val="061F32"/>
              </a:solidFill>
              <a:latin typeface="微软雅黑"/>
              <a:ea typeface="微软雅黑"/>
              <a:cs typeface="微软雅黑"/>
            </a:endParaRPr>
          </a:p>
        </p:txBody>
      </p:sp>
      <p:sp>
        <p:nvSpPr>
          <p:cNvPr id="268" name="矩形 230"/>
          <p:cNvSpPr>
            <a:spLocks noGrp="1"/>
          </p:cNvSpPr>
          <p:nvPr/>
        </p:nvSpPr>
        <p:spPr>
          <a:xfrm>
            <a:off x="533400" y="895350"/>
            <a:ext cx="11125200" cy="9525"/>
          </a:xfrm>
          <a:prstGeom prst="rect">
            <a:avLst/>
          </a:prstGeom>
          <a:solidFill>
            <a:srgbClr val="061F32"/>
          </a:solidFill>
        </p:spPr>
        <p:txBody>
          <a:bodyPr/>
          <a:lstStyle/>
          <a:p/>
        </p:txBody>
      </p:sp>
      <p:sp>
        <p:nvSpPr>
          <p:cNvPr id="269" name="任意多边形 231"/>
          <p:cNvSpPr>
            <a:spLocks noGrp="1"/>
          </p:cNvSpPr>
          <p:nvPr/>
        </p:nvSpPr>
        <p:spPr>
          <a:xfrm>
            <a:off x="533400" y="1019175"/>
            <a:ext cx="3543300" cy="1809750"/>
          </a:xfrm>
          <a:custGeom>
            <a:avLst/>
            <a:gdLst/>
            <a:ahLst/>
            <a:cxnLst/>
            <a:pathLst>
              <a:path w="372" h="190">
                <a:moveTo>
                  <a:pt x="0" y="0"/>
                </a:moveTo>
                <a:lnTo>
                  <a:pt x="4" y="0"/>
                </a:lnTo>
                <a:lnTo>
                  <a:pt x="4" y="190"/>
                </a:lnTo>
                <a:lnTo>
                  <a:pt x="0" y="190"/>
                </a:lnTo>
                <a:close/>
              </a:path>
            </a:pathLst>
          </a:custGeom>
          <a:solidFill>
            <a:srgbClr val="061F32"/>
          </a:solidFill>
        </p:spPr>
        <p:txBody>
          <a:bodyPr/>
          <a:lstStyle/>
          <a:p/>
        </p:txBody>
      </p:sp>
      <p:sp>
        <p:nvSpPr>
          <p:cNvPr id="270" name="文本框 232"/>
          <p:cNvSpPr>
            <a:spLocks noGrp="1"/>
          </p:cNvSpPr>
          <p:nvPr/>
        </p:nvSpPr>
        <p:spPr>
          <a:xfrm>
            <a:off x="800100" y="1190625"/>
            <a:ext cx="3238500" cy="1009650"/>
          </a:xfrm>
          <a:prstGeom prst="rect">
            <a:avLst/>
          </a:prstGeom>
        </p:spPr>
        <p:txBody>
          <a:bodyPr wrap="none" lIns="0" tIns="0" rIns="0" bIns="0"/>
          <a:lstStyle/>
          <a:p>
            <a:pPr>
              <a:lnSpc>
                <a:spcPct val="100000"/>
              </a:lnSpc>
              <a:buNone/>
            </a:pPr>
            <a:r>
              <a:rPr sz="6600" b="1">
                <a:solidFill>
                  <a:srgbClr val="061F32"/>
                </a:solidFill>
                <a:latin typeface="微软雅黑"/>
                <a:ea typeface="微软雅黑"/>
                <a:cs typeface="微软雅黑"/>
              </a:rPr>
              <a:t>10</a:t>
            </a:r>
            <a:r>
              <a:rPr sz="3000" b="1">
                <a:solidFill>
                  <a:srgbClr val="08A6F6"/>
                </a:solidFill>
                <a:latin typeface="微软雅黑"/>
                <a:ea typeface="微软雅黑"/>
                <a:cs typeface="微软雅黑"/>
              </a:rPr>
              <a:t>+ </a:t>
            </a:r>
            <a:r>
              <a:rPr sz="3000" b="1">
                <a:solidFill>
                  <a:srgbClr val="08A6F6"/>
                </a:solidFill>
                <a:latin typeface="微软雅黑"/>
                <a:ea typeface="微软雅黑"/>
                <a:cs typeface="微软雅黑"/>
              </a:rPr>
              <a:t>年</a:t>
            </a:r>
            <a:endParaRPr sz="3000" b="1">
              <a:solidFill>
                <a:srgbClr val="08A6F6"/>
              </a:solidFill>
              <a:latin typeface="微软雅黑"/>
              <a:ea typeface="微软雅黑"/>
              <a:cs typeface="微软雅黑"/>
            </a:endParaRPr>
          </a:p>
        </p:txBody>
      </p:sp>
      <p:sp>
        <p:nvSpPr>
          <p:cNvPr id="271" name="文本框 233"/>
          <p:cNvSpPr>
            <a:spLocks noGrp="1"/>
          </p:cNvSpPr>
          <p:nvPr/>
        </p:nvSpPr>
        <p:spPr>
          <a:xfrm>
            <a:off x="800100" y="2333625"/>
            <a:ext cx="3238500" cy="323850"/>
          </a:xfrm>
          <a:prstGeom prst="rect">
            <a:avLst/>
          </a:prstGeom>
        </p:spPr>
        <p:txBody>
          <a:bodyPr wrap="none" lIns="0" tIns="0" rIns="0" bIns="0"/>
          <a:lstStyle/>
          <a:p>
            <a:pPr>
              <a:lnSpc>
                <a:spcPct val="140000"/>
              </a:lnSpc>
              <a:buNone/>
            </a:pPr>
            <a:r>
              <a:rPr sz="1500">
                <a:solidFill>
                  <a:srgbClr val="44546A"/>
                </a:solidFill>
                <a:latin typeface="微软雅黑"/>
                <a:ea typeface="微软雅黑"/>
                <a:cs typeface="微软雅黑"/>
              </a:rPr>
              <a:t>一个创新药从发现到上市的平均耗时</a:t>
            </a:r>
            <a:endParaRPr sz="1500">
              <a:solidFill>
                <a:srgbClr val="44546A"/>
              </a:solidFill>
              <a:latin typeface="微软雅黑"/>
              <a:ea typeface="微软雅黑"/>
              <a:cs typeface="微软雅黑"/>
            </a:endParaRPr>
          </a:p>
        </p:txBody>
      </p:sp>
      <p:sp>
        <p:nvSpPr>
          <p:cNvPr id="272" name="任意多边形 234"/>
          <p:cNvSpPr>
            <a:spLocks noGrp="1"/>
          </p:cNvSpPr>
          <p:nvPr/>
        </p:nvSpPr>
        <p:spPr>
          <a:xfrm>
            <a:off x="4343400" y="1019175"/>
            <a:ext cx="3543300" cy="1809750"/>
          </a:xfrm>
          <a:custGeom>
            <a:avLst/>
            <a:gdLst/>
            <a:ahLst/>
            <a:cxnLst/>
            <a:pathLst>
              <a:path w="372" h="190">
                <a:moveTo>
                  <a:pt x="0" y="0"/>
                </a:moveTo>
                <a:lnTo>
                  <a:pt x="4" y="0"/>
                </a:lnTo>
                <a:lnTo>
                  <a:pt x="4" y="190"/>
                </a:lnTo>
                <a:lnTo>
                  <a:pt x="0" y="190"/>
                </a:lnTo>
                <a:close/>
              </a:path>
            </a:pathLst>
          </a:custGeom>
          <a:solidFill>
            <a:srgbClr val="061F32"/>
          </a:solidFill>
        </p:spPr>
        <p:txBody>
          <a:bodyPr/>
          <a:lstStyle/>
          <a:p/>
        </p:txBody>
      </p:sp>
      <p:sp>
        <p:nvSpPr>
          <p:cNvPr id="273" name="文本框 235"/>
          <p:cNvSpPr>
            <a:spLocks noGrp="1"/>
          </p:cNvSpPr>
          <p:nvPr/>
        </p:nvSpPr>
        <p:spPr>
          <a:xfrm>
            <a:off x="4610100" y="1190625"/>
            <a:ext cx="3238500" cy="1009650"/>
          </a:xfrm>
          <a:prstGeom prst="rect">
            <a:avLst/>
          </a:prstGeom>
        </p:spPr>
        <p:txBody>
          <a:bodyPr wrap="none" lIns="0" tIns="0" rIns="0" bIns="0"/>
          <a:lstStyle/>
          <a:p>
            <a:pPr>
              <a:lnSpc>
                <a:spcPct val="100000"/>
              </a:lnSpc>
              <a:buNone/>
            </a:pPr>
            <a:r>
              <a:rPr sz="6600" b="1">
                <a:solidFill>
                  <a:srgbClr val="061F32"/>
                </a:solidFill>
                <a:latin typeface="微软雅黑"/>
                <a:ea typeface="微软雅黑"/>
                <a:cs typeface="微软雅黑"/>
              </a:rPr>
              <a:t>$20</a:t>
            </a:r>
            <a:r>
              <a:rPr sz="3000" b="1">
                <a:solidFill>
                  <a:srgbClr val="08A6F6"/>
                </a:solidFill>
                <a:latin typeface="微软雅黑"/>
                <a:ea typeface="微软雅黑"/>
                <a:cs typeface="微软雅黑"/>
              </a:rPr>
              <a:t> </a:t>
            </a:r>
            <a:r>
              <a:rPr sz="3000" b="1">
                <a:solidFill>
                  <a:srgbClr val="08A6F6"/>
                </a:solidFill>
                <a:latin typeface="微软雅黑"/>
                <a:ea typeface="微软雅黑"/>
                <a:cs typeface="微软雅黑"/>
              </a:rPr>
              <a:t>亿</a:t>
            </a:r>
            <a:r>
              <a:rPr sz="3000" b="1">
                <a:solidFill>
                  <a:srgbClr val="08A6F6"/>
                </a:solidFill>
                <a:latin typeface="微软雅黑"/>
                <a:ea typeface="微软雅黑"/>
                <a:cs typeface="微软雅黑"/>
              </a:rPr>
              <a:t>+</a:t>
            </a:r>
            <a:endParaRPr sz="3000" b="1">
              <a:solidFill>
                <a:srgbClr val="08A6F6"/>
              </a:solidFill>
              <a:latin typeface="微软雅黑"/>
              <a:ea typeface="微软雅黑"/>
              <a:cs typeface="微软雅黑"/>
            </a:endParaRPr>
          </a:p>
        </p:txBody>
      </p:sp>
      <p:sp>
        <p:nvSpPr>
          <p:cNvPr id="274" name="文本框 236"/>
          <p:cNvSpPr>
            <a:spLocks noGrp="1"/>
          </p:cNvSpPr>
          <p:nvPr/>
        </p:nvSpPr>
        <p:spPr>
          <a:xfrm>
            <a:off x="4610100" y="2333625"/>
            <a:ext cx="3238500" cy="323850"/>
          </a:xfrm>
          <a:prstGeom prst="rect">
            <a:avLst/>
          </a:prstGeom>
        </p:spPr>
        <p:txBody>
          <a:bodyPr wrap="none" lIns="0" tIns="0" rIns="0" bIns="0"/>
          <a:lstStyle/>
          <a:p>
            <a:pPr>
              <a:lnSpc>
                <a:spcPct val="140000"/>
              </a:lnSpc>
              <a:buNone/>
            </a:pPr>
            <a:r>
              <a:rPr sz="1500">
                <a:solidFill>
                  <a:srgbClr val="44546A"/>
                </a:solidFill>
                <a:latin typeface="微软雅黑"/>
                <a:ea typeface="微软雅黑"/>
                <a:cs typeface="微软雅黑"/>
              </a:rPr>
              <a:t>平均研发花费（美元），且仍在上升</a:t>
            </a:r>
            <a:endParaRPr sz="1500">
              <a:solidFill>
                <a:srgbClr val="44546A"/>
              </a:solidFill>
              <a:latin typeface="微软雅黑"/>
              <a:ea typeface="微软雅黑"/>
              <a:cs typeface="微软雅黑"/>
            </a:endParaRPr>
          </a:p>
        </p:txBody>
      </p:sp>
      <p:sp>
        <p:nvSpPr>
          <p:cNvPr id="275" name="任意多边形 237"/>
          <p:cNvSpPr>
            <a:spLocks noGrp="1"/>
          </p:cNvSpPr>
          <p:nvPr/>
        </p:nvSpPr>
        <p:spPr>
          <a:xfrm>
            <a:off x="8153400" y="1019175"/>
            <a:ext cx="3543300" cy="1809750"/>
          </a:xfrm>
          <a:custGeom>
            <a:avLst/>
            <a:gdLst/>
            <a:ahLst/>
            <a:cxnLst/>
            <a:pathLst>
              <a:path w="372" h="190">
                <a:moveTo>
                  <a:pt x="0" y="0"/>
                </a:moveTo>
                <a:lnTo>
                  <a:pt x="4" y="0"/>
                </a:lnTo>
                <a:lnTo>
                  <a:pt x="4" y="190"/>
                </a:lnTo>
                <a:lnTo>
                  <a:pt x="0" y="190"/>
                </a:lnTo>
                <a:close/>
              </a:path>
            </a:pathLst>
          </a:custGeom>
          <a:solidFill>
            <a:srgbClr val="5A0E13"/>
          </a:solidFill>
        </p:spPr>
        <p:txBody>
          <a:bodyPr/>
          <a:lstStyle/>
          <a:p/>
        </p:txBody>
      </p:sp>
      <p:sp>
        <p:nvSpPr>
          <p:cNvPr id="276" name="文本框 238"/>
          <p:cNvSpPr>
            <a:spLocks noGrp="1"/>
          </p:cNvSpPr>
          <p:nvPr/>
        </p:nvSpPr>
        <p:spPr>
          <a:xfrm>
            <a:off x="8420100" y="1028700"/>
            <a:ext cx="3238500" cy="1009650"/>
          </a:xfrm>
          <a:prstGeom prst="rect">
            <a:avLst/>
          </a:prstGeom>
        </p:spPr>
        <p:txBody>
          <a:bodyPr wrap="none" lIns="0" tIns="0" rIns="0" bIns="0"/>
          <a:lstStyle/>
          <a:p>
            <a:pPr>
              <a:lnSpc>
                <a:spcPct val="100000"/>
              </a:lnSpc>
              <a:buNone/>
            </a:pPr>
            <a:r>
              <a:rPr sz="6600" b="1">
                <a:solidFill>
                  <a:srgbClr val="5A0E13"/>
                </a:solidFill>
                <a:latin typeface="微软雅黑"/>
                <a:ea typeface="微软雅黑"/>
                <a:cs typeface="微软雅黑"/>
              </a:rPr>
              <a:t>后期</a:t>
            </a:r>
            <a:endParaRPr sz="6600" b="1">
              <a:solidFill>
                <a:srgbClr val="5A0E13"/>
              </a:solidFill>
              <a:latin typeface="微软雅黑"/>
              <a:ea typeface="微软雅黑"/>
              <a:cs typeface="微软雅黑"/>
            </a:endParaRPr>
          </a:p>
        </p:txBody>
      </p:sp>
      <p:sp>
        <p:nvSpPr>
          <p:cNvPr id="277" name="文本框 239"/>
          <p:cNvSpPr>
            <a:spLocks noGrp="1"/>
          </p:cNvSpPr>
          <p:nvPr/>
        </p:nvSpPr>
        <p:spPr>
          <a:xfrm>
            <a:off x="8420100" y="2171700"/>
            <a:ext cx="3238500" cy="647700"/>
          </a:xfrm>
          <a:prstGeom prst="rect">
            <a:avLst/>
          </a:prstGeom>
        </p:spPr>
        <p:txBody>
          <a:bodyPr wrap="square" lIns="0" tIns="0" rIns="0" bIns="0">
            <a:normAutofit/>
          </a:bodyPr>
          <a:lstStyle/>
          <a:p>
            <a:pPr>
              <a:lnSpc>
                <a:spcPct val="140000"/>
              </a:lnSpc>
              <a:buNone/>
            </a:pPr>
            <a:r>
              <a:rPr sz="1500">
                <a:solidFill>
                  <a:srgbClr val="44546A"/>
                </a:solidFill>
                <a:latin typeface="微软雅黑"/>
                <a:ea typeface="微软雅黑"/>
                <a:cs typeface="微软雅黑"/>
              </a:rPr>
              <a:t>失败主要发生在临床后期——代价最高的阶段</a:t>
            </a:r>
            <a:endParaRPr sz="1500">
              <a:solidFill>
                <a:srgbClr val="44546A"/>
              </a:solidFill>
              <a:latin typeface="微软雅黑"/>
              <a:ea typeface="微软雅黑"/>
              <a:cs typeface="微软雅黑"/>
            </a:endParaRPr>
          </a:p>
        </p:txBody>
      </p:sp>
      <p:sp>
        <p:nvSpPr>
          <p:cNvPr id="278" name="矩形 240"/>
          <p:cNvSpPr>
            <a:spLocks noGrp="1"/>
          </p:cNvSpPr>
          <p:nvPr/>
        </p:nvSpPr>
        <p:spPr>
          <a:xfrm>
            <a:off x="533400" y="3038475"/>
            <a:ext cx="11125200" cy="1257300"/>
          </a:xfrm>
          <a:prstGeom prst="rect">
            <a:avLst/>
          </a:prstGeom>
          <a:solidFill>
            <a:srgbClr val="F5F5F5"/>
          </a:solidFill>
        </p:spPr>
        <p:txBody>
          <a:bodyPr/>
          <a:lstStyle/>
          <a:p/>
        </p:txBody>
      </p:sp>
      <p:sp>
        <p:nvSpPr>
          <p:cNvPr id="279" name="文本框 241"/>
          <p:cNvSpPr>
            <a:spLocks noGrp="1"/>
          </p:cNvSpPr>
          <p:nvPr/>
        </p:nvSpPr>
        <p:spPr>
          <a:xfrm>
            <a:off x="800100" y="3248025"/>
            <a:ext cx="10591800" cy="209550"/>
          </a:xfrm>
          <a:prstGeom prst="rect">
            <a:avLst/>
          </a:prstGeom>
        </p:spPr>
        <p:txBody>
          <a:bodyPr wrap="none" lIns="0" tIns="0" rIns="0" bIns="0"/>
          <a:lstStyle/>
          <a:p>
            <a:pPr>
              <a:lnSpc>
                <a:spcPct val="100000"/>
              </a:lnSpc>
              <a:buNone/>
            </a:pPr>
            <a:r>
              <a:rPr sz="1350">
                <a:solidFill>
                  <a:srgbClr val="44546A"/>
                </a:solidFill>
                <a:latin typeface="微软雅黑"/>
                <a:ea typeface="微软雅黑"/>
                <a:cs typeface="微软雅黑"/>
              </a:rPr>
              <a:t>为什么失败在后期才暴露？因为早期模型预测不了患者之间的差异，更追不上肿瘤随时间的演化：</a:t>
            </a:r>
            <a:endParaRPr sz="1350">
              <a:solidFill>
                <a:srgbClr val="44546A"/>
              </a:solidFill>
              <a:latin typeface="微软雅黑"/>
              <a:ea typeface="微软雅黑"/>
              <a:cs typeface="微软雅黑"/>
            </a:endParaRPr>
          </a:p>
        </p:txBody>
      </p:sp>
      <p:sp>
        <p:nvSpPr>
          <p:cNvPr id="280" name="矩形 242"/>
          <p:cNvSpPr>
            <a:spLocks noGrp="1"/>
          </p:cNvSpPr>
          <p:nvPr/>
        </p:nvSpPr>
        <p:spPr>
          <a:xfrm>
            <a:off x="800100" y="3590925"/>
            <a:ext cx="2952750" cy="495300"/>
          </a:xfrm>
          <a:prstGeom prst="rect">
            <a:avLst/>
          </a:prstGeom>
          <a:solidFill>
            <a:srgbClr val="FFFFFF"/>
          </a:solidFill>
          <a:ln w="12700">
            <a:solidFill>
              <a:srgbClr val="E7E6E6"/>
            </a:solidFill>
            <a:prstDash val="solid"/>
          </a:ln>
        </p:spPr>
        <p:txBody>
          <a:bodyPr/>
          <a:lstStyle/>
          <a:p/>
        </p:txBody>
      </p:sp>
      <p:sp>
        <p:nvSpPr>
          <p:cNvPr id="281" name="文本框 243"/>
          <p:cNvSpPr>
            <a:spLocks noGrp="1"/>
          </p:cNvSpPr>
          <p:nvPr/>
        </p:nvSpPr>
        <p:spPr>
          <a:xfrm>
            <a:off x="971550" y="3724275"/>
            <a:ext cx="2609850" cy="228600"/>
          </a:xfrm>
          <a:prstGeom prst="rect">
            <a:avLst/>
          </a:prstGeom>
        </p:spPr>
        <p:txBody>
          <a:bodyPr wrap="none" lIns="0" tIns="0" rIns="0" bIns="0"/>
          <a:lstStyle/>
          <a:p>
            <a:pPr>
              <a:lnSpc>
                <a:spcPct val="100000"/>
              </a:lnSpc>
              <a:buNone/>
            </a:pPr>
            <a:r>
              <a:rPr sz="1500" b="1">
                <a:solidFill>
                  <a:srgbClr val="061F32"/>
                </a:solidFill>
                <a:latin typeface="微软雅黑"/>
                <a:ea typeface="微软雅黑"/>
                <a:cs typeface="微软雅黑"/>
              </a:rPr>
              <a:t>细胞模型：体外有效</a:t>
            </a:r>
            <a:endParaRPr sz="1500" b="1">
              <a:solidFill>
                <a:srgbClr val="061F32"/>
              </a:solidFill>
              <a:latin typeface="微软雅黑"/>
              <a:ea typeface="微软雅黑"/>
              <a:cs typeface="微软雅黑"/>
            </a:endParaRPr>
          </a:p>
        </p:txBody>
      </p:sp>
      <p:pic>
        <p:nvPicPr>
          <p:cNvPr id="311" name="图片 244"/>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3905250" y="3743325"/>
            <a:ext cx="266700" cy="190500"/>
          </a:xfrm>
          <a:prstGeom prst="rect">
            <a:avLst/>
          </a:prstGeom>
        </p:spPr>
      </p:pic>
      <p:sp>
        <p:nvSpPr>
          <p:cNvPr id="283" name="矩形 245"/>
          <p:cNvSpPr>
            <a:spLocks noGrp="1"/>
          </p:cNvSpPr>
          <p:nvPr/>
        </p:nvSpPr>
        <p:spPr>
          <a:xfrm>
            <a:off x="4324350" y="3590925"/>
            <a:ext cx="2952750" cy="495300"/>
          </a:xfrm>
          <a:prstGeom prst="rect">
            <a:avLst/>
          </a:prstGeom>
          <a:solidFill>
            <a:srgbClr val="FFFFFF"/>
          </a:solidFill>
          <a:ln w="12700">
            <a:solidFill>
              <a:srgbClr val="E7E6E6"/>
            </a:solidFill>
            <a:prstDash val="solid"/>
          </a:ln>
        </p:spPr>
        <p:txBody>
          <a:bodyPr/>
          <a:lstStyle/>
          <a:p/>
        </p:txBody>
      </p:sp>
      <p:sp>
        <p:nvSpPr>
          <p:cNvPr id="284" name="文本框 246"/>
          <p:cNvSpPr>
            <a:spLocks noGrp="1"/>
          </p:cNvSpPr>
          <p:nvPr/>
        </p:nvSpPr>
        <p:spPr>
          <a:xfrm>
            <a:off x="4495800" y="3724275"/>
            <a:ext cx="2609850" cy="228600"/>
          </a:xfrm>
          <a:prstGeom prst="rect">
            <a:avLst/>
          </a:prstGeom>
        </p:spPr>
        <p:txBody>
          <a:bodyPr wrap="none" lIns="0" tIns="0" rIns="0" bIns="0"/>
          <a:lstStyle/>
          <a:p>
            <a:pPr>
              <a:lnSpc>
                <a:spcPct val="100000"/>
              </a:lnSpc>
              <a:buNone/>
            </a:pPr>
            <a:r>
              <a:rPr sz="1500" b="1">
                <a:solidFill>
                  <a:srgbClr val="061F32"/>
                </a:solidFill>
                <a:latin typeface="微软雅黑"/>
                <a:ea typeface="微软雅黑"/>
                <a:cs typeface="微软雅黑"/>
              </a:rPr>
              <a:t>动物模型：动物有效</a:t>
            </a:r>
            <a:endParaRPr sz="1500" b="1">
              <a:solidFill>
                <a:srgbClr val="061F32"/>
              </a:solidFill>
              <a:latin typeface="微软雅黑"/>
              <a:ea typeface="微软雅黑"/>
              <a:cs typeface="微软雅黑"/>
            </a:endParaRPr>
          </a:p>
        </p:txBody>
      </p:sp>
      <p:pic>
        <p:nvPicPr>
          <p:cNvPr id="314" name="图片 247"/>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29500" y="3743325"/>
            <a:ext cx="266700" cy="190500"/>
          </a:xfrm>
          <a:prstGeom prst="rect">
            <a:avLst/>
          </a:prstGeom>
        </p:spPr>
      </p:pic>
      <p:sp>
        <p:nvSpPr>
          <p:cNvPr id="286" name="矩形 248"/>
          <p:cNvSpPr>
            <a:spLocks noGrp="1"/>
          </p:cNvSpPr>
          <p:nvPr/>
        </p:nvSpPr>
        <p:spPr>
          <a:xfrm>
            <a:off x="7848600" y="3590925"/>
            <a:ext cx="3543300" cy="495300"/>
          </a:xfrm>
          <a:prstGeom prst="rect">
            <a:avLst/>
          </a:prstGeom>
          <a:solidFill>
            <a:srgbClr val="FFFFFF"/>
          </a:solidFill>
          <a:ln w="19050">
            <a:solidFill>
              <a:srgbClr val="5A0E13"/>
            </a:solidFill>
            <a:prstDash val="solid"/>
          </a:ln>
        </p:spPr>
        <p:txBody>
          <a:bodyPr/>
          <a:lstStyle/>
          <a:p/>
        </p:txBody>
      </p:sp>
      <p:sp>
        <p:nvSpPr>
          <p:cNvPr id="287" name="文本框 249"/>
          <p:cNvSpPr>
            <a:spLocks noGrp="1"/>
          </p:cNvSpPr>
          <p:nvPr/>
        </p:nvSpPr>
        <p:spPr>
          <a:xfrm>
            <a:off x="8020050" y="3724275"/>
            <a:ext cx="3200400" cy="228600"/>
          </a:xfrm>
          <a:prstGeom prst="rect">
            <a:avLst/>
          </a:prstGeom>
        </p:spPr>
        <p:txBody>
          <a:bodyPr wrap="none" lIns="0" tIns="0" rIns="0" bIns="0"/>
          <a:lstStyle/>
          <a:p>
            <a:pPr>
              <a:lnSpc>
                <a:spcPct val="100000"/>
              </a:lnSpc>
              <a:buNone/>
            </a:pPr>
            <a:r>
              <a:rPr sz="1500" b="1">
                <a:solidFill>
                  <a:srgbClr val="5A0E13"/>
                </a:solidFill>
                <a:latin typeface="微软雅黑"/>
                <a:ea typeface="微软雅黑"/>
                <a:cs typeface="微软雅黑"/>
              </a:rPr>
              <a:t>患者身上：无效甚至有害</a:t>
            </a:r>
            <a:endParaRPr sz="1500" b="1">
              <a:solidFill>
                <a:srgbClr val="5A0E13"/>
              </a:solidFill>
              <a:latin typeface="微软雅黑"/>
              <a:ea typeface="微软雅黑"/>
              <a:cs typeface="微软雅黑"/>
            </a:endParaRPr>
          </a:p>
        </p:txBody>
      </p:sp>
      <p:sp>
        <p:nvSpPr>
          <p:cNvPr id="288" name="矩形 250"/>
          <p:cNvSpPr>
            <a:spLocks noGrp="1"/>
          </p:cNvSpPr>
          <p:nvPr/>
        </p:nvSpPr>
        <p:spPr>
          <a:xfrm>
            <a:off x="533400" y="4505325"/>
            <a:ext cx="11125200" cy="1733550"/>
          </a:xfrm>
          <a:prstGeom prst="rect">
            <a:avLst/>
          </a:prstGeom>
          <a:solidFill>
            <a:srgbClr val="061F32"/>
          </a:solidFill>
        </p:spPr>
        <p:txBody>
          <a:bodyPr/>
          <a:lstStyle/>
          <a:p/>
        </p:txBody>
      </p:sp>
      <p:sp>
        <p:nvSpPr>
          <p:cNvPr id="289" name="文本框 251"/>
          <p:cNvSpPr>
            <a:spLocks noGrp="1"/>
          </p:cNvSpPr>
          <p:nvPr/>
        </p:nvSpPr>
        <p:spPr>
          <a:xfrm>
            <a:off x="800100" y="4867275"/>
            <a:ext cx="10591800" cy="209550"/>
          </a:xfrm>
          <a:prstGeom prst="rect">
            <a:avLst/>
          </a:prstGeom>
        </p:spPr>
        <p:txBody>
          <a:bodyPr wrap="none" lIns="0" tIns="0" rIns="0" bIns="0"/>
          <a:lstStyle/>
          <a:p>
            <a:pPr>
              <a:lnSpc>
                <a:spcPct val="100000"/>
              </a:lnSpc>
              <a:buNone/>
            </a:pPr>
            <a:r>
              <a:rPr sz="1350" b="1" spc="150">
                <a:solidFill>
                  <a:srgbClr val="08A6F6"/>
                </a:solidFill>
                <a:latin typeface="微软雅黑"/>
                <a:ea typeface="微软雅黑"/>
                <a:cs typeface="微软雅黑"/>
              </a:rPr>
              <a:t>根本矛盾</a:t>
            </a:r>
            <a:endParaRPr sz="1350" b="1" spc="150">
              <a:solidFill>
                <a:srgbClr val="08A6F6"/>
              </a:solidFill>
              <a:latin typeface="微软雅黑"/>
              <a:ea typeface="微软雅黑"/>
              <a:cs typeface="微软雅黑"/>
            </a:endParaRPr>
          </a:p>
        </p:txBody>
      </p:sp>
      <p:sp>
        <p:nvSpPr>
          <p:cNvPr id="290" name="文本框 252"/>
          <p:cNvSpPr>
            <a:spLocks noGrp="1"/>
          </p:cNvSpPr>
          <p:nvPr/>
        </p:nvSpPr>
        <p:spPr>
          <a:xfrm>
            <a:off x="800100" y="5153025"/>
            <a:ext cx="10591800" cy="723900"/>
          </a:xfrm>
          <a:prstGeom prst="rect">
            <a:avLst/>
          </a:prstGeom>
        </p:spPr>
        <p:txBody>
          <a:bodyPr wrap="square" lIns="0" tIns="0" rIns="0" bIns="0">
            <a:normAutofit/>
          </a:bodyPr>
          <a:lstStyle/>
          <a:p>
            <a:pPr>
              <a:lnSpc>
                <a:spcPct val="150000"/>
              </a:lnSpc>
              <a:buNone/>
            </a:pPr>
            <a:r>
              <a:rPr sz="1575">
                <a:solidFill>
                  <a:srgbClr val="FFFFFF"/>
                </a:solidFill>
                <a:latin typeface="微软雅黑"/>
                <a:ea typeface="微软雅黑"/>
                <a:cs typeface="微软雅黑"/>
              </a:rPr>
              <a:t>生命系统的复杂程度远超实验手段的覆盖能力——候选药物太多、患者差异太大、生命状态随时间持续变化，真实实验永远做不过来；而耐药与复发，要等到患者治疗失败后才被看见。试错范式走到尽头，必须换一条路。</a:t>
            </a:r>
            <a:endParaRPr sz="1575">
              <a:solidFill>
                <a:srgbClr val="FFFFFF"/>
              </a:solidFill>
              <a:latin typeface="微软雅黑"/>
              <a:ea typeface="微软雅黑"/>
              <a:cs typeface="微软雅黑"/>
            </a:endParaRPr>
          </a:p>
        </p:txBody>
      </p:sp>
      <p:sp>
        <p:nvSpPr>
          <p:cNvPr id="291" name="文本框 253"/>
          <p:cNvSpPr>
            <a:spLocks noGrp="1"/>
          </p:cNvSpPr>
          <p:nvPr/>
        </p:nvSpPr>
        <p:spPr>
          <a:xfrm>
            <a:off x="533400" y="6381750"/>
            <a:ext cx="2828925"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Source: AIVC </a:t>
            </a:r>
            <a:r>
              <a:rPr sz="1050">
                <a:solidFill>
                  <a:srgbClr val="808080"/>
                </a:solidFill>
                <a:latin typeface="微软雅黑"/>
                <a:ea typeface="微软雅黑"/>
                <a:cs typeface="微软雅黑"/>
              </a:rPr>
              <a:t>商业故事</a:t>
            </a:r>
            <a:r>
              <a:rPr sz="1050">
                <a:solidFill>
                  <a:srgbClr val="808080"/>
                </a:solidFill>
                <a:latin typeface="微软雅黑"/>
                <a:ea typeface="微软雅黑"/>
                <a:cs typeface="微软雅黑"/>
              </a:rPr>
              <a:t> BP §2.1</a:t>
            </a:r>
            <a:r>
              <a:rPr sz="1050">
                <a:solidFill>
                  <a:srgbClr val="808080"/>
                </a:solidFill>
                <a:latin typeface="微软雅黑"/>
                <a:ea typeface="微软雅黑"/>
                <a:cs typeface="微软雅黑"/>
              </a:rPr>
              <a:t>；行业公开数据</a:t>
            </a:r>
            <a:endParaRPr sz="1050">
              <a:solidFill>
                <a:srgbClr val="808080"/>
              </a:solidFill>
              <a:latin typeface="微软雅黑"/>
              <a:ea typeface="微软雅黑"/>
              <a:cs typeface="微软雅黑"/>
            </a:endParaRPr>
          </a:p>
        </p:txBody>
      </p:sp>
      <p:sp>
        <p:nvSpPr>
          <p:cNvPr id="292" name="文本框 254"/>
          <p:cNvSpPr>
            <a:spLocks noGrp="1"/>
          </p:cNvSpPr>
          <p:nvPr/>
        </p:nvSpPr>
        <p:spPr>
          <a:xfrm>
            <a:off x="11201400" y="6381750"/>
            <a:ext cx="457200"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04 / 08</a:t>
            </a:r>
            <a:endParaRPr sz="1050">
              <a:solidFill>
                <a:srgbClr val="808080"/>
              </a:solidFill>
              <a:latin typeface="微软雅黑"/>
              <a:ea typeface="微软雅黑"/>
              <a:cs typeface="微软雅黑"/>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46" name="矩形 280"/>
          <p:cNvSpPr>
            <a:spLocks noGrp="1"/>
          </p:cNvSpPr>
          <p:nvPr/>
        </p:nvSpPr>
        <p:spPr>
          <a:xfrm>
            <a:off x="0" y="0"/>
            <a:ext cx="12192000" cy="6858000"/>
          </a:xfrm>
          <a:prstGeom prst="rect">
            <a:avLst/>
          </a:prstGeom>
          <a:solidFill>
            <a:srgbClr val="FFFFFF"/>
          </a:solidFill>
        </p:spPr>
        <p:txBody>
          <a:bodyPr/>
          <a:lstStyle/>
          <a:p/>
        </p:txBody>
      </p:sp>
      <p:sp>
        <p:nvSpPr>
          <p:cNvPr id="347" name="文本框 281"/>
          <p:cNvSpPr>
            <a:spLocks noGrp="1"/>
          </p:cNvSpPr>
          <p:nvPr/>
        </p:nvSpPr>
        <p:spPr>
          <a:xfrm>
            <a:off x="533400" y="419100"/>
            <a:ext cx="11125200" cy="381000"/>
          </a:xfrm>
          <a:prstGeom prst="rect">
            <a:avLst/>
          </a:prstGeom>
        </p:spPr>
        <p:txBody>
          <a:bodyPr wrap="none" lIns="0" tIns="0" rIns="0" bIns="0"/>
          <a:lstStyle/>
          <a:p>
            <a:pPr>
              <a:lnSpc>
                <a:spcPct val="100000"/>
              </a:lnSpc>
              <a:buNone/>
            </a:pPr>
            <a:r>
              <a:rPr sz="2475" b="1">
                <a:solidFill>
                  <a:srgbClr val="061F32"/>
                </a:solidFill>
                <a:latin typeface="微软雅黑"/>
                <a:ea typeface="微软雅黑"/>
                <a:cs typeface="微软雅黑"/>
              </a:rPr>
              <a:t>为什么是现在：四项技术条件同步趋于成熟</a:t>
            </a:r>
            <a:r>
              <a:rPr lang="zh-CN" altLang="en-US" sz="2475" b="1">
                <a:solidFill>
                  <a:srgbClr val="061F32"/>
                </a:solidFill>
                <a:latin typeface="微软雅黑"/>
                <a:ea typeface="微软雅黑"/>
                <a:cs typeface="Arial" panose="020B0604020202020204" pitchFamily="34" charset="0"/>
              </a:rPr>
              <a:t/>
            </a:r>
            <a:r>
              <a:rPr sz="2475" b="1">
                <a:solidFill>
                  <a:srgbClr val="061F32"/>
                </a:solidFill>
                <a:latin typeface="微软雅黑"/>
                <a:ea typeface="微软雅黑"/>
                <a:cs typeface="微软雅黑"/>
              </a:rPr>
              <a:t/>
            </a:r>
            <a:r>
              <a:rPr lang="zh-CN" altLang="en-US" sz="2475" b="1">
                <a:solidFill>
                  <a:srgbClr val="061F32"/>
                </a:solidFill>
                <a:latin typeface="微软雅黑"/>
                <a:ea typeface="微软雅黑"/>
                <a:cs typeface="微软雅黑"/>
              </a:rPr>
              <a:t/>
            </a:r>
            <a:r>
              <a:rPr sz="2475" b="1">
                <a:solidFill>
                  <a:srgbClr val="061F32"/>
                </a:solidFill>
                <a:latin typeface="微软雅黑"/>
                <a:ea typeface="微软雅黑"/>
                <a:cs typeface="微软雅黑"/>
              </a:rPr>
              <a:t/>
            </a:r>
            <a:r>
              <a:rPr lang="zh-CN" altLang="en-US" sz="2475" b="1">
                <a:solidFill>
                  <a:srgbClr val="061F32"/>
                </a:solidFill>
                <a:latin typeface="微软雅黑"/>
                <a:ea typeface="微软雅黑"/>
                <a:cs typeface="微软雅黑"/>
              </a:rPr>
              <a:t/>
            </a:r>
            <a:r>
              <a:rPr sz="2475" b="1">
                <a:solidFill>
                  <a:srgbClr val="061F32"/>
                </a:solidFill>
                <a:latin typeface="微软雅黑"/>
                <a:ea typeface="微软雅黑"/>
                <a:cs typeface="微软雅黑"/>
              </a:rPr>
              <a:t/>
            </a:r>
            <a:r>
              <a:rPr lang="zh-CN" altLang="en-US" sz="2475" b="1">
                <a:solidFill>
                  <a:srgbClr val="061F32"/>
                </a:solidFill>
                <a:latin typeface="微软雅黑"/>
                <a:ea typeface="微软雅黑"/>
                <a:cs typeface="微软雅黑"/>
              </a:rPr>
              <a:t/>
            </a:r>
            <a:r>
              <a:rPr sz="2475" b="1">
                <a:solidFill>
                  <a:srgbClr val="061F32"/>
                </a:solidFill>
                <a:latin typeface="微软雅黑"/>
                <a:ea typeface="微软雅黑"/>
                <a:cs typeface="微软雅黑"/>
              </a:rPr>
              <a:t/>
            </a:r>
            <a:r>
              <a:rPr lang="zh-CN" altLang="en-US" sz="2475" b="1">
                <a:solidFill>
                  <a:srgbClr val="061F32"/>
                </a:solidFill>
                <a:latin typeface="微软雅黑"/>
                <a:ea typeface="微软雅黑"/>
                <a:cs typeface="微软雅黑"/>
              </a:rPr>
              <a:t/>
            </a:r>
            <a:r>
              <a:rPr sz="2475" b="1">
                <a:solidFill>
                  <a:srgbClr val="061F32"/>
                </a:solidFill>
                <a:latin typeface="微软雅黑"/>
                <a:ea typeface="微软雅黑"/>
                <a:cs typeface="微软雅黑"/>
              </a:rPr>
              <a:t/>
            </a:r>
            <a:r>
              <a:rPr lang="zh-CN" altLang="en-US" sz="2475" b="1">
                <a:solidFill>
                  <a:srgbClr val="061F32"/>
                </a:solidFill>
                <a:latin typeface="微软雅黑"/>
                <a:ea typeface="微软雅黑"/>
                <a:cs typeface="微软雅黑"/>
              </a:rPr>
              <a:t/>
            </a:r>
            <a:r>
              <a:rPr sz="2475" b="1">
                <a:solidFill>
                  <a:srgbClr val="061F32"/>
                </a:solidFill>
                <a:latin typeface="微软雅黑"/>
                <a:ea typeface="微软雅黑"/>
                <a:cs typeface="微软雅黑"/>
              </a:rPr>
              <a:t/>
            </a:r>
            <a:r>
              <a:rPr lang="zh-CN" altLang="en-US" sz="2475" b="1">
                <a:solidFill>
                  <a:srgbClr val="061F32"/>
                </a:solidFill>
                <a:latin typeface="微软雅黑"/>
                <a:ea typeface="微软雅黑"/>
                <a:cs typeface="微软雅黑"/>
              </a:rPr>
              <a:t/>
            </a:r>
            <a:endParaRPr sz="2475" b="1">
              <a:solidFill>
                <a:srgbClr val="061F32"/>
              </a:solidFill>
              <a:latin typeface="微软雅黑"/>
              <a:ea typeface="微软雅黑"/>
              <a:cs typeface="微软雅黑"/>
            </a:endParaRPr>
          </a:p>
        </p:txBody>
      </p:sp>
      <p:sp>
        <p:nvSpPr>
          <p:cNvPr id="348" name="矩形 282"/>
          <p:cNvSpPr>
            <a:spLocks noGrp="1"/>
          </p:cNvSpPr>
          <p:nvPr/>
        </p:nvSpPr>
        <p:spPr>
          <a:xfrm>
            <a:off x="533400" y="895350"/>
            <a:ext cx="11125200" cy="9525"/>
          </a:xfrm>
          <a:prstGeom prst="rect">
            <a:avLst/>
          </a:prstGeom>
          <a:solidFill>
            <a:srgbClr val="061F32"/>
          </a:solidFill>
        </p:spPr>
        <p:txBody>
          <a:bodyPr/>
          <a:lstStyle/>
          <a:p/>
        </p:txBody>
      </p:sp>
      <p:sp>
        <p:nvSpPr>
          <p:cNvPr id="349" name="文本框 283"/>
          <p:cNvSpPr>
            <a:spLocks noGrp="1"/>
          </p:cNvSpPr>
          <p:nvPr/>
        </p:nvSpPr>
        <p:spPr>
          <a:xfrm>
            <a:off x="533400" y="981075"/>
            <a:ext cx="6572250" cy="228600"/>
          </a:xfrm>
          <a:prstGeom prst="rect">
            <a:avLst/>
          </a:prstGeom>
        </p:spPr>
        <p:txBody>
          <a:bodyPr wrap="none" lIns="0" tIns="0" rIns="0" bIns="0"/>
          <a:lstStyle/>
          <a:p>
            <a:pPr>
              <a:lnSpc>
                <a:spcPct val="100000"/>
              </a:lnSpc>
              <a:buNone/>
            </a:pPr>
            <a:r>
              <a:rPr lang="zh-CN" altLang="en-US" sz="1500" b="1">
                <a:solidFill>
                  <a:srgbClr val="061F32"/>
                </a:solidFill>
                <a:latin typeface="微软雅黑"/>
                <a:ea typeface="微软雅黑"/>
                <a:cs typeface="微软雅黑"/>
              </a:rPr>
              <a:t>为</a:t>
            </a:r>
            <a:r>
              <a:rPr sz="1500" b="1">
                <a:solidFill>
                  <a:srgbClr val="061F32"/>
                </a:solidFill>
                <a:latin typeface="微软雅黑"/>
                <a:ea typeface="微软雅黑"/>
                <a:cs typeface="微软雅黑"/>
              </a:rPr>
              <a:t>患者特异性纵向虚拟类器官</a:t>
            </a:r>
            <a:r>
              <a:rPr lang="zh-CN" altLang="en-US" sz="1500" b="1">
                <a:solidFill>
                  <a:srgbClr val="061F32"/>
                </a:solidFill>
                <a:latin typeface="微软雅黑"/>
                <a:ea typeface="微软雅黑"/>
                <a:cs typeface="微软雅黑"/>
              </a:rPr>
              <a:t>搭建</a:t>
            </a:r>
            <a:r>
              <a:rPr sz="1500" b="1">
                <a:solidFill>
                  <a:srgbClr val="061F32"/>
                </a:solidFill>
                <a:latin typeface="微软雅黑"/>
                <a:ea typeface="微软雅黑"/>
                <a:cs typeface="微软雅黑"/>
              </a:rPr>
              <a:t>工程化基础</a:t>
            </a:r>
            <a:endParaRPr sz="1500" b="1">
              <a:solidFill>
                <a:srgbClr val="061F32"/>
              </a:solidFill>
              <a:latin typeface="微软雅黑"/>
              <a:ea typeface="微软雅黑"/>
              <a:cs typeface="微软雅黑"/>
            </a:endParaRPr>
          </a:p>
        </p:txBody>
      </p:sp>
      <p:sp>
        <p:nvSpPr>
          <p:cNvPr id="350" name="任意多边形 284"/>
          <p:cNvSpPr>
            <a:spLocks noGrp="1"/>
          </p:cNvSpPr>
          <p:nvPr/>
        </p:nvSpPr>
        <p:spPr>
          <a:xfrm>
            <a:off x="533400" y="1381125"/>
            <a:ext cx="3219450" cy="2390775"/>
          </a:xfrm>
          <a:custGeom>
            <a:avLst/>
            <a:gdLst/>
            <a:ahLst/>
            <a:cxnLst/>
            <a:pathLst>
              <a:path w="338" h="251">
                <a:moveTo>
                  <a:pt x="0" y="0"/>
                </a:moveTo>
                <a:lnTo>
                  <a:pt x="338" y="0"/>
                </a:lnTo>
                <a:lnTo>
                  <a:pt x="338" y="3"/>
                </a:lnTo>
                <a:lnTo>
                  <a:pt x="0" y="3"/>
                </a:lnTo>
                <a:close/>
              </a:path>
            </a:pathLst>
          </a:custGeom>
          <a:solidFill>
            <a:srgbClr val="061F32"/>
          </a:solidFill>
        </p:spPr>
        <p:txBody>
          <a:bodyPr/>
          <a:lstStyle/>
          <a:p/>
        </p:txBody>
      </p:sp>
      <p:sp>
        <p:nvSpPr>
          <p:cNvPr id="351" name="文本框 285"/>
          <p:cNvSpPr>
            <a:spLocks noGrp="1"/>
          </p:cNvSpPr>
          <p:nvPr/>
        </p:nvSpPr>
        <p:spPr>
          <a:xfrm>
            <a:off x="723900" y="1581150"/>
            <a:ext cx="2838450" cy="257175"/>
          </a:xfrm>
          <a:prstGeom prst="rect">
            <a:avLst/>
          </a:prstGeom>
        </p:spPr>
        <p:txBody>
          <a:bodyPr wrap="none" lIns="0" tIns="0" rIns="0" bIns="0"/>
          <a:lstStyle/>
          <a:p>
            <a:pPr>
              <a:lnSpc>
                <a:spcPct val="100000"/>
              </a:lnSpc>
              <a:buNone/>
            </a:pPr>
            <a:r>
              <a:rPr sz="1650" b="1">
                <a:solidFill>
                  <a:srgbClr val="061F32"/>
                </a:solidFill>
                <a:latin typeface="微软雅黑"/>
                <a:ea typeface="微软雅黑"/>
                <a:cs typeface="微软雅黑"/>
              </a:rPr>
              <a:t>类器官技术</a:t>
            </a:r>
            <a:endParaRPr sz="1650" b="1">
              <a:solidFill>
                <a:srgbClr val="061F32"/>
              </a:solidFill>
              <a:latin typeface="微软雅黑"/>
              <a:ea typeface="微软雅黑"/>
              <a:cs typeface="微软雅黑"/>
            </a:endParaRPr>
          </a:p>
        </p:txBody>
      </p:sp>
      <p:sp>
        <p:nvSpPr>
          <p:cNvPr id="352" name="文本框 286"/>
          <p:cNvSpPr>
            <a:spLocks noGrp="1"/>
          </p:cNvSpPr>
          <p:nvPr/>
        </p:nvSpPr>
        <p:spPr>
          <a:xfrm>
            <a:off x="723900" y="1933575"/>
            <a:ext cx="2838450" cy="876300"/>
          </a:xfrm>
          <a:prstGeom prst="rect">
            <a:avLst/>
          </a:prstGeom>
        </p:spPr>
        <p:txBody>
          <a:bodyPr wrap="square" lIns="0" tIns="0" rIns="0" bIns="0">
            <a:normAutofit/>
          </a:bodyPr>
          <a:lstStyle/>
          <a:p>
            <a:pPr>
              <a:lnSpc>
                <a:spcPct val="150000"/>
              </a:lnSpc>
              <a:buNone/>
            </a:pPr>
            <a:r>
              <a:rPr sz="1275">
                <a:solidFill>
                  <a:srgbClr val="44546A"/>
                </a:solidFill>
                <a:latin typeface="微软雅黑"/>
                <a:ea typeface="微软雅黑"/>
                <a:cs typeface="微软雅黑"/>
              </a:rPr>
              <a:t>患者来源类器官（IPTO）能高保真保留肿瘤生态系统，个体差异与微环境同时在线，可纵向追踪演化</a:t>
            </a:r>
            <a:endParaRPr sz="1275">
              <a:solidFill>
                <a:srgbClr val="44546A"/>
              </a:solidFill>
              <a:latin typeface="微软雅黑"/>
              <a:ea typeface="微软雅黑"/>
              <a:cs typeface="微软雅黑"/>
            </a:endParaRPr>
          </a:p>
        </p:txBody>
      </p:sp>
      <p:sp>
        <p:nvSpPr>
          <p:cNvPr id="353" name="任意多边形 287"/>
          <p:cNvSpPr>
            <a:spLocks noGrp="1"/>
          </p:cNvSpPr>
          <p:nvPr/>
        </p:nvSpPr>
        <p:spPr>
          <a:xfrm>
            <a:off x="3886200" y="1381125"/>
            <a:ext cx="3219450" cy="2390775"/>
          </a:xfrm>
          <a:custGeom>
            <a:avLst/>
            <a:gdLst/>
            <a:ahLst/>
            <a:cxnLst/>
            <a:pathLst>
              <a:path w="338" h="251">
                <a:moveTo>
                  <a:pt x="0" y="0"/>
                </a:moveTo>
                <a:lnTo>
                  <a:pt x="338" y="0"/>
                </a:lnTo>
                <a:lnTo>
                  <a:pt x="338" y="3"/>
                </a:lnTo>
                <a:lnTo>
                  <a:pt x="0" y="3"/>
                </a:lnTo>
                <a:close/>
              </a:path>
            </a:pathLst>
          </a:custGeom>
          <a:solidFill>
            <a:srgbClr val="061F32"/>
          </a:solidFill>
        </p:spPr>
        <p:txBody>
          <a:bodyPr/>
          <a:lstStyle/>
          <a:p/>
        </p:txBody>
      </p:sp>
      <p:sp>
        <p:nvSpPr>
          <p:cNvPr id="354" name="文本框 288"/>
          <p:cNvSpPr>
            <a:spLocks noGrp="1"/>
          </p:cNvSpPr>
          <p:nvPr/>
        </p:nvSpPr>
        <p:spPr>
          <a:xfrm>
            <a:off x="4076700" y="1581150"/>
            <a:ext cx="2838450" cy="257175"/>
          </a:xfrm>
          <a:prstGeom prst="rect">
            <a:avLst/>
          </a:prstGeom>
        </p:spPr>
        <p:txBody>
          <a:bodyPr wrap="none" lIns="0" tIns="0" rIns="0" bIns="0"/>
          <a:lstStyle/>
          <a:p>
            <a:pPr>
              <a:lnSpc>
                <a:spcPct val="100000"/>
              </a:lnSpc>
              <a:buNone/>
            </a:pPr>
            <a:r>
              <a:rPr sz="1650" b="1">
                <a:solidFill>
                  <a:srgbClr val="061F32"/>
                </a:solidFill>
                <a:latin typeface="微软雅黑"/>
                <a:ea typeface="微软雅黑"/>
                <a:cs typeface="微软雅黑"/>
              </a:rPr>
              <a:t>成像与测量</a:t>
            </a:r>
            <a:endParaRPr sz="1650" b="1">
              <a:solidFill>
                <a:srgbClr val="061F32"/>
              </a:solidFill>
              <a:latin typeface="微软雅黑"/>
              <a:ea typeface="微软雅黑"/>
              <a:cs typeface="微软雅黑"/>
            </a:endParaRPr>
          </a:p>
        </p:txBody>
      </p:sp>
      <p:sp>
        <p:nvSpPr>
          <p:cNvPr id="355" name="文本框 289"/>
          <p:cNvSpPr>
            <a:spLocks noGrp="1"/>
          </p:cNvSpPr>
          <p:nvPr/>
        </p:nvSpPr>
        <p:spPr>
          <a:xfrm>
            <a:off x="4076700" y="1933575"/>
            <a:ext cx="2838450" cy="876300"/>
          </a:xfrm>
          <a:prstGeom prst="rect">
            <a:avLst/>
          </a:prstGeom>
        </p:spPr>
        <p:txBody>
          <a:bodyPr wrap="square" lIns="0" tIns="0" rIns="0" bIns="0">
            <a:normAutofit/>
          </a:bodyPr>
          <a:lstStyle/>
          <a:p>
            <a:pPr>
              <a:lnSpc>
                <a:spcPct val="150000"/>
              </a:lnSpc>
              <a:buNone/>
            </a:pPr>
            <a:r>
              <a:rPr sz="1275">
                <a:solidFill>
                  <a:srgbClr val="44546A"/>
                </a:solidFill>
                <a:latin typeface="微软雅黑"/>
                <a:ea typeface="微软雅黑"/>
                <a:cs typeface="微软雅黑"/>
              </a:rPr>
              <a:t>长时程活细胞成像、高内涵成像、单细胞 / 空间组学，把细胞状态</a:t>
            </a:r>
            <a:r>
              <a:rPr lang="zh-CN" altLang="en-US" sz="1275">
                <a:solidFill>
                  <a:srgbClr val="44546A"/>
                </a:solidFill>
                <a:latin typeface="微软雅黑"/>
                <a:ea typeface="微软雅黑"/>
                <a:cs typeface="微软雅黑"/>
              </a:rPr>
              <a:t>转化</a:t>
            </a:r>
            <a:r>
              <a:rPr sz="1275">
                <a:solidFill>
                  <a:srgbClr val="44546A"/>
                </a:solidFill>
                <a:latin typeface="微软雅黑"/>
                <a:ea typeface="微软雅黑"/>
                <a:cs typeface="微软雅黑"/>
              </a:rPr>
              <a:t>成可计算的多模态数据</a:t>
            </a:r>
            <a:endParaRPr sz="1275">
              <a:solidFill>
                <a:srgbClr val="44546A"/>
              </a:solidFill>
              <a:latin typeface="微软雅黑"/>
              <a:ea typeface="微软雅黑"/>
              <a:cs typeface="微软雅黑"/>
            </a:endParaRPr>
          </a:p>
        </p:txBody>
      </p:sp>
      <p:sp>
        <p:nvSpPr>
          <p:cNvPr id="356" name="任意多边形 290"/>
          <p:cNvSpPr>
            <a:spLocks noGrp="1"/>
          </p:cNvSpPr>
          <p:nvPr/>
        </p:nvSpPr>
        <p:spPr>
          <a:xfrm>
            <a:off x="533400" y="3876675"/>
            <a:ext cx="3219450" cy="2390775"/>
          </a:xfrm>
          <a:custGeom>
            <a:avLst/>
            <a:gdLst/>
            <a:ahLst/>
            <a:cxnLst/>
            <a:pathLst>
              <a:path w="338" h="251">
                <a:moveTo>
                  <a:pt x="0" y="0"/>
                </a:moveTo>
                <a:lnTo>
                  <a:pt x="338" y="0"/>
                </a:lnTo>
                <a:lnTo>
                  <a:pt x="338" y="3"/>
                </a:lnTo>
                <a:lnTo>
                  <a:pt x="0" y="3"/>
                </a:lnTo>
                <a:close/>
              </a:path>
            </a:pathLst>
          </a:custGeom>
          <a:solidFill>
            <a:srgbClr val="061F32"/>
          </a:solidFill>
        </p:spPr>
        <p:txBody>
          <a:bodyPr/>
          <a:lstStyle/>
          <a:p/>
        </p:txBody>
      </p:sp>
      <p:sp>
        <p:nvSpPr>
          <p:cNvPr id="357" name="文本框 291"/>
          <p:cNvSpPr>
            <a:spLocks noGrp="1"/>
          </p:cNvSpPr>
          <p:nvPr/>
        </p:nvSpPr>
        <p:spPr>
          <a:xfrm>
            <a:off x="723900" y="4076700"/>
            <a:ext cx="2838450" cy="257175"/>
          </a:xfrm>
          <a:prstGeom prst="rect">
            <a:avLst/>
          </a:prstGeom>
        </p:spPr>
        <p:txBody>
          <a:bodyPr wrap="none" lIns="0" tIns="0" rIns="0" bIns="0"/>
          <a:lstStyle/>
          <a:p>
            <a:pPr>
              <a:lnSpc>
                <a:spcPct val="100000"/>
              </a:lnSpc>
              <a:buNone/>
            </a:pPr>
            <a:r>
              <a:rPr sz="1650" b="1">
                <a:solidFill>
                  <a:srgbClr val="061F32"/>
                </a:solidFill>
                <a:latin typeface="微软雅黑"/>
                <a:ea typeface="微软雅黑"/>
                <a:cs typeface="微软雅黑"/>
              </a:rPr>
              <a:t>数据与算力</a:t>
            </a:r>
            <a:endParaRPr sz="1650" b="1">
              <a:solidFill>
                <a:srgbClr val="061F32"/>
              </a:solidFill>
              <a:latin typeface="微软雅黑"/>
              <a:ea typeface="微软雅黑"/>
              <a:cs typeface="微软雅黑"/>
            </a:endParaRPr>
          </a:p>
        </p:txBody>
      </p:sp>
      <p:sp>
        <p:nvSpPr>
          <p:cNvPr id="358" name="文本框 292"/>
          <p:cNvSpPr>
            <a:spLocks noGrp="1"/>
          </p:cNvSpPr>
          <p:nvPr/>
        </p:nvSpPr>
        <p:spPr>
          <a:xfrm>
            <a:off x="723900" y="4429125"/>
            <a:ext cx="2838450" cy="876300"/>
          </a:xfrm>
          <a:prstGeom prst="rect">
            <a:avLst/>
          </a:prstGeom>
        </p:spPr>
        <p:txBody>
          <a:bodyPr wrap="square" lIns="0" tIns="0" rIns="0" bIns="0">
            <a:normAutofit/>
          </a:bodyPr>
          <a:lstStyle/>
          <a:p>
            <a:pPr>
              <a:lnSpc>
                <a:spcPct val="150000"/>
              </a:lnSpc>
              <a:buNone/>
            </a:pPr>
            <a:r>
              <a:rPr sz="1275">
                <a:solidFill>
                  <a:srgbClr val="44546A"/>
                </a:solidFill>
                <a:latin typeface="微软雅黑"/>
                <a:ea typeface="微软雅黑"/>
                <a:cs typeface="微软雅黑"/>
              </a:rPr>
              <a:t>多模态数据基础设施成熟，</a:t>
            </a:r>
            <a:r>
              <a:rPr lang="zh-CN" altLang="en-US" sz="1275">
                <a:solidFill>
                  <a:srgbClr val="44546A"/>
                </a:solidFill>
                <a:latin typeface="微软雅黑"/>
                <a:ea typeface="微软雅黑"/>
                <a:cs typeface="微软雅黑"/>
              </a:rPr>
              <a:t>大规模</a:t>
            </a:r>
            <a:r>
              <a:rPr sz="1275">
                <a:solidFill>
                  <a:srgbClr val="44546A"/>
                </a:solidFill>
                <a:latin typeface="微软雅黑"/>
                <a:ea typeface="微软雅黑"/>
                <a:cs typeface="微软雅黑"/>
              </a:rPr>
              <a:t>训练成本</a:t>
            </a:r>
            <a:r>
              <a:rPr lang="zh-CN" altLang="en-US" sz="1275">
                <a:solidFill>
                  <a:srgbClr val="44546A"/>
                </a:solidFill>
                <a:latin typeface="微软雅黑"/>
                <a:ea typeface="微软雅黑"/>
                <a:cs typeface="微软雅黑"/>
              </a:rPr>
              <a:t>显著</a:t>
            </a:r>
            <a:r>
              <a:rPr sz="1275">
                <a:solidFill>
                  <a:srgbClr val="44546A"/>
                </a:solidFill>
                <a:latin typeface="微软雅黑"/>
                <a:ea typeface="微软雅黑"/>
                <a:cs typeface="微软雅黑"/>
              </a:rPr>
              <a:t>下降，基础模型级别</a:t>
            </a:r>
            <a:r>
              <a:rPr lang="zh-CN" altLang="en-US" sz="1275">
                <a:solidFill>
                  <a:srgbClr val="44546A"/>
                </a:solidFill>
                <a:latin typeface="微软雅黑"/>
                <a:ea typeface="微软雅黑"/>
                <a:cs typeface="微软雅黑"/>
              </a:rPr>
              <a:t>的</a:t>
            </a:r>
            <a:r>
              <a:rPr sz="1275">
                <a:solidFill>
                  <a:srgbClr val="44546A"/>
                </a:solidFill>
                <a:latin typeface="微软雅黑"/>
                <a:ea typeface="微软雅黑"/>
                <a:cs typeface="微软雅黑"/>
              </a:rPr>
              <a:t>训练</a:t>
            </a:r>
            <a:r>
              <a:rPr lang="zh-CN" altLang="en-US" sz="1275">
                <a:solidFill>
                  <a:srgbClr val="44546A"/>
                </a:solidFill>
                <a:latin typeface="微软雅黑"/>
                <a:ea typeface="微软雅黑"/>
                <a:cs typeface="微软雅黑"/>
              </a:rPr>
              <a:t>工具具备落地可行性</a:t>
            </a:r>
            <a:endParaRPr sz="1275">
              <a:solidFill>
                <a:srgbClr val="44546A"/>
              </a:solidFill>
              <a:latin typeface="微软雅黑"/>
              <a:ea typeface="微软雅黑"/>
              <a:cs typeface="微软雅黑"/>
            </a:endParaRPr>
          </a:p>
        </p:txBody>
      </p:sp>
      <p:sp>
        <p:nvSpPr>
          <p:cNvPr id="359" name="任意多边形 293"/>
          <p:cNvSpPr>
            <a:spLocks noGrp="1"/>
          </p:cNvSpPr>
          <p:nvPr/>
        </p:nvSpPr>
        <p:spPr>
          <a:xfrm>
            <a:off x="3886200" y="3876675"/>
            <a:ext cx="3219450" cy="2390775"/>
          </a:xfrm>
          <a:custGeom>
            <a:avLst/>
            <a:gdLst/>
            <a:ahLst/>
            <a:cxnLst/>
            <a:pathLst>
              <a:path w="338" h="251">
                <a:moveTo>
                  <a:pt x="0" y="0"/>
                </a:moveTo>
                <a:lnTo>
                  <a:pt x="338" y="0"/>
                </a:lnTo>
                <a:lnTo>
                  <a:pt x="338" y="3"/>
                </a:lnTo>
                <a:lnTo>
                  <a:pt x="0" y="3"/>
                </a:lnTo>
                <a:close/>
              </a:path>
            </a:pathLst>
          </a:custGeom>
          <a:solidFill>
            <a:srgbClr val="061F32"/>
          </a:solidFill>
        </p:spPr>
        <p:txBody>
          <a:bodyPr/>
          <a:lstStyle/>
          <a:p/>
        </p:txBody>
      </p:sp>
      <p:sp>
        <p:nvSpPr>
          <p:cNvPr id="360" name="文本框 294"/>
          <p:cNvSpPr>
            <a:spLocks noGrp="1"/>
          </p:cNvSpPr>
          <p:nvPr/>
        </p:nvSpPr>
        <p:spPr>
          <a:xfrm>
            <a:off x="4076700" y="4076700"/>
            <a:ext cx="2838450" cy="257175"/>
          </a:xfrm>
          <a:prstGeom prst="rect">
            <a:avLst/>
          </a:prstGeom>
        </p:spPr>
        <p:txBody>
          <a:bodyPr wrap="none" lIns="0" tIns="0" rIns="0" bIns="0"/>
          <a:lstStyle/>
          <a:p>
            <a:pPr>
              <a:lnSpc>
                <a:spcPct val="100000"/>
              </a:lnSpc>
              <a:buNone/>
            </a:pPr>
            <a:r>
              <a:rPr sz="1650" b="1">
                <a:solidFill>
                  <a:srgbClr val="061F32"/>
                </a:solidFill>
                <a:latin typeface="微软雅黑"/>
                <a:ea typeface="微软雅黑"/>
                <a:cs typeface="微软雅黑"/>
              </a:rPr>
              <a:t>AI </a:t>
            </a:r>
            <a:r>
              <a:rPr sz="1650" b="1">
                <a:solidFill>
                  <a:srgbClr val="061F32"/>
                </a:solidFill>
                <a:latin typeface="微软雅黑"/>
                <a:ea typeface="微软雅黑"/>
                <a:cs typeface="微软雅黑"/>
              </a:rPr>
              <a:t>方法</a:t>
            </a:r>
            <a:endParaRPr sz="1650" b="1">
              <a:solidFill>
                <a:srgbClr val="061F32"/>
              </a:solidFill>
              <a:latin typeface="微软雅黑"/>
              <a:ea typeface="微软雅黑"/>
              <a:cs typeface="微软雅黑"/>
            </a:endParaRPr>
          </a:p>
        </p:txBody>
      </p:sp>
      <p:sp>
        <p:nvSpPr>
          <p:cNvPr id="361" name="文本框 295"/>
          <p:cNvSpPr>
            <a:spLocks noGrp="1"/>
          </p:cNvSpPr>
          <p:nvPr/>
        </p:nvSpPr>
        <p:spPr>
          <a:xfrm>
            <a:off x="4076700" y="4429125"/>
            <a:ext cx="2838450" cy="1127914"/>
          </a:xfrm>
          <a:prstGeom prst="rect">
            <a:avLst/>
          </a:prstGeom>
        </p:spPr>
        <p:txBody>
          <a:bodyPr wrap="square" lIns="0" tIns="0" rIns="0" bIns="0">
            <a:normAutofit/>
          </a:bodyPr>
          <a:lstStyle/>
          <a:p>
            <a:pPr>
              <a:lnSpc>
                <a:spcPct val="150000"/>
              </a:lnSpc>
              <a:buNone/>
            </a:pPr>
            <a:r>
              <a:rPr sz="1275">
                <a:solidFill>
                  <a:srgbClr val="44546A"/>
                </a:solidFill>
                <a:latin typeface="微软雅黑"/>
                <a:ea typeface="微软雅黑"/>
                <a:cs typeface="微软雅黑"/>
              </a:rPr>
              <a:t>自监督预训练 + 扰动建模，让</a:t>
            </a:r>
            <a:r>
              <a:rPr lang="en-US" altLang="zh-CN" sz="1275">
                <a:solidFill>
                  <a:srgbClr val="44546A"/>
                </a:solidFill>
                <a:latin typeface="微软雅黑"/>
                <a:ea typeface="微软雅黑"/>
                <a:cs typeface="微软雅黑"/>
              </a:rPr>
              <a:t>AI</a:t>
            </a:r>
            <a:r>
              <a:rPr sz="1275">
                <a:solidFill>
                  <a:srgbClr val="44546A"/>
                </a:solidFill>
                <a:latin typeface="微软雅黑"/>
                <a:ea typeface="微软雅黑"/>
                <a:cs typeface="微软雅黑"/>
              </a:rPr>
              <a:t>模型</a:t>
            </a:r>
            <a:r>
              <a:rPr lang="zh-CN" altLang="en-US" sz="1275">
                <a:solidFill>
                  <a:srgbClr val="44546A"/>
                </a:solidFill>
                <a:latin typeface="微软雅黑"/>
                <a:ea typeface="微软雅黑"/>
                <a:cs typeface="微软雅黑"/>
              </a:rPr>
              <a:t>具备</a:t>
            </a:r>
            <a:r>
              <a:rPr sz="1275">
                <a:solidFill>
                  <a:srgbClr val="44546A"/>
                </a:solidFill>
                <a:latin typeface="微软雅黑"/>
                <a:ea typeface="微软雅黑"/>
                <a:cs typeface="微软雅黑"/>
              </a:rPr>
              <a:t>学习“干预后进入什么新状态”</a:t>
            </a:r>
            <a:r>
              <a:rPr lang="zh-CN" altLang="en-US" sz="1275">
                <a:solidFill>
                  <a:srgbClr val="44546A"/>
                </a:solidFill>
                <a:latin typeface="微软雅黑"/>
                <a:ea typeface="微软雅黑"/>
                <a:cs typeface="微软雅黑"/>
              </a:rPr>
              <a:t>的能力</a:t>
            </a:r>
            <a:endParaRPr sz="1275">
              <a:solidFill>
                <a:srgbClr val="44546A"/>
              </a:solidFill>
              <a:latin typeface="微软雅黑"/>
              <a:ea typeface="微软雅黑"/>
              <a:cs typeface="微软雅黑"/>
            </a:endParaRPr>
          </a:p>
        </p:txBody>
      </p:sp>
      <p:sp>
        <p:nvSpPr>
          <p:cNvPr id="362" name="矩形 296"/>
          <p:cNvSpPr>
            <a:spLocks noGrp="1"/>
          </p:cNvSpPr>
          <p:nvPr/>
        </p:nvSpPr>
        <p:spPr>
          <a:xfrm>
            <a:off x="7239000" y="1375859"/>
            <a:ext cx="4286250" cy="4891591"/>
          </a:xfrm>
          <a:prstGeom prst="rect">
            <a:avLst/>
          </a:prstGeom>
          <a:solidFill>
            <a:srgbClr val="061F32"/>
          </a:solidFill>
        </p:spPr>
        <p:txBody>
          <a:bodyPr/>
          <a:lstStyle/>
          <a:p/>
        </p:txBody>
      </p:sp>
      <p:sp>
        <p:nvSpPr>
          <p:cNvPr id="363" name="文本框 297"/>
          <p:cNvSpPr>
            <a:spLocks noGrp="1"/>
          </p:cNvSpPr>
          <p:nvPr/>
        </p:nvSpPr>
        <p:spPr>
          <a:xfrm>
            <a:off x="7562850" y="1920875"/>
            <a:ext cx="3752850" cy="257175"/>
          </a:xfrm>
          <a:prstGeom prst="rect">
            <a:avLst/>
          </a:prstGeom>
        </p:spPr>
        <p:txBody>
          <a:bodyPr wrap="none" lIns="0" tIns="0" rIns="0" bIns="0"/>
          <a:lstStyle/>
          <a:p>
            <a:pPr>
              <a:lnSpc>
                <a:spcPct val="100000"/>
              </a:lnSpc>
              <a:buNone/>
            </a:pPr>
            <a:r>
              <a:rPr sz="1650" b="1">
                <a:solidFill>
                  <a:srgbClr val="FFFFFF"/>
                </a:solidFill>
                <a:latin typeface="微软雅黑"/>
                <a:ea typeface="微软雅黑"/>
                <a:cs typeface="微软雅黑"/>
              </a:rPr>
              <a:t>第一部分小结</a:t>
            </a:r>
            <a:r>
              <a:rPr sz="1650" b="1">
                <a:solidFill>
                  <a:srgbClr val="FFFFFF"/>
                </a:solidFill>
                <a:latin typeface="微软雅黑"/>
                <a:ea typeface="微软雅黑"/>
                <a:cs typeface="微软雅黑"/>
              </a:rPr>
              <a:t/>
            </a:r>
            <a:r>
              <a:rPr sz="1650" b="1">
                <a:solidFill>
                  <a:srgbClr val="FFFFFF"/>
                </a:solidFill>
                <a:latin typeface="微软雅黑"/>
                <a:ea typeface="微软雅黑"/>
                <a:cs typeface="微软雅黑"/>
              </a:rPr>
              <a:t/>
            </a:r>
            <a:endParaRPr sz="1650" b="1">
              <a:solidFill>
                <a:srgbClr val="FFFFFF"/>
              </a:solidFill>
              <a:latin typeface="微软雅黑"/>
              <a:ea typeface="微软雅黑"/>
              <a:cs typeface="微软雅黑"/>
            </a:endParaRPr>
          </a:p>
        </p:txBody>
      </p:sp>
      <p:sp>
        <p:nvSpPr>
          <p:cNvPr id="364" name="文本框 298"/>
          <p:cNvSpPr>
            <a:spLocks noGrp="1"/>
          </p:cNvSpPr>
          <p:nvPr/>
        </p:nvSpPr>
        <p:spPr>
          <a:xfrm>
            <a:off x="7562850" y="2330450"/>
            <a:ext cx="3752850" cy="285750"/>
          </a:xfrm>
          <a:prstGeom prst="rect">
            <a:avLst/>
          </a:prstGeom>
        </p:spPr>
        <p:txBody>
          <a:bodyPr wrap="none" lIns="0" tIns="0" rIns="0" bIns="0"/>
          <a:lstStyle/>
          <a:p>
            <a:pPr>
              <a:lnSpc>
                <a:spcPct val="145000"/>
              </a:lnSpc>
              <a:buNone/>
            </a:pPr>
            <a:r>
              <a:rPr sz="1275">
                <a:solidFill>
                  <a:srgbClr val="99BDED"/>
                </a:solidFill>
                <a:latin typeface="微软雅黑"/>
                <a:ea typeface="微软雅黑"/>
                <a:cs typeface="微软雅黑"/>
              </a:rPr>
              <a:t>· 需求：治疗决策需要「事前预测」</a:t>
            </a:r>
            <a:r>
              <a:rPr sz="1275">
                <a:solidFill>
                  <a:srgbClr val="99BDED"/>
                </a:solidFill>
                <a:latin typeface="微软雅黑"/>
                <a:ea typeface="微软雅黑"/>
                <a:cs typeface="微软雅黑"/>
              </a:rPr>
              <a:t/>
            </a:r>
            <a:r>
              <a:rPr sz="1275">
                <a:solidFill>
                  <a:srgbClr val="99BDED"/>
                </a:solidFill>
                <a:latin typeface="微软雅黑"/>
                <a:ea typeface="微软雅黑"/>
                <a:cs typeface="微软雅黑"/>
              </a:rPr>
              <a:t/>
            </a:r>
            <a:r>
              <a:rPr sz="1275">
                <a:solidFill>
                  <a:srgbClr val="99BDED"/>
                </a:solidFill>
                <a:latin typeface="微软雅黑"/>
                <a:ea typeface="微软雅黑"/>
                <a:cs typeface="微软雅黑"/>
              </a:rPr>
              <a:t/>
            </a:r>
            <a:endParaRPr sz="1275">
              <a:solidFill>
                <a:srgbClr val="99BDED"/>
              </a:solidFill>
              <a:latin typeface="微软雅黑"/>
              <a:ea typeface="微软雅黑"/>
              <a:cs typeface="微软雅黑"/>
            </a:endParaRPr>
          </a:p>
        </p:txBody>
      </p:sp>
      <p:sp>
        <p:nvSpPr>
          <p:cNvPr id="365" name="文本框 299"/>
          <p:cNvSpPr>
            <a:spLocks noGrp="1"/>
          </p:cNvSpPr>
          <p:nvPr/>
        </p:nvSpPr>
        <p:spPr>
          <a:xfrm>
            <a:off x="7562850" y="2711450"/>
            <a:ext cx="3752850" cy="285750"/>
          </a:xfrm>
          <a:prstGeom prst="rect">
            <a:avLst/>
          </a:prstGeom>
        </p:spPr>
        <p:txBody>
          <a:bodyPr wrap="none" lIns="0" tIns="0" rIns="0" bIns="0"/>
          <a:lstStyle/>
          <a:p>
            <a:pPr>
              <a:lnSpc>
                <a:spcPct val="145000"/>
              </a:lnSpc>
              <a:buNone/>
            </a:pPr>
            <a:r>
              <a:rPr sz="1275">
                <a:solidFill>
                  <a:srgbClr val="99BDED"/>
                </a:solidFill>
                <a:latin typeface="微软雅黑"/>
                <a:ea typeface="微软雅黑"/>
                <a:cs typeface="微软雅黑"/>
              </a:rPr>
              <a:t>· 现状：今天的工具只能在治疗失败之后给出答案</a:t>
            </a:r>
            <a:r>
              <a:rPr sz="1275">
                <a:solidFill>
                  <a:srgbClr val="99BDED"/>
                </a:solidFill>
                <a:latin typeface="微软雅黑"/>
                <a:ea typeface="微软雅黑"/>
                <a:cs typeface="微软雅黑"/>
              </a:rPr>
              <a:t/>
            </a:r>
            <a:endParaRPr sz="1275">
              <a:solidFill>
                <a:srgbClr val="99BDED"/>
              </a:solidFill>
              <a:latin typeface="微软雅黑"/>
              <a:ea typeface="微软雅黑"/>
              <a:cs typeface="微软雅黑"/>
            </a:endParaRPr>
          </a:p>
        </p:txBody>
      </p:sp>
      <p:sp>
        <p:nvSpPr>
          <p:cNvPr id="366" name="文本框 300"/>
          <p:cNvSpPr>
            <a:spLocks noGrp="1"/>
          </p:cNvSpPr>
          <p:nvPr/>
        </p:nvSpPr>
        <p:spPr>
          <a:xfrm>
            <a:off x="7562850" y="3092450"/>
            <a:ext cx="3752850" cy="285750"/>
          </a:xfrm>
          <a:prstGeom prst="rect">
            <a:avLst/>
          </a:prstGeom>
        </p:spPr>
        <p:txBody>
          <a:bodyPr wrap="none" lIns="0" tIns="0" rIns="0" bIns="0"/>
          <a:lstStyle/>
          <a:p>
            <a:pPr>
              <a:lnSpc>
                <a:spcPct val="145000"/>
              </a:lnSpc>
              <a:buNone/>
            </a:pPr>
            <a:r>
              <a:rPr sz="1275">
                <a:solidFill>
                  <a:srgbClr val="99BDED"/>
                </a:solidFill>
                <a:latin typeface="微软雅黑"/>
                <a:ea typeface="微软雅黑"/>
                <a:cs typeface="微软雅黑"/>
              </a:rPr>
              <a:t>· 时机：四项技术条件已同步成熟</a:t>
            </a:r>
            <a:r>
              <a:rPr sz="1275">
                <a:solidFill>
                  <a:srgbClr val="99BDED"/>
                </a:solidFill>
                <a:latin typeface="微软雅黑"/>
                <a:ea typeface="微软雅黑"/>
                <a:cs typeface="微软雅黑"/>
              </a:rPr>
              <a:t/>
            </a:r>
            <a:endParaRPr sz="1275">
              <a:solidFill>
                <a:srgbClr val="99BDED"/>
              </a:solidFill>
              <a:latin typeface="微软雅黑"/>
              <a:ea typeface="微软雅黑"/>
              <a:cs typeface="微软雅黑"/>
            </a:endParaRPr>
          </a:p>
        </p:txBody>
      </p:sp>
      <p:sp>
        <p:nvSpPr>
          <p:cNvPr id="367" name="矩形 301"/>
          <p:cNvSpPr>
            <a:spLocks noGrp="1"/>
          </p:cNvSpPr>
          <p:nvPr/>
        </p:nvSpPr>
        <p:spPr>
          <a:xfrm>
            <a:off x="7639050" y="2914650"/>
            <a:ext cx="3752850" cy="9525"/>
          </a:xfrm>
          <a:prstGeom prst="rect">
            <a:avLst/>
          </a:prstGeom>
          <a:solidFill>
            <a:srgbClr val="44546A"/>
          </a:solidFill>
        </p:spPr>
        <p:txBody>
          <a:bodyPr/>
          <a:lstStyle/>
          <a:p/>
        </p:txBody>
      </p:sp>
      <p:sp>
        <p:nvSpPr>
          <p:cNvPr id="368" name="文本框 302"/>
          <p:cNvSpPr>
            <a:spLocks noGrp="1"/>
          </p:cNvSpPr>
          <p:nvPr/>
        </p:nvSpPr>
        <p:spPr>
          <a:xfrm>
            <a:off x="7562850" y="3768725"/>
            <a:ext cx="3752850" cy="228600"/>
          </a:xfrm>
          <a:prstGeom prst="rect">
            <a:avLst/>
          </a:prstGeom>
        </p:spPr>
        <p:txBody>
          <a:bodyPr wrap="none" lIns="0" tIns="0" rIns="0" bIns="0"/>
          <a:lstStyle/>
          <a:p>
            <a:pPr>
              <a:lnSpc>
                <a:spcPct val="100000"/>
              </a:lnSpc>
              <a:buNone/>
            </a:pPr>
            <a:r>
              <a:rPr sz="1500" b="1">
                <a:solidFill>
                  <a:srgbClr val="08A6F6"/>
                </a:solidFill>
                <a:latin typeface="微软雅黑"/>
                <a:ea typeface="微软雅黑"/>
                <a:cs typeface="微软雅黑"/>
              </a:rPr>
              <a:t>缺的是什么？</a:t>
            </a:r>
            <a:endParaRPr sz="1500" b="1">
              <a:solidFill>
                <a:srgbClr val="08A6F6"/>
              </a:solidFill>
              <a:latin typeface="微软雅黑"/>
              <a:ea typeface="微软雅黑"/>
              <a:cs typeface="微软雅黑"/>
            </a:endParaRPr>
          </a:p>
        </p:txBody>
      </p:sp>
      <p:sp>
        <p:nvSpPr>
          <p:cNvPr id="369" name="文本框 303"/>
          <p:cNvSpPr>
            <a:spLocks noGrp="1"/>
          </p:cNvSpPr>
          <p:nvPr/>
        </p:nvSpPr>
        <p:spPr>
          <a:xfrm>
            <a:off x="7562850" y="4111625"/>
            <a:ext cx="3752850" cy="1079500"/>
          </a:xfrm>
          <a:prstGeom prst="rect">
            <a:avLst/>
          </a:prstGeom>
        </p:spPr>
        <p:txBody>
          <a:bodyPr wrap="square" lIns="0" tIns="0" rIns="0" bIns="0">
            <a:normAutofit fontScale="95206"/>
          </a:bodyPr>
          <a:lstStyle/>
          <a:p>
            <a:pPr marL="0" lvl="0" algn="l" defTabSz="914400">
              <a:lnSpc>
                <a:spcPct val="155000"/>
              </a:lnSpc>
              <a:buNone/>
              <a:defRPr sz="1800">
                <a:solidFill>
                  <a:schemeClr val="tx1">
                    <a:alpha val="100000"/>
                  </a:schemeClr>
                </a:solidFill>
                <a:latin typeface="Calibri"/>
                <a:ea typeface="Calibri"/>
                <a:cs typeface="Calibri"/>
              </a:defRPr>
            </a:pPr>
            <a:r>
              <a:rPr sz="1200" b="0">
                <a:solidFill>
                  <a:srgbClr val="FFFFFF">
                    <a:alpha val="100000"/>
                  </a:srgbClr>
                </a:solidFill>
                <a:latin typeface="微软雅黑"/>
                <a:ea typeface="微软雅黑"/>
                <a:cs typeface="微软雅黑"/>
              </a:rPr>
              <a:t>技术条件已经具备，事前预测却仍未实现——问题出在哪里、我们如何补上，见第二部分。</a:t>
            </a:r>
            <a:endParaRPr sz="1275">
              <a:solidFill>
                <a:srgbClr val="FFFFFF">
                  <a:alpha val="100000"/>
                </a:srgbClr>
              </a:solidFill>
              <a:latin typeface="微软雅黑"/>
              <a:ea typeface="微软雅黑"/>
              <a:cs typeface="微软雅黑"/>
            </a:endParaRPr>
          </a:p>
        </p:txBody>
      </p:sp>
      <p:sp>
        <p:nvSpPr>
          <p:cNvPr id="370" name="文本框 304"/>
          <p:cNvSpPr>
            <a:spLocks noGrp="1"/>
          </p:cNvSpPr>
          <p:nvPr/>
        </p:nvSpPr>
        <p:spPr>
          <a:xfrm>
            <a:off x="7562850" y="5305425"/>
            <a:ext cx="3752850" cy="304800"/>
          </a:xfrm>
          <a:prstGeom prst="rect">
            <a:avLst/>
          </a:prstGeom>
        </p:spPr>
        <p:txBody>
          <a:bodyPr wrap="none" lIns="0" tIns="0" rIns="0" bIns="0"/>
          <a:lstStyle/>
          <a:p>
            <a:pPr>
              <a:lnSpc>
                <a:spcPct val="155000"/>
              </a:lnSpc>
              <a:buNone/>
            </a:pPr>
            <a:r>
              <a:rPr sz="1275" b="1">
                <a:solidFill>
                  <a:srgbClr val="FFFFFF">
                    <a:alpha val="100000"/>
                  </a:srgbClr>
                </a:solidFill>
                <a:latin typeface="微软雅黑"/>
                <a:ea typeface="微软雅黑"/>
                <a:cs typeface="微软雅黑"/>
              </a:rPr>
              <a:t>→ 第二部分：为什么我们能做成</a:t>
            </a:r>
            <a:endParaRPr sz="1275" b="1">
              <a:solidFill>
                <a:srgbClr val="FFFFFF">
                  <a:alpha val="100000"/>
                </a:srgbClr>
              </a:solidFill>
              <a:latin typeface="微软雅黑"/>
              <a:ea typeface="微软雅黑"/>
              <a:cs typeface="微软雅黑"/>
            </a:endParaRPr>
          </a:p>
          <a:p>
            <a:pPr>
              <a:lnSpc>
                <a:spcPct val="155000"/>
              </a:lnSpc>
              <a:buNone/>
            </a:pPr>
            <a:r>
              <a:rPr sz="1275" b="1">
                <a:solidFill>
                  <a:srgbClr val="FFFFFF">
                    <a:alpha val="100000"/>
                  </a:srgbClr>
                </a:solidFill>
                <a:latin typeface="微软雅黑"/>
                <a:ea typeface="微软雅黑"/>
                <a:cs typeface="微软雅黑"/>
              </a:rPr>
              <a:t/>
            </a:r>
            <a:endParaRPr sz="1275" b="1">
              <a:solidFill>
                <a:srgbClr val="FFFFFF">
                  <a:alpha val="100000"/>
                </a:srgbClr>
              </a:solidFill>
              <a:latin typeface="微软雅黑"/>
              <a:ea typeface="微软雅黑"/>
              <a:cs typeface="微软雅黑"/>
            </a:endParaRPr>
          </a:p>
        </p:txBody>
      </p:sp>
      <p:sp>
        <p:nvSpPr>
          <p:cNvPr id="371" name="文本框 305"/>
          <p:cNvSpPr>
            <a:spLocks noGrp="1"/>
          </p:cNvSpPr>
          <p:nvPr/>
        </p:nvSpPr>
        <p:spPr>
          <a:xfrm>
            <a:off x="533400" y="6381750"/>
            <a:ext cx="1781175"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Source: AIVC </a:t>
            </a:r>
            <a:r>
              <a:rPr sz="1050">
                <a:solidFill>
                  <a:srgbClr val="808080"/>
                </a:solidFill>
                <a:latin typeface="微软雅黑"/>
                <a:ea typeface="微软雅黑"/>
                <a:cs typeface="微软雅黑"/>
              </a:rPr>
              <a:t>商业故事</a:t>
            </a:r>
            <a:r>
              <a:rPr sz="1050">
                <a:solidFill>
                  <a:srgbClr val="808080"/>
                </a:solidFill>
                <a:latin typeface="微软雅黑"/>
                <a:ea typeface="微软雅黑"/>
                <a:cs typeface="微软雅黑"/>
              </a:rPr>
              <a:t> BP §3</a:t>
            </a:r>
            <a:endParaRPr sz="1050">
              <a:solidFill>
                <a:srgbClr val="808080"/>
              </a:solidFill>
              <a:latin typeface="微软雅黑"/>
              <a:ea typeface="微软雅黑"/>
              <a:cs typeface="微软雅黑"/>
            </a:endParaRPr>
          </a:p>
        </p:txBody>
      </p:sp>
      <p:sp>
        <p:nvSpPr>
          <p:cNvPr id="372" name="文本框 306"/>
          <p:cNvSpPr>
            <a:spLocks noGrp="1"/>
          </p:cNvSpPr>
          <p:nvPr/>
        </p:nvSpPr>
        <p:spPr>
          <a:xfrm>
            <a:off x="11201400" y="6381750"/>
            <a:ext cx="457200"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06 / 08</a:t>
            </a:r>
            <a:endParaRPr sz="1050">
              <a:solidFill>
                <a:srgbClr val="808080"/>
              </a:solidFill>
              <a:latin typeface="微软雅黑"/>
              <a:ea typeface="微软雅黑"/>
              <a:cs typeface="微软雅黑"/>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74" name="矩形 308"/>
          <p:cNvSpPr>
            <a:spLocks noGrp="1"/>
          </p:cNvSpPr>
          <p:nvPr/>
        </p:nvSpPr>
        <p:spPr>
          <a:xfrm>
            <a:off x="0" y="0"/>
            <a:ext cx="12192000" cy="6858000"/>
          </a:xfrm>
          <a:prstGeom prst="rect">
            <a:avLst/>
          </a:prstGeom>
          <a:solidFill>
            <a:srgbClr val="062032"/>
          </a:solidFill>
        </p:spPr>
        <p:txBody>
          <a:bodyPr/>
          <a:lstStyle/>
          <a:p/>
        </p:txBody>
      </p:sp>
      <p:sp>
        <p:nvSpPr>
          <p:cNvPr id="375" name="文本框 309"/>
          <p:cNvSpPr>
            <a:spLocks noGrp="1"/>
          </p:cNvSpPr>
          <p:nvPr/>
        </p:nvSpPr>
        <p:spPr>
          <a:xfrm>
            <a:off x="4429125" y="2981325"/>
            <a:ext cx="2447925" cy="533400"/>
          </a:xfrm>
          <a:prstGeom prst="rect">
            <a:avLst/>
          </a:prstGeom>
        </p:spPr>
        <p:txBody>
          <a:bodyPr wrap="none" lIns="0" tIns="0" rIns="0" bIns="0"/>
          <a:lstStyle/>
          <a:p>
            <a:pPr>
              <a:lnSpc>
                <a:spcPct val="100000"/>
              </a:lnSpc>
              <a:buNone/>
            </a:pPr>
            <a:r>
              <a:rPr sz="3450" b="1">
                <a:solidFill>
                  <a:srgbClr val="FFFFFF"/>
                </a:solidFill>
                <a:latin typeface="微软雅黑"/>
                <a:ea typeface="微软雅黑"/>
                <a:cs typeface="微软雅黑"/>
              </a:rPr>
              <a:t>技术壁垒与团队</a:t>
            </a:r>
            <a:endParaRPr sz="3450" b="1">
              <a:solidFill>
                <a:srgbClr val="FFFFFF"/>
              </a:solidFill>
              <a:latin typeface="微软雅黑"/>
              <a:ea typeface="微软雅黑"/>
              <a:cs typeface="微软雅黑"/>
            </a:endParaRPr>
          </a:p>
        </p:txBody>
      </p:sp>
      <p:sp>
        <p:nvSpPr>
          <p:cNvPr id="376" name="文本框 310"/>
          <p:cNvSpPr>
            <a:spLocks noGrp="1"/>
          </p:cNvSpPr>
          <p:nvPr/>
        </p:nvSpPr>
        <p:spPr>
          <a:xfrm>
            <a:off x="4429125" y="3648075"/>
            <a:ext cx="2447925" cy="228600"/>
          </a:xfrm>
          <a:prstGeom prst="rect">
            <a:avLst/>
          </a:prstGeom>
        </p:spPr>
        <p:txBody>
          <a:bodyPr wrap="none" lIns="0" tIns="0" rIns="0" bIns="0"/>
          <a:lstStyle/>
          <a:p>
            <a:pPr>
              <a:lnSpc>
                <a:spcPct val="100000"/>
              </a:lnSpc>
              <a:buNone/>
            </a:pPr>
            <a:r>
              <a:rPr sz="1500" spc="225">
                <a:solidFill>
                  <a:srgbClr val="99BDED"/>
                </a:solidFill>
                <a:latin typeface="微软雅黑"/>
                <a:ea typeface="微软雅黑"/>
                <a:cs typeface="微软雅黑"/>
              </a:rPr>
              <a:t>WHY WE CAN WIN</a:t>
            </a:r>
            <a:endParaRPr sz="1500" spc="225">
              <a:solidFill>
                <a:srgbClr val="99BDED"/>
              </a:solidFill>
              <a:latin typeface="微软雅黑"/>
              <a:ea typeface="微软雅黑"/>
              <a:cs typeface="微软雅黑"/>
            </a:endParaRPr>
          </a:p>
        </p:txBody>
      </p:sp>
      <p:sp>
        <p:nvSpPr>
          <p:cNvPr id="377" name="文本框 311"/>
          <p:cNvSpPr>
            <a:spLocks noGrp="1"/>
          </p:cNvSpPr>
          <p:nvPr/>
        </p:nvSpPr>
        <p:spPr>
          <a:xfrm>
            <a:off x="685800" y="1943100"/>
            <a:ext cx="3057525" cy="2971800"/>
          </a:xfrm>
          <a:prstGeom prst="rect">
            <a:avLst/>
          </a:prstGeom>
        </p:spPr>
        <p:txBody>
          <a:bodyPr wrap="none" lIns="0" tIns="0" rIns="0" bIns="0"/>
          <a:lstStyle/>
          <a:p>
            <a:pPr>
              <a:lnSpc>
                <a:spcPct val="100000"/>
              </a:lnSpc>
              <a:buNone/>
            </a:pPr>
            <a:r>
              <a:rPr sz="19500" b="1">
                <a:solidFill>
                  <a:srgbClr val="FFFFFF">
                    <a:alpha val="12000"/>
                  </a:srgbClr>
                </a:solidFill>
                <a:latin typeface="微软雅黑"/>
                <a:ea typeface="微软雅黑"/>
                <a:cs typeface="微软雅黑"/>
              </a:rPr>
              <a:t>02</a:t>
            </a:r>
            <a:endParaRPr sz="19500" b="1">
              <a:solidFill>
                <a:srgbClr val="FFFFFF">
                  <a:alpha val="12000"/>
                </a:srgbClr>
              </a:solidFill>
              <a:latin typeface="微软雅黑"/>
              <a:ea typeface="微软雅黑"/>
              <a:cs typeface="微软雅黑"/>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0" name="矩形 63"/>
          <p:cNvSpPr>
            <a:spLocks noGrp="1"/>
          </p:cNvSpPr>
          <p:nvPr/>
        </p:nvSpPr>
        <p:spPr>
          <a:xfrm>
            <a:off x="0" y="0"/>
            <a:ext cx="12192000" cy="6858000"/>
          </a:xfrm>
          <a:prstGeom prst="rect">
            <a:avLst/>
          </a:prstGeom>
          <a:solidFill>
            <a:srgbClr val="FFFFFF"/>
          </a:solidFill>
        </p:spPr>
        <p:txBody>
          <a:bodyPr/>
          <a:lstStyle/>
          <a:p/>
        </p:txBody>
      </p:sp>
      <p:sp>
        <p:nvSpPr>
          <p:cNvPr id="91" name="文本框 64"/>
          <p:cNvSpPr>
            <a:spLocks noGrp="1"/>
          </p:cNvSpPr>
          <p:nvPr/>
        </p:nvSpPr>
        <p:spPr>
          <a:xfrm>
            <a:off x="533400" y="419100"/>
            <a:ext cx="11125200" cy="381000"/>
          </a:xfrm>
          <a:prstGeom prst="rect">
            <a:avLst/>
          </a:prstGeom>
        </p:spPr>
        <p:txBody>
          <a:bodyPr wrap="none" lIns="0" tIns="0" rIns="0" bIns="0"/>
          <a:lstStyle/>
          <a:p>
            <a:pPr>
              <a:lnSpc>
                <a:spcPct val="100000"/>
              </a:lnSpc>
              <a:buNone/>
            </a:pPr>
            <a:r>
              <a:rPr sz="2475" b="1">
                <a:solidFill>
                  <a:srgbClr val="061F32"/>
                </a:solidFill>
                <a:latin typeface="微软雅黑"/>
                <a:ea typeface="微软雅黑"/>
                <a:cs typeface="微软雅黑"/>
              </a:rPr>
              <a:t>团队：科学 × 数据 × 模型 × 运营，核心能力</a:t>
            </a:r>
            <a:r>
              <a:rPr lang="zh-CN" altLang="en-US" sz="2475" b="1">
                <a:solidFill>
                  <a:srgbClr val="061F32"/>
                </a:solidFill>
                <a:latin typeface="微软雅黑"/>
                <a:ea typeface="微软雅黑"/>
                <a:cs typeface="微软雅黑"/>
              </a:rPr>
              <a:t>实现</a:t>
            </a:r>
            <a:r>
              <a:rPr sz="2475" b="1">
                <a:solidFill>
                  <a:srgbClr val="061F32"/>
                </a:solidFill>
                <a:latin typeface="微软雅黑"/>
                <a:ea typeface="微软雅黑"/>
                <a:cs typeface="微软雅黑"/>
              </a:rPr>
              <a:t>自持</a:t>
            </a:r>
            <a:r>
              <a:rPr lang="zh-CN" altLang="en-US" sz="2475" b="1">
                <a:solidFill>
                  <a:srgbClr val="061F32"/>
                </a:solidFill>
                <a:latin typeface="微软雅黑"/>
                <a:ea typeface="微软雅黑"/>
                <a:cs typeface="微软雅黑"/>
              </a:rPr>
              <a:t>闭环</a:t>
            </a:r>
            <a:endParaRPr sz="2475" b="1">
              <a:solidFill>
                <a:srgbClr val="061F32"/>
              </a:solidFill>
              <a:latin typeface="微软雅黑"/>
              <a:ea typeface="微软雅黑"/>
              <a:cs typeface="微软雅黑"/>
            </a:endParaRPr>
          </a:p>
        </p:txBody>
      </p:sp>
      <p:sp>
        <p:nvSpPr>
          <p:cNvPr id="92" name="矩形 65"/>
          <p:cNvSpPr>
            <a:spLocks noGrp="1"/>
          </p:cNvSpPr>
          <p:nvPr/>
        </p:nvSpPr>
        <p:spPr>
          <a:xfrm>
            <a:off x="533400" y="895350"/>
            <a:ext cx="11125200" cy="9525"/>
          </a:xfrm>
          <a:prstGeom prst="rect">
            <a:avLst/>
          </a:prstGeom>
          <a:solidFill>
            <a:srgbClr val="061F32"/>
          </a:solidFill>
        </p:spPr>
        <p:txBody>
          <a:bodyPr/>
          <a:lstStyle/>
          <a:p/>
        </p:txBody>
      </p:sp>
      <p:sp>
        <p:nvSpPr>
          <p:cNvPr id="301" name="照片 1"/>
          <p:cNvSpPr/>
          <p:nvPr/>
        </p:nvSpPr>
        <p:spPr>
          <a:xfrm>
            <a:off x="1247013" y="1024128"/>
            <a:ext cx="1143000" cy="1143000"/>
          </a:xfrm>
          <a:prstGeom prst="ellipse">
            <a:avLst/>
          </a:prstGeom>
          <a:solidFill>
            <a:srgbClr val="E7ECF2"/>
          </a:solidFill>
          <a:ln w="12700">
            <a:solidFill>
              <a:srgbClr val="99BDED"/>
            </a:solidFill>
          </a:ln>
        </p:spPr>
        <p:txBody>
          <a:bodyPr anchor="ctr"/>
          <a:lstStyle/>
          <a:p>
            <a:pPr algn="ctr">
              <a:lnSpc>
                <a:spcPct val="112000"/>
              </a:lnSpc>
              <a:buNone/>
            </a:pPr>
            <a:r>
              <a:rPr lang="zh-CN" altLang="en-US" sz="1200">
                <a:solidFill>
                  <a:srgbClr val="8496B0"/>
                </a:solidFill>
                <a:latin typeface="微软雅黑"/>
                <a:ea typeface="微软雅黑"/>
                <a:cs typeface="微软雅黑"/>
              </a:rPr>
              <a:t>照片</a:t>
            </a:r>
          </a:p>
        </p:txBody>
      </p:sp>
      <p:sp>
        <p:nvSpPr>
          <p:cNvPr id="302" name="姓名 1"/>
          <p:cNvSpPr txBox="1"/>
          <p:nvPr/>
        </p:nvSpPr>
        <p:spPr>
          <a:xfrm>
            <a:off x="530352" y="2240280"/>
            <a:ext cx="2576322" cy="329184"/>
          </a:xfrm>
          <a:prstGeom prst="rect">
            <a:avLst/>
          </a:prstGeom>
          <a:noFill/>
        </p:spPr>
        <p:txBody>
          <a:bodyPr wrap="square" lIns="0" tIns="0" rIns="0" bIns="0" anchor="ctr">
            <a:noAutofit/>
          </a:bodyPr>
          <a:lstStyle/>
          <a:p>
            <a:pPr algn="ctr">
              <a:lnSpc>
                <a:spcPct val="112000"/>
              </a:lnSpc>
              <a:buNone/>
            </a:pPr>
            <a:r>
              <a:rPr lang="zh-CN" altLang="en-US" sz="1600" b="1">
                <a:solidFill>
                  <a:srgbClr val="061F32"/>
                </a:solidFill>
                <a:latin typeface="微软雅黑"/>
                <a:ea typeface="微软雅黑"/>
                <a:cs typeface="微软雅黑"/>
              </a:rPr>
              <a:t>卓悦 博士</a:t>
            </a:r>
          </a:p>
        </p:txBody>
      </p:sp>
      <p:sp>
        <p:nvSpPr>
          <p:cNvPr id="303" name="职位 1"/>
          <p:cNvSpPr txBox="1"/>
          <p:nvPr/>
        </p:nvSpPr>
        <p:spPr>
          <a:xfrm>
            <a:off x="530352" y="2560320"/>
            <a:ext cx="2576322" cy="274320"/>
          </a:xfrm>
          <a:prstGeom prst="rect">
            <a:avLst/>
          </a:prstGeom>
          <a:noFill/>
        </p:spPr>
        <p:txBody>
          <a:bodyPr wrap="square" lIns="0" tIns="0" rIns="0" bIns="0" anchor="ctr">
            <a:noAutofit/>
          </a:bodyPr>
          <a:lstStyle/>
          <a:p>
            <a:pPr algn="ctr">
              <a:lnSpc>
                <a:spcPct val="112000"/>
              </a:lnSpc>
              <a:buNone/>
            </a:pPr>
            <a:r>
              <a:rPr lang="zh-CN" altLang="en-US" sz="1300" b="1">
                <a:solidFill>
                  <a:srgbClr val="08A6F6"/>
                </a:solidFill>
                <a:latin typeface="微软雅黑"/>
                <a:ea typeface="微软雅黑"/>
                <a:cs typeface="微软雅黑"/>
              </a:rPr>
              <a:t>CEO 首席执行官</a:t>
            </a:r>
          </a:p>
        </p:txBody>
      </p:sp>
      <p:sp>
        <p:nvSpPr>
          <p:cNvPr id="304" name="亮点 1"/>
          <p:cNvSpPr txBox="1"/>
          <p:nvPr/>
        </p:nvSpPr>
        <p:spPr>
          <a:xfrm>
            <a:off x="530352" y="2852928"/>
            <a:ext cx="2576322" cy="256032"/>
          </a:xfrm>
          <a:prstGeom prst="rect">
            <a:avLst/>
          </a:prstGeom>
          <a:noFill/>
        </p:spPr>
        <p:txBody>
          <a:bodyPr wrap="square" lIns="0" tIns="0" rIns="0" bIns="0" anchor="ctr">
            <a:noAutofit/>
          </a:bodyPr>
          <a:lstStyle/>
          <a:p>
            <a:pPr algn="ctr">
              <a:lnSpc>
                <a:spcPct val="112000"/>
              </a:lnSpc>
              <a:buNone/>
            </a:pPr>
            <a:r>
              <a:rPr lang="zh-CN" altLang="en-US" sz="1050">
                <a:solidFill>
                  <a:srgbClr val="44546A"/>
                </a:solidFill>
                <a:latin typeface="微软雅黑"/>
                <a:ea typeface="微软雅黑"/>
                <a:cs typeface="微软雅黑"/>
              </a:rPr>
              <a:t>湿实验 × 数据 × AI，全链路打通</a:t>
            </a:r>
          </a:p>
        </p:txBody>
      </p:sp>
      <p:sp>
        <p:nvSpPr>
          <p:cNvPr id="305" name="经历 1"/>
          <p:cNvSpPr txBox="1"/>
          <p:nvPr/>
        </p:nvSpPr>
        <p:spPr>
          <a:xfrm>
            <a:off x="603504" y="3246120"/>
            <a:ext cx="2484882" cy="3063240"/>
          </a:xfrm>
          <a:prstGeom prst="rect">
            <a:avLst/>
          </a:prstGeom>
          <a:noFill/>
        </p:spPr>
        <p:txBody>
          <a:bodyPr wrap="square" lIns="0" tIns="0" rIns="0" bIns="0" anchor="t">
            <a:noAutofit/>
          </a:bodyPr>
          <a:lstStyle/>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Verqura 实验室管理系统创始人</a:t>
            </a:r>
            <a:r>
              <a:rPr lang="zh-CN" altLang="en-US" sz="1000">
                <a:solidFill>
                  <a:srgbClr val="44546A"/>
                </a:solidFill>
                <a:latin typeface="微软雅黑"/>
                <a:ea typeface="微软雅黑"/>
                <a:cs typeface="微软雅黑"/>
              </a:rPr>
              <a:t>：打通样本、实验与数据管理</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Cell Stem Cell 2025、npj Precision Oncology 2024 作者</a:t>
            </a:r>
            <a:r>
              <a:rPr lang="zh-CN" altLang="en-US" sz="1000">
                <a:solidFill>
                  <a:srgbClr val="44546A"/>
                </a:solidFill>
                <a:latin typeface="微软雅黑"/>
                <a:ea typeface="微软雅黑"/>
                <a:cs typeface="微软雅黑"/>
              </a:rPr>
              <a:t>（类器官预测患者治疗响应）</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精通 iPSC 脑类器官构建</a:t>
            </a:r>
            <a:r>
              <a:rPr lang="zh-CN" altLang="en-US" sz="1000">
                <a:solidFill>
                  <a:srgbClr val="44546A"/>
                </a:solidFill>
                <a:latin typeface="微软雅黑"/>
                <a:ea typeface="微软雅黑"/>
                <a:cs typeface="微软雅黑"/>
              </a:rPr>
              <a:t>，引进 Pașca 团队分化方案；CRISPR 基因组编辑</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单细胞 RNA / ATAC 测序分析</a:t>
            </a:r>
            <a:r>
              <a:rPr lang="zh-CN" altLang="en-US" sz="1000">
                <a:solidFill>
                  <a:srgbClr val="44546A"/>
                </a:solidFill>
                <a:latin typeface="微软雅黑"/>
                <a:ea typeface="微软雅黑"/>
                <a:cs typeface="微软雅黑"/>
              </a:rPr>
              <a:t>；训练 YOLO / Cellpose 图像 AI 模型</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海德堡大学 / DKFZ 发育生物学博士</a:t>
            </a:r>
            <a:r>
              <a:rPr lang="zh-CN" altLang="en-US" sz="1000">
                <a:solidFill>
                  <a:srgbClr val="44546A"/>
                </a:solidFill>
                <a:latin typeface="微软雅黑"/>
                <a:ea typeface="微软雅黑"/>
                <a:cs typeface="微软雅黑"/>
              </a:rPr>
              <a:t>；密歇根大学安娜堡分校学士；亥姆霍兹研究生院奖学金</a:t>
            </a:r>
          </a:p>
        </p:txBody>
      </p:sp>
      <p:sp>
        <p:nvSpPr>
          <p:cNvPr id="306" name="照片 2"/>
          <p:cNvSpPr/>
          <p:nvPr/>
        </p:nvSpPr>
        <p:spPr>
          <a:xfrm>
            <a:off x="4097655" y="1024128"/>
            <a:ext cx="1143000" cy="1143000"/>
          </a:xfrm>
          <a:prstGeom prst="ellipse">
            <a:avLst/>
          </a:prstGeom>
          <a:solidFill>
            <a:srgbClr val="E7ECF2"/>
          </a:solidFill>
          <a:ln w="12700">
            <a:solidFill>
              <a:srgbClr val="99BDED"/>
            </a:solidFill>
          </a:ln>
        </p:spPr>
        <p:txBody>
          <a:bodyPr anchor="ctr"/>
          <a:lstStyle/>
          <a:p>
            <a:pPr algn="ctr">
              <a:lnSpc>
                <a:spcPct val="112000"/>
              </a:lnSpc>
              <a:buNone/>
            </a:pPr>
            <a:r>
              <a:rPr lang="zh-CN" altLang="en-US" sz="1200">
                <a:solidFill>
                  <a:srgbClr val="8496B0"/>
                </a:solidFill>
                <a:latin typeface="微软雅黑"/>
                <a:ea typeface="微软雅黑"/>
                <a:cs typeface="微软雅黑"/>
              </a:rPr>
              <a:t>照片</a:t>
            </a:r>
          </a:p>
        </p:txBody>
      </p:sp>
      <p:sp>
        <p:nvSpPr>
          <p:cNvPr id="307" name="姓名 2"/>
          <p:cNvSpPr txBox="1"/>
          <p:nvPr/>
        </p:nvSpPr>
        <p:spPr>
          <a:xfrm>
            <a:off x="3380994" y="2240280"/>
            <a:ext cx="2576322" cy="329184"/>
          </a:xfrm>
          <a:prstGeom prst="rect">
            <a:avLst/>
          </a:prstGeom>
          <a:noFill/>
        </p:spPr>
        <p:txBody>
          <a:bodyPr wrap="square" lIns="0" tIns="0" rIns="0" bIns="0" anchor="ctr">
            <a:noAutofit/>
          </a:bodyPr>
          <a:lstStyle/>
          <a:p>
            <a:pPr algn="ctr">
              <a:lnSpc>
                <a:spcPct val="112000"/>
              </a:lnSpc>
              <a:buNone/>
            </a:pPr>
            <a:r>
              <a:rPr lang="zh-CN" altLang="en-US" sz="1600" b="1">
                <a:solidFill>
                  <a:srgbClr val="061F32"/>
                </a:solidFill>
                <a:latin typeface="微软雅黑"/>
                <a:ea typeface="微软雅黑"/>
                <a:cs typeface="微软雅黑"/>
              </a:rPr>
              <a:t>田伟利 博士</a:t>
            </a:r>
          </a:p>
        </p:txBody>
      </p:sp>
      <p:sp>
        <p:nvSpPr>
          <p:cNvPr id="308" name="职位 2"/>
          <p:cNvSpPr txBox="1"/>
          <p:nvPr/>
        </p:nvSpPr>
        <p:spPr>
          <a:xfrm>
            <a:off x="3380994" y="2560320"/>
            <a:ext cx="2576322" cy="274320"/>
          </a:xfrm>
          <a:prstGeom prst="rect">
            <a:avLst/>
          </a:prstGeom>
          <a:noFill/>
        </p:spPr>
        <p:txBody>
          <a:bodyPr wrap="square" lIns="0" tIns="0" rIns="0" bIns="0" anchor="ctr">
            <a:noAutofit/>
          </a:bodyPr>
          <a:lstStyle/>
          <a:p>
            <a:pPr algn="ctr">
              <a:lnSpc>
                <a:spcPct val="112000"/>
              </a:lnSpc>
              <a:buNone/>
            </a:pPr>
            <a:r>
              <a:rPr lang="zh-CN" altLang="en-US" sz="1300" b="1">
                <a:solidFill>
                  <a:srgbClr val="08A6F6"/>
                </a:solidFill>
                <a:latin typeface="微软雅黑"/>
                <a:ea typeface="微软雅黑"/>
                <a:cs typeface="微软雅黑"/>
              </a:rPr>
              <a:t>CSO 首席科学官</a:t>
            </a:r>
          </a:p>
        </p:txBody>
      </p:sp>
      <p:sp>
        <p:nvSpPr>
          <p:cNvPr id="309" name="亮点 2"/>
          <p:cNvSpPr txBox="1"/>
          <p:nvPr/>
        </p:nvSpPr>
        <p:spPr>
          <a:xfrm>
            <a:off x="3380994" y="2852928"/>
            <a:ext cx="2576322" cy="256032"/>
          </a:xfrm>
          <a:prstGeom prst="rect">
            <a:avLst/>
          </a:prstGeom>
          <a:noFill/>
        </p:spPr>
        <p:txBody>
          <a:bodyPr wrap="square" lIns="0" tIns="0" rIns="0" bIns="0" anchor="ctr">
            <a:noAutofit/>
          </a:bodyPr>
          <a:lstStyle/>
          <a:p>
            <a:pPr algn="ctr">
              <a:lnSpc>
                <a:spcPct val="112000"/>
              </a:lnSpc>
              <a:buNone/>
            </a:pPr>
            <a:r>
              <a:rPr lang="zh-CN" altLang="en-US" sz="1050">
                <a:solidFill>
                  <a:srgbClr val="44546A"/>
                </a:solidFill>
                <a:latin typeface="微软雅黑"/>
                <a:ea typeface="微软雅黑"/>
                <a:cs typeface="微软雅黑"/>
              </a:rPr>
              <a:t>神经科学 × 脑类器官 × 产业转化</a:t>
            </a:r>
          </a:p>
        </p:txBody>
      </p:sp>
      <p:sp>
        <p:nvSpPr>
          <p:cNvPr id="310" name="经历 2"/>
          <p:cNvSpPr txBox="1"/>
          <p:nvPr/>
        </p:nvSpPr>
        <p:spPr>
          <a:xfrm>
            <a:off x="3454146" y="3246120"/>
            <a:ext cx="2484882" cy="3063240"/>
          </a:xfrm>
          <a:prstGeom prst="rect">
            <a:avLst/>
          </a:prstGeom>
          <a:noFill/>
        </p:spPr>
        <p:txBody>
          <a:bodyPr wrap="square" lIns="0" tIns="0" rIns="0" bIns="0" anchor="t">
            <a:noAutofit/>
          </a:bodyPr>
          <a:lstStyle/>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霍英东杰出青年学者</a:t>
            </a:r>
            <a:r>
              <a:rPr lang="zh-CN" altLang="en-US" sz="1000">
                <a:solidFill>
                  <a:srgbClr val="44546A"/>
                </a:solidFill>
                <a:latin typeface="微软雅黑"/>
                <a:ea typeface="微软雅黑"/>
                <a:cs typeface="微软雅黑"/>
              </a:rPr>
              <a:t>；中山大学香港高等研究所研究员</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DKFZ 资深科学家、课题负责人</a:t>
            </a:r>
            <a:r>
              <a:rPr lang="zh-CN" altLang="en-US" sz="1000">
                <a:solidFill>
                  <a:srgbClr val="44546A"/>
                </a:solidFill>
                <a:latin typeface="微软雅黑"/>
                <a:ea typeface="微软雅黑"/>
                <a:cs typeface="微软雅黑"/>
              </a:rPr>
              <a:t>；海德堡大学医院开展患者来源肿瘤类器官指导的个体化胶质母细胞瘤治疗研究</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第一作者成果 Science（修回中）、Cell（投稿中）</a:t>
            </a:r>
            <a:r>
              <a:rPr lang="zh-CN" altLang="en-US" sz="1000">
                <a:solidFill>
                  <a:srgbClr val="44546A"/>
                </a:solidFill>
                <a:latin typeface="微软雅黑"/>
                <a:ea typeface="微软雅黑"/>
                <a:cs typeface="微软雅黑"/>
              </a:rPr>
              <a:t>；Cell Stem Cell 2025 等 19 篇论文</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参与 ERC、DFG、HFSP、NIH BRAIN Initiative</a:t>
            </a:r>
            <a:r>
              <a:rPr lang="zh-CN" altLang="en-US" sz="1000">
                <a:solidFill>
                  <a:srgbClr val="44546A"/>
                </a:solidFill>
                <a:latin typeface="微软雅黑"/>
                <a:ea typeface="微软雅黑"/>
                <a:cs typeface="微软雅黑"/>
              </a:rPr>
              <a:t>及国家 973 / 863 等重大项目</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Neusician 首席神经科学官</a:t>
            </a:r>
            <a:r>
              <a:rPr lang="zh-CN" altLang="en-US" sz="1000">
                <a:solidFill>
                  <a:srgbClr val="44546A"/>
                </a:solidFill>
                <a:latin typeface="微软雅黑"/>
                <a:ea typeface="微软雅黑"/>
                <a:cs typeface="微软雅黑"/>
              </a:rPr>
              <a:t>；慕尼黑大学 / 亥姆霍兹中心神经生物学博士</a:t>
            </a:r>
          </a:p>
        </p:txBody>
      </p:sp>
      <p:sp>
        <p:nvSpPr>
          <p:cNvPr id="311" name="照片 3"/>
          <p:cNvSpPr/>
          <p:nvPr/>
        </p:nvSpPr>
        <p:spPr>
          <a:xfrm>
            <a:off x="6948297" y="1024128"/>
            <a:ext cx="1143000" cy="1143000"/>
          </a:xfrm>
          <a:prstGeom prst="ellipse">
            <a:avLst/>
          </a:prstGeom>
          <a:solidFill>
            <a:srgbClr val="E7ECF2"/>
          </a:solidFill>
          <a:ln w="12700">
            <a:solidFill>
              <a:srgbClr val="99BDED"/>
            </a:solidFill>
          </a:ln>
        </p:spPr>
        <p:txBody>
          <a:bodyPr anchor="ctr"/>
          <a:lstStyle/>
          <a:p>
            <a:pPr algn="ctr">
              <a:lnSpc>
                <a:spcPct val="112000"/>
              </a:lnSpc>
              <a:buNone/>
            </a:pPr>
            <a:r>
              <a:rPr lang="zh-CN" altLang="en-US" sz="1200">
                <a:solidFill>
                  <a:srgbClr val="8496B0"/>
                </a:solidFill>
                <a:latin typeface="微软雅黑"/>
                <a:ea typeface="微软雅黑"/>
                <a:cs typeface="微软雅黑"/>
              </a:rPr>
              <a:t>照片</a:t>
            </a:r>
          </a:p>
        </p:txBody>
      </p:sp>
      <p:sp>
        <p:nvSpPr>
          <p:cNvPr id="312" name="姓名 3"/>
          <p:cNvSpPr txBox="1"/>
          <p:nvPr/>
        </p:nvSpPr>
        <p:spPr>
          <a:xfrm>
            <a:off x="6231636" y="2240280"/>
            <a:ext cx="2576322" cy="329184"/>
          </a:xfrm>
          <a:prstGeom prst="rect">
            <a:avLst/>
          </a:prstGeom>
          <a:noFill/>
        </p:spPr>
        <p:txBody>
          <a:bodyPr wrap="square" lIns="0" tIns="0" rIns="0" bIns="0" anchor="ctr">
            <a:noAutofit/>
          </a:bodyPr>
          <a:lstStyle/>
          <a:p>
            <a:pPr algn="ctr">
              <a:lnSpc>
                <a:spcPct val="112000"/>
              </a:lnSpc>
              <a:buNone/>
            </a:pPr>
            <a:r>
              <a:rPr lang="zh-CN" altLang="en-US" sz="1600" b="1">
                <a:solidFill>
                  <a:srgbClr val="061F32"/>
                </a:solidFill>
                <a:latin typeface="微软雅黑"/>
                <a:ea typeface="微软雅黑"/>
                <a:cs typeface="微软雅黑"/>
              </a:rPr>
              <a:t>王中杰 博士</a:t>
            </a:r>
          </a:p>
        </p:txBody>
      </p:sp>
      <p:sp>
        <p:nvSpPr>
          <p:cNvPr id="313" name="职位 3"/>
          <p:cNvSpPr txBox="1"/>
          <p:nvPr/>
        </p:nvSpPr>
        <p:spPr>
          <a:xfrm>
            <a:off x="6231636" y="2560320"/>
            <a:ext cx="2576322" cy="274320"/>
          </a:xfrm>
          <a:prstGeom prst="rect">
            <a:avLst/>
          </a:prstGeom>
          <a:noFill/>
        </p:spPr>
        <p:txBody>
          <a:bodyPr wrap="square" lIns="0" tIns="0" rIns="0" bIns="0" anchor="ctr">
            <a:noAutofit/>
          </a:bodyPr>
          <a:lstStyle/>
          <a:p>
            <a:pPr algn="ctr">
              <a:lnSpc>
                <a:spcPct val="112000"/>
              </a:lnSpc>
              <a:buNone/>
            </a:pPr>
            <a:r>
              <a:rPr lang="zh-CN" altLang="en-US" sz="1300" b="1">
                <a:solidFill>
                  <a:srgbClr val="08A6F6"/>
                </a:solidFill>
                <a:latin typeface="微软雅黑"/>
                <a:ea typeface="微软雅黑"/>
                <a:cs typeface="微软雅黑"/>
              </a:rPr>
              <a:t>CTO 首席技术官</a:t>
            </a:r>
          </a:p>
        </p:txBody>
      </p:sp>
      <p:sp>
        <p:nvSpPr>
          <p:cNvPr id="314" name="亮点 3"/>
          <p:cNvSpPr txBox="1"/>
          <p:nvPr/>
        </p:nvSpPr>
        <p:spPr>
          <a:xfrm>
            <a:off x="6231636" y="2852928"/>
            <a:ext cx="2576322" cy="256032"/>
          </a:xfrm>
          <a:prstGeom prst="rect">
            <a:avLst/>
          </a:prstGeom>
          <a:noFill/>
        </p:spPr>
        <p:txBody>
          <a:bodyPr wrap="square" lIns="0" tIns="0" rIns="0" bIns="0" anchor="ctr">
            <a:noAutofit/>
          </a:bodyPr>
          <a:lstStyle/>
          <a:p>
            <a:pPr algn="ctr">
              <a:lnSpc>
                <a:spcPct val="112000"/>
              </a:lnSpc>
              <a:buNone/>
            </a:pPr>
            <a:r>
              <a:rPr lang="zh-CN" altLang="en-US" sz="1050">
                <a:solidFill>
                  <a:srgbClr val="44546A"/>
                </a:solidFill>
                <a:latin typeface="微软雅黑"/>
                <a:ea typeface="微软雅黑"/>
                <a:cs typeface="微软雅黑"/>
              </a:rPr>
              <a:t>生物信息 × 机器学习预测建模</a:t>
            </a:r>
          </a:p>
        </p:txBody>
      </p:sp>
      <p:sp>
        <p:nvSpPr>
          <p:cNvPr id="315" name="经历 3"/>
          <p:cNvSpPr txBox="1"/>
          <p:nvPr/>
        </p:nvSpPr>
        <p:spPr>
          <a:xfrm>
            <a:off x="6304788" y="3246120"/>
            <a:ext cx="2484882" cy="3063240"/>
          </a:xfrm>
          <a:prstGeom prst="rect">
            <a:avLst/>
          </a:prstGeom>
          <a:noFill/>
        </p:spPr>
        <p:txBody>
          <a:bodyPr wrap="square" lIns="0" tIns="0" rIns="0" bIns="0" anchor="t">
            <a:noAutofit/>
          </a:bodyPr>
          <a:lstStyle/>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慕尼黑工业大学 / 慕尼黑亥姆霍兹中心生物信息学博士</a:t>
            </a:r>
            <a:r>
              <a:rPr lang="zh-CN" altLang="en-US" sz="1000">
                <a:solidFill>
                  <a:srgbClr val="44546A"/>
                </a:solidFill>
                <a:latin typeface="微软雅黑"/>
                <a:ea typeface="微软雅黑"/>
                <a:cs typeface="微软雅黑"/>
              </a:rPr>
              <a:t>；厦门大学硕士</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约 10 年生物信息与多组学分析经验</a:t>
            </a:r>
            <a:r>
              <a:rPr lang="zh-CN" altLang="en-US" sz="1000">
                <a:solidFill>
                  <a:srgbClr val="44546A"/>
                </a:solidFill>
                <a:latin typeface="微软雅黑"/>
                <a:ea typeface="微软雅黑"/>
                <a:cs typeface="微软雅黑"/>
              </a:rPr>
              <a:t>；曾任职哈佛医学院，负责临床试验数据与多组学预测建模</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预测模型 AUC &gt; 0.95</a:t>
            </a:r>
            <a:r>
              <a:rPr lang="zh-CN" altLang="en-US" sz="1000">
                <a:solidFill>
                  <a:srgbClr val="44546A"/>
                </a:solidFill>
                <a:latin typeface="微软雅黑"/>
                <a:ea typeface="微软雅黑"/>
                <a:cs typeface="微软雅黑"/>
              </a:rPr>
              <a:t>（高维数据分类）；临床多组学预测 AUC &gt; 0.80</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多模态 + 纵向数据整合</a:t>
            </a:r>
            <a:r>
              <a:rPr lang="zh-CN" altLang="en-US" sz="1000">
                <a:solidFill>
                  <a:srgbClr val="44546A"/>
                </a:solidFill>
                <a:latin typeface="微软雅黑"/>
                <a:ea typeface="微软雅黑"/>
                <a:cs typeface="微软雅黑"/>
              </a:rPr>
              <a:t>：测序、转录、代谢、表型与临床元数据</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HPC / SLURM 规模化分析流程</a:t>
            </a:r>
            <a:r>
              <a:rPr lang="zh-CN" altLang="en-US" sz="1000">
                <a:solidFill>
                  <a:srgbClr val="44546A"/>
                </a:solidFill>
                <a:latin typeface="微软雅黑"/>
                <a:ea typeface="微软雅黑"/>
                <a:cs typeface="微软雅黑"/>
              </a:rPr>
              <a:t>，单批覆盖数百至数千样本</a:t>
            </a:r>
          </a:p>
        </p:txBody>
      </p:sp>
      <p:sp>
        <p:nvSpPr>
          <p:cNvPr id="316" name="照片 4"/>
          <p:cNvSpPr/>
          <p:nvPr/>
        </p:nvSpPr>
        <p:spPr>
          <a:xfrm>
            <a:off x="9798939" y="1024128"/>
            <a:ext cx="1143000" cy="1143000"/>
          </a:xfrm>
          <a:prstGeom prst="ellipse">
            <a:avLst/>
          </a:prstGeom>
          <a:solidFill>
            <a:srgbClr val="E7ECF2"/>
          </a:solidFill>
          <a:ln w="12700">
            <a:solidFill>
              <a:srgbClr val="99BDED"/>
            </a:solidFill>
          </a:ln>
        </p:spPr>
        <p:txBody>
          <a:bodyPr anchor="ctr"/>
          <a:lstStyle/>
          <a:p>
            <a:pPr algn="ctr">
              <a:lnSpc>
                <a:spcPct val="112000"/>
              </a:lnSpc>
              <a:buNone/>
            </a:pPr>
            <a:r>
              <a:rPr lang="zh-CN" altLang="en-US" sz="1200">
                <a:solidFill>
                  <a:srgbClr val="8496B0"/>
                </a:solidFill>
                <a:latin typeface="微软雅黑"/>
                <a:ea typeface="微软雅黑"/>
                <a:cs typeface="微软雅黑"/>
              </a:rPr>
              <a:t>照片</a:t>
            </a:r>
          </a:p>
        </p:txBody>
      </p:sp>
      <p:sp>
        <p:nvSpPr>
          <p:cNvPr id="317" name="姓名 4"/>
          <p:cNvSpPr txBox="1"/>
          <p:nvPr/>
        </p:nvSpPr>
        <p:spPr>
          <a:xfrm>
            <a:off x="9082278" y="2240280"/>
            <a:ext cx="2576322" cy="329184"/>
          </a:xfrm>
          <a:prstGeom prst="rect">
            <a:avLst/>
          </a:prstGeom>
          <a:noFill/>
        </p:spPr>
        <p:txBody>
          <a:bodyPr wrap="square" lIns="0" tIns="0" rIns="0" bIns="0" anchor="ctr">
            <a:noAutofit/>
          </a:bodyPr>
          <a:lstStyle/>
          <a:p>
            <a:pPr algn="ctr">
              <a:lnSpc>
                <a:spcPct val="112000"/>
              </a:lnSpc>
              <a:buNone/>
            </a:pPr>
            <a:r>
              <a:rPr lang="zh-CN" altLang="en-US" sz="1600" b="1">
                <a:solidFill>
                  <a:srgbClr val="061F32"/>
                </a:solidFill>
                <a:latin typeface="微软雅黑"/>
                <a:ea typeface="微软雅黑"/>
                <a:cs typeface="微软雅黑"/>
              </a:rPr>
              <a:t>兰晓静</a:t>
            </a:r>
          </a:p>
        </p:txBody>
      </p:sp>
      <p:sp>
        <p:nvSpPr>
          <p:cNvPr id="318" name="职位 4"/>
          <p:cNvSpPr txBox="1"/>
          <p:nvPr/>
        </p:nvSpPr>
        <p:spPr>
          <a:xfrm>
            <a:off x="9082278" y="2560320"/>
            <a:ext cx="2576322" cy="274320"/>
          </a:xfrm>
          <a:prstGeom prst="rect">
            <a:avLst/>
          </a:prstGeom>
          <a:noFill/>
        </p:spPr>
        <p:txBody>
          <a:bodyPr wrap="square" lIns="0" tIns="0" rIns="0" bIns="0" anchor="ctr">
            <a:noAutofit/>
          </a:bodyPr>
          <a:lstStyle/>
          <a:p>
            <a:pPr algn="ctr">
              <a:lnSpc>
                <a:spcPct val="112000"/>
              </a:lnSpc>
              <a:buNone/>
            </a:pPr>
            <a:r>
              <a:rPr lang="zh-CN" altLang="en-US" sz="1300" b="1">
                <a:solidFill>
                  <a:srgbClr val="08A6F6"/>
                </a:solidFill>
                <a:latin typeface="微软雅黑"/>
                <a:ea typeface="微软雅黑"/>
                <a:cs typeface="微软雅黑"/>
              </a:rPr>
              <a:t>COO 首席运营官</a:t>
            </a:r>
          </a:p>
        </p:txBody>
      </p:sp>
      <p:sp>
        <p:nvSpPr>
          <p:cNvPr id="319" name="亮点 4"/>
          <p:cNvSpPr txBox="1"/>
          <p:nvPr/>
        </p:nvSpPr>
        <p:spPr>
          <a:xfrm>
            <a:off x="9082278" y="2852928"/>
            <a:ext cx="2576322" cy="256032"/>
          </a:xfrm>
          <a:prstGeom prst="rect">
            <a:avLst/>
          </a:prstGeom>
          <a:noFill/>
        </p:spPr>
        <p:txBody>
          <a:bodyPr wrap="square" lIns="0" tIns="0" rIns="0" bIns="0" anchor="ctr">
            <a:noAutofit/>
          </a:bodyPr>
          <a:lstStyle/>
          <a:p>
            <a:pPr algn="ctr">
              <a:lnSpc>
                <a:spcPct val="112000"/>
              </a:lnSpc>
              <a:buNone/>
            </a:pPr>
            <a:r>
              <a:rPr lang="zh-CN" altLang="en-US" sz="1050">
                <a:solidFill>
                  <a:srgbClr val="44546A"/>
                </a:solidFill>
                <a:latin typeface="微软雅黑"/>
                <a:ea typeface="微软雅黑"/>
                <a:cs typeface="微软雅黑"/>
              </a:rPr>
              <a:t>跨境金融风控 × 科创运营</a:t>
            </a:r>
          </a:p>
        </p:txBody>
      </p:sp>
      <p:sp>
        <p:nvSpPr>
          <p:cNvPr id="320" name="经历 4"/>
          <p:cNvSpPr txBox="1"/>
          <p:nvPr/>
        </p:nvSpPr>
        <p:spPr>
          <a:xfrm>
            <a:off x="9155430" y="3246120"/>
            <a:ext cx="2484882" cy="3063240"/>
          </a:xfrm>
          <a:prstGeom prst="rect">
            <a:avLst/>
          </a:prstGeom>
          <a:noFill/>
        </p:spPr>
        <p:txBody>
          <a:bodyPr wrap="square" lIns="0" tIns="0" rIns="0" bIns="0" anchor="t">
            <a:noAutofit/>
          </a:bodyPr>
          <a:lstStyle/>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德国商业银行（Commerzbank）高级合规官</a:t>
            </a:r>
            <a:r>
              <a:rPr lang="zh-CN" altLang="en-US" sz="1000">
                <a:solidFill>
                  <a:srgbClr val="44546A"/>
                </a:solidFill>
                <a:latin typeface="微软雅黑"/>
                <a:ea typeface="微软雅黑"/>
                <a:cs typeface="微软雅黑"/>
              </a:rPr>
              <a:t>：统筹集团全球分支风控合规，向董事会提交风险研判</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曾任 Sopra Steria 合规官</a:t>
            </a:r>
            <a:r>
              <a:rPr lang="zh-CN" altLang="en-US" sz="1000">
                <a:solidFill>
                  <a:srgbClr val="44546A"/>
                </a:solidFill>
                <a:latin typeface="微软雅黑"/>
                <a:ea typeface="微软雅黑"/>
                <a:cs typeface="微软雅黑"/>
              </a:rPr>
              <a:t>、中国银行法兰克福分行反洗钱分析师</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歌德商学院高管教育中心高级项目经理</a:t>
            </a:r>
            <a:r>
              <a:rPr lang="zh-CN" altLang="en-US" sz="1000">
                <a:solidFill>
                  <a:srgbClr val="44546A"/>
                </a:solidFill>
                <a:latin typeface="微软雅黑"/>
                <a:ea typeface="微软雅黑"/>
                <a:cs typeface="微软雅黑"/>
              </a:rPr>
              <a:t>：搭建中德企业家与科创创始人交流平台</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FRM、ESG Investing 认证</a:t>
            </a:r>
            <a:r>
              <a:rPr lang="zh-CN" altLang="en-US" sz="1000">
                <a:solidFill>
                  <a:srgbClr val="44546A"/>
                </a:solidFill>
                <a:latin typeface="微软雅黑"/>
                <a:ea typeface="微软雅黑"/>
                <a:cs typeface="微软雅黑"/>
              </a:rPr>
              <a:t>；CFA 一级；精通英语、德语</a:t>
            </a:r>
          </a:p>
          <a:p>
            <a:pPr algn="l" marL="171450" indent="-171450">
              <a:lnSpc>
                <a:spcPct val="112000"/>
              </a:lnSpc>
              <a:spcAft>
                <a:spcPts val="300"/>
              </a:spcAft>
              <a:buClr>
                <a:srgbClr val="08A6F6"/>
              </a:buClr>
              <a:buFont typeface="Arial"/>
              <a:buChar char="•"/>
            </a:pPr>
            <a:r>
              <a:rPr lang="zh-CN" altLang="en-US" sz="1000" b="1">
                <a:solidFill>
                  <a:srgbClr val="061F32"/>
                </a:solidFill>
                <a:latin typeface="微软雅黑"/>
                <a:ea typeface="微软雅黑"/>
                <a:cs typeface="微软雅黑"/>
              </a:rPr>
              <a:t>海德堡大学经济学硕士</a:t>
            </a:r>
            <a:r>
              <a:rPr lang="zh-CN" altLang="en-US" sz="1000">
                <a:solidFill>
                  <a:srgbClr val="44546A"/>
                </a:solidFill>
                <a:latin typeface="微软雅黑"/>
                <a:ea typeface="微软雅黑"/>
                <a:cs typeface="微软雅黑"/>
              </a:rPr>
              <a:t>；浙江大学管理学学士（竺可桢学院创新与创业管理强化班）</a:t>
            </a:r>
          </a:p>
        </p:txBody>
      </p:sp>
      <p:sp>
        <p:nvSpPr>
          <p:cNvPr id="101" name="文本框 77"/>
          <p:cNvSpPr>
            <a:spLocks noGrp="1"/>
          </p:cNvSpPr>
          <p:nvPr/>
        </p:nvSpPr>
        <p:spPr>
          <a:xfrm>
            <a:off x="533400" y="6381750"/>
            <a:ext cx="4810125"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Source: 团队成员简历</a:t>
            </a:r>
            <a:endParaRPr sz="1050">
              <a:solidFill>
                <a:srgbClr val="808080"/>
              </a:solidFill>
              <a:latin typeface="微软雅黑"/>
              <a:ea typeface="微软雅黑"/>
              <a:cs typeface="微软雅黑"/>
            </a:endParaRPr>
          </a:p>
        </p:txBody>
      </p:sp>
      <p:sp>
        <p:nvSpPr>
          <p:cNvPr id="102" name="文本框 78"/>
          <p:cNvSpPr>
            <a:spLocks noGrp="1"/>
          </p:cNvSpPr>
          <p:nvPr/>
        </p:nvSpPr>
        <p:spPr>
          <a:xfrm>
            <a:off x="11201400" y="6381750"/>
            <a:ext cx="457200"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08 / 08</a:t>
            </a:r>
            <a:endParaRPr sz="1050">
              <a:solidFill>
                <a:srgbClr val="808080"/>
              </a:solidFill>
              <a:latin typeface="微软雅黑"/>
              <a:ea typeface="微软雅黑"/>
              <a:cs typeface="微软雅黑"/>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66" name="矩形 228"/>
          <p:cNvSpPr>
            <a:spLocks noGrp="1"/>
          </p:cNvSpPr>
          <p:nvPr/>
        </p:nvSpPr>
        <p:spPr>
          <a:xfrm>
            <a:off x="0" y="0"/>
            <a:ext cx="12192000" cy="6858000"/>
          </a:xfrm>
          <a:prstGeom prst="rect">
            <a:avLst/>
          </a:prstGeom>
          <a:solidFill>
            <a:srgbClr val="FFFFFF"/>
          </a:solidFill>
        </p:spPr>
        <p:txBody>
          <a:bodyPr/>
          <a:lstStyle/>
          <a:p/>
        </p:txBody>
      </p:sp>
      <p:sp>
        <p:nvSpPr>
          <p:cNvPr id="267" name="文本框 229"/>
          <p:cNvSpPr>
            <a:spLocks noGrp="1"/>
          </p:cNvSpPr>
          <p:nvPr/>
        </p:nvSpPr>
        <p:spPr>
          <a:xfrm>
            <a:off x="533400" y="419100"/>
            <a:ext cx="11125200" cy="381000"/>
          </a:xfrm>
          <a:prstGeom prst="rect">
            <a:avLst/>
          </a:prstGeom>
        </p:spPr>
        <p:txBody>
          <a:bodyPr wrap="none" lIns="0" tIns="0" rIns="0" bIns="0"/>
          <a:lstStyle/>
          <a:p>
            <a:pPr>
              <a:lnSpc>
                <a:spcPct val="100000"/>
              </a:lnSpc>
              <a:buNone/>
            </a:pPr>
            <a:r>
              <a:rPr sz="2475" b="1">
                <a:solidFill>
                  <a:srgbClr val="061F32"/>
                </a:solidFill>
                <a:latin typeface="微软雅黑"/>
                <a:ea typeface="微软雅黑"/>
                <a:cs typeface="微软雅黑"/>
              </a:rPr>
              <a:t>临床痛点：治疗选择缺少及时、患者特异性的功能证据</a:t>
            </a:r>
            <a:endParaRPr sz="2475" b="1">
              <a:solidFill>
                <a:srgbClr val="061F32"/>
              </a:solidFill>
              <a:latin typeface="微软雅黑"/>
              <a:ea typeface="微软雅黑"/>
              <a:cs typeface="微软雅黑"/>
            </a:endParaRPr>
          </a:p>
        </p:txBody>
      </p:sp>
      <p:sp>
        <p:nvSpPr>
          <p:cNvPr id="268" name="矩形 230"/>
          <p:cNvSpPr>
            <a:spLocks noGrp="1"/>
          </p:cNvSpPr>
          <p:nvPr/>
        </p:nvSpPr>
        <p:spPr>
          <a:xfrm>
            <a:off x="533400" y="895350"/>
            <a:ext cx="11125200" cy="9525"/>
          </a:xfrm>
          <a:prstGeom prst="rect">
            <a:avLst/>
          </a:prstGeom>
          <a:solidFill>
            <a:srgbClr val="061F32"/>
          </a:solidFill>
        </p:spPr>
        <p:txBody>
          <a:bodyPr/>
          <a:lstStyle/>
          <a:p/>
        </p:txBody>
      </p:sp>
      <p:sp>
        <p:nvSpPr>
          <p:cNvPr id="269" name="任意多边形 231"/>
          <p:cNvSpPr>
            <a:spLocks noGrp="1"/>
          </p:cNvSpPr>
          <p:nvPr/>
        </p:nvSpPr>
        <p:spPr>
          <a:xfrm>
            <a:off x="533400" y="1019175"/>
            <a:ext cx="3543300" cy="1809750"/>
          </a:xfrm>
          <a:custGeom>
            <a:avLst/>
            <a:gdLst/>
            <a:ahLst/>
            <a:cxnLst/>
            <a:pathLst>
              <a:path w="372" h="190">
                <a:moveTo>
                  <a:pt x="0" y="0"/>
                </a:moveTo>
                <a:lnTo>
                  <a:pt x="4" y="0"/>
                </a:lnTo>
                <a:lnTo>
                  <a:pt x="4" y="190"/>
                </a:lnTo>
                <a:lnTo>
                  <a:pt x="0" y="190"/>
                </a:lnTo>
                <a:close/>
              </a:path>
            </a:pathLst>
          </a:custGeom>
          <a:solidFill>
            <a:srgbClr val="061F32"/>
          </a:solidFill>
        </p:spPr>
        <p:txBody>
          <a:bodyPr/>
          <a:lstStyle/>
          <a:p/>
        </p:txBody>
      </p:sp>
      <p:sp>
        <p:nvSpPr>
          <p:cNvPr id="270" name="文本框 232"/>
          <p:cNvSpPr>
            <a:spLocks noGrp="1"/>
          </p:cNvSpPr>
          <p:nvPr/>
        </p:nvSpPr>
        <p:spPr>
          <a:xfrm>
            <a:off x="800100" y="1190625"/>
            <a:ext cx="3238500" cy="1009650"/>
          </a:xfrm>
          <a:prstGeom prst="rect">
            <a:avLst/>
          </a:prstGeom>
        </p:spPr>
        <p:txBody>
          <a:bodyPr wrap="none" lIns="0" tIns="0" rIns="0" bIns="0"/>
          <a:lstStyle/>
          <a:p>
            <a:pPr>
              <a:lnSpc>
                <a:spcPct val="100000"/>
              </a:lnSpc>
              <a:buNone/>
            </a:pPr>
            <a:r>
              <a:rPr sz="6600" b="1">
                <a:solidFill>
                  <a:srgbClr val="061F32"/>
                </a:solidFill>
                <a:latin typeface="微软雅黑"/>
                <a:ea typeface="微软雅黑"/>
                <a:cs typeface="微软雅黑"/>
              </a:rPr>
              <a:t>静态</a:t>
            </a:r>
            <a:r>
              <a:rPr sz="3000" b="1">
                <a:solidFill>
                  <a:srgbClr val="08A6F6"/>
                </a:solidFill>
                <a:latin typeface="微软雅黑"/>
                <a:ea typeface="微软雅黑"/>
                <a:cs typeface="微软雅黑"/>
              </a:rPr>
              <a:t/>
            </a:r>
            <a:r>
              <a:rPr sz="3000" b="1">
                <a:solidFill>
                  <a:srgbClr val="08A6F6"/>
                </a:solidFill>
                <a:latin typeface="微软雅黑"/>
                <a:ea typeface="微软雅黑"/>
                <a:cs typeface="微软雅黑"/>
              </a:rPr>
              <a:t> 证据</a:t>
            </a:r>
            <a:endParaRPr sz="3000" b="1">
              <a:solidFill>
                <a:srgbClr val="08A6F6"/>
              </a:solidFill>
              <a:latin typeface="微软雅黑"/>
              <a:ea typeface="微软雅黑"/>
              <a:cs typeface="微软雅黑"/>
            </a:endParaRPr>
          </a:p>
        </p:txBody>
      </p:sp>
      <p:sp>
        <p:nvSpPr>
          <p:cNvPr id="271" name="文本框 233"/>
          <p:cNvSpPr>
            <a:spLocks noGrp="1"/>
          </p:cNvSpPr>
          <p:nvPr/>
        </p:nvSpPr>
        <p:spPr>
          <a:xfrm>
            <a:off x="800100" y="2333625"/>
            <a:ext cx="3238500" cy="323850"/>
          </a:xfrm>
          <a:prstGeom prst="rect">
            <a:avLst/>
          </a:prstGeom>
        </p:spPr>
        <p:txBody>
          <a:bodyPr wrap="none" lIns="0" tIns="0" rIns="0" bIns="0"/>
          <a:lstStyle/>
          <a:p>
            <a:pPr>
              <a:lnSpc>
                <a:spcPct val="140000"/>
              </a:lnSpc>
              <a:buNone/>
            </a:pPr>
            <a:r>
              <a:rPr sz="1500">
                <a:solidFill>
                  <a:srgbClr val="44546A"/>
                </a:solidFill>
                <a:latin typeface="微软雅黑"/>
                <a:ea typeface="微软雅黑"/>
                <a:cs typeface="微软雅黑"/>
              </a:rPr>
              <a:t>单次检测只是采样那一刻的快照</a:t>
            </a:r>
            <a:endParaRPr sz="1500">
              <a:solidFill>
                <a:srgbClr val="44546A"/>
              </a:solidFill>
              <a:latin typeface="微软雅黑"/>
              <a:ea typeface="微软雅黑"/>
              <a:cs typeface="微软雅黑"/>
            </a:endParaRPr>
          </a:p>
        </p:txBody>
      </p:sp>
      <p:sp>
        <p:nvSpPr>
          <p:cNvPr id="272" name="任意多边形 234"/>
          <p:cNvSpPr>
            <a:spLocks noGrp="1"/>
          </p:cNvSpPr>
          <p:nvPr/>
        </p:nvSpPr>
        <p:spPr>
          <a:xfrm>
            <a:off x="4343400" y="1019175"/>
            <a:ext cx="3543300" cy="1809750"/>
          </a:xfrm>
          <a:custGeom>
            <a:avLst/>
            <a:gdLst/>
            <a:ahLst/>
            <a:cxnLst/>
            <a:pathLst>
              <a:path w="372" h="190">
                <a:moveTo>
                  <a:pt x="0" y="0"/>
                </a:moveTo>
                <a:lnTo>
                  <a:pt x="4" y="0"/>
                </a:lnTo>
                <a:lnTo>
                  <a:pt x="4" y="190"/>
                </a:lnTo>
                <a:lnTo>
                  <a:pt x="0" y="190"/>
                </a:lnTo>
                <a:close/>
              </a:path>
            </a:pathLst>
          </a:custGeom>
          <a:solidFill>
            <a:srgbClr val="061F32"/>
          </a:solidFill>
        </p:spPr>
        <p:txBody>
          <a:bodyPr/>
          <a:lstStyle/>
          <a:p/>
        </p:txBody>
      </p:sp>
      <p:sp>
        <p:nvSpPr>
          <p:cNvPr id="273" name="文本框 235"/>
          <p:cNvSpPr>
            <a:spLocks noGrp="1"/>
          </p:cNvSpPr>
          <p:nvPr/>
        </p:nvSpPr>
        <p:spPr>
          <a:xfrm>
            <a:off x="4610100" y="1190625"/>
            <a:ext cx="3238500" cy="1009650"/>
          </a:xfrm>
          <a:prstGeom prst="rect">
            <a:avLst/>
          </a:prstGeom>
        </p:spPr>
        <p:txBody>
          <a:bodyPr wrap="none" lIns="0" tIns="0" rIns="0" bIns="0"/>
          <a:lstStyle/>
          <a:p>
            <a:pPr>
              <a:lnSpc>
                <a:spcPct val="100000"/>
              </a:lnSpc>
              <a:buNone/>
            </a:pPr>
            <a:r>
              <a:rPr sz="6600" b="1">
                <a:solidFill>
                  <a:srgbClr val="061F32"/>
                </a:solidFill>
                <a:latin typeface="微软雅黑"/>
                <a:ea typeface="微软雅黑"/>
                <a:cs typeface="微软雅黑"/>
              </a:rPr>
              <a:t>滞后</a:t>
            </a:r>
            <a:r>
              <a:rPr sz="3000" b="1">
                <a:solidFill>
                  <a:srgbClr val="08A6F6"/>
                </a:solidFill>
                <a:latin typeface="微软雅黑"/>
                <a:ea typeface="微软雅黑"/>
                <a:cs typeface="微软雅黑"/>
              </a:rPr>
              <a:t/>
            </a:r>
            <a:r>
              <a:rPr sz="3000" b="1">
                <a:solidFill>
                  <a:srgbClr val="08A6F6"/>
                </a:solidFill>
                <a:latin typeface="微软雅黑"/>
                <a:ea typeface="微软雅黑"/>
                <a:cs typeface="微软雅黑"/>
              </a:rPr>
              <a:t> 反馈</a:t>
            </a:r>
            <a:r>
              <a:rPr sz="3000" b="1">
                <a:solidFill>
                  <a:srgbClr val="08A6F6"/>
                </a:solidFill>
                <a:latin typeface="微软雅黑"/>
                <a:ea typeface="微软雅黑"/>
                <a:cs typeface="微软雅黑"/>
              </a:rPr>
              <a:t/>
            </a:r>
            <a:endParaRPr sz="3000" b="1">
              <a:solidFill>
                <a:srgbClr val="08A6F6"/>
              </a:solidFill>
              <a:latin typeface="微软雅黑"/>
              <a:ea typeface="微软雅黑"/>
              <a:cs typeface="微软雅黑"/>
            </a:endParaRPr>
          </a:p>
        </p:txBody>
      </p:sp>
      <p:sp>
        <p:nvSpPr>
          <p:cNvPr id="274" name="文本框 236"/>
          <p:cNvSpPr>
            <a:spLocks noGrp="1"/>
          </p:cNvSpPr>
          <p:nvPr/>
        </p:nvSpPr>
        <p:spPr>
          <a:xfrm>
            <a:off x="4610100" y="2333625"/>
            <a:ext cx="3238500" cy="323850"/>
          </a:xfrm>
          <a:prstGeom prst="rect">
            <a:avLst/>
          </a:prstGeom>
        </p:spPr>
        <p:txBody>
          <a:bodyPr wrap="none" lIns="0" tIns="0" rIns="0" bIns="0"/>
          <a:lstStyle/>
          <a:p>
            <a:pPr>
              <a:lnSpc>
                <a:spcPct val="140000"/>
              </a:lnSpc>
              <a:buNone/>
            </a:pPr>
            <a:r>
              <a:rPr sz="1500">
                <a:solidFill>
                  <a:srgbClr val="44546A"/>
                </a:solidFill>
                <a:latin typeface="微软雅黑"/>
                <a:ea typeface="微软雅黑"/>
                <a:cs typeface="微软雅黑"/>
              </a:rPr>
              <a:t>治疗失败后才知道耐药已发生</a:t>
            </a:r>
            <a:endParaRPr sz="1500">
              <a:solidFill>
                <a:srgbClr val="44546A"/>
              </a:solidFill>
              <a:latin typeface="微软雅黑"/>
              <a:ea typeface="微软雅黑"/>
              <a:cs typeface="微软雅黑"/>
            </a:endParaRPr>
          </a:p>
        </p:txBody>
      </p:sp>
      <p:sp>
        <p:nvSpPr>
          <p:cNvPr id="275" name="任意多边形 237"/>
          <p:cNvSpPr>
            <a:spLocks noGrp="1"/>
          </p:cNvSpPr>
          <p:nvPr/>
        </p:nvSpPr>
        <p:spPr>
          <a:xfrm>
            <a:off x="8153400" y="1019175"/>
            <a:ext cx="3543300" cy="1809750"/>
          </a:xfrm>
          <a:custGeom>
            <a:avLst/>
            <a:gdLst/>
            <a:ahLst/>
            <a:cxnLst/>
            <a:pathLst>
              <a:path w="372" h="190">
                <a:moveTo>
                  <a:pt x="0" y="0"/>
                </a:moveTo>
                <a:lnTo>
                  <a:pt x="4" y="0"/>
                </a:lnTo>
                <a:lnTo>
                  <a:pt x="4" y="190"/>
                </a:lnTo>
                <a:lnTo>
                  <a:pt x="0" y="190"/>
                </a:lnTo>
                <a:close/>
              </a:path>
            </a:pathLst>
          </a:custGeom>
          <a:solidFill>
            <a:srgbClr val="5A0E13"/>
          </a:solidFill>
        </p:spPr>
        <p:txBody>
          <a:bodyPr/>
          <a:lstStyle/>
          <a:p/>
        </p:txBody>
      </p:sp>
      <p:sp>
        <p:nvSpPr>
          <p:cNvPr id="276" name="文本框 238"/>
          <p:cNvSpPr>
            <a:spLocks noGrp="1"/>
          </p:cNvSpPr>
          <p:nvPr/>
        </p:nvSpPr>
        <p:spPr>
          <a:xfrm>
            <a:off x="8420100" y="1028700"/>
            <a:ext cx="3238500" cy="1009650"/>
          </a:xfrm>
          <a:prstGeom prst="rect">
            <a:avLst/>
          </a:prstGeom>
        </p:spPr>
        <p:txBody>
          <a:bodyPr wrap="none" lIns="0" tIns="0" rIns="0" bIns="0"/>
          <a:lstStyle/>
          <a:p>
            <a:pPr>
              <a:lnSpc>
                <a:spcPct val="100000"/>
              </a:lnSpc>
              <a:buNone/>
            </a:pPr>
            <a:r>
              <a:rPr sz="6600" b="1">
                <a:solidFill>
                  <a:srgbClr val="5A0E13"/>
                </a:solidFill>
                <a:latin typeface="微软雅黑"/>
                <a:ea typeface="微软雅黑"/>
                <a:cs typeface="微软雅黑"/>
              </a:rPr>
              <a:t>割裂</a:t>
            </a:r>
            <a:endParaRPr sz="6600" b="1">
              <a:solidFill>
                <a:srgbClr val="5A0E13"/>
              </a:solidFill>
              <a:latin typeface="微软雅黑"/>
              <a:ea typeface="微软雅黑"/>
              <a:cs typeface="微软雅黑"/>
            </a:endParaRPr>
          </a:p>
        </p:txBody>
      </p:sp>
      <p:sp>
        <p:nvSpPr>
          <p:cNvPr id="277" name="文本框 239"/>
          <p:cNvSpPr>
            <a:spLocks noGrp="1"/>
          </p:cNvSpPr>
          <p:nvPr/>
        </p:nvSpPr>
        <p:spPr>
          <a:xfrm>
            <a:off x="8420100" y="2171700"/>
            <a:ext cx="3238500" cy="647700"/>
          </a:xfrm>
          <a:prstGeom prst="rect">
            <a:avLst/>
          </a:prstGeom>
        </p:spPr>
        <p:txBody>
          <a:bodyPr wrap="square" lIns="0" tIns="0" rIns="0" bIns="0">
            <a:normAutofit/>
          </a:bodyPr>
          <a:lstStyle/>
          <a:p>
            <a:pPr>
              <a:lnSpc>
                <a:spcPct val="140000"/>
              </a:lnSpc>
              <a:buNone/>
            </a:pPr>
            <a:r>
              <a:rPr sz="1500">
                <a:solidFill>
                  <a:srgbClr val="44546A"/>
                </a:solidFill>
                <a:latin typeface="微软雅黑"/>
                <a:ea typeface="微软雅黑"/>
                <a:cs typeface="微软雅黑"/>
              </a:rPr>
              <a:t>药筛止于「敏感性」，未转化为纵向校准的患者预测</a:t>
            </a:r>
            <a:endParaRPr sz="1500">
              <a:solidFill>
                <a:srgbClr val="44546A"/>
              </a:solidFill>
              <a:latin typeface="微软雅黑"/>
              <a:ea typeface="微软雅黑"/>
              <a:cs typeface="微软雅黑"/>
            </a:endParaRPr>
          </a:p>
        </p:txBody>
      </p:sp>
      <p:sp>
        <p:nvSpPr>
          <p:cNvPr id="278" name="矩形 240"/>
          <p:cNvSpPr>
            <a:spLocks noGrp="1"/>
          </p:cNvSpPr>
          <p:nvPr/>
        </p:nvSpPr>
        <p:spPr>
          <a:xfrm>
            <a:off x="533400" y="3038475"/>
            <a:ext cx="11125200" cy="1257300"/>
          </a:xfrm>
          <a:prstGeom prst="rect">
            <a:avLst/>
          </a:prstGeom>
          <a:solidFill>
            <a:srgbClr val="F5F5F5"/>
          </a:solidFill>
        </p:spPr>
        <p:txBody>
          <a:bodyPr/>
          <a:lstStyle/>
          <a:p/>
        </p:txBody>
      </p:sp>
      <p:sp>
        <p:nvSpPr>
          <p:cNvPr id="279" name="文本框 241"/>
          <p:cNvSpPr>
            <a:spLocks noGrp="1"/>
          </p:cNvSpPr>
          <p:nvPr/>
        </p:nvSpPr>
        <p:spPr>
          <a:xfrm>
            <a:off x="800100" y="3248025"/>
            <a:ext cx="10591800" cy="209550"/>
          </a:xfrm>
          <a:prstGeom prst="rect">
            <a:avLst/>
          </a:prstGeom>
        </p:spPr>
        <p:txBody>
          <a:bodyPr wrap="none" lIns="0" tIns="0" rIns="0" bIns="0"/>
          <a:lstStyle/>
          <a:p>
            <a:pPr>
              <a:lnSpc>
                <a:spcPct val="100000"/>
              </a:lnSpc>
              <a:buNone/>
            </a:pPr>
            <a:r>
              <a:rPr sz="1350">
                <a:solidFill>
                  <a:srgbClr val="44546A"/>
                </a:solidFill>
                <a:latin typeface="微软雅黑"/>
                <a:ea typeface="微软雅黑"/>
                <a:cs typeface="微软雅黑"/>
              </a:rPr>
              <a:t>结果：治疗方案只能凭经验选择，答案要等到下一次复查才揭晓：</a:t>
            </a:r>
            <a:endParaRPr sz="1350">
              <a:solidFill>
                <a:srgbClr val="44546A"/>
              </a:solidFill>
              <a:latin typeface="微软雅黑"/>
              <a:ea typeface="微软雅黑"/>
              <a:cs typeface="微软雅黑"/>
            </a:endParaRPr>
          </a:p>
        </p:txBody>
      </p:sp>
      <p:sp>
        <p:nvSpPr>
          <p:cNvPr id="280" name="矩形 242"/>
          <p:cNvSpPr>
            <a:spLocks noGrp="1"/>
          </p:cNvSpPr>
          <p:nvPr/>
        </p:nvSpPr>
        <p:spPr>
          <a:xfrm>
            <a:off x="800100" y="3590925"/>
            <a:ext cx="2952750" cy="495300"/>
          </a:xfrm>
          <a:prstGeom prst="rect">
            <a:avLst/>
          </a:prstGeom>
          <a:solidFill>
            <a:srgbClr val="FFFFFF"/>
          </a:solidFill>
          <a:ln w="12700">
            <a:solidFill>
              <a:srgbClr val="E7E6E6"/>
            </a:solidFill>
            <a:prstDash val="solid"/>
          </a:ln>
        </p:spPr>
        <p:txBody>
          <a:bodyPr/>
          <a:lstStyle/>
          <a:p/>
        </p:txBody>
      </p:sp>
      <p:sp>
        <p:nvSpPr>
          <p:cNvPr id="281" name="文本框 243"/>
          <p:cNvSpPr>
            <a:spLocks noGrp="1"/>
          </p:cNvSpPr>
          <p:nvPr/>
        </p:nvSpPr>
        <p:spPr>
          <a:xfrm>
            <a:off x="971550" y="3724275"/>
            <a:ext cx="2609850" cy="228600"/>
          </a:xfrm>
          <a:prstGeom prst="rect">
            <a:avLst/>
          </a:prstGeom>
        </p:spPr>
        <p:txBody>
          <a:bodyPr wrap="none" lIns="0" tIns="0" rIns="0" bIns="0"/>
          <a:lstStyle/>
          <a:p>
            <a:pPr>
              <a:lnSpc>
                <a:spcPct val="100000"/>
              </a:lnSpc>
              <a:buNone/>
            </a:pPr>
            <a:r>
              <a:rPr sz="1500" b="1">
                <a:solidFill>
                  <a:srgbClr val="061F32"/>
                </a:solidFill>
                <a:latin typeface="微软雅黑"/>
                <a:ea typeface="微软雅黑"/>
                <a:cs typeface="微软雅黑"/>
              </a:rPr>
              <a:t>采样：一次性快照</a:t>
            </a:r>
            <a:endParaRPr sz="1500" b="1">
              <a:solidFill>
                <a:srgbClr val="061F32"/>
              </a:solidFill>
              <a:latin typeface="微软雅黑"/>
              <a:ea typeface="微软雅黑"/>
              <a:cs typeface="微软雅黑"/>
            </a:endParaRPr>
          </a:p>
        </p:txBody>
      </p:sp>
      <p:pic>
        <p:nvPicPr>
          <p:cNvPr id="311" name="图片 244"/>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3905250" y="3743325"/>
            <a:ext cx="266700" cy="190500"/>
          </a:xfrm>
          <a:prstGeom prst="rect">
            <a:avLst/>
          </a:prstGeom>
        </p:spPr>
      </p:pic>
      <p:sp>
        <p:nvSpPr>
          <p:cNvPr id="283" name="矩形 245"/>
          <p:cNvSpPr>
            <a:spLocks noGrp="1"/>
          </p:cNvSpPr>
          <p:nvPr/>
        </p:nvSpPr>
        <p:spPr>
          <a:xfrm>
            <a:off x="4324350" y="3590925"/>
            <a:ext cx="2952750" cy="495300"/>
          </a:xfrm>
          <a:prstGeom prst="rect">
            <a:avLst/>
          </a:prstGeom>
          <a:solidFill>
            <a:srgbClr val="FFFFFF"/>
          </a:solidFill>
          <a:ln w="12700">
            <a:solidFill>
              <a:srgbClr val="E7E6E6"/>
            </a:solidFill>
            <a:prstDash val="solid"/>
          </a:ln>
        </p:spPr>
        <p:txBody>
          <a:bodyPr/>
          <a:lstStyle/>
          <a:p/>
        </p:txBody>
      </p:sp>
      <p:sp>
        <p:nvSpPr>
          <p:cNvPr id="284" name="文本框 246"/>
          <p:cNvSpPr>
            <a:spLocks noGrp="1"/>
          </p:cNvSpPr>
          <p:nvPr/>
        </p:nvSpPr>
        <p:spPr>
          <a:xfrm>
            <a:off x="4495800" y="3724275"/>
            <a:ext cx="2609850" cy="228600"/>
          </a:xfrm>
          <a:prstGeom prst="rect">
            <a:avLst/>
          </a:prstGeom>
        </p:spPr>
        <p:txBody>
          <a:bodyPr wrap="none" lIns="0" tIns="0" rIns="0" bIns="0"/>
          <a:lstStyle/>
          <a:p>
            <a:pPr>
              <a:lnSpc>
                <a:spcPct val="100000"/>
              </a:lnSpc>
              <a:buNone/>
            </a:pPr>
            <a:r>
              <a:rPr sz="1500" b="1">
                <a:solidFill>
                  <a:srgbClr val="061F32"/>
                </a:solidFill>
                <a:latin typeface="微软雅黑"/>
                <a:ea typeface="微软雅黑"/>
                <a:cs typeface="微软雅黑"/>
              </a:rPr>
              <a:t>用药：凭经验选择</a:t>
            </a:r>
            <a:endParaRPr sz="1500" b="1">
              <a:solidFill>
                <a:srgbClr val="061F32"/>
              </a:solidFill>
              <a:latin typeface="微软雅黑"/>
              <a:ea typeface="微软雅黑"/>
              <a:cs typeface="微软雅黑"/>
            </a:endParaRPr>
          </a:p>
        </p:txBody>
      </p:sp>
      <p:pic>
        <p:nvPicPr>
          <p:cNvPr id="314" name="图片 247"/>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29500" y="3743325"/>
            <a:ext cx="266700" cy="190500"/>
          </a:xfrm>
          <a:prstGeom prst="rect">
            <a:avLst/>
          </a:prstGeom>
        </p:spPr>
      </p:pic>
      <p:sp>
        <p:nvSpPr>
          <p:cNvPr id="286" name="矩形 248"/>
          <p:cNvSpPr>
            <a:spLocks noGrp="1"/>
          </p:cNvSpPr>
          <p:nvPr/>
        </p:nvSpPr>
        <p:spPr>
          <a:xfrm>
            <a:off x="7848600" y="3590925"/>
            <a:ext cx="3543300" cy="495300"/>
          </a:xfrm>
          <a:prstGeom prst="rect">
            <a:avLst/>
          </a:prstGeom>
          <a:solidFill>
            <a:srgbClr val="FFFFFF"/>
          </a:solidFill>
          <a:ln w="19050">
            <a:solidFill>
              <a:srgbClr val="5A0E13"/>
            </a:solidFill>
            <a:prstDash val="solid"/>
          </a:ln>
        </p:spPr>
        <p:txBody>
          <a:bodyPr/>
          <a:lstStyle/>
          <a:p/>
        </p:txBody>
      </p:sp>
      <p:sp>
        <p:nvSpPr>
          <p:cNvPr id="287" name="文本框 249"/>
          <p:cNvSpPr>
            <a:spLocks noGrp="1"/>
          </p:cNvSpPr>
          <p:nvPr/>
        </p:nvSpPr>
        <p:spPr>
          <a:xfrm>
            <a:off x="8020050" y="3724275"/>
            <a:ext cx="3200400" cy="228600"/>
          </a:xfrm>
          <a:prstGeom prst="rect">
            <a:avLst/>
          </a:prstGeom>
        </p:spPr>
        <p:txBody>
          <a:bodyPr wrap="none" lIns="0" tIns="0" rIns="0" bIns="0"/>
          <a:lstStyle/>
          <a:p>
            <a:pPr>
              <a:lnSpc>
                <a:spcPct val="100000"/>
              </a:lnSpc>
              <a:buNone/>
            </a:pPr>
            <a:r>
              <a:rPr sz="1500" b="1">
                <a:solidFill>
                  <a:srgbClr val="5A0E13"/>
                </a:solidFill>
                <a:latin typeface="微软雅黑"/>
                <a:ea typeface="微软雅黑"/>
                <a:cs typeface="微软雅黑"/>
              </a:rPr>
              <a:t>结局：失败后才知道</a:t>
            </a:r>
            <a:endParaRPr sz="1500" b="1">
              <a:solidFill>
                <a:srgbClr val="5A0E13"/>
              </a:solidFill>
              <a:latin typeface="微软雅黑"/>
              <a:ea typeface="微软雅黑"/>
              <a:cs typeface="微软雅黑"/>
            </a:endParaRPr>
          </a:p>
        </p:txBody>
      </p:sp>
      <p:sp>
        <p:nvSpPr>
          <p:cNvPr id="288" name="矩形 250"/>
          <p:cNvSpPr>
            <a:spLocks noGrp="1"/>
          </p:cNvSpPr>
          <p:nvPr/>
        </p:nvSpPr>
        <p:spPr>
          <a:xfrm>
            <a:off x="533400" y="4505325"/>
            <a:ext cx="11125200" cy="1733550"/>
          </a:xfrm>
          <a:prstGeom prst="rect">
            <a:avLst/>
          </a:prstGeom>
          <a:solidFill>
            <a:srgbClr val="061F32"/>
          </a:solidFill>
        </p:spPr>
        <p:txBody>
          <a:bodyPr/>
          <a:lstStyle/>
          <a:p/>
        </p:txBody>
      </p:sp>
      <p:sp>
        <p:nvSpPr>
          <p:cNvPr id="289" name="文本框 251"/>
          <p:cNvSpPr>
            <a:spLocks noGrp="1"/>
          </p:cNvSpPr>
          <p:nvPr/>
        </p:nvSpPr>
        <p:spPr>
          <a:xfrm>
            <a:off x="800100" y="4867275"/>
            <a:ext cx="10591800" cy="209550"/>
          </a:xfrm>
          <a:prstGeom prst="rect">
            <a:avLst/>
          </a:prstGeom>
        </p:spPr>
        <p:txBody>
          <a:bodyPr wrap="none" lIns="0" tIns="0" rIns="0" bIns="0"/>
          <a:lstStyle/>
          <a:p>
            <a:pPr>
              <a:lnSpc>
                <a:spcPct val="100000"/>
              </a:lnSpc>
              <a:buNone/>
            </a:pPr>
            <a:r>
              <a:rPr sz="1350" b="1" spc="150">
                <a:solidFill>
                  <a:srgbClr val="08A6F6"/>
                </a:solidFill>
                <a:latin typeface="微软雅黑"/>
                <a:ea typeface="微软雅黑"/>
                <a:cs typeface="微软雅黑"/>
              </a:rPr>
              <a:t>方向</a:t>
            </a:r>
            <a:endParaRPr sz="1350" b="1" spc="150">
              <a:solidFill>
                <a:srgbClr val="08A6F6"/>
              </a:solidFill>
              <a:latin typeface="微软雅黑"/>
              <a:ea typeface="微软雅黑"/>
              <a:cs typeface="微软雅黑"/>
            </a:endParaRPr>
          </a:p>
        </p:txBody>
      </p:sp>
      <p:sp>
        <p:nvSpPr>
          <p:cNvPr id="290" name="文本框 252"/>
          <p:cNvSpPr>
            <a:spLocks noGrp="1"/>
          </p:cNvSpPr>
          <p:nvPr/>
        </p:nvSpPr>
        <p:spPr>
          <a:xfrm>
            <a:off x="800100" y="5153025"/>
            <a:ext cx="10591800" cy="723900"/>
          </a:xfrm>
          <a:prstGeom prst="rect">
            <a:avLst/>
          </a:prstGeom>
        </p:spPr>
        <p:txBody>
          <a:bodyPr wrap="square" lIns="0" tIns="0" rIns="0" bIns="0">
            <a:normAutofit/>
          </a:bodyPr>
          <a:lstStyle/>
          <a:p>
            <a:pPr>
              <a:lnSpc>
                <a:spcPct val="150000"/>
              </a:lnSpc>
              <a:buNone/>
            </a:pPr>
            <a:r>
              <a:rPr sz="1575">
                <a:solidFill>
                  <a:srgbClr val="FFFFFF"/>
                </a:solidFill>
                <a:latin typeface="微软雅黑"/>
                <a:ea typeface="微软雅黑"/>
                <a:cs typeface="微软雅黑"/>
              </a:rPr>
              <a:t>在临床决策窗口期输出患者特异性预测，并用真实临床结局持续校准模型。外部证据：Peng et al., Cell Stem Cell 2025——患者来源脑肿瘤类器官（IPTO）在前瞻性研究中预测患者治疗响应（PFS / OS，p = 0.034 / 0.033）。</a:t>
            </a:r>
            <a:endParaRPr sz="1575">
              <a:solidFill>
                <a:srgbClr val="FFFFFF"/>
              </a:solidFill>
              <a:latin typeface="微软雅黑"/>
              <a:ea typeface="微软雅黑"/>
              <a:cs typeface="微软雅黑"/>
            </a:endParaRPr>
          </a:p>
        </p:txBody>
      </p:sp>
      <p:sp>
        <p:nvSpPr>
          <p:cNvPr id="291" name="文本框 253"/>
          <p:cNvSpPr>
            <a:spLocks noGrp="1"/>
          </p:cNvSpPr>
          <p:nvPr/>
        </p:nvSpPr>
        <p:spPr>
          <a:xfrm>
            <a:off x="533400" y="6381750"/>
            <a:ext cx="2828925"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Source: AIVC 商业故事 BP §2.2；Peng et al., Cell Stem Cell 32, 652–669 (2025)</a:t>
            </a:r>
            <a:r>
              <a:rPr sz="1050">
                <a:solidFill>
                  <a:srgbClr val="808080"/>
                </a:solidFill>
                <a:latin typeface="微软雅黑"/>
                <a:ea typeface="微软雅黑"/>
                <a:cs typeface="微软雅黑"/>
              </a:rPr>
              <a:t/>
            </a:r>
            <a:r>
              <a:rPr sz="1050">
                <a:solidFill>
                  <a:srgbClr val="808080"/>
                </a:solidFill>
                <a:latin typeface="微软雅黑"/>
                <a:ea typeface="微软雅黑"/>
                <a:cs typeface="微软雅黑"/>
              </a:rPr>
              <a:t/>
            </a:r>
            <a:r>
              <a:rPr sz="1050">
                <a:solidFill>
                  <a:srgbClr val="808080"/>
                </a:solidFill>
                <a:latin typeface="微软雅黑"/>
                <a:ea typeface="微软雅黑"/>
                <a:cs typeface="微软雅黑"/>
              </a:rPr>
              <a:t/>
            </a:r>
            <a:endParaRPr sz="1050">
              <a:solidFill>
                <a:srgbClr val="808080"/>
              </a:solidFill>
              <a:latin typeface="微软雅黑"/>
              <a:ea typeface="微软雅黑"/>
              <a:cs typeface="微软雅黑"/>
            </a:endParaRPr>
          </a:p>
        </p:txBody>
      </p:sp>
      <p:sp>
        <p:nvSpPr>
          <p:cNvPr id="292" name="文本框 254"/>
          <p:cNvSpPr>
            <a:spLocks noGrp="1"/>
          </p:cNvSpPr>
          <p:nvPr/>
        </p:nvSpPr>
        <p:spPr>
          <a:xfrm>
            <a:off x="11201400" y="6381750"/>
            <a:ext cx="457200" cy="161925"/>
          </a:xfrm>
          <a:prstGeom prst="rect">
            <a:avLst/>
          </a:prstGeom>
        </p:spPr>
        <p:txBody>
          <a:bodyPr wrap="none" lIns="0" tIns="0" rIns="0" bIns="0"/>
          <a:lstStyle/>
          <a:p>
            <a:pPr>
              <a:lnSpc>
                <a:spcPct val="100000"/>
              </a:lnSpc>
              <a:buNone/>
            </a:pPr>
            <a:r>
              <a:rPr sz="1050">
                <a:solidFill>
                  <a:srgbClr val="808080"/>
                </a:solidFill>
                <a:latin typeface="微软雅黑"/>
                <a:ea typeface="微软雅黑"/>
                <a:cs typeface="微软雅黑"/>
              </a:rPr>
              <a:t>05 / 08</a:t>
            </a:r>
            <a:endParaRPr sz="1050">
              <a:solidFill>
                <a:srgbClr val="808080"/>
              </a:solidFill>
              <a:latin typeface="微软雅黑"/>
              <a:ea typeface="微软雅黑"/>
              <a:cs typeface="微软雅黑"/>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7375</Words>
  <Application>WPS Office WWO_wpscloud_20260902094840-997daf6cd0</Application>
  <PresentationFormat>Converted Presentation</PresentationFormat>
  <Paragraphs>640</Paragraphs>
  <Slides>18</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18</vt:i4>
      </vt:variant>
    </vt:vector>
  </HeadingPairs>
  <TitlesOfParts>
    <vt:vector size="31" baseType="lpstr">
      <vt:lpstr>Arial</vt:lpstr>
      <vt:lpstr>宋体</vt:lpstr>
      <vt:lpstr>Wingdings</vt:lpstr>
      <vt:lpstr>Arial</vt:lpstr>
      <vt:lpstr>微软雅黑</vt:lpstr>
      <vt:lpstr>汉仪旗黑KW 55S</vt:lpstr>
      <vt:lpstr>Calibri</vt:lpstr>
      <vt:lpstr>微软雅黑</vt:lpstr>
      <vt:lpstr>Calibri</vt:lpstr>
      <vt:lpstr>微软雅黑</vt:lpstr>
      <vt:lpstr>汉仪书宋二KW</vt:lpstr>
      <vt:lpstr>Kingsoft Confetti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Walnut Exporter</cp:lastModifiedBy>
  <dcterms:created xsi:type="dcterms:W3CDTF">2026-09-14T21:32:23Z</dcterms:created>
  <dcterms:modified xsi:type="dcterms:W3CDTF">2026-09-14T21:32:23Z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21C91B9422BFD48899299F6A1ACD7A80_42</vt:lpwstr>
  </property>
  <property fmtid="{D5CDD505-2E9C-101B-9397-08002B2CF9AE}" pid="3" name="KSOProductBuildVer">
    <vt:lpwstr>2052-12.9.0.28579</vt:lpwstr>
  </property>
</Properties>
</file>