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74" r:id="rId25"/>
    <p:sldId id="262" r:id="rId10"/>
    <p:sldId id="263" r:id="rId11"/>
    <p:sldId id="268" r:id="rId16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"1.0" encoding="utf-8"?><Relationships xmlns="http://schemas.openxmlformats.org/package/2006/relationships"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" Type="http://schemas.openxmlformats.org/officeDocument/2006/relationships/theme" Target="theme/theme1.xml"/><Relationship Id="rId16" Type="http://schemas.openxmlformats.org/officeDocument/2006/relationships/slide" Target="slides/slide13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  <Relationship Id="rId25" Type="http://schemas.openxmlformats.org/officeDocument/2006/relationships/slide" Target="slides/slide19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sv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svg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sv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pic>
        <p:nvPicPr>
          <p:cNvPr id="15" name="图片 2"/>
          <p:cNvPicPr>
            <a:picLocks noChangeAspect="1"/>
          </p:cNvPicPr>
          <p:nvPr/>
        </p:nvPicPr>
        <p:blipFill>
          <a:blip r:embed="rId1">
            <a:alphaModFix amt="16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810500" y="0"/>
            <a:ext cx="4381500" cy="6858000"/>
          </a:xfrm>
          <a:prstGeom prst="rect">
            <a:avLst/>
          </a:prstGeom>
        </p:spPr>
      </p:pic>
      <p:sp>
        <p:nvSpPr>
          <p:cNvPr id="4" name="文本框 3"/>
          <p:cNvSpPr>
            <a:spLocks noGrp="1"/>
          </p:cNvSpPr>
          <p:nvPr/>
        </p:nvSpPr>
        <p:spPr>
          <a:xfrm>
            <a:off x="685800" y="838200"/>
            <a:ext cx="108204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200" b="1" spc="300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Vitoma · </a:t>
            </a:r>
            <a:r>
              <a:rPr sz="1200" b="1" spc="300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融资商业计划书</a:t>
            </a:r>
            <a:endParaRPr sz="1200" b="1" spc="300">
              <a:solidFill>
                <a:srgbClr val="08A6F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200150"/>
            <a:ext cx="609600" cy="28575"/>
          </a:xfrm>
          <a:prstGeom prst="rect">
            <a:avLst/>
          </a:prstGeom>
          <a:solidFill>
            <a:srgbClr val="08A6F6"/>
          </a:solidFill>
        </p:spPr>
        <p:txBody>
          <a:bodyPr/>
          <a:lstStyle/>
          <a:p/>
        </p:txBody>
      </p:sp>
      <p:sp>
        <p:nvSpPr>
          <p:cNvPr id="6" name="文本框 5"/>
          <p:cNvSpPr>
            <a:spLocks noGrp="1"/>
          </p:cNvSpPr>
          <p:nvPr/>
        </p:nvSpPr>
        <p:spPr>
          <a:xfrm>
            <a:off x="685800" y="1552575"/>
            <a:ext cx="10820400" cy="2505075"/>
          </a:xfrm>
          <a:prstGeom prst="rect">
            <a:avLst/>
          </a:prstGeom>
        </p:spPr>
        <p:txBody>
          <a:bodyPr wrap="none" lIns="0" tIns="0" rIns="0" bIns="0"/>
          <a:lstStyle/>
          <a:p>
            <a:pPr algn="l">
              <a:lnSpc>
                <a:spcPct val="130000"/>
              </a:lnSpc>
              <a:buNone/>
            </a:pPr>
            <a:r>
              <a:rPr lang="zh-CN" altLang="en-US" sz="4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Vitoma</a:t>
            </a:r>
            <a:endParaRPr lang="zh-CN" altLang="en-US" sz="4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50000"/>
              </a:lnSpc>
              <a:buNone/>
            </a:pPr>
            <a:r>
              <a:rPr lang="zh-CN" altLang="en-US" sz="2000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Virtual Intelligence Twin &amp; Organism Modeling Architecture</a:t>
            </a:r>
            <a:endParaRPr lang="zh-CN" altLang="en-US" sz="2000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30000"/>
              </a:lnSpc>
              <a:buNone/>
            </a:pPr>
            <a:r>
              <a:rPr lang="zh-CN" altLang="en-US" sz="3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患者与类器官双轨校准，预见肿瘤的下一步</a:t>
            </a:r>
            <a:endParaRPr lang="zh-CN" altLang="en-US" sz="36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文本框 6"/>
          <p:cNvSpPr>
            <a:spLocks noGrp="1"/>
          </p:cNvSpPr>
          <p:nvPr/>
        </p:nvSpPr>
        <p:spPr>
          <a:xfrm>
            <a:off x="685800" y="4313555"/>
            <a:ext cx="5457190" cy="457200"/>
          </a:xfrm>
          <a:prstGeom prst="rect">
            <a:avLst/>
          </a:prstGeom>
        </p:spPr>
        <p:txBody>
          <a:bodyPr wrap="none" lIns="0" tIns="0" rIns="0" bIns="0"/>
          <a:lstStyle/>
          <a:p>
            <a:pPr algn="l">
              <a:lnSpc>
                <a:spcPct val="150000"/>
              </a:lnSpc>
              <a:buNone/>
            </a:pPr>
            <a:r>
              <a:rPr sz="1650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AIVC 虚拟类器官｜让复发与耐药，在发生之前被看见</a:t>
            </a:r>
            <a:endParaRPr sz="1650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文本框 7"/>
          <p:cNvSpPr>
            <a:spLocks noGrp="1"/>
          </p:cNvSpPr>
          <p:nvPr/>
        </p:nvSpPr>
        <p:spPr>
          <a:xfrm>
            <a:off x="685800" y="5829300"/>
            <a:ext cx="1190625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AIVC </a:t>
            </a: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虚拟类器官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2143125" y="5848350"/>
            <a:ext cx="9525" cy="152400"/>
          </a:xfrm>
          <a:prstGeom prst="rect">
            <a:avLst/>
          </a:prstGeom>
          <a:solidFill>
            <a:srgbClr val="44546A"/>
          </a:solidFill>
        </p:spPr>
        <p:txBody>
          <a:bodyPr/>
          <a:lstStyle/>
          <a:p/>
        </p:txBody>
      </p:sp>
      <p:sp>
        <p:nvSpPr>
          <p:cNvPr id="10" name="文本框 9"/>
          <p:cNvSpPr>
            <a:spLocks noGrp="1"/>
          </p:cNvSpPr>
          <p:nvPr/>
        </p:nvSpPr>
        <p:spPr>
          <a:xfrm>
            <a:off x="2419350" y="5829300"/>
            <a:ext cx="1819275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200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本轮融资</a:t>
            </a:r>
            <a:r>
              <a:rPr sz="1200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 5000 </a:t>
            </a:r>
            <a:r>
              <a:rPr sz="1200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万元人民币</a:t>
            </a:r>
            <a:endParaRPr sz="1200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4505325" y="5848350"/>
            <a:ext cx="9525" cy="152400"/>
          </a:xfrm>
          <a:prstGeom prst="rect">
            <a:avLst/>
          </a:prstGeom>
          <a:solidFill>
            <a:srgbClr val="44546A"/>
          </a:solidFill>
        </p:spPr>
        <p:txBody>
          <a:bodyPr/>
          <a:lstStyle/>
          <a:p/>
        </p:txBody>
      </p:sp>
      <p:sp>
        <p:nvSpPr>
          <p:cNvPr id="12" name="文本框 11"/>
          <p:cNvSpPr>
            <a:spLocks noGrp="1"/>
          </p:cNvSpPr>
          <p:nvPr/>
        </p:nvSpPr>
        <p:spPr>
          <a:xfrm>
            <a:off x="4781550" y="5829300"/>
            <a:ext cx="89535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2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2026 </a:t>
            </a:r>
            <a:r>
              <a:rPr sz="12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年</a:t>
            </a:r>
            <a:r>
              <a:rPr sz="12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 10 </a:t>
            </a:r>
            <a:r>
              <a:rPr sz="12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月</a:t>
            </a:r>
            <a:endParaRPr sz="1200">
              <a:solidFill>
                <a:srgbClr val="99BDED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39" name="矩形 20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240" name="文本框 202"/>
          <p:cNvSpPr>
            <a:spLocks noGrp="1"/>
          </p:cNvSpPr>
          <p:nvPr/>
        </p:nvSpPr>
        <p:spPr>
          <a:xfrm>
            <a:off x="533400" y="419100"/>
            <a:ext cx="11125200" cy="3429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2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目录</a:t>
            </a:r>
            <a:endParaRPr sz="22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1" name="矩形 203"/>
          <p:cNvSpPr>
            <a:spLocks noGrp="1"/>
          </p:cNvSpPr>
          <p:nvPr/>
        </p:nvSpPr>
        <p:spPr>
          <a:xfrm>
            <a:off x="533400" y="8572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42" name="任意多边形 204"/>
          <p:cNvSpPr>
            <a:spLocks noGrp="1"/>
          </p:cNvSpPr>
          <p:nvPr/>
        </p:nvSpPr>
        <p:spPr>
          <a:xfrm>
            <a:off x="533400" y="2009775"/>
            <a:ext cx="3557016" cy="2466975"/>
          </a:xfrm>
          <a:custGeom>
            <a:avLst/>
            <a:gdLst/>
            <a:ahLst/>
            <a:cxnLst/>
            <a:pathLst>
              <a:path w="572" h="259">
                <a:moveTo>
                  <a:pt x="0" y="0"/>
                </a:moveTo>
                <a:lnTo>
                  <a:pt x="572" y="0"/>
                </a:lnTo>
                <a:lnTo>
                  <a:pt x="572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43" name="文本框 205"/>
          <p:cNvSpPr>
            <a:spLocks noGrp="1"/>
          </p:cNvSpPr>
          <p:nvPr/>
        </p:nvSpPr>
        <p:spPr>
          <a:xfrm>
            <a:off x="533400" y="2231136"/>
            <a:ext cx="3557016" cy="5048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33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3300" b="1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4" name="文本框 206"/>
          <p:cNvSpPr>
            <a:spLocks noGrp="1"/>
          </p:cNvSpPr>
          <p:nvPr/>
        </p:nvSpPr>
        <p:spPr>
          <a:xfrm>
            <a:off x="533400" y="2807207"/>
            <a:ext cx="3557016" cy="36576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9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需求与时机</a:t>
            </a:r>
            <a:endParaRPr sz="19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5" name="文本框 207"/>
          <p:cNvSpPr>
            <a:spLocks noGrp="1"/>
          </p:cNvSpPr>
          <p:nvPr/>
        </p:nvSpPr>
        <p:spPr>
          <a:xfrm>
            <a:off x="533400" y="3291840"/>
            <a:ext cx="3557016" cy="329184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研发「试错」代价高企；临床治疗决策缺少患者特异性的功能证据；类器官、多模态测量、算力与 AI 四项条件已同步成熟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6" name="任意多边形 208"/>
          <p:cNvSpPr>
            <a:spLocks noGrp="1"/>
          </p:cNvSpPr>
          <p:nvPr/>
        </p:nvSpPr>
        <p:spPr>
          <a:xfrm>
            <a:off x="4319016" y="2009775"/>
            <a:ext cx="3557016" cy="2466975"/>
          </a:xfrm>
          <a:custGeom>
            <a:avLst/>
            <a:gdLst/>
            <a:ahLst/>
            <a:cxnLst/>
            <a:pathLst>
              <a:path w="572" h="259">
                <a:moveTo>
                  <a:pt x="0" y="0"/>
                </a:moveTo>
                <a:lnTo>
                  <a:pt x="572" y="0"/>
                </a:lnTo>
                <a:lnTo>
                  <a:pt x="572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47" name="文本框 209"/>
          <p:cNvSpPr>
            <a:spLocks noGrp="1"/>
          </p:cNvSpPr>
          <p:nvPr/>
        </p:nvSpPr>
        <p:spPr>
          <a:xfrm>
            <a:off x="4319016" y="2231136"/>
            <a:ext cx="3557016" cy="5048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33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3300" b="1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8" name="文本框 210"/>
          <p:cNvSpPr>
            <a:spLocks noGrp="1"/>
          </p:cNvSpPr>
          <p:nvPr/>
        </p:nvSpPr>
        <p:spPr>
          <a:xfrm>
            <a:off x="4319016" y="2807207"/>
            <a:ext cx="3557016" cy="36576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9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技术壁垒与团队</a:t>
            </a:r>
            <a:endParaRPr sz="19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9" name="文本框 211"/>
          <p:cNvSpPr>
            <a:spLocks noGrp="1"/>
          </p:cNvSpPr>
          <p:nvPr/>
        </p:nvSpPr>
        <p:spPr>
          <a:xfrm>
            <a:off x="4319016" y="3291840"/>
            <a:ext cx="3557016" cy="329184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患者 × 类器官双轨校准，学习干预后的状态转移；数据飞轮与四道护城河；科学 × 数据 × 模型 × 运营团队实现能力闭环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0" name="任意多边形 212"/>
          <p:cNvSpPr>
            <a:spLocks noGrp="1"/>
          </p:cNvSpPr>
          <p:nvPr/>
        </p:nvSpPr>
        <p:spPr>
          <a:xfrm>
            <a:off x="8104632" y="2009775"/>
            <a:ext cx="3557016" cy="2466975"/>
          </a:xfrm>
          <a:custGeom>
            <a:avLst/>
            <a:gdLst/>
            <a:ahLst/>
            <a:cxnLst/>
            <a:pathLst>
              <a:path w="572" h="259">
                <a:moveTo>
                  <a:pt x="0" y="0"/>
                </a:moveTo>
                <a:lnTo>
                  <a:pt x="572" y="0"/>
                </a:lnTo>
                <a:lnTo>
                  <a:pt x="572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51" name="文本框 213"/>
          <p:cNvSpPr>
            <a:spLocks noGrp="1"/>
          </p:cNvSpPr>
          <p:nvPr/>
        </p:nvSpPr>
        <p:spPr>
          <a:xfrm>
            <a:off x="8104632" y="2231136"/>
            <a:ext cx="3557016" cy="5048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33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3300" b="1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2" name="文本框 214"/>
          <p:cNvSpPr>
            <a:spLocks noGrp="1"/>
          </p:cNvSpPr>
          <p:nvPr/>
        </p:nvSpPr>
        <p:spPr>
          <a:xfrm>
            <a:off x="8104632" y="2807207"/>
            <a:ext cx="3557016" cy="36576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9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商业价值与回报</a:t>
            </a:r>
            <a:endParaRPr sz="19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3" name="文本框 215"/>
          <p:cNvSpPr>
            <a:spLocks noGrp="1"/>
          </p:cNvSpPr>
          <p:nvPr/>
        </p:nvSpPr>
        <p:spPr>
          <a:xfrm>
            <a:off x="8104632" y="3291840"/>
            <a:ext cx="3557016" cy="329184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分阶段商业模式与合作路径；5000 万元 / 12 个月预算与 Plan B 准备金；里程碑与投资回报</a:t>
            </a:r>
            <a:endParaRPr sz="1275">
              <a:solidFill>
                <a:srgbClr val="44546A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8" name="文本框 220"/>
          <p:cNvSpPr>
            <a:spLocks noGrp="1"/>
          </p:cNvSpPr>
          <p:nvPr/>
        </p:nvSpPr>
        <p:spPr>
          <a:xfrm>
            <a:off x="533400" y="6343650"/>
            <a:ext cx="20669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Vitoma · AIVC 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虚拟类器官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 · 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融资商业计划书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9" name="文本框 221"/>
          <p:cNvSpPr>
            <a:spLocks noGrp="1"/>
          </p:cNvSpPr>
          <p:nvPr/>
        </p:nvSpPr>
        <p:spPr>
          <a:xfrm>
            <a:off x="11201400" y="63436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02 / 08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61" name="矩形 223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2032"/>
          </a:solidFill>
        </p:spPr>
        <p:txBody>
          <a:bodyPr/>
          <a:lstStyle/>
          <a:p/>
        </p:txBody>
      </p:sp>
      <p:sp>
        <p:nvSpPr>
          <p:cNvPr id="262" name="文本框 224"/>
          <p:cNvSpPr>
            <a:spLocks noGrp="1"/>
          </p:cNvSpPr>
          <p:nvPr/>
        </p:nvSpPr>
        <p:spPr>
          <a:xfrm>
            <a:off x="4429125" y="2981325"/>
            <a:ext cx="3219450" cy="533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34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需求与时机</a:t>
            </a:r>
            <a:endParaRPr sz="34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3" name="文本框 225"/>
          <p:cNvSpPr>
            <a:spLocks noGrp="1"/>
          </p:cNvSpPr>
          <p:nvPr/>
        </p:nvSpPr>
        <p:spPr>
          <a:xfrm>
            <a:off x="4429125" y="3648075"/>
            <a:ext cx="32194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00" spc="22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THE NEED &amp; WHY NOW</a:t>
            </a:r>
            <a:endParaRPr sz="1500" spc="225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4" name="文本框 226"/>
          <p:cNvSpPr>
            <a:spLocks noGrp="1"/>
          </p:cNvSpPr>
          <p:nvPr/>
        </p:nvSpPr>
        <p:spPr>
          <a:xfrm>
            <a:off x="685800" y="1943100"/>
            <a:ext cx="3057525" cy="2971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9500" b="1">
                <a:solidFill>
                  <a:srgbClr val="FFFFFF">
                    <a:alpha val="12000"/>
                  </a:srgbClr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9500" b="1">
              <a:solidFill>
                <a:srgbClr val="FFFFFF">
                  <a:alpha val="12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66" name="矩形 228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267" name="文本框 229"/>
          <p:cNvSpPr>
            <a:spLocks noGrp="1"/>
          </p:cNvSpPr>
          <p:nvPr/>
        </p:nvSpPr>
        <p:spPr>
          <a:xfrm>
            <a:off x="533400" y="419100"/>
            <a:ext cx="11125200" cy="3810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痛点：药物研发的「试错」正在变得不可承受</a:t>
            </a:r>
            <a:endParaRPr sz="24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8" name="矩形 230"/>
          <p:cNvSpPr>
            <a:spLocks noGrp="1"/>
          </p:cNvSpPr>
          <p:nvPr/>
        </p:nvSpPr>
        <p:spPr>
          <a:xfrm>
            <a:off x="533400" y="8953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69" name="任意多边形 231"/>
          <p:cNvSpPr>
            <a:spLocks noGrp="1"/>
          </p:cNvSpPr>
          <p:nvPr/>
        </p:nvSpPr>
        <p:spPr>
          <a:xfrm>
            <a:off x="533400" y="1019175"/>
            <a:ext cx="3543300" cy="1809750"/>
          </a:xfrm>
          <a:custGeom>
            <a:avLst/>
            <a:gdLst/>
            <a:ahLst/>
            <a:cxnLst/>
            <a:pathLst>
              <a:path w="372" h="190">
                <a:moveTo>
                  <a:pt x="0" y="0"/>
                </a:moveTo>
                <a:lnTo>
                  <a:pt x="4" y="0"/>
                </a:lnTo>
                <a:lnTo>
                  <a:pt x="4" y="190"/>
                </a:lnTo>
                <a:lnTo>
                  <a:pt x="0" y="190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70" name="文本框 232"/>
          <p:cNvSpPr>
            <a:spLocks noGrp="1"/>
          </p:cNvSpPr>
          <p:nvPr/>
        </p:nvSpPr>
        <p:spPr>
          <a:xfrm>
            <a:off x="800100" y="1190625"/>
            <a:ext cx="3238500" cy="1009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6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10</a:t>
            </a:r>
            <a:r>
              <a:rPr sz="3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+ </a:t>
            </a:r>
            <a:r>
              <a:rPr sz="3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年</a:t>
            </a:r>
            <a:endParaRPr sz="3000" b="1">
              <a:solidFill>
                <a:srgbClr val="08A6F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1" name="文本框 233"/>
          <p:cNvSpPr>
            <a:spLocks noGrp="1"/>
          </p:cNvSpPr>
          <p:nvPr/>
        </p:nvSpPr>
        <p:spPr>
          <a:xfrm>
            <a:off x="800100" y="2333625"/>
            <a:ext cx="3238500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0000"/>
              </a:lnSpc>
              <a:buNone/>
            </a:pPr>
            <a:r>
              <a:rPr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一个创新药从发现到上市的平均耗时</a:t>
            </a:r>
            <a:endParaRPr sz="1500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2" name="任意多边形 234"/>
          <p:cNvSpPr>
            <a:spLocks noGrp="1"/>
          </p:cNvSpPr>
          <p:nvPr/>
        </p:nvSpPr>
        <p:spPr>
          <a:xfrm>
            <a:off x="4343400" y="1019175"/>
            <a:ext cx="3543300" cy="1809750"/>
          </a:xfrm>
          <a:custGeom>
            <a:avLst/>
            <a:gdLst/>
            <a:ahLst/>
            <a:cxnLst/>
            <a:pathLst>
              <a:path w="372" h="190">
                <a:moveTo>
                  <a:pt x="0" y="0"/>
                </a:moveTo>
                <a:lnTo>
                  <a:pt x="4" y="0"/>
                </a:lnTo>
                <a:lnTo>
                  <a:pt x="4" y="190"/>
                </a:lnTo>
                <a:lnTo>
                  <a:pt x="0" y="190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73" name="文本框 235"/>
          <p:cNvSpPr>
            <a:spLocks noGrp="1"/>
          </p:cNvSpPr>
          <p:nvPr/>
        </p:nvSpPr>
        <p:spPr>
          <a:xfrm>
            <a:off x="4610100" y="1190625"/>
            <a:ext cx="3238500" cy="1009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6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$20</a:t>
            </a:r>
            <a:r>
              <a:rPr sz="3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3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亿</a:t>
            </a:r>
            <a:r>
              <a:rPr sz="3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+</a:t>
            </a:r>
            <a:endParaRPr sz="3000" b="1">
              <a:solidFill>
                <a:srgbClr val="08A6F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4" name="文本框 236"/>
          <p:cNvSpPr>
            <a:spLocks noGrp="1"/>
          </p:cNvSpPr>
          <p:nvPr/>
        </p:nvSpPr>
        <p:spPr>
          <a:xfrm>
            <a:off x="4610100" y="2333625"/>
            <a:ext cx="3238500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0000"/>
              </a:lnSpc>
              <a:buNone/>
            </a:pPr>
            <a:r>
              <a:rPr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平均研发花费（美元），且仍在上升</a:t>
            </a:r>
            <a:endParaRPr sz="1500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5" name="任意多边形 237"/>
          <p:cNvSpPr>
            <a:spLocks noGrp="1"/>
          </p:cNvSpPr>
          <p:nvPr/>
        </p:nvSpPr>
        <p:spPr>
          <a:xfrm>
            <a:off x="8153400" y="1019175"/>
            <a:ext cx="3543300" cy="1809750"/>
          </a:xfrm>
          <a:custGeom>
            <a:avLst/>
            <a:gdLst/>
            <a:ahLst/>
            <a:cxnLst/>
            <a:pathLst>
              <a:path w="372" h="190">
                <a:moveTo>
                  <a:pt x="0" y="0"/>
                </a:moveTo>
                <a:lnTo>
                  <a:pt x="4" y="0"/>
                </a:lnTo>
                <a:lnTo>
                  <a:pt x="4" y="190"/>
                </a:lnTo>
                <a:lnTo>
                  <a:pt x="0" y="190"/>
                </a:lnTo>
                <a:close/>
              </a:path>
            </a:pathLst>
          </a:custGeom>
          <a:solidFill>
            <a:srgbClr val="5A0E13"/>
          </a:solidFill>
        </p:spPr>
        <p:txBody>
          <a:bodyPr/>
          <a:lstStyle/>
          <a:p/>
        </p:txBody>
      </p:sp>
      <p:sp>
        <p:nvSpPr>
          <p:cNvPr id="276" name="文本框 238"/>
          <p:cNvSpPr>
            <a:spLocks noGrp="1"/>
          </p:cNvSpPr>
          <p:nvPr/>
        </p:nvSpPr>
        <p:spPr>
          <a:xfrm>
            <a:off x="8420100" y="1028700"/>
            <a:ext cx="3238500" cy="1009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6600" b="1">
                <a:solidFill>
                  <a:srgbClr val="5A0E13"/>
                </a:solidFill>
                <a:latin typeface="微软雅黑"/>
                <a:ea typeface="微软雅黑"/>
                <a:cs typeface="微软雅黑"/>
              </a:rPr>
              <a:t>后期</a:t>
            </a:r>
            <a:endParaRPr sz="6600" b="1">
              <a:solidFill>
                <a:srgbClr val="5A0E1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7" name="文本框 239"/>
          <p:cNvSpPr>
            <a:spLocks noGrp="1"/>
          </p:cNvSpPr>
          <p:nvPr/>
        </p:nvSpPr>
        <p:spPr>
          <a:xfrm>
            <a:off x="8420100" y="2171700"/>
            <a:ext cx="3238500" cy="6477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40000"/>
              </a:lnSpc>
              <a:buNone/>
            </a:pPr>
            <a:r>
              <a:rPr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失败主要发生在临床后期——代价最高的阶段</a:t>
            </a:r>
            <a:endParaRPr sz="1500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8" name="矩形 240"/>
          <p:cNvSpPr>
            <a:spLocks noGrp="1"/>
          </p:cNvSpPr>
          <p:nvPr/>
        </p:nvSpPr>
        <p:spPr>
          <a:xfrm>
            <a:off x="533400" y="3038475"/>
            <a:ext cx="11125200" cy="1257300"/>
          </a:xfrm>
          <a:prstGeom prst="rect">
            <a:avLst/>
          </a:prstGeom>
          <a:solidFill>
            <a:srgbClr val="F5F5F5"/>
          </a:solidFill>
        </p:spPr>
        <p:txBody>
          <a:bodyPr/>
          <a:lstStyle/>
          <a:p/>
        </p:txBody>
      </p:sp>
      <p:sp>
        <p:nvSpPr>
          <p:cNvPr id="279" name="文本框 241"/>
          <p:cNvSpPr>
            <a:spLocks noGrp="1"/>
          </p:cNvSpPr>
          <p:nvPr/>
        </p:nvSpPr>
        <p:spPr>
          <a:xfrm>
            <a:off x="800100" y="3248025"/>
            <a:ext cx="105918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35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为什么失败在后期才暴露？因为早期模型预测不了患者之间的差异，更追不上肿瘤随时间的演化：</a:t>
            </a:r>
            <a:endParaRPr sz="1350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0" name="矩形 242"/>
          <p:cNvSpPr>
            <a:spLocks noGrp="1"/>
          </p:cNvSpPr>
          <p:nvPr/>
        </p:nvSpPr>
        <p:spPr>
          <a:xfrm>
            <a:off x="800100" y="3590925"/>
            <a:ext cx="2952750" cy="4953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  <a:prstDash val="solid"/>
          </a:ln>
        </p:spPr>
        <p:txBody>
          <a:bodyPr/>
          <a:lstStyle/>
          <a:p/>
        </p:txBody>
      </p:sp>
      <p:sp>
        <p:nvSpPr>
          <p:cNvPr id="281" name="文本框 243"/>
          <p:cNvSpPr>
            <a:spLocks noGrp="1"/>
          </p:cNvSpPr>
          <p:nvPr/>
        </p:nvSpPr>
        <p:spPr>
          <a:xfrm>
            <a:off x="971550" y="3724275"/>
            <a:ext cx="26098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细胞模型：体外有效</a:t>
            </a:r>
            <a:endParaRPr sz="150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311" name="图片 244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05250" y="3743325"/>
            <a:ext cx="266700" cy="190500"/>
          </a:xfrm>
          <a:prstGeom prst="rect">
            <a:avLst/>
          </a:prstGeom>
        </p:spPr>
      </p:pic>
      <p:sp>
        <p:nvSpPr>
          <p:cNvPr id="283" name="矩形 245"/>
          <p:cNvSpPr>
            <a:spLocks noGrp="1"/>
          </p:cNvSpPr>
          <p:nvPr/>
        </p:nvSpPr>
        <p:spPr>
          <a:xfrm>
            <a:off x="4324350" y="3590925"/>
            <a:ext cx="2952750" cy="4953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  <a:prstDash val="solid"/>
          </a:ln>
        </p:spPr>
        <p:txBody>
          <a:bodyPr/>
          <a:lstStyle/>
          <a:p/>
        </p:txBody>
      </p:sp>
      <p:sp>
        <p:nvSpPr>
          <p:cNvPr id="284" name="文本框 246"/>
          <p:cNvSpPr>
            <a:spLocks noGrp="1"/>
          </p:cNvSpPr>
          <p:nvPr/>
        </p:nvSpPr>
        <p:spPr>
          <a:xfrm>
            <a:off x="4495800" y="3724275"/>
            <a:ext cx="26098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动物模型：动物有效</a:t>
            </a:r>
            <a:endParaRPr sz="150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314" name="图片 247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29500" y="3743325"/>
            <a:ext cx="266700" cy="190500"/>
          </a:xfrm>
          <a:prstGeom prst="rect">
            <a:avLst/>
          </a:prstGeom>
        </p:spPr>
      </p:pic>
      <p:sp>
        <p:nvSpPr>
          <p:cNvPr id="286" name="矩形 248"/>
          <p:cNvSpPr>
            <a:spLocks noGrp="1"/>
          </p:cNvSpPr>
          <p:nvPr/>
        </p:nvSpPr>
        <p:spPr>
          <a:xfrm>
            <a:off x="7848600" y="3590925"/>
            <a:ext cx="3543300" cy="495300"/>
          </a:xfrm>
          <a:prstGeom prst="rect">
            <a:avLst/>
          </a:prstGeom>
          <a:solidFill>
            <a:srgbClr val="FFFFFF"/>
          </a:solidFill>
          <a:ln w="19050">
            <a:solidFill>
              <a:srgbClr val="5A0E13"/>
            </a:solidFill>
            <a:prstDash val="solid"/>
          </a:ln>
        </p:spPr>
        <p:txBody>
          <a:bodyPr/>
          <a:lstStyle/>
          <a:p/>
        </p:txBody>
      </p:sp>
      <p:sp>
        <p:nvSpPr>
          <p:cNvPr id="287" name="文本框 249"/>
          <p:cNvSpPr>
            <a:spLocks noGrp="1"/>
          </p:cNvSpPr>
          <p:nvPr/>
        </p:nvSpPr>
        <p:spPr>
          <a:xfrm>
            <a:off x="8020050" y="3724275"/>
            <a:ext cx="320040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00" b="1">
                <a:solidFill>
                  <a:srgbClr val="5A0E13"/>
                </a:solidFill>
                <a:latin typeface="微软雅黑"/>
                <a:ea typeface="微软雅黑"/>
                <a:cs typeface="微软雅黑"/>
              </a:rPr>
              <a:t>患者身上：无效甚至有害</a:t>
            </a:r>
            <a:endParaRPr sz="1500" b="1">
              <a:solidFill>
                <a:srgbClr val="5A0E1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8" name="矩形 250"/>
          <p:cNvSpPr>
            <a:spLocks noGrp="1"/>
          </p:cNvSpPr>
          <p:nvPr/>
        </p:nvSpPr>
        <p:spPr>
          <a:xfrm>
            <a:off x="533400" y="4505325"/>
            <a:ext cx="11125200" cy="1733550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89" name="文本框 251"/>
          <p:cNvSpPr>
            <a:spLocks noGrp="1"/>
          </p:cNvSpPr>
          <p:nvPr/>
        </p:nvSpPr>
        <p:spPr>
          <a:xfrm>
            <a:off x="800100" y="4867275"/>
            <a:ext cx="105918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350" b="1" spc="150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根本矛盾</a:t>
            </a:r>
            <a:endParaRPr sz="1350" b="1" spc="150">
              <a:solidFill>
                <a:srgbClr val="08A6F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0" name="文本框 252"/>
          <p:cNvSpPr>
            <a:spLocks noGrp="1"/>
          </p:cNvSpPr>
          <p:nvPr/>
        </p:nvSpPr>
        <p:spPr>
          <a:xfrm>
            <a:off x="800100" y="5153025"/>
            <a:ext cx="10591800" cy="7239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575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生命系统的复杂程度远超实验手段的覆盖能力——候选药物太多、患者差异太大、生命状态随时间持续变化，真实实验永远做不过来；而耐药与复发，要等到患者治疗失败后才被看见。试错范式走到尽头，必须换一条路。</a:t>
            </a:r>
            <a:endParaRPr sz="1575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1" name="文本框 253"/>
          <p:cNvSpPr>
            <a:spLocks noGrp="1"/>
          </p:cNvSpPr>
          <p:nvPr/>
        </p:nvSpPr>
        <p:spPr>
          <a:xfrm>
            <a:off x="533400" y="6381750"/>
            <a:ext cx="28289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Source: AIVC 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商业故事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 BP §2.1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；行业公开数据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2" name="文本框 254"/>
          <p:cNvSpPr>
            <a:spLocks noGrp="1"/>
          </p:cNvSpPr>
          <p:nvPr/>
        </p:nvSpPr>
        <p:spPr>
          <a:xfrm>
            <a:off x="11201400" y="63817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04 / 08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46" name="矩形 280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347" name="文本框 281"/>
          <p:cNvSpPr>
            <a:spLocks noGrp="1"/>
          </p:cNvSpPr>
          <p:nvPr/>
        </p:nvSpPr>
        <p:spPr>
          <a:xfrm>
            <a:off x="533400" y="419100"/>
            <a:ext cx="11125200" cy="3810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为什么是现在：四项技术条件同步趋于成熟</a:t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Arial" panose="020B0604020202020204" pitchFamily="34" charset="0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endParaRPr sz="24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8" name="矩形 282"/>
          <p:cNvSpPr>
            <a:spLocks noGrp="1"/>
          </p:cNvSpPr>
          <p:nvPr/>
        </p:nvSpPr>
        <p:spPr>
          <a:xfrm>
            <a:off x="533400" y="8953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49" name="文本框 283"/>
          <p:cNvSpPr>
            <a:spLocks noGrp="1"/>
          </p:cNvSpPr>
          <p:nvPr/>
        </p:nvSpPr>
        <p:spPr>
          <a:xfrm>
            <a:off x="533400" y="981075"/>
            <a:ext cx="65722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zh-CN" altLang="en-US"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为</a:t>
            </a:r>
            <a:r>
              <a:rPr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患者特异性纵向虚拟类器官</a:t>
            </a:r>
            <a:r>
              <a:rPr lang="zh-CN" altLang="en-US"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搭建</a:t>
            </a:r>
            <a:r>
              <a:rPr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工程化基础</a:t>
            </a:r>
            <a:endParaRPr sz="150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0" name="任意多边形 284"/>
          <p:cNvSpPr>
            <a:spLocks noGrp="1"/>
          </p:cNvSpPr>
          <p:nvPr/>
        </p:nvSpPr>
        <p:spPr>
          <a:xfrm>
            <a:off x="533400" y="1381125"/>
            <a:ext cx="3219450" cy="2390775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51" name="文本框 285"/>
          <p:cNvSpPr>
            <a:spLocks noGrp="1"/>
          </p:cNvSpPr>
          <p:nvPr/>
        </p:nvSpPr>
        <p:spPr>
          <a:xfrm>
            <a:off x="723900" y="1581150"/>
            <a:ext cx="283845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类器官技术</a:t>
            </a:r>
            <a:endParaRPr sz="16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2" name="文本框 286"/>
          <p:cNvSpPr>
            <a:spLocks noGrp="1"/>
          </p:cNvSpPr>
          <p:nvPr/>
        </p:nvSpPr>
        <p:spPr>
          <a:xfrm>
            <a:off x="723900" y="1933575"/>
            <a:ext cx="2838450" cy="8763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患者来源类器官（IPTO）能高保真保留肿瘤生态系统，个体差异与微环境同时在线，可纵向追踪演化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3" name="任意多边形 287"/>
          <p:cNvSpPr>
            <a:spLocks noGrp="1"/>
          </p:cNvSpPr>
          <p:nvPr/>
        </p:nvSpPr>
        <p:spPr>
          <a:xfrm>
            <a:off x="3886200" y="1381125"/>
            <a:ext cx="3219450" cy="2390775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54" name="文本框 288"/>
          <p:cNvSpPr>
            <a:spLocks noGrp="1"/>
          </p:cNvSpPr>
          <p:nvPr/>
        </p:nvSpPr>
        <p:spPr>
          <a:xfrm>
            <a:off x="4076700" y="1581150"/>
            <a:ext cx="283845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成像与测量</a:t>
            </a:r>
            <a:endParaRPr sz="16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5" name="文本框 289"/>
          <p:cNvSpPr>
            <a:spLocks noGrp="1"/>
          </p:cNvSpPr>
          <p:nvPr/>
        </p:nvSpPr>
        <p:spPr>
          <a:xfrm>
            <a:off x="4076700" y="1933575"/>
            <a:ext cx="2838450" cy="8763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长时程活细胞成像、高内涵成像、单细胞 / 空间组学，把细胞状态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转化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成可计算的多模态数据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6" name="任意多边形 290"/>
          <p:cNvSpPr>
            <a:spLocks noGrp="1"/>
          </p:cNvSpPr>
          <p:nvPr/>
        </p:nvSpPr>
        <p:spPr>
          <a:xfrm>
            <a:off x="533400" y="3876675"/>
            <a:ext cx="3219450" cy="2390775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57" name="文本框 291"/>
          <p:cNvSpPr>
            <a:spLocks noGrp="1"/>
          </p:cNvSpPr>
          <p:nvPr/>
        </p:nvSpPr>
        <p:spPr>
          <a:xfrm>
            <a:off x="723900" y="4076700"/>
            <a:ext cx="283845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数据与算力</a:t>
            </a:r>
            <a:endParaRPr sz="16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8" name="文本框 292"/>
          <p:cNvSpPr>
            <a:spLocks noGrp="1"/>
          </p:cNvSpPr>
          <p:nvPr/>
        </p:nvSpPr>
        <p:spPr>
          <a:xfrm>
            <a:off x="723900" y="4429125"/>
            <a:ext cx="2838450" cy="8763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多模态数据基础设施成熟，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大规模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训练成本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显著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下降，基础模型级别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的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训练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工具具备落地可行性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9" name="任意多边形 293"/>
          <p:cNvSpPr>
            <a:spLocks noGrp="1"/>
          </p:cNvSpPr>
          <p:nvPr/>
        </p:nvSpPr>
        <p:spPr>
          <a:xfrm>
            <a:off x="3886200" y="3876675"/>
            <a:ext cx="3219450" cy="2390775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60" name="文本框 294"/>
          <p:cNvSpPr>
            <a:spLocks noGrp="1"/>
          </p:cNvSpPr>
          <p:nvPr/>
        </p:nvSpPr>
        <p:spPr>
          <a:xfrm>
            <a:off x="4076700" y="4076700"/>
            <a:ext cx="283845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AI </a:t>
            </a: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方法</a:t>
            </a:r>
            <a:endParaRPr sz="16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1" name="文本框 295"/>
          <p:cNvSpPr>
            <a:spLocks noGrp="1"/>
          </p:cNvSpPr>
          <p:nvPr/>
        </p:nvSpPr>
        <p:spPr>
          <a:xfrm>
            <a:off x="4076700" y="4429125"/>
            <a:ext cx="2838450" cy="1127914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自监督预训练 + 扰动建模，让</a:t>
            </a:r>
            <a:r>
              <a:rPr lang="en-US" altLang="zh-CN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AI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模型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具备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学习“干预后进入什么新状态”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的能力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2" name="矩形 296"/>
          <p:cNvSpPr>
            <a:spLocks noGrp="1"/>
          </p:cNvSpPr>
          <p:nvPr/>
        </p:nvSpPr>
        <p:spPr>
          <a:xfrm>
            <a:off x="7239000" y="1375859"/>
            <a:ext cx="4286250" cy="4891591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63" name="文本框 297"/>
          <p:cNvSpPr>
            <a:spLocks noGrp="1"/>
          </p:cNvSpPr>
          <p:nvPr/>
        </p:nvSpPr>
        <p:spPr>
          <a:xfrm>
            <a:off x="7562850" y="1920875"/>
            <a:ext cx="375285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第一部分小结</a:t>
            </a: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/>
            </a:r>
            <a:endParaRPr sz="16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4" name="文本框 298"/>
          <p:cNvSpPr>
            <a:spLocks noGrp="1"/>
          </p:cNvSpPr>
          <p:nvPr/>
        </p:nvSpPr>
        <p:spPr>
          <a:xfrm>
            <a:off x="7562850" y="2330450"/>
            <a:ext cx="3752850" cy="2857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5000"/>
              </a:lnSpc>
              <a:buNone/>
            </a:pP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· 需求：治疗决策需要「事前预测」</a:t>
            </a: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endParaRPr sz="1275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5" name="文本框 299"/>
          <p:cNvSpPr>
            <a:spLocks noGrp="1"/>
          </p:cNvSpPr>
          <p:nvPr/>
        </p:nvSpPr>
        <p:spPr>
          <a:xfrm>
            <a:off x="7562850" y="2711450"/>
            <a:ext cx="3752850" cy="2857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5000"/>
              </a:lnSpc>
              <a:buNone/>
            </a:pP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· 现状：今天的工具只能在治疗失败之后给出答案</a:t>
            </a: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endParaRPr sz="1275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6" name="文本框 300"/>
          <p:cNvSpPr>
            <a:spLocks noGrp="1"/>
          </p:cNvSpPr>
          <p:nvPr/>
        </p:nvSpPr>
        <p:spPr>
          <a:xfrm>
            <a:off x="7562850" y="3092450"/>
            <a:ext cx="3752850" cy="2857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5000"/>
              </a:lnSpc>
              <a:buNone/>
            </a:pP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· 时机：四项技术条件已同步成熟</a:t>
            </a: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endParaRPr sz="1275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7" name="矩形 301"/>
          <p:cNvSpPr>
            <a:spLocks noGrp="1"/>
          </p:cNvSpPr>
          <p:nvPr/>
        </p:nvSpPr>
        <p:spPr>
          <a:xfrm>
            <a:off x="7639050" y="2914650"/>
            <a:ext cx="3752850" cy="9525"/>
          </a:xfrm>
          <a:prstGeom prst="rect">
            <a:avLst/>
          </a:prstGeom>
          <a:solidFill>
            <a:srgbClr val="44546A"/>
          </a:solidFill>
        </p:spPr>
        <p:txBody>
          <a:bodyPr/>
          <a:lstStyle/>
          <a:p/>
        </p:txBody>
      </p:sp>
      <p:sp>
        <p:nvSpPr>
          <p:cNvPr id="368" name="文本框 302"/>
          <p:cNvSpPr>
            <a:spLocks noGrp="1"/>
          </p:cNvSpPr>
          <p:nvPr/>
        </p:nvSpPr>
        <p:spPr>
          <a:xfrm>
            <a:off x="7562850" y="3768725"/>
            <a:ext cx="37528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缺的是什么？</a:t>
            </a:r>
            <a:endParaRPr sz="1500" b="1">
              <a:solidFill>
                <a:srgbClr val="08A6F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9" name="文本框 303"/>
          <p:cNvSpPr>
            <a:spLocks noGrp="1"/>
          </p:cNvSpPr>
          <p:nvPr/>
        </p:nvSpPr>
        <p:spPr>
          <a:xfrm>
            <a:off x="7562850" y="4111625"/>
            <a:ext cx="3752850" cy="1079500"/>
          </a:xfrm>
          <a:prstGeom prst="rect">
            <a:avLst/>
          </a:prstGeom>
        </p:spPr>
        <p:txBody>
          <a:bodyPr wrap="square" lIns="0" tIns="0" rIns="0" bIns="0">
            <a:normAutofit fontScale="95206"/>
          </a:bodyPr>
          <a:lstStyle/>
          <a:p>
            <a:pPr marL="0" lvl="0" algn="l" defTabSz="914400">
              <a:lnSpc>
                <a:spcPct val="155000"/>
              </a:lnSpc>
              <a:buNone/>
              <a:defRPr sz="1800">
                <a:solidFill>
                  <a:schemeClr val="tx1">
                    <a:alpha val="100000"/>
                  </a:schemeClr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技术条件已经具备，事前预测却仍未实现——问题出在哪里、我们如何补上，见第二部分。</a:t>
            </a:r>
            <a:endParaRPr sz="1275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0" name="文本框 304"/>
          <p:cNvSpPr>
            <a:spLocks noGrp="1"/>
          </p:cNvSpPr>
          <p:nvPr/>
        </p:nvSpPr>
        <p:spPr>
          <a:xfrm>
            <a:off x="7562850" y="5305425"/>
            <a:ext cx="3752850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5000"/>
              </a:lnSpc>
              <a:buNone/>
            </a:pPr>
            <a:r>
              <a:rPr sz="127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→ 第二部分：为什么我们能做成</a:t>
            </a:r>
            <a:endParaRPr sz="1275" b="1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55000"/>
              </a:lnSpc>
              <a:buNone/>
            </a:pPr>
            <a:r>
              <a:rPr sz="127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endParaRPr sz="1275" b="1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1" name="文本框 305"/>
          <p:cNvSpPr>
            <a:spLocks noGrp="1"/>
          </p:cNvSpPr>
          <p:nvPr/>
        </p:nvSpPr>
        <p:spPr>
          <a:xfrm>
            <a:off x="533400" y="6381750"/>
            <a:ext cx="17811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Source: AIVC 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商业故事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 BP §3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2" name="文本框 306"/>
          <p:cNvSpPr>
            <a:spLocks noGrp="1"/>
          </p:cNvSpPr>
          <p:nvPr/>
        </p:nvSpPr>
        <p:spPr>
          <a:xfrm>
            <a:off x="11201400" y="63817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06 / 08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74" name="矩形 308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2032"/>
          </a:solidFill>
        </p:spPr>
        <p:txBody>
          <a:bodyPr/>
          <a:lstStyle/>
          <a:p/>
        </p:txBody>
      </p:sp>
      <p:sp>
        <p:nvSpPr>
          <p:cNvPr id="375" name="文本框 309"/>
          <p:cNvSpPr>
            <a:spLocks noGrp="1"/>
          </p:cNvSpPr>
          <p:nvPr/>
        </p:nvSpPr>
        <p:spPr>
          <a:xfrm>
            <a:off x="4429125" y="2981325"/>
            <a:ext cx="2447925" cy="533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34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技术壁垒与团队</a:t>
            </a:r>
            <a:endParaRPr sz="34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6" name="文本框 310"/>
          <p:cNvSpPr>
            <a:spLocks noGrp="1"/>
          </p:cNvSpPr>
          <p:nvPr/>
        </p:nvSpPr>
        <p:spPr>
          <a:xfrm>
            <a:off x="4429125" y="3648075"/>
            <a:ext cx="2447925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00" spc="22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WHY WE CAN WIN</a:t>
            </a:r>
            <a:endParaRPr sz="1500" spc="225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7" name="文本框 311"/>
          <p:cNvSpPr>
            <a:spLocks noGrp="1"/>
          </p:cNvSpPr>
          <p:nvPr/>
        </p:nvSpPr>
        <p:spPr>
          <a:xfrm>
            <a:off x="685800" y="1943100"/>
            <a:ext cx="3057525" cy="2971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9500" b="1">
                <a:solidFill>
                  <a:srgbClr val="FFFFFF">
                    <a:alpha val="12000"/>
                  </a:srgbClr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9500" b="1">
              <a:solidFill>
                <a:srgbClr val="FFFFFF">
                  <a:alpha val="12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90" name="矩形 63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91" name="文本框 64"/>
          <p:cNvSpPr>
            <a:spLocks noGrp="1"/>
          </p:cNvSpPr>
          <p:nvPr/>
        </p:nvSpPr>
        <p:spPr>
          <a:xfrm>
            <a:off x="533400" y="419100"/>
            <a:ext cx="11125200" cy="3810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团队：科学 × 数据 × 模型 × 运营，核心能力</a:t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实现</a:t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自持</a:t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闭环</a:t>
            </a:r>
            <a:endParaRPr sz="24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2" name="矩形 65"/>
          <p:cNvSpPr>
            <a:spLocks noGrp="1"/>
          </p:cNvSpPr>
          <p:nvPr/>
        </p:nvSpPr>
        <p:spPr>
          <a:xfrm>
            <a:off x="533400" y="8953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01" name="照片 1"/>
          <p:cNvSpPr/>
          <p:nvPr/>
        </p:nvSpPr>
        <p:spPr>
          <a:xfrm>
            <a:off x="1247013" y="1024128"/>
            <a:ext cx="1143000" cy="1143000"/>
          </a:xfrm>
          <a:prstGeom prst="ellipse">
            <a:avLst/>
          </a:prstGeom>
          <a:solidFill>
            <a:srgbClr val="E7ECF2"/>
          </a:solidFill>
          <a:ln w="12700">
            <a:solidFill>
              <a:srgbClr val="99BDED"/>
            </a:solidFill>
          </a:ln>
        </p:spPr>
        <p:txBody>
          <a:bodyPr anchor="ctr"/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200">
                <a:solidFill>
                  <a:srgbClr val="8496B0"/>
                </a:solidFill>
                <a:latin typeface="微软雅黑"/>
                <a:ea typeface="微软雅黑"/>
                <a:cs typeface="微软雅黑"/>
              </a:rPr>
              <a:t>照片</a:t>
            </a:r>
          </a:p>
        </p:txBody>
      </p:sp>
      <p:sp>
        <p:nvSpPr>
          <p:cNvPr id="302" name="姓名 1"/>
          <p:cNvSpPr txBox="1"/>
          <p:nvPr/>
        </p:nvSpPr>
        <p:spPr>
          <a:xfrm>
            <a:off x="530352" y="2240280"/>
            <a:ext cx="2576322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卓悦 博士</a:t>
            </a:r>
          </a:p>
        </p:txBody>
      </p:sp>
      <p:sp>
        <p:nvSpPr>
          <p:cNvPr id="303" name="职位 1"/>
          <p:cNvSpPr txBox="1"/>
          <p:nvPr/>
        </p:nvSpPr>
        <p:spPr>
          <a:xfrm>
            <a:off x="530352" y="2560320"/>
            <a:ext cx="257632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3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CEO 首席执行官</a:t>
            </a:r>
          </a:p>
        </p:txBody>
      </p:sp>
      <p:sp>
        <p:nvSpPr>
          <p:cNvPr id="304" name="亮点 1"/>
          <p:cNvSpPr txBox="1"/>
          <p:nvPr/>
        </p:nvSpPr>
        <p:spPr>
          <a:xfrm>
            <a:off x="530352" y="2852928"/>
            <a:ext cx="257632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05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湿实验 × 数据 × AI，全链路打通</a:t>
            </a:r>
          </a:p>
        </p:txBody>
      </p:sp>
      <p:sp>
        <p:nvSpPr>
          <p:cNvPr id="305" name="经历 1"/>
          <p:cNvSpPr txBox="1"/>
          <p:nvPr/>
        </p:nvSpPr>
        <p:spPr>
          <a:xfrm>
            <a:off x="603504" y="3246120"/>
            <a:ext cx="2484882" cy="3063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90500" indent="-190500">
              <a:lnSpc>
                <a:spcPct val="110000"/>
              </a:lnSpc>
              <a:spcAft>
                <a:spcPts val="10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40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Verqura 实验系统创始人</a:t>
            </a:r>
          </a:p>
          <a:p>
            <a:pPr marL="190500" indent="-190500">
              <a:lnSpc>
                <a:spcPct val="110000"/>
              </a:lnSpc>
              <a:spcAft>
                <a:spcPts val="10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40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Cell Stem Cell 2025 作者</a:t>
            </a:r>
          </a:p>
          <a:p>
            <a:pPr marL="190500" indent="-190500">
              <a:lnSpc>
                <a:spcPct val="110000"/>
              </a:lnSpc>
              <a:spcAft>
                <a:spcPts val="10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40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iPSC 脑类器官｜CRISPR</a:t>
            </a:r>
          </a:p>
          <a:p>
            <a:pPr marL="190500" indent="-190500">
              <a:lnSpc>
                <a:spcPct val="110000"/>
              </a:lnSpc>
              <a:spcAft>
                <a:spcPts val="10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40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单细胞组学｜图像 AI</a:t>
            </a:r>
          </a:p>
          <a:p>
            <a:pPr marL="190500" indent="-190500">
              <a:lnSpc>
                <a:spcPct val="110000"/>
              </a:lnSpc>
              <a:spcAft>
                <a:spcPts val="10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40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海德堡大学 / DKFZ 博士</a:t>
            </a:r>
          </a:p>
        </p:txBody>
      </p:sp>
      <p:sp>
        <p:nvSpPr>
          <p:cNvPr id="306" name="照片 2"/>
          <p:cNvSpPr/>
          <p:nvPr/>
        </p:nvSpPr>
        <p:spPr>
          <a:xfrm>
            <a:off x="4097655" y="1024128"/>
            <a:ext cx="1143000" cy="1143000"/>
          </a:xfrm>
          <a:prstGeom prst="ellipse">
            <a:avLst/>
          </a:prstGeom>
          <a:solidFill>
            <a:srgbClr val="E7ECF2"/>
          </a:solidFill>
          <a:ln w="12700">
            <a:solidFill>
              <a:srgbClr val="99BDED"/>
            </a:solidFill>
          </a:ln>
        </p:spPr>
        <p:txBody>
          <a:bodyPr anchor="ctr"/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200">
                <a:solidFill>
                  <a:srgbClr val="8496B0"/>
                </a:solidFill>
                <a:latin typeface="微软雅黑"/>
                <a:ea typeface="微软雅黑"/>
                <a:cs typeface="微软雅黑"/>
              </a:rPr>
              <a:t>照片</a:t>
            </a:r>
          </a:p>
        </p:txBody>
      </p:sp>
      <p:sp>
        <p:nvSpPr>
          <p:cNvPr id="307" name="姓名 2"/>
          <p:cNvSpPr txBox="1"/>
          <p:nvPr/>
        </p:nvSpPr>
        <p:spPr>
          <a:xfrm>
            <a:off x="3380994" y="2240280"/>
            <a:ext cx="2576322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田伟利 博士</a:t>
            </a:r>
          </a:p>
        </p:txBody>
      </p:sp>
      <p:sp>
        <p:nvSpPr>
          <p:cNvPr id="308" name="职位 2"/>
          <p:cNvSpPr txBox="1"/>
          <p:nvPr/>
        </p:nvSpPr>
        <p:spPr>
          <a:xfrm>
            <a:off x="3380994" y="2560320"/>
            <a:ext cx="257632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3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CSO 首席科学官</a:t>
            </a:r>
          </a:p>
        </p:txBody>
      </p:sp>
      <p:sp>
        <p:nvSpPr>
          <p:cNvPr id="309" name="亮点 2"/>
          <p:cNvSpPr txBox="1"/>
          <p:nvPr/>
        </p:nvSpPr>
        <p:spPr>
          <a:xfrm>
            <a:off x="3380994" y="2852928"/>
            <a:ext cx="257632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05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神经科学 × 脑类器官 × 产业转化</a:t>
            </a:r>
          </a:p>
        </p:txBody>
      </p:sp>
      <p:sp>
        <p:nvSpPr>
          <p:cNvPr id="310" name="经历 2"/>
          <p:cNvSpPr txBox="1"/>
          <p:nvPr/>
        </p:nvSpPr>
        <p:spPr>
          <a:xfrm>
            <a:off x="3454146" y="3246120"/>
            <a:ext cx="2484882" cy="3063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90500" indent="-190500">
              <a:lnSpc>
                <a:spcPct val="110000"/>
              </a:lnSpc>
              <a:spcAft>
                <a:spcPts val="10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40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霍英东杰出青年学者</a:t>
            </a:r>
          </a:p>
          <a:p>
            <a:pPr marL="190500" indent="-190500">
              <a:lnSpc>
                <a:spcPct val="110000"/>
              </a:lnSpc>
              <a:spcAft>
                <a:spcPts val="10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40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DKFZ 资深科学家 / PI</a:t>
            </a:r>
          </a:p>
          <a:p>
            <a:pPr marL="190500" indent="-190500">
              <a:lnSpc>
                <a:spcPct val="110000"/>
              </a:lnSpc>
              <a:spcAft>
                <a:spcPts val="10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40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Science 修回｜19 篇论文</a:t>
            </a:r>
          </a:p>
          <a:p>
            <a:pPr marL="190500" indent="-190500">
              <a:lnSpc>
                <a:spcPct val="110000"/>
              </a:lnSpc>
              <a:spcAft>
                <a:spcPts val="10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40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患者类器官个体化治疗</a:t>
            </a:r>
          </a:p>
          <a:p>
            <a:pPr marL="190500" indent="-190500">
              <a:lnSpc>
                <a:spcPct val="110000"/>
              </a:lnSpc>
              <a:spcAft>
                <a:spcPts val="10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40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慕尼黑大学 / 亥姆霍兹博士</a:t>
            </a:r>
          </a:p>
        </p:txBody>
      </p:sp>
      <p:sp>
        <p:nvSpPr>
          <p:cNvPr id="311" name="照片 3"/>
          <p:cNvSpPr/>
          <p:nvPr/>
        </p:nvSpPr>
        <p:spPr>
          <a:xfrm>
            <a:off x="6948297" y="1024128"/>
            <a:ext cx="1143000" cy="1143000"/>
          </a:xfrm>
          <a:prstGeom prst="ellipse">
            <a:avLst/>
          </a:prstGeom>
          <a:solidFill>
            <a:srgbClr val="E7ECF2"/>
          </a:solidFill>
          <a:ln w="12700">
            <a:solidFill>
              <a:srgbClr val="99BDED"/>
            </a:solidFill>
          </a:ln>
        </p:spPr>
        <p:txBody>
          <a:bodyPr anchor="ctr"/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200">
                <a:solidFill>
                  <a:srgbClr val="8496B0"/>
                </a:solidFill>
                <a:latin typeface="微软雅黑"/>
                <a:ea typeface="微软雅黑"/>
                <a:cs typeface="微软雅黑"/>
              </a:rPr>
              <a:t>照片</a:t>
            </a:r>
          </a:p>
        </p:txBody>
      </p:sp>
      <p:sp>
        <p:nvSpPr>
          <p:cNvPr id="312" name="姓名 3"/>
          <p:cNvSpPr txBox="1"/>
          <p:nvPr/>
        </p:nvSpPr>
        <p:spPr>
          <a:xfrm>
            <a:off x="6231636" y="2240280"/>
            <a:ext cx="2576322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王中杰 博士</a:t>
            </a:r>
          </a:p>
        </p:txBody>
      </p:sp>
      <p:sp>
        <p:nvSpPr>
          <p:cNvPr id="313" name="职位 3"/>
          <p:cNvSpPr txBox="1"/>
          <p:nvPr/>
        </p:nvSpPr>
        <p:spPr>
          <a:xfrm>
            <a:off x="6231636" y="2560320"/>
            <a:ext cx="257632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3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CTO 首席技术官</a:t>
            </a:r>
          </a:p>
        </p:txBody>
      </p:sp>
      <p:sp>
        <p:nvSpPr>
          <p:cNvPr id="314" name="亮点 3"/>
          <p:cNvSpPr txBox="1"/>
          <p:nvPr/>
        </p:nvSpPr>
        <p:spPr>
          <a:xfrm>
            <a:off x="6231636" y="2852928"/>
            <a:ext cx="257632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05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生物信息 × 机器学习预测建模</a:t>
            </a:r>
          </a:p>
        </p:txBody>
      </p:sp>
      <p:sp>
        <p:nvSpPr>
          <p:cNvPr id="315" name="经历 3"/>
          <p:cNvSpPr txBox="1"/>
          <p:nvPr/>
        </p:nvSpPr>
        <p:spPr>
          <a:xfrm>
            <a:off x="6304788" y="3246120"/>
            <a:ext cx="2484882" cy="3063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90500" indent="-190500">
              <a:lnSpc>
                <a:spcPct val="110000"/>
              </a:lnSpc>
              <a:spcAft>
                <a:spcPts val="10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40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慕尼黑工大 / 亥姆霍兹博士</a:t>
            </a:r>
          </a:p>
          <a:p>
            <a:pPr marL="190500" indent="-190500">
              <a:lnSpc>
                <a:spcPct val="110000"/>
              </a:lnSpc>
              <a:spcAft>
                <a:spcPts val="10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40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曾任职哈佛医学院</a:t>
            </a:r>
          </a:p>
          <a:p>
            <a:pPr marL="190500" indent="-190500">
              <a:lnSpc>
                <a:spcPct val="110000"/>
              </a:lnSpc>
              <a:spcAft>
                <a:spcPts val="10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40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10 年多组学分析</a:t>
            </a:r>
          </a:p>
          <a:p>
            <a:pPr marL="190500" indent="-190500">
              <a:lnSpc>
                <a:spcPct val="110000"/>
              </a:lnSpc>
              <a:spcAft>
                <a:spcPts val="10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40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预测模型 AUC &gt; 0.95</a:t>
            </a:r>
          </a:p>
          <a:p>
            <a:pPr marL="190500" indent="-190500">
              <a:lnSpc>
                <a:spcPct val="110000"/>
              </a:lnSpc>
              <a:spcAft>
                <a:spcPts val="10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40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多模态 × 规模化计算</a:t>
            </a:r>
          </a:p>
        </p:txBody>
      </p:sp>
      <p:sp>
        <p:nvSpPr>
          <p:cNvPr id="316" name="照片 4"/>
          <p:cNvSpPr/>
          <p:nvPr/>
        </p:nvSpPr>
        <p:spPr>
          <a:xfrm>
            <a:off x="9798939" y="1024128"/>
            <a:ext cx="1143000" cy="1143000"/>
          </a:xfrm>
          <a:prstGeom prst="ellipse">
            <a:avLst/>
          </a:prstGeom>
          <a:solidFill>
            <a:srgbClr val="E7ECF2"/>
          </a:solidFill>
          <a:ln w="12700">
            <a:solidFill>
              <a:srgbClr val="99BDED"/>
            </a:solidFill>
          </a:ln>
        </p:spPr>
        <p:txBody>
          <a:bodyPr anchor="ctr"/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200">
                <a:solidFill>
                  <a:srgbClr val="8496B0"/>
                </a:solidFill>
                <a:latin typeface="微软雅黑"/>
                <a:ea typeface="微软雅黑"/>
                <a:cs typeface="微软雅黑"/>
              </a:rPr>
              <a:t>照片</a:t>
            </a:r>
          </a:p>
        </p:txBody>
      </p:sp>
      <p:sp>
        <p:nvSpPr>
          <p:cNvPr id="317" name="姓名 4"/>
          <p:cNvSpPr txBox="1"/>
          <p:nvPr/>
        </p:nvSpPr>
        <p:spPr>
          <a:xfrm>
            <a:off x="9082278" y="2240280"/>
            <a:ext cx="2576322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兰晓静</a:t>
            </a:r>
          </a:p>
        </p:txBody>
      </p:sp>
      <p:sp>
        <p:nvSpPr>
          <p:cNvPr id="318" name="职位 4"/>
          <p:cNvSpPr txBox="1"/>
          <p:nvPr/>
        </p:nvSpPr>
        <p:spPr>
          <a:xfrm>
            <a:off x="9082278" y="2560320"/>
            <a:ext cx="257632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3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COO 首席运营官</a:t>
            </a:r>
          </a:p>
        </p:txBody>
      </p:sp>
      <p:sp>
        <p:nvSpPr>
          <p:cNvPr id="319" name="亮点 4"/>
          <p:cNvSpPr txBox="1"/>
          <p:nvPr/>
        </p:nvSpPr>
        <p:spPr>
          <a:xfrm>
            <a:off x="9082278" y="2852928"/>
            <a:ext cx="257632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05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跨境金融风控 × 科创运营</a:t>
            </a:r>
          </a:p>
        </p:txBody>
      </p:sp>
      <p:sp>
        <p:nvSpPr>
          <p:cNvPr id="320" name="经历 4"/>
          <p:cNvSpPr txBox="1"/>
          <p:nvPr/>
        </p:nvSpPr>
        <p:spPr>
          <a:xfrm>
            <a:off x="9155430" y="3246120"/>
            <a:ext cx="2484882" cy="3063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90500" indent="-190500">
              <a:lnSpc>
                <a:spcPct val="110000"/>
              </a:lnSpc>
              <a:spcAft>
                <a:spcPts val="10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40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德国商业银行高级合规官</a:t>
            </a:r>
          </a:p>
          <a:p>
            <a:pPr marL="190500" indent="-190500">
              <a:lnSpc>
                <a:spcPct val="110000"/>
              </a:lnSpc>
              <a:spcAft>
                <a:spcPts val="10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40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中国银行法兰克福分行</a:t>
            </a:r>
          </a:p>
          <a:p>
            <a:pPr marL="190500" indent="-190500">
              <a:lnSpc>
                <a:spcPct val="110000"/>
              </a:lnSpc>
              <a:spcAft>
                <a:spcPts val="10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40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FRM｜CFA 一级</a:t>
            </a:r>
          </a:p>
          <a:p>
            <a:pPr marL="190500" indent="-190500">
              <a:lnSpc>
                <a:spcPct val="110000"/>
              </a:lnSpc>
              <a:spcAft>
                <a:spcPts val="10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40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海德堡大学经济学硕士</a:t>
            </a:r>
          </a:p>
          <a:p>
            <a:pPr marL="190500" indent="-190500">
              <a:lnSpc>
                <a:spcPct val="110000"/>
              </a:lnSpc>
              <a:spcAft>
                <a:spcPts val="10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40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浙大竺可桢学院</a:t>
            </a:r>
          </a:p>
        </p:txBody>
      </p:sp>
      <p:sp>
        <p:nvSpPr>
          <p:cNvPr id="101" name="文本框 77"/>
          <p:cNvSpPr>
            <a:spLocks noGrp="1"/>
          </p:cNvSpPr>
          <p:nvPr/>
        </p:nvSpPr>
        <p:spPr>
          <a:xfrm>
            <a:off x="533400" y="6381750"/>
            <a:ext cx="48101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Source: 团队成员简历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2" name="文本框 78"/>
          <p:cNvSpPr>
            <a:spLocks noGrp="1"/>
          </p:cNvSpPr>
          <p:nvPr/>
        </p:nvSpPr>
        <p:spPr>
          <a:xfrm>
            <a:off x="11201400" y="63817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08 / 08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66" name="矩形 228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267" name="文本框 229"/>
          <p:cNvSpPr>
            <a:spLocks noGrp="1"/>
          </p:cNvSpPr>
          <p:nvPr/>
        </p:nvSpPr>
        <p:spPr>
          <a:xfrm>
            <a:off x="533400" y="419100"/>
            <a:ext cx="11125200" cy="3810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临床痛点：治疗选择缺少及时、患者特异性的功能证据</a:t>
            </a:r>
            <a:endParaRPr sz="24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8" name="矩形 230"/>
          <p:cNvSpPr>
            <a:spLocks noGrp="1"/>
          </p:cNvSpPr>
          <p:nvPr/>
        </p:nvSpPr>
        <p:spPr>
          <a:xfrm>
            <a:off x="533400" y="8953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69" name="任意多边形 231"/>
          <p:cNvSpPr>
            <a:spLocks noGrp="1"/>
          </p:cNvSpPr>
          <p:nvPr/>
        </p:nvSpPr>
        <p:spPr>
          <a:xfrm>
            <a:off x="533400" y="1019175"/>
            <a:ext cx="3543300" cy="1809750"/>
          </a:xfrm>
          <a:custGeom>
            <a:avLst/>
            <a:gdLst/>
            <a:ahLst/>
            <a:cxnLst/>
            <a:pathLst>
              <a:path w="372" h="190">
                <a:moveTo>
                  <a:pt x="0" y="0"/>
                </a:moveTo>
                <a:lnTo>
                  <a:pt x="4" y="0"/>
                </a:lnTo>
                <a:lnTo>
                  <a:pt x="4" y="190"/>
                </a:lnTo>
                <a:lnTo>
                  <a:pt x="0" y="190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70" name="文本框 232"/>
          <p:cNvSpPr>
            <a:spLocks noGrp="1"/>
          </p:cNvSpPr>
          <p:nvPr/>
        </p:nvSpPr>
        <p:spPr>
          <a:xfrm>
            <a:off x="800100" y="1190625"/>
            <a:ext cx="3238500" cy="1009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6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静态</a:t>
            </a:r>
            <a:r>
              <a:rPr sz="3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3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 证据</a:t>
            </a:r>
            <a:endParaRPr sz="3000" b="1">
              <a:solidFill>
                <a:srgbClr val="08A6F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1" name="文本框 233"/>
          <p:cNvSpPr>
            <a:spLocks noGrp="1"/>
          </p:cNvSpPr>
          <p:nvPr/>
        </p:nvSpPr>
        <p:spPr>
          <a:xfrm>
            <a:off x="800100" y="2333625"/>
            <a:ext cx="3238500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0000"/>
              </a:lnSpc>
              <a:buNone/>
            </a:pPr>
            <a:r>
              <a:rPr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单次检测只是采样那一刻的快照</a:t>
            </a:r>
            <a:endParaRPr sz="1500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2" name="任意多边形 234"/>
          <p:cNvSpPr>
            <a:spLocks noGrp="1"/>
          </p:cNvSpPr>
          <p:nvPr/>
        </p:nvSpPr>
        <p:spPr>
          <a:xfrm>
            <a:off x="4343400" y="1019175"/>
            <a:ext cx="3543300" cy="1809750"/>
          </a:xfrm>
          <a:custGeom>
            <a:avLst/>
            <a:gdLst/>
            <a:ahLst/>
            <a:cxnLst/>
            <a:pathLst>
              <a:path w="372" h="190">
                <a:moveTo>
                  <a:pt x="0" y="0"/>
                </a:moveTo>
                <a:lnTo>
                  <a:pt x="4" y="0"/>
                </a:lnTo>
                <a:lnTo>
                  <a:pt x="4" y="190"/>
                </a:lnTo>
                <a:lnTo>
                  <a:pt x="0" y="190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73" name="文本框 235"/>
          <p:cNvSpPr>
            <a:spLocks noGrp="1"/>
          </p:cNvSpPr>
          <p:nvPr/>
        </p:nvSpPr>
        <p:spPr>
          <a:xfrm>
            <a:off x="4610100" y="1190625"/>
            <a:ext cx="3238500" cy="1009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6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滞后</a:t>
            </a:r>
            <a:r>
              <a:rPr sz="3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3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 反馈</a:t>
            </a:r>
            <a:r>
              <a:rPr sz="3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/>
            </a:r>
            <a:endParaRPr sz="3000" b="1">
              <a:solidFill>
                <a:srgbClr val="08A6F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4" name="文本框 236"/>
          <p:cNvSpPr>
            <a:spLocks noGrp="1"/>
          </p:cNvSpPr>
          <p:nvPr/>
        </p:nvSpPr>
        <p:spPr>
          <a:xfrm>
            <a:off x="4610100" y="2333625"/>
            <a:ext cx="3238500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0000"/>
              </a:lnSpc>
              <a:buNone/>
            </a:pPr>
            <a:r>
              <a:rPr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治疗失败后才知道耐药已发生</a:t>
            </a:r>
            <a:endParaRPr sz="1500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5" name="任意多边形 237"/>
          <p:cNvSpPr>
            <a:spLocks noGrp="1"/>
          </p:cNvSpPr>
          <p:nvPr/>
        </p:nvSpPr>
        <p:spPr>
          <a:xfrm>
            <a:off x="8153400" y="1019175"/>
            <a:ext cx="3543300" cy="1809750"/>
          </a:xfrm>
          <a:custGeom>
            <a:avLst/>
            <a:gdLst/>
            <a:ahLst/>
            <a:cxnLst/>
            <a:pathLst>
              <a:path w="372" h="190">
                <a:moveTo>
                  <a:pt x="0" y="0"/>
                </a:moveTo>
                <a:lnTo>
                  <a:pt x="4" y="0"/>
                </a:lnTo>
                <a:lnTo>
                  <a:pt x="4" y="190"/>
                </a:lnTo>
                <a:lnTo>
                  <a:pt x="0" y="190"/>
                </a:lnTo>
                <a:close/>
              </a:path>
            </a:pathLst>
          </a:custGeom>
          <a:solidFill>
            <a:srgbClr val="5A0E13"/>
          </a:solidFill>
        </p:spPr>
        <p:txBody>
          <a:bodyPr/>
          <a:lstStyle/>
          <a:p/>
        </p:txBody>
      </p:sp>
      <p:sp>
        <p:nvSpPr>
          <p:cNvPr id="276" name="文本框 238"/>
          <p:cNvSpPr>
            <a:spLocks noGrp="1"/>
          </p:cNvSpPr>
          <p:nvPr/>
        </p:nvSpPr>
        <p:spPr>
          <a:xfrm>
            <a:off x="8420100" y="1028700"/>
            <a:ext cx="3238500" cy="1009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6600" b="1">
                <a:solidFill>
                  <a:srgbClr val="5A0E13"/>
                </a:solidFill>
                <a:latin typeface="微软雅黑"/>
                <a:ea typeface="微软雅黑"/>
                <a:cs typeface="微软雅黑"/>
              </a:rPr>
              <a:t>割裂</a:t>
            </a:r>
            <a:endParaRPr sz="6600" b="1">
              <a:solidFill>
                <a:srgbClr val="5A0E1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7" name="文本框 239"/>
          <p:cNvSpPr>
            <a:spLocks noGrp="1"/>
          </p:cNvSpPr>
          <p:nvPr/>
        </p:nvSpPr>
        <p:spPr>
          <a:xfrm>
            <a:off x="8420100" y="2171700"/>
            <a:ext cx="3238500" cy="6477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40000"/>
              </a:lnSpc>
              <a:buNone/>
            </a:pPr>
            <a:r>
              <a:rPr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药筛止于「敏感性」，未转化为纵向校准的患者预测</a:t>
            </a:r>
            <a:endParaRPr sz="1500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8" name="矩形 240"/>
          <p:cNvSpPr>
            <a:spLocks noGrp="1"/>
          </p:cNvSpPr>
          <p:nvPr/>
        </p:nvSpPr>
        <p:spPr>
          <a:xfrm>
            <a:off x="533400" y="3038475"/>
            <a:ext cx="11125200" cy="1257300"/>
          </a:xfrm>
          <a:prstGeom prst="rect">
            <a:avLst/>
          </a:prstGeom>
          <a:solidFill>
            <a:srgbClr val="F5F5F5"/>
          </a:solidFill>
        </p:spPr>
        <p:txBody>
          <a:bodyPr/>
          <a:lstStyle/>
          <a:p/>
        </p:txBody>
      </p:sp>
      <p:sp>
        <p:nvSpPr>
          <p:cNvPr id="279" name="文本框 241"/>
          <p:cNvSpPr>
            <a:spLocks noGrp="1"/>
          </p:cNvSpPr>
          <p:nvPr/>
        </p:nvSpPr>
        <p:spPr>
          <a:xfrm>
            <a:off x="800100" y="3248025"/>
            <a:ext cx="105918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35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结果：治疗方案只能凭经验选择，答案要等到下一次复查才揭晓：</a:t>
            </a:r>
            <a:endParaRPr sz="1350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0" name="矩形 242"/>
          <p:cNvSpPr>
            <a:spLocks noGrp="1"/>
          </p:cNvSpPr>
          <p:nvPr/>
        </p:nvSpPr>
        <p:spPr>
          <a:xfrm>
            <a:off x="800100" y="3590925"/>
            <a:ext cx="2952750" cy="4953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  <a:prstDash val="solid"/>
          </a:ln>
        </p:spPr>
        <p:txBody>
          <a:bodyPr/>
          <a:lstStyle/>
          <a:p/>
        </p:txBody>
      </p:sp>
      <p:sp>
        <p:nvSpPr>
          <p:cNvPr id="281" name="文本框 243"/>
          <p:cNvSpPr>
            <a:spLocks noGrp="1"/>
          </p:cNvSpPr>
          <p:nvPr/>
        </p:nvSpPr>
        <p:spPr>
          <a:xfrm>
            <a:off x="971550" y="3724275"/>
            <a:ext cx="26098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采样：一次性快照</a:t>
            </a:r>
            <a:endParaRPr sz="150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311" name="图片 244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05250" y="3743325"/>
            <a:ext cx="266700" cy="190500"/>
          </a:xfrm>
          <a:prstGeom prst="rect">
            <a:avLst/>
          </a:prstGeom>
        </p:spPr>
      </p:pic>
      <p:sp>
        <p:nvSpPr>
          <p:cNvPr id="283" name="矩形 245"/>
          <p:cNvSpPr>
            <a:spLocks noGrp="1"/>
          </p:cNvSpPr>
          <p:nvPr/>
        </p:nvSpPr>
        <p:spPr>
          <a:xfrm>
            <a:off x="4324350" y="3590925"/>
            <a:ext cx="2952750" cy="4953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  <a:prstDash val="solid"/>
          </a:ln>
        </p:spPr>
        <p:txBody>
          <a:bodyPr/>
          <a:lstStyle/>
          <a:p/>
        </p:txBody>
      </p:sp>
      <p:sp>
        <p:nvSpPr>
          <p:cNvPr id="284" name="文本框 246"/>
          <p:cNvSpPr>
            <a:spLocks noGrp="1"/>
          </p:cNvSpPr>
          <p:nvPr/>
        </p:nvSpPr>
        <p:spPr>
          <a:xfrm>
            <a:off x="4495800" y="3724275"/>
            <a:ext cx="26098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用药：凭经验选择</a:t>
            </a:r>
            <a:endParaRPr sz="150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314" name="图片 247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29500" y="3743325"/>
            <a:ext cx="266700" cy="190500"/>
          </a:xfrm>
          <a:prstGeom prst="rect">
            <a:avLst/>
          </a:prstGeom>
        </p:spPr>
      </p:pic>
      <p:sp>
        <p:nvSpPr>
          <p:cNvPr id="286" name="矩形 248"/>
          <p:cNvSpPr>
            <a:spLocks noGrp="1"/>
          </p:cNvSpPr>
          <p:nvPr/>
        </p:nvSpPr>
        <p:spPr>
          <a:xfrm>
            <a:off x="7848600" y="3590925"/>
            <a:ext cx="3543300" cy="495300"/>
          </a:xfrm>
          <a:prstGeom prst="rect">
            <a:avLst/>
          </a:prstGeom>
          <a:solidFill>
            <a:srgbClr val="FFFFFF"/>
          </a:solidFill>
          <a:ln w="19050">
            <a:solidFill>
              <a:srgbClr val="5A0E13"/>
            </a:solidFill>
            <a:prstDash val="solid"/>
          </a:ln>
        </p:spPr>
        <p:txBody>
          <a:bodyPr/>
          <a:lstStyle/>
          <a:p/>
        </p:txBody>
      </p:sp>
      <p:sp>
        <p:nvSpPr>
          <p:cNvPr id="287" name="文本框 249"/>
          <p:cNvSpPr>
            <a:spLocks noGrp="1"/>
          </p:cNvSpPr>
          <p:nvPr/>
        </p:nvSpPr>
        <p:spPr>
          <a:xfrm>
            <a:off x="8020050" y="3724275"/>
            <a:ext cx="320040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00" b="1">
                <a:solidFill>
                  <a:srgbClr val="5A0E13"/>
                </a:solidFill>
                <a:latin typeface="微软雅黑"/>
                <a:ea typeface="微软雅黑"/>
                <a:cs typeface="微软雅黑"/>
              </a:rPr>
              <a:t>结局：失败后才知道</a:t>
            </a:r>
            <a:endParaRPr sz="1500" b="1">
              <a:solidFill>
                <a:srgbClr val="5A0E1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8" name="矩形 250"/>
          <p:cNvSpPr>
            <a:spLocks noGrp="1"/>
          </p:cNvSpPr>
          <p:nvPr/>
        </p:nvSpPr>
        <p:spPr>
          <a:xfrm>
            <a:off x="533400" y="4505325"/>
            <a:ext cx="11125200" cy="1733550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89" name="文本框 251"/>
          <p:cNvSpPr>
            <a:spLocks noGrp="1"/>
          </p:cNvSpPr>
          <p:nvPr/>
        </p:nvSpPr>
        <p:spPr>
          <a:xfrm>
            <a:off x="800100" y="4867275"/>
            <a:ext cx="105918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350" b="1" spc="150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方向</a:t>
            </a:r>
            <a:endParaRPr sz="1350" b="1" spc="150">
              <a:solidFill>
                <a:srgbClr val="08A6F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0" name="文本框 252"/>
          <p:cNvSpPr>
            <a:spLocks noGrp="1"/>
          </p:cNvSpPr>
          <p:nvPr/>
        </p:nvSpPr>
        <p:spPr>
          <a:xfrm>
            <a:off x="800100" y="5153025"/>
            <a:ext cx="10591800" cy="7239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575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在临床决策窗口期输出患者特异性预测，并用真实临床结局持续校准模型。外部证据：Peng et al., Cell Stem Cell 2025——患者来源脑肿瘤类器官（IPTO）在前瞻性研究中预测患者治疗响应（PFS / OS，p = 0.034 / 0.033）。</a:t>
            </a:r>
            <a:endParaRPr sz="1575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1" name="文本框 253"/>
          <p:cNvSpPr>
            <a:spLocks noGrp="1"/>
          </p:cNvSpPr>
          <p:nvPr/>
        </p:nvSpPr>
        <p:spPr>
          <a:xfrm>
            <a:off x="533400" y="6381750"/>
            <a:ext cx="28289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Source: AIVC 商业故事 BP §2.2；Peng et al., Cell Stem Cell 32, 652–669 (2025)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2" name="文本框 254"/>
          <p:cNvSpPr>
            <a:spLocks noGrp="1"/>
          </p:cNvSpPr>
          <p:nvPr/>
        </p:nvSpPr>
        <p:spPr>
          <a:xfrm>
            <a:off x="11201400" y="63817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05 / 08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7375</Words>
  <Application>WPS Office WWO_wpscloud_20260902094840-997daf6cd0</Application>
  <PresentationFormat>Converted Presentation</PresentationFormat>
  <Paragraphs>640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1" baseType="lpstr">
      <vt:lpstr>Arial</vt:lpstr>
      <vt:lpstr>宋体</vt:lpstr>
      <vt:lpstr>Wingdings</vt:lpstr>
      <vt:lpstr>Arial</vt:lpstr>
      <vt:lpstr>微软雅黑</vt:lpstr>
      <vt:lpstr>汉仪旗黑KW 55S</vt:lpstr>
      <vt:lpstr>Calibri</vt:lpstr>
      <vt:lpstr>微软雅黑</vt:lpstr>
      <vt:lpstr>Calibri</vt:lpstr>
      <vt:lpstr>微软雅黑</vt:lpstr>
      <vt:lpstr>汉仪书宋二KW</vt:lpstr>
      <vt:lpstr>Kingsoft Confetti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Walnut Exporter</cp:lastModifiedBy>
  <dcterms:created xsi:type="dcterms:W3CDTF">2026-09-14T21:32:23Z</dcterms:created>
  <dcterms:modified xsi:type="dcterms:W3CDTF">2026-09-14T21:32:23Z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21C91B9422BFD48899299F6A1ACD7A80_42</vt:lpwstr>
  </property>
  <property fmtid="{D5CDD505-2E9C-101B-9397-08002B2CF9AE}" pid="3" name="KSOProductBuildVer">
    <vt:lpwstr>2052-12.9.0.28579</vt:lpwstr>
  </property>
</Properties>
</file>