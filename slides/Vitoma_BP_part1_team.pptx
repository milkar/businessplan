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12ee3b46-d46c-94b5-c236-256d3f7003d1}">
          <p14:sldIdLst>
            <p14:sldId id="256"/>
          </p14:sldIdLst>
        </p14:section>
        <p14:section name="目录" id="{e0ef32e9-d7f2-747f-6506-d997ae8ca35e}">
          <p14:sldIdLst>
            <p14:sldId id="257"/>
          </p14:sldIdLst>
        </p14:section>
        <p14:section name="第一部分 为什么要做" id="{92e76903-7bff-45ce-a718-4f4bc348dcb6}">
          <p14:sldIdLst>
            <p14:sldId id="258"/>
            <p14:sldId id="259"/>
            <p14:sldId id="260"/>
            <p14:sldId id="261"/>
          </p14:sldIdLst>
        </p14:section>
        <p14:section name="第二部分 为什么我们能做成" id="{bbb34a75-be22-908a-ef99-93fe88c6412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封面。Vitoma 的首字母拆写：Virtual Intelligence Twin &amp; Organism Modeling Architecture。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四位成员同属创始团队。第二部分其他页面待卓悦博士、田伟利博士补充科学技术内容后制作。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3C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632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1109167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Vitoma｜AIVC 虚拟类器官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Vitoma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Intelligence Twin &amp; Organism Modeling Architecture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让每一次治疗，先在患者自己的类器官上预演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Rehearse every treatment on the patient's own organoids — before it begins.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634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AIVC 虚拟类器官｜让复发与耐药，在发生之前被看见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本轮融资 5000 万元人民币（覆盖 12 个月）｜2026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目录</a:t>
            </a:r>
            <a:endParaRPr lang="en-US" sz="2800" dirty="0"/>
          </a:p>
        </p:txBody>
      </p:sp>
      <p:sp>
        <p:nvSpPr>
          <p:cNvPr id="3" name="toc-01"/>
          <p:cNvSpPr/>
          <p:nvPr/>
        </p:nvSpPr>
        <p:spPr>
          <a:xfrm>
            <a:off x="548640" y="1417320"/>
            <a:ext cx="1109167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1618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为什么要做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2103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市场需求与现有缺口</a:t>
            </a:r>
            <a:endParaRPr lang="en-US" sz="1500" dirty="0"/>
          </a:p>
        </p:txBody>
      </p:sp>
      <p:sp>
        <p:nvSpPr>
          <p:cNvPr id="7" name="toc-02"/>
          <p:cNvSpPr/>
          <p:nvPr/>
        </p:nvSpPr>
        <p:spPr>
          <a:xfrm>
            <a:off x="548640" y="2926080"/>
            <a:ext cx="1109167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92608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312724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为什么我们能做成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3611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核心缺口 · 技术优势 · 护城河 · 团队</a:t>
            </a:r>
            <a:endParaRPr lang="en-US" sz="1500" dirty="0"/>
          </a:p>
        </p:txBody>
      </p:sp>
      <p:sp>
        <p:nvSpPr>
          <p:cNvPr id="11" name="toc-03"/>
          <p:cNvSpPr/>
          <p:nvPr/>
        </p:nvSpPr>
        <p:spPr>
          <a:xfrm>
            <a:off x="548640" y="4434840"/>
            <a:ext cx="11091672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434840"/>
            <a:ext cx="1280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463600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做成之后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5120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社会价值 · 商业模式 · 融资预算与 Plan B · 投资回报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3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063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为什么要做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市场需求与现有缺口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药物研发的「试错」已不可承受</a:t>
            </a:r>
            <a:endParaRPr lang="en-US" sz="2800" dirty="0"/>
          </a:p>
        </p:txBody>
      </p:sp>
      <p:sp>
        <p:nvSpPr>
          <p:cNvPr id="3" name="stat-0"/>
          <p:cNvSpPr/>
          <p:nvPr/>
        </p:nvSpPr>
        <p:spPr>
          <a:xfrm>
            <a:off x="548640" y="123444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年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创新药从发现到上市的平均耗时</a:t>
            </a:r>
            <a:endParaRPr lang="en-US" sz="1500" dirty="0"/>
          </a:p>
        </p:txBody>
      </p:sp>
      <p:sp>
        <p:nvSpPr>
          <p:cNvPr id="6" name="stat-1"/>
          <p:cNvSpPr/>
          <p:nvPr/>
        </p:nvSpPr>
        <p:spPr>
          <a:xfrm>
            <a:off x="4311396" y="123444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85716" y="1371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亿+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4585716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平均研发花费，且仍在上升</a:t>
            </a:r>
            <a:endParaRPr lang="en-US" sz="1500" dirty="0"/>
          </a:p>
        </p:txBody>
      </p:sp>
      <p:sp>
        <p:nvSpPr>
          <p:cNvPr id="9" name="stat-2"/>
          <p:cNvSpPr/>
          <p:nvPr/>
        </p:nvSpPr>
        <p:spPr>
          <a:xfrm>
            <a:off x="8074152" y="123444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48472" y="13716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临床后期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348472" y="2240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失败暴露的阶段——代价最高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2004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为什么失败到后期才暴露？早期模型预测不了患者之间的差异，更追不上肿瘤随时间的演化</a:t>
            </a:r>
            <a:endParaRPr lang="en-US" sz="1600" dirty="0"/>
          </a:p>
        </p:txBody>
      </p:sp>
      <p:sp>
        <p:nvSpPr>
          <p:cNvPr id="13" name="chain-0"/>
          <p:cNvSpPr/>
          <p:nvPr/>
        </p:nvSpPr>
        <p:spPr>
          <a:xfrm>
            <a:off x="548640" y="37490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8221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细胞模型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06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体外有效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3749040"/>
            <a:ext cx="4709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17" name="chain-1"/>
          <p:cNvSpPr/>
          <p:nvPr/>
        </p:nvSpPr>
        <p:spPr>
          <a:xfrm>
            <a:off x="4311396" y="37490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39996" y="38221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动物模型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39996" y="4206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动物有效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03236" y="3749040"/>
            <a:ext cx="4709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chain-2"/>
          <p:cNvSpPr/>
          <p:nvPr/>
        </p:nvSpPr>
        <p:spPr>
          <a:xfrm>
            <a:off x="8074152" y="3749040"/>
            <a:ext cx="3291840" cy="960120"/>
          </a:xfrm>
          <a:prstGeom prst="roundRect">
            <a:avLst>
              <a:gd name="adj" fmla="val 761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02752" y="38221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患者身上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02752" y="42062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无效甚至有害</a:t>
            </a:r>
            <a:endParaRPr lang="en-US" sz="1500" dirty="0"/>
          </a:p>
        </p:txBody>
      </p:sp>
      <p:sp>
        <p:nvSpPr>
          <p:cNvPr id="24" name="contradiction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02920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根本矛盾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候选药物太多、患者差异太大、生命状态随时间持续变化，真实实验永远做不过来；耐药与复发要等到患者治疗失败后才被看见。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533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来源：行业公开数据（具体出处与年份待补充）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治疗决策缺少及时、患者特异性的功能证据</a:t>
            </a:r>
            <a:endParaRPr lang="en-US" sz="2800" dirty="0"/>
          </a:p>
        </p:txBody>
      </p:sp>
      <p:sp>
        <p:nvSpPr>
          <p:cNvPr id="3" name="gap-0"/>
          <p:cNvSpPr/>
          <p:nvPr/>
        </p:nvSpPr>
        <p:spPr>
          <a:xfrm>
            <a:off x="548640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1-0.8999999999999999-1.6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分子图谱是静态快照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基因组能提示脆弱性，但疗效还取决于细胞状态、生态、治疗史与可塑性；单次检测只代表采样那一刻</a:t>
            </a:r>
            <a:endParaRPr lang="en-US" sz="1400" dirty="0"/>
          </a:p>
        </p:txBody>
      </p:sp>
      <p:sp>
        <p:nvSpPr>
          <p:cNvPr id="8" name="gap-1"/>
          <p:cNvSpPr/>
          <p:nvPr/>
        </p:nvSpPr>
        <p:spPr>
          <a:xfrm>
            <a:off x="4311396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-2-5.015-1.6"/>
          <p:cNvSpPr/>
          <p:nvPr/>
        </p:nvSpPr>
        <p:spPr>
          <a:xfrm>
            <a:off x="4585716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8571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225796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反馈滞后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85716" y="2148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影像与临床结局只在患者已经接受治疗之后，才说明发生了什么</a:t>
            </a:r>
            <a:endParaRPr lang="en-US" sz="1400" dirty="0"/>
          </a:p>
        </p:txBody>
      </p:sp>
      <p:sp>
        <p:nvSpPr>
          <p:cNvPr id="13" name="gap-2"/>
          <p:cNvSpPr/>
          <p:nvPr/>
        </p:nvSpPr>
        <p:spPr>
          <a:xfrm>
            <a:off x="8074152" y="123444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-3-9.13-1.6"/>
          <p:cNvSpPr/>
          <p:nvPr/>
        </p:nvSpPr>
        <p:spPr>
          <a:xfrm>
            <a:off x="8348472" y="14630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847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88552" y="14630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工具割裂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348472" y="21488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类器官药筛停在「敏感 / 不敏感」，很少转化为经过校准的患者纵向预测</a:t>
            </a:r>
            <a:endParaRPr lang="en-US" sz="1400" dirty="0"/>
          </a:p>
        </p:txBody>
      </p:sp>
      <p:sp>
        <p:nvSpPr>
          <p:cNvPr id="18" name="evidence"/>
          <p:cNvSpPr/>
          <p:nvPr/>
        </p:nvSpPr>
        <p:spPr>
          <a:xfrm>
            <a:off x="548640" y="361188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65760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外部证据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Peng et al., </a:t>
            </a:r>
            <a:pPr indent="0" marL="0">
              <a:buNone/>
            </a:pPr>
            <a:r>
              <a:rPr lang="en-US" sz="1500" i="1" dirty="0">
                <a:solidFill>
                  <a:schemeClr val="bg1"/>
                </a:solidFill>
              </a:rPr>
              <a:t>Cell Stem Cell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2025：患者来源脑肿瘤类器官（IPTO）高保真保留肿瘤生态系统，并在前瞻性临床研究中预测患者治疗响应（PFS / OS，p = 0.034 / 0.033）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983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同时要诚实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已有前瞻研究（如结直肠癌）表明，类器官的预测表现取决于治疗类别与实施情境——需要的是「校准 + 前瞻验证」，而不只是药筛。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为什么是现在：四项条件同步成熟</a:t>
            </a:r>
            <a:endParaRPr lang="en-US" sz="2800" dirty="0"/>
          </a:p>
        </p:txBody>
      </p:sp>
      <p:sp>
        <p:nvSpPr>
          <p:cNvPr id="3" name="cond-0"/>
          <p:cNvSpPr/>
          <p:nvPr/>
        </p:nvSpPr>
        <p:spPr>
          <a:xfrm>
            <a:off x="548640" y="1234440"/>
            <a:ext cx="5408676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1-0.8999999999999999-1.6500000000000001"/>
          <p:cNvSpPr/>
          <p:nvPr/>
        </p:nvSpPr>
        <p:spPr>
          <a:xfrm>
            <a:off x="822960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类器官技术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3911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IPTO 高保真保留肿瘤生态系统，个体差异与微环境同时在线，可纵向追踪演化</a:t>
            </a:r>
            <a:endParaRPr lang="en-US" sz="1400" dirty="0"/>
          </a:p>
        </p:txBody>
      </p:sp>
      <p:sp>
        <p:nvSpPr>
          <p:cNvPr id="8" name="cond-1"/>
          <p:cNvSpPr/>
          <p:nvPr/>
        </p:nvSpPr>
        <p:spPr>
          <a:xfrm>
            <a:off x="6231636" y="1234440"/>
            <a:ext cx="5408676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-2-7.114999999999999-1.6500000000000001"/>
          <p:cNvSpPr/>
          <p:nvPr/>
        </p:nvSpPr>
        <p:spPr>
          <a:xfrm>
            <a:off x="6505956" y="15087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05956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91756" y="1508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成像与测量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91756" y="203911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长时程活细胞成像、高内涵成像、单细胞 / 空间组学，把细胞状态变成可计算的多模态数据</a:t>
            </a:r>
            <a:endParaRPr lang="en-US" sz="1400" dirty="0"/>
          </a:p>
        </p:txBody>
      </p:sp>
      <p:sp>
        <p:nvSpPr>
          <p:cNvPr id="13" name="cond-2"/>
          <p:cNvSpPr/>
          <p:nvPr/>
        </p:nvSpPr>
        <p:spPr>
          <a:xfrm>
            <a:off x="548640" y="3108960"/>
            <a:ext cx="5408676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-3-0.8999999999999999-3.6999999999999997"/>
          <p:cNvSpPr/>
          <p:nvPr/>
        </p:nvSpPr>
        <p:spPr>
          <a:xfrm>
            <a:off x="822960" y="33832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383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数据与算力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9136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多模态数据基础设施成熟，大规模训练成本显著下降</a:t>
            </a:r>
            <a:endParaRPr lang="en-US" sz="1400" dirty="0"/>
          </a:p>
        </p:txBody>
      </p:sp>
      <p:sp>
        <p:nvSpPr>
          <p:cNvPr id="18" name="cond-3"/>
          <p:cNvSpPr/>
          <p:nvPr/>
        </p:nvSpPr>
        <p:spPr>
          <a:xfrm>
            <a:off x="6231636" y="3108960"/>
            <a:ext cx="5408676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ot-4-7.114999999999999-3.6999999999999997"/>
          <p:cNvSpPr/>
          <p:nvPr/>
        </p:nvSpPr>
        <p:spPr>
          <a:xfrm>
            <a:off x="6505956" y="33832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5956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91756" y="3383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 方法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191756" y="391363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自监督预训练 + 扰动建模，让 AI 能学习「干预之后进入什么新状态」</a:t>
            </a:r>
            <a:endParaRPr lang="en-US" sz="1400" dirty="0"/>
          </a:p>
        </p:txBody>
      </p:sp>
      <p:sp>
        <p:nvSpPr>
          <p:cNvPr id="23" name="summary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12064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第一部分小结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治疗决策需要「事前预测」，而今天的工具只能在治疗失败之后给出答案。技术条件已经成熟——缺的是什么、我们如何补上，见第二部分。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团队：科学 × 数据 × 模型 × 运营，核心能力实现自持闭环</a:t>
            </a:r>
            <a:endParaRPr lang="en-US" sz="2800" dirty="0"/>
          </a:p>
        </p:txBody>
      </p:sp>
      <p:sp>
        <p:nvSpPr>
          <p:cNvPr id="3" name="member-0"/>
          <p:cNvSpPr/>
          <p:nvPr/>
        </p:nvSpPr>
        <p:spPr>
          <a:xfrm>
            <a:off x="548640" y="1188720"/>
            <a:ext cx="2567178" cy="288036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325880"/>
            <a:ext cx="220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卓悦 博士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1700784"/>
            <a:ext cx="2201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CEO 首席执行官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103120"/>
            <a:ext cx="229285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创立 Verqura 实验室管理系统，打通样本、实验与数据管理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精通 iPSC 脑类器官构建、CRISPR 基因组编辑与标记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海德堡大学 / DKFZ 发育生物学博士；美国密歇根大学安娜堡分校学士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Cell Stem Cell 2025、npj Precis Oncol 2024 作者；擅长单细胞组学与图像 AI</a:t>
            </a:r>
            <a:endParaRPr lang="en-US" sz="1100" dirty="0"/>
          </a:p>
        </p:txBody>
      </p:sp>
      <p:sp>
        <p:nvSpPr>
          <p:cNvPr id="7" name="member-1"/>
          <p:cNvSpPr/>
          <p:nvPr/>
        </p:nvSpPr>
        <p:spPr>
          <a:xfrm>
            <a:off x="3390138" y="1188720"/>
            <a:ext cx="2567178" cy="288036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1306" y="1325880"/>
            <a:ext cx="220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田伟利 博士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591306" y="1700784"/>
            <a:ext cx="2201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CSO 首席科学官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54730" y="2103120"/>
            <a:ext cx="229285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DKFZ / 海德堡大学分子神经遗传学资深科学家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深耕神经调控与脑类器官方向，长期研究胶质母细胞瘤复发与耐药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霍英东杰出青年学者；主持欧中重大科研项目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Cell Stem Cell 2025、npj Precis Oncol 2024 核心成员</a:t>
            </a:r>
            <a:endParaRPr lang="en-US" sz="1100" dirty="0"/>
          </a:p>
        </p:txBody>
      </p:sp>
      <p:sp>
        <p:nvSpPr>
          <p:cNvPr id="11" name="member-2"/>
          <p:cNvSpPr/>
          <p:nvPr/>
        </p:nvSpPr>
        <p:spPr>
          <a:xfrm>
            <a:off x="6231636" y="1188720"/>
            <a:ext cx="2567178" cy="288036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2804" y="1325880"/>
            <a:ext cx="220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王中杰 博士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32804" y="1700784"/>
            <a:ext cx="2201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CTO 首席技术官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96228" y="2103120"/>
            <a:ext cx="229285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巴斯德研究所博士后；曾任职哈佛医学院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精通大规模计算与机器学习预测建模，近 10 年多组学分析经验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擅长搭建端到端可复用分析流程，支撑临床与生物医药项目的数据挖掘与决策输出</a:t>
            </a:r>
            <a:endParaRPr lang="en-US" sz="1100" dirty="0"/>
          </a:p>
        </p:txBody>
      </p:sp>
      <p:sp>
        <p:nvSpPr>
          <p:cNvPr id="15" name="member-3"/>
          <p:cNvSpPr/>
          <p:nvPr/>
        </p:nvSpPr>
        <p:spPr>
          <a:xfrm>
            <a:off x="9073134" y="1188720"/>
            <a:ext cx="2567178" cy="2880360"/>
          </a:xfrm>
          <a:prstGeom prst="roundRect">
            <a:avLst>
              <a:gd name="adj" fmla="val 28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74302" y="1325880"/>
            <a:ext cx="220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兰晓静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274302" y="1700784"/>
            <a:ext cx="22014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COO 首席运营官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37726" y="2103120"/>
            <a:ext cx="229285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海德堡大学经济学硕士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浙江大学管理学学士，竺可桢学院创业与创新管理强化班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FRM 持证；国际金融机构风控合规与跨境尽调经验</a:t>
            </a:r>
            <a:endParaRPr lang="en-US" sz="1100" dirty="0"/>
          </a:p>
        </p:txBody>
      </p:sp>
      <p:graphicFrame>
        <p:nvGraphicFramePr>
          <p:cNvPr id="8" name="rol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1091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75255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职务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成员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核心职责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CEO 首席执行官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卓悦 博士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公司战略与融资；实验数字化与数据标准（Verqura）；关键合作伙伴关系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CSO 首席科学官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田伟利 博士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科学路线与类器官体系；临床合作与三级验证设计；疾病机制研究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CTO 首席技术官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王中杰 博士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AIVC 预测模型；大规模计算与多模态 / 自监督 / 因果建模；数据平台与算力架构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COO 首席运营官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兰晓静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</a:rPr>
                        <a:t>运营与项目管理；财务与合规（人类遗传资源、数据安全）；商务拓展</a:t>
                      </a:r>
                      <a:endParaRPr lang="en-US" sz="12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60807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团队即壁垒：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患者采样 → 类器官建立 → 数据构建 → 模型迭代 → 前瞻验证，全链路在团队内部闭环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toma">
  <a:themeElements>
    <a:clrScheme name="Vitoma">
      <a:dk1>
        <a:srgbClr val="1B2A33"/>
      </a:dk1>
      <a:lt1>
        <a:srgbClr val="FFFFFF"/>
      </a:lt1>
      <a:dk2>
        <a:srgbClr val="0B3C5D"/>
      </a:dk2>
      <a:lt2>
        <a:srgbClr val="EEF4F4"/>
      </a:lt2>
      <a:accent1>
        <a:srgbClr val="0B3C5D"/>
      </a:accent1>
      <a:accent2>
        <a:srgbClr val="1FA39A"/>
      </a:accent2>
      <a:accent3>
        <a:srgbClr val="7FC8C0"/>
      </a:accent3>
      <a:accent4>
        <a:srgbClr val="F2A541"/>
      </a:accent4>
      <a:accent5>
        <a:srgbClr val="5B6B73"/>
      </a:accent5>
      <a:accent6>
        <a:srgbClr val="D9E7E6"/>
      </a:accent6>
      <a:hlink>
        <a:srgbClr val="1FA39A"/>
      </a:hlink>
      <a:folHlink>
        <a:srgbClr val="0B3C5D"/>
      </a:folHlink>
    </a:clrScheme>
    <a:fontScheme name="Vitoma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Vitoma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Vitoma 商业计划书</dc:title>
  <dc:subject>PptxGenJS Presentation</dc:subject>
  <dc:creator>PptxGenJS</dc:creator>
  <cp:lastModifiedBy>PptxGenJS</cp:lastModifiedBy>
  <cp:revision>1</cp:revision>
  <dcterms:created xsi:type="dcterms:W3CDTF">2026-10-06T20:21:12Z</dcterms:created>
  <dcterms:modified xsi:type="dcterms:W3CDTF">2026-10-06T20:21:12Z</dcterms:modified>
</cp:coreProperties>
</file>