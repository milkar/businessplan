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2" r:id="rId10"/>
    <p:sldId id="267" r:id="rId15"/>
    <p:sldId id="268" r:id="rId1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15" name="图片 2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5800" y="8382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Vitoma · </a:t>
            </a: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200" b="1" spc="30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200150"/>
            <a:ext cx="609600" cy="28575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685800" y="1552575"/>
            <a:ext cx="10820400" cy="25050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30000"/>
              </a:lnSpc>
              <a:buNone/>
            </a:pPr>
            <a:r>
              <a:rPr lang="zh-CN" altLang="en-US" sz="4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Vitoma</a:t>
            </a:r>
            <a:endParaRPr lang="zh-CN" altLang="en-US" sz="4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50000"/>
              </a:lnSpc>
              <a:buNone/>
            </a:pPr>
            <a:r>
              <a:rPr lang="zh-CN" altLang="en-US" sz="20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Virtual Intelligence Twin &amp; Organism Modeling Architecture</a:t>
            </a:r>
            <a:endParaRPr lang="zh-CN" altLang="en-US" sz="20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30000"/>
              </a:lnSpc>
              <a:buNone/>
            </a:pPr>
            <a:r>
              <a:rPr lang="zh-CN" altLang="en-US"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患者与类器官双轨校准，预见肿瘤的下一步</a:t>
            </a:r>
            <a:endParaRPr lang="zh-CN" altLang="en-US" sz="36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85800" y="4313555"/>
            <a:ext cx="545719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50000"/>
              </a:lnSpc>
              <a:buNone/>
            </a:pPr>
            <a:r>
              <a:rPr sz="165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AIVC 虚拟类器官｜让复发与耐药，在发生之前被看见</a:t>
            </a:r>
            <a:endParaRPr sz="165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685800" y="5829300"/>
            <a:ext cx="119062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AIVC </a:t>
            </a: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1431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2419350" y="5829300"/>
            <a:ext cx="1819275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5000 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万元人民币</a:t>
            </a:r>
            <a:endParaRPr sz="12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505325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4781550" y="5829300"/>
            <a:ext cx="89535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2026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 10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月</a:t>
            </a:r>
            <a:endParaRPr sz="12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9" name="矩形 2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0" name="文本框 202"/>
          <p:cNvSpPr>
            <a:spLocks noGrp="1"/>
          </p:cNvSpPr>
          <p:nvPr/>
        </p:nvSpPr>
        <p:spPr>
          <a:xfrm>
            <a:off x="533400" y="4191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22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1" name="矩形 203"/>
          <p:cNvSpPr>
            <a:spLocks noGrp="1"/>
          </p:cNvSpPr>
          <p:nvPr/>
        </p:nvSpPr>
        <p:spPr>
          <a:xfrm>
            <a:off x="533400" y="8572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2" name="任意多边形 204"/>
          <p:cNvSpPr>
            <a:spLocks noGrp="1"/>
          </p:cNvSpPr>
          <p:nvPr/>
        </p:nvSpPr>
        <p:spPr>
          <a:xfrm>
            <a:off x="533400" y="1095375"/>
            <a:ext cx="5448300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3" name="文本框 205"/>
          <p:cNvSpPr>
            <a:spLocks noGrp="1"/>
          </p:cNvSpPr>
          <p:nvPr/>
        </p:nvSpPr>
        <p:spPr>
          <a:xfrm>
            <a:off x="533400" y="1314450"/>
            <a:ext cx="54483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4" name="文本框 206"/>
          <p:cNvSpPr>
            <a:spLocks noGrp="1"/>
          </p:cNvSpPr>
          <p:nvPr/>
        </p:nvSpPr>
        <p:spPr>
          <a:xfrm>
            <a:off x="533400" y="1895475"/>
            <a:ext cx="54483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为什么要做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5" name="文本框 207"/>
          <p:cNvSpPr>
            <a:spLocks noGrp="1"/>
          </p:cNvSpPr>
          <p:nvPr/>
        </p:nvSpPr>
        <p:spPr>
          <a:xfrm>
            <a:off x="533400" y="2314575"/>
            <a:ext cx="54483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药物研发的「试错」正变得不可承受；治疗决策缺少患者特异性的功能证据；四项技术条件已同步成熟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6" name="任意多边形 208"/>
          <p:cNvSpPr>
            <a:spLocks noGrp="1"/>
          </p:cNvSpPr>
          <p:nvPr/>
        </p:nvSpPr>
        <p:spPr>
          <a:xfrm>
            <a:off x="6210300" y="1095375"/>
            <a:ext cx="5448300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7" name="文本框 209"/>
          <p:cNvSpPr>
            <a:spLocks noGrp="1"/>
          </p:cNvSpPr>
          <p:nvPr/>
        </p:nvSpPr>
        <p:spPr>
          <a:xfrm>
            <a:off x="6210300" y="1314450"/>
            <a:ext cx="54483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8" name="文本框 210"/>
          <p:cNvSpPr>
            <a:spLocks noGrp="1"/>
          </p:cNvSpPr>
          <p:nvPr/>
        </p:nvSpPr>
        <p:spPr>
          <a:xfrm>
            <a:off x="6210300" y="1895475"/>
            <a:ext cx="54483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为什么我们能做成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9" name="文本框 211"/>
          <p:cNvSpPr>
            <a:spLocks noGrp="1"/>
          </p:cNvSpPr>
          <p:nvPr/>
        </p:nvSpPr>
        <p:spPr>
          <a:xfrm>
            <a:off x="6210300" y="2314575"/>
            <a:ext cx="54483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行业缺的不是算法，而是对的数据；患者与类器官两条时间轨迹互相校准；数据飞轮让模型越用越准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0" name="任意多边形 212"/>
          <p:cNvSpPr>
            <a:spLocks noGrp="1"/>
          </p:cNvSpPr>
          <p:nvPr/>
        </p:nvSpPr>
        <p:spPr>
          <a:xfrm>
            <a:off x="533400" y="3762375"/>
            <a:ext cx="5448300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1" name="文本框 213"/>
          <p:cNvSpPr>
            <a:spLocks noGrp="1"/>
          </p:cNvSpPr>
          <p:nvPr/>
        </p:nvSpPr>
        <p:spPr>
          <a:xfrm>
            <a:off x="533400" y="3981450"/>
            <a:ext cx="54483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2" name="文本框 214"/>
          <p:cNvSpPr>
            <a:spLocks noGrp="1"/>
          </p:cNvSpPr>
          <p:nvPr/>
        </p:nvSpPr>
        <p:spPr>
          <a:xfrm>
            <a:off x="533400" y="4562475"/>
            <a:ext cx="54483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3" name="文本框 215"/>
          <p:cNvSpPr>
            <a:spLocks noGrp="1"/>
          </p:cNvSpPr>
          <p:nvPr/>
        </p:nvSpPr>
        <p:spPr>
          <a:xfrm>
            <a:off x="533400" y="4981575"/>
            <a:ext cx="54483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科学 × 数据 × 模型 × 运营：从患者采样到前瞻验证，核心能力在团队内部实现自持闭环</a:t>
            </a:r>
            <a:endParaRPr sz="1275">
              <a:solidFill>
                <a:srgbClr val="44546A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4" name="任意多边形 216"/>
          <p:cNvSpPr>
            <a:spLocks noGrp="1"/>
          </p:cNvSpPr>
          <p:nvPr/>
        </p:nvSpPr>
        <p:spPr>
          <a:xfrm>
            <a:off x="6210300" y="3762375"/>
            <a:ext cx="5448300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5" name="文本框 217"/>
          <p:cNvSpPr>
            <a:spLocks noGrp="1"/>
          </p:cNvSpPr>
          <p:nvPr/>
        </p:nvSpPr>
        <p:spPr>
          <a:xfrm>
            <a:off x="6210300" y="3981450"/>
            <a:ext cx="5448300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6" name="文本框 218"/>
          <p:cNvSpPr>
            <a:spLocks noGrp="1"/>
          </p:cNvSpPr>
          <p:nvPr/>
        </p:nvSpPr>
        <p:spPr>
          <a:xfrm>
            <a:off x="6210300" y="4562475"/>
            <a:ext cx="544830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做成之后</a:t>
            </a:r>
            <a:endParaRPr sz="19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7" name="文本框 219"/>
          <p:cNvSpPr>
            <a:spLocks noGrp="1"/>
          </p:cNvSpPr>
          <p:nvPr/>
        </p:nvSpPr>
        <p:spPr>
          <a:xfrm>
            <a:off x="6210300" y="4981575"/>
            <a:ext cx="54483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社会价值与商业模式；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5000 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万元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 / 12 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个月的预算、Plan B 准备金与投资回报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8" name="文本框 220"/>
          <p:cNvSpPr>
            <a:spLocks noGrp="1"/>
          </p:cNvSpPr>
          <p:nvPr/>
        </p:nvSpPr>
        <p:spPr>
          <a:xfrm>
            <a:off x="533400" y="6343650"/>
            <a:ext cx="2066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Vitoma ·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融资商业计划书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9" name="文本框 221"/>
          <p:cNvSpPr>
            <a:spLocks noGrp="1"/>
          </p:cNvSpPr>
          <p:nvPr/>
        </p:nvSpPr>
        <p:spPr>
          <a:xfrm>
            <a:off x="11201400" y="63436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1" name="矩形 22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262" name="文本框 224"/>
          <p:cNvSpPr>
            <a:spLocks noGrp="1"/>
          </p:cNvSpPr>
          <p:nvPr/>
        </p:nvSpPr>
        <p:spPr>
          <a:xfrm>
            <a:off x="4429125" y="2981325"/>
            <a:ext cx="3219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为什么要做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3" name="文本框 225"/>
          <p:cNvSpPr>
            <a:spLocks noGrp="1"/>
          </p:cNvSpPr>
          <p:nvPr/>
        </p:nvSpPr>
        <p:spPr>
          <a:xfrm>
            <a:off x="4429125" y="3648075"/>
            <a:ext cx="3219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WHY IT MATTERS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4" name="文本框 226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痛点：药物研发的「试错」正在变得不可承受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年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一个创新药从发现到上市的平均耗时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$20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亿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平均研发花费（美元），且仍在上升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后期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失败主要发生在临床后期——代价最高的阶段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79" name="文本框 241"/>
          <p:cNvSpPr>
            <a:spLocks noGrp="1"/>
          </p:cNvSpPr>
          <p:nvPr/>
        </p:nvSpPr>
        <p:spPr>
          <a:xfrm>
            <a:off x="800100" y="324802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为什么失败在后期才暴露？因为早期模型预测不了患者之间的差异，更追不上肿瘤随时间的演化：</a:t>
            </a:r>
            <a:endParaRPr sz="135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细胞模型：体外有效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743325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590925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724275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动物模型：动物有效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743325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590925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724275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患者身上：无效甚至有害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73355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0100" y="4867275"/>
            <a:ext cx="10591800" cy="2095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根本矛盾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0100" y="5153025"/>
            <a:ext cx="10591800" cy="7239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命系统的复杂程度远超实验手段的覆盖能力——候选药物太多、患者差异太大、生命状态随时间持续变化，真实实验永远做不过来；而耐药与复发，要等到患者治疗失败后才被看见。试错范式走到尽头，必须换一条路。</a:t>
            </a:r>
            <a:endParaRPr sz="1575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3400" y="6381750"/>
            <a:ext cx="28289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§2.1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；行业公开数据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临床痛点：治疗选择缺少及时、患者特异性的功能证据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533400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590550" y="1076325"/>
            <a:ext cx="3867150" cy="4191000"/>
          </a:xfrm>
          <a:prstGeom prst="rect">
            <a:avLst/>
          </a:prstGeom>
        </p:spPr>
      </p:pic>
      <p:sp>
        <p:nvSpPr>
          <p:cNvPr id="299" name="文本框 261"/>
          <p:cNvSpPr>
            <a:spLocks noGrp="1"/>
          </p:cNvSpPr>
          <p:nvPr/>
        </p:nvSpPr>
        <p:spPr>
          <a:xfrm>
            <a:off x="533400" y="5419725"/>
            <a:ext cx="4000500" cy="7048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5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证据：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Peng et al., </a:t>
            </a:r>
            <a:r>
              <a:rPr sz="1050" b="1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Cell Stem Cell 2025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——患者来源脑肿瘤类器官（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IPTO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）高保真保留肿瘤生态系统，并在前瞻性临床研究中预测患者治疗响应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0" name="文本框 262"/>
          <p:cNvSpPr>
            <a:spLocks noGrp="1"/>
          </p:cNvSpPr>
          <p:nvPr/>
        </p:nvSpPr>
        <p:spPr>
          <a:xfrm>
            <a:off x="4838700" y="1019175"/>
            <a:ext cx="6819900" cy="1015352"/>
          </a:xfrm>
          <a:prstGeom prst="rect">
            <a:avLst/>
          </a:prstGeom>
        </p:spPr>
        <p:txBody>
          <a:bodyPr wrap="square" lIns="0" tIns="0" rIns="0" bIns="0">
            <a:normAutofit fontScale="77019"/>
          </a:bodyPr>
          <a:lstStyle/>
          <a:p>
            <a:pPr>
              <a:lnSpc>
                <a:spcPct val="150000"/>
              </a:lnSpc>
              <a:buNone/>
            </a:pP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即便进入临床，治疗决策仍缺少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对应这名患者，对应病程当下节点的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功能证据。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常规单次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分子检测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只能提供采样时点的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静态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信息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，影像与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临床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结局反馈滞后，常规类器官药筛很少进入纵向校准。三个缺口指向同一件事：把患者特异性的功能实验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转化成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可交付、可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量化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评分、可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持续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更新的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动态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预测</a:t>
            </a:r>
            <a:r>
              <a:rPr lang="zh-CN" altLang="en-US"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体系</a:t>
            </a:r>
            <a:r>
              <a:rPr sz="15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。</a:t>
            </a:r>
            <a:endParaRPr sz="15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1" name="任意多边形 263"/>
          <p:cNvSpPr>
            <a:spLocks noGrp="1"/>
          </p:cNvSpPr>
          <p:nvPr/>
        </p:nvSpPr>
        <p:spPr>
          <a:xfrm>
            <a:off x="4838733" y="2495371"/>
            <a:ext cx="2171700" cy="2049303"/>
          </a:xfrm>
          <a:custGeom>
            <a:avLst/>
            <a:gdLst/>
            <a:ahLst/>
            <a:cxnLst/>
            <a:pathLst>
              <a:path w="228" h="395">
                <a:moveTo>
                  <a:pt x="0" y="0"/>
                </a:moveTo>
                <a:lnTo>
                  <a:pt x="228" y="0"/>
                </a:lnTo>
                <a:lnTo>
                  <a:pt x="22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02" name="文本框 264"/>
          <p:cNvSpPr>
            <a:spLocks noGrp="1"/>
          </p:cNvSpPr>
          <p:nvPr/>
        </p:nvSpPr>
        <p:spPr>
          <a:xfrm>
            <a:off x="4838700" y="2604706"/>
            <a:ext cx="21717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25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3" name="文本框 265"/>
          <p:cNvSpPr>
            <a:spLocks noGrp="1"/>
          </p:cNvSpPr>
          <p:nvPr/>
        </p:nvSpPr>
        <p:spPr>
          <a:xfrm>
            <a:off x="4838700" y="3004756"/>
            <a:ext cx="217170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分子图谱不完整</a:t>
            </a:r>
            <a:endParaRPr sz="15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4" name="文本框 266"/>
          <p:cNvSpPr>
            <a:spLocks noGrp="1"/>
          </p:cNvSpPr>
          <p:nvPr/>
        </p:nvSpPr>
        <p:spPr>
          <a:xfrm>
            <a:off x="4838700" y="3328606"/>
            <a:ext cx="2171700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基因组能提示脆弱性，但疗效还取决于细胞状态、生态与治疗史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5" name="任意多边形 267"/>
          <p:cNvSpPr>
            <a:spLocks noGrp="1"/>
          </p:cNvSpPr>
          <p:nvPr/>
        </p:nvSpPr>
        <p:spPr>
          <a:xfrm>
            <a:off x="7162800" y="2495371"/>
            <a:ext cx="2171700" cy="1751594"/>
          </a:xfrm>
          <a:custGeom>
            <a:avLst/>
            <a:gdLst/>
            <a:ahLst/>
            <a:cxnLst/>
            <a:pathLst>
              <a:path w="228" h="395">
                <a:moveTo>
                  <a:pt x="0" y="0"/>
                </a:moveTo>
                <a:lnTo>
                  <a:pt x="228" y="0"/>
                </a:lnTo>
                <a:lnTo>
                  <a:pt x="22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06" name="文本框 268"/>
          <p:cNvSpPr>
            <a:spLocks noGrp="1"/>
          </p:cNvSpPr>
          <p:nvPr/>
        </p:nvSpPr>
        <p:spPr>
          <a:xfrm>
            <a:off x="7162800" y="2604706"/>
            <a:ext cx="21717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25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7" name="文本框 269"/>
          <p:cNvSpPr>
            <a:spLocks noGrp="1"/>
          </p:cNvSpPr>
          <p:nvPr/>
        </p:nvSpPr>
        <p:spPr>
          <a:xfrm>
            <a:off x="7162800" y="3004756"/>
            <a:ext cx="217170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反馈滞后</a:t>
            </a:r>
            <a:endParaRPr sz="15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8" name="文本框 270"/>
          <p:cNvSpPr>
            <a:spLocks noGrp="1"/>
          </p:cNvSpPr>
          <p:nvPr/>
        </p:nvSpPr>
        <p:spPr>
          <a:xfrm>
            <a:off x="7162800" y="3328606"/>
            <a:ext cx="217170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影像与结局只在治疗失败后说明发生了什么，耐药总是后知后觉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9" name="任意多边形 271"/>
          <p:cNvSpPr>
            <a:spLocks noGrp="1"/>
          </p:cNvSpPr>
          <p:nvPr/>
        </p:nvSpPr>
        <p:spPr>
          <a:xfrm>
            <a:off x="9486900" y="2495371"/>
            <a:ext cx="2171700" cy="1877853"/>
          </a:xfrm>
          <a:custGeom>
            <a:avLst/>
            <a:gdLst/>
            <a:ahLst/>
            <a:cxnLst/>
            <a:pathLst>
              <a:path w="228" h="395">
                <a:moveTo>
                  <a:pt x="0" y="0"/>
                </a:moveTo>
                <a:lnTo>
                  <a:pt x="228" y="0"/>
                </a:lnTo>
                <a:lnTo>
                  <a:pt x="228" y="3"/>
                </a:lnTo>
                <a:lnTo>
                  <a:pt x="0" y="3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310" name="文本框 272"/>
          <p:cNvSpPr>
            <a:spLocks noGrp="1"/>
          </p:cNvSpPr>
          <p:nvPr/>
        </p:nvSpPr>
        <p:spPr>
          <a:xfrm>
            <a:off x="9486900" y="2604706"/>
            <a:ext cx="21717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25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1" name="文本框 273"/>
          <p:cNvSpPr>
            <a:spLocks noGrp="1"/>
          </p:cNvSpPr>
          <p:nvPr/>
        </p:nvSpPr>
        <p:spPr>
          <a:xfrm>
            <a:off x="9486900" y="3004756"/>
            <a:ext cx="2171700" cy="247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工具割裂</a:t>
            </a:r>
            <a:endParaRPr sz="15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2" name="文本框 274"/>
          <p:cNvSpPr>
            <a:spLocks noGrp="1"/>
          </p:cNvSpPr>
          <p:nvPr/>
        </p:nvSpPr>
        <p:spPr>
          <a:xfrm>
            <a:off x="9486900" y="3328606"/>
            <a:ext cx="217170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类器官药筛止于「敏感性」，很少转化为纵向校准的患者预测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3" name="任意多边形 275"/>
          <p:cNvSpPr>
            <a:spLocks noGrp="1"/>
          </p:cNvSpPr>
          <p:nvPr/>
        </p:nvSpPr>
        <p:spPr>
          <a:xfrm>
            <a:off x="4838733" y="4747971"/>
            <a:ext cx="6858000" cy="944432"/>
          </a:xfrm>
          <a:custGeom>
            <a:avLst/>
            <a:gdLst/>
            <a:ahLst/>
            <a:cxnLst/>
            <a:pathLst>
              <a:path w="720" h="44">
                <a:moveTo>
                  <a:pt x="0" y="0"/>
                </a:moveTo>
                <a:lnTo>
                  <a:pt x="4" y="0"/>
                </a:lnTo>
                <a:lnTo>
                  <a:pt x="4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314" name="文本框 276"/>
          <p:cNvSpPr>
            <a:spLocks noGrp="1"/>
          </p:cNvSpPr>
          <p:nvPr/>
        </p:nvSpPr>
        <p:spPr>
          <a:xfrm>
            <a:off x="4962576" y="4663076"/>
            <a:ext cx="661035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0000"/>
              </a:lnSpc>
              <a:buNone/>
            </a:pP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方向：</a:t>
            </a:r>
            <a:endParaRPr sz="1500" b="1">
              <a:solidFill>
                <a:srgbClr val="061F32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0000"/>
              </a:lnSpc>
              <a:buNone/>
            </a:pP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在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临床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决策窗口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期输出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患者特异性预测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结果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，</a:t>
            </a:r>
            <a:endParaRPr sz="1500" b="1">
              <a:solidFill>
                <a:srgbClr val="061F32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0000"/>
              </a:lnSpc>
              <a:buNone/>
            </a:pP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依托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真实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临床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结局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对模型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持续校准</a:t>
            </a:r>
            <a:r>
              <a:rPr lang="zh-CN" altLang="en-US"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迭代</a:t>
            </a:r>
            <a:r>
              <a:rPr sz="1500" b="1">
                <a:solidFill>
                  <a:srgbClr val="061F3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。
</a:t>
            </a:r>
            <a:endParaRPr sz="1500" b="1">
              <a:solidFill>
                <a:srgbClr val="061F32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0000"/>
              </a:lnSpc>
              <a:buNone/>
            </a:pPr>
            <a:endParaRPr sz="1500" b="1">
              <a:solidFill>
                <a:srgbClr val="061F32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3400" y="6381750"/>
            <a:ext cx="48863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§2.2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；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Peng et al., Cell Stem Cell 32, 652–669 (2025)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05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为什么是现在：四项技术条件同步趋于成熟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34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1" name="文本框 285"/>
          <p:cNvSpPr>
            <a:spLocks noGrp="1"/>
          </p:cNvSpPr>
          <p:nvPr/>
        </p:nvSpPr>
        <p:spPr>
          <a:xfrm>
            <a:off x="7239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类器官技术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2" name="文本框 286"/>
          <p:cNvSpPr>
            <a:spLocks noGrp="1"/>
          </p:cNvSpPr>
          <p:nvPr/>
        </p:nvSpPr>
        <p:spPr>
          <a:xfrm>
            <a:off x="7239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患者来源类器官（IPTO）能高保真保留肿瘤生态系统，个体差异与微环境同时在线，可纵向追踪演化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3886200" y="138112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4" name="文本框 288"/>
          <p:cNvSpPr>
            <a:spLocks noGrp="1"/>
          </p:cNvSpPr>
          <p:nvPr/>
        </p:nvSpPr>
        <p:spPr>
          <a:xfrm>
            <a:off x="4076700" y="158115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成像与测量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5" name="文本框 289"/>
          <p:cNvSpPr>
            <a:spLocks noGrp="1"/>
          </p:cNvSpPr>
          <p:nvPr/>
        </p:nvSpPr>
        <p:spPr>
          <a:xfrm>
            <a:off x="4076700" y="193357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长时程活细胞成像、高内涵成像、单细胞 / 空间组学，把细胞状态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转化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成可计算的多模态数据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5334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7" name="文本框 291"/>
          <p:cNvSpPr>
            <a:spLocks noGrp="1"/>
          </p:cNvSpPr>
          <p:nvPr/>
        </p:nvSpPr>
        <p:spPr>
          <a:xfrm>
            <a:off x="7239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数据与算力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8" name="文本框 292"/>
          <p:cNvSpPr>
            <a:spLocks noGrp="1"/>
          </p:cNvSpPr>
          <p:nvPr/>
        </p:nvSpPr>
        <p:spPr>
          <a:xfrm>
            <a:off x="723900" y="4429125"/>
            <a:ext cx="2838450" cy="8763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多模态数据基础设施成熟，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训练成本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显著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下降，基础模型级别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训练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工具具备落地可行性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9" name="任意多边形 293"/>
          <p:cNvSpPr>
            <a:spLocks noGrp="1"/>
          </p:cNvSpPr>
          <p:nvPr/>
        </p:nvSpPr>
        <p:spPr>
          <a:xfrm>
            <a:off x="3886200" y="3876675"/>
            <a:ext cx="3219450" cy="2390775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0" name="文本框 294"/>
          <p:cNvSpPr>
            <a:spLocks noGrp="1"/>
          </p:cNvSpPr>
          <p:nvPr/>
        </p:nvSpPr>
        <p:spPr>
          <a:xfrm>
            <a:off x="4076700" y="4076700"/>
            <a:ext cx="28384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AI </a:t>
            </a:r>
            <a:r>
              <a:rPr sz="16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6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1" name="文本框 295"/>
          <p:cNvSpPr>
            <a:spLocks noGrp="1"/>
          </p:cNvSpPr>
          <p:nvPr/>
        </p:nvSpPr>
        <p:spPr>
          <a:xfrm>
            <a:off x="4076700" y="4429125"/>
            <a:ext cx="2838450" cy="1127914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50000"/>
              </a:lnSpc>
              <a:buNone/>
            </a:pP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自监督预训练 + 扰动建模，让</a:t>
            </a:r>
            <a:r>
              <a:rPr lang="en-US" altLang="zh-CN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具备</a:t>
            </a:r>
            <a:r>
              <a:rPr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学习“干预后进入什么新状态”</a:t>
            </a:r>
            <a:r>
              <a:rPr lang="zh-CN" altLang="en-US" sz="1275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的能力</a:t>
            </a:r>
            <a:endParaRPr sz="1275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2" name="矩形 296"/>
          <p:cNvSpPr>
            <a:spLocks noGrp="1"/>
          </p:cNvSpPr>
          <p:nvPr/>
        </p:nvSpPr>
        <p:spPr>
          <a:xfrm>
            <a:off x="7239000" y="1375859"/>
            <a:ext cx="4286250" cy="4891591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63" name="文本框 297"/>
          <p:cNvSpPr>
            <a:spLocks noGrp="1"/>
          </p:cNvSpPr>
          <p:nvPr/>
        </p:nvSpPr>
        <p:spPr>
          <a:xfrm>
            <a:off x="7562850" y="1920875"/>
            <a:ext cx="3752850" cy="25717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第一部分小结</a:t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/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4" name="文本框 298"/>
          <p:cNvSpPr>
            <a:spLocks noGrp="1"/>
          </p:cNvSpPr>
          <p:nvPr/>
        </p:nvSpPr>
        <p:spPr>
          <a:xfrm>
            <a:off x="7562850" y="2330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需求：治疗决策需要「事前预测」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5" name="文本框 299"/>
          <p:cNvSpPr>
            <a:spLocks noGrp="1"/>
          </p:cNvSpPr>
          <p:nvPr/>
        </p:nvSpPr>
        <p:spPr>
          <a:xfrm>
            <a:off x="7562850" y="2711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现状：今天的工具只能在治疗失败之后给出答案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6" name="文本框 300"/>
          <p:cNvSpPr>
            <a:spLocks noGrp="1"/>
          </p:cNvSpPr>
          <p:nvPr/>
        </p:nvSpPr>
        <p:spPr>
          <a:xfrm>
            <a:off x="7562850" y="3092450"/>
            <a:ext cx="3752850" cy="2857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· 时机：四项技术条件已同步成熟</a:t>
            </a:r>
            <a:r>
              <a:rPr sz="127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/>
            </a:r>
            <a:endParaRPr sz="127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7" name="矩形 301"/>
          <p:cNvSpPr>
            <a:spLocks noGrp="1"/>
          </p:cNvSpPr>
          <p:nvPr/>
        </p:nvSpPr>
        <p:spPr>
          <a:xfrm>
            <a:off x="7639050" y="2914650"/>
            <a:ext cx="3752850" cy="9525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368" name="文本框 302"/>
          <p:cNvSpPr>
            <a:spLocks noGrp="1"/>
          </p:cNvSpPr>
          <p:nvPr/>
        </p:nvSpPr>
        <p:spPr>
          <a:xfrm>
            <a:off x="7562850" y="3768725"/>
            <a:ext cx="3752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缺的是什么？</a:t>
            </a:r>
            <a:endParaRPr sz="15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9" name="文本框 303"/>
          <p:cNvSpPr>
            <a:spLocks noGrp="1"/>
          </p:cNvSpPr>
          <p:nvPr/>
        </p:nvSpPr>
        <p:spPr>
          <a:xfrm>
            <a:off x="7562850" y="4111625"/>
            <a:ext cx="3752850" cy="1079500"/>
          </a:xfrm>
          <a:prstGeom prst="rect">
            <a:avLst/>
          </a:prstGeom>
        </p:spPr>
        <p:txBody>
          <a:bodyPr wrap="square" lIns="0" tIns="0" rIns="0" bIns="0">
            <a:normAutofit fontScale="95206"/>
          </a:bodyPr>
          <a:lstStyle/>
          <a:p>
            <a:pPr marL="0" lvl="0" algn="l" defTabSz="914400">
              <a:lnSpc>
                <a:spcPct val="155000"/>
              </a:lnSpc>
              <a:buNone/>
              <a:defRPr sz="1800">
                <a:solidFill>
                  <a:schemeClr val="tx1">
                    <a:alpha val="100000"/>
                  </a:schemeClr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技术条件已经具备，事前预测却仍未实现——问题出在哪里、我们如何补上，见第二部分。</a:t>
            </a:r>
            <a:endParaRPr sz="1275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0" name="文本框 304"/>
          <p:cNvSpPr>
            <a:spLocks noGrp="1"/>
          </p:cNvSpPr>
          <p:nvPr/>
        </p:nvSpPr>
        <p:spPr>
          <a:xfrm>
            <a:off x="7562850" y="5305425"/>
            <a:ext cx="3752850" cy="304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→ 第二部分：为什么我们能做成</a:t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  <a:p>
            <a:pPr>
              <a:lnSpc>
                <a:spcPct val="155000"/>
              </a:lnSpc>
              <a:buNone/>
            </a:pPr>
            <a:r>
              <a:rPr sz="1275" b="1">
                <a:solidFill>
                  <a:srgbClr val="FFFFFF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/>
            </a:r>
            <a:endParaRPr sz="1275" b="1">
              <a:solidFill>
                <a:srgbClr val="FFFFFF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1" name="文本框 305"/>
          <p:cNvSpPr>
            <a:spLocks noGrp="1"/>
          </p:cNvSpPr>
          <p:nvPr/>
        </p:nvSpPr>
        <p:spPr>
          <a:xfrm>
            <a:off x="533400" y="6381750"/>
            <a:ext cx="178117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商业故事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 BP §3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5" name="矩形 5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86" name="文本框 59"/>
          <p:cNvSpPr>
            <a:spLocks noGrp="1"/>
          </p:cNvSpPr>
          <p:nvPr/>
        </p:nvSpPr>
        <p:spPr>
          <a:xfrm>
            <a:off x="4429125" y="2981325"/>
            <a:ext cx="262890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7" name="文本框 60"/>
          <p:cNvSpPr>
            <a:spLocks noGrp="1"/>
          </p:cNvSpPr>
          <p:nvPr/>
        </p:nvSpPr>
        <p:spPr>
          <a:xfrm>
            <a:off x="4429125" y="3648075"/>
            <a:ext cx="26289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THE TEAM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8" name="文本框 61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0" name="矩形 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91" name="文本框 64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团队：科学 × 数据 × 模型 × 运营，核心能力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实现</a:t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自持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矩形 65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93" name="文本框 66"/>
          <p:cNvSpPr>
            <a:spLocks noGrp="1"/>
          </p:cNvSpPr>
          <p:nvPr/>
        </p:nvSpPr>
        <p:spPr>
          <a:xfrm>
            <a:off x="533400" y="1019175"/>
            <a:ext cx="11274879" cy="2518682"/>
          </a:xfrm>
          <a:prstGeom prst="rect">
            <a:avLst/>
          </a:prstGeom>
        </p:spPr>
        <p:txBody>
          <a:bodyPr wrap="square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- CEO 卓悦博士：</a:t>
            </a: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DKFZ / 海德堡大学发育生物学博士，密歇根大学安娜堡分校学士；Verqura 实验室管理系统创始人；精通 iPSC 脑类器官构建、CRISPR 基因组编辑与标记，单细胞测序与 AI 图像分析；Cell Stem Cell 2025、npj Precision Oncology 2024 作者。</a:t>
            </a: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- CSO 田伟利博士：</a:t>
            </a: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DKFZ / 海德堡大学分子神经遗传学资深科学家，霍英东杰出青年学者；深耕神经调控与脑类器官方向，主持欧中重大科研项目，以核心成员身份完成 Cell Stem Cell 2025（IPTO 预测治疗响应）、npj Precision Oncology 2024（GBM 类器官多维图谱）两项顶刊工作。长期研究胶质母细胞瘤复发、耐药等临床上亟待解决的难题，兼具顶尖科研与产业转化经验。</a:t>
            </a: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- CTO 王中杰博士：</a:t>
            </a: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巴斯德研究所博士后，近 10 年生物信息与多组学数据分析经验；曾任职哈佛医学院，精通大规模计算与机器学习预测建模，擅长搭建端到端可复用分析流程，支撑临床与生物医药项目的数据挖掘与决策输出。</a:t>
            </a: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4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- COO 兰晓静：</a:t>
            </a:r>
            <a:r>
              <a:rPr lang="zh-CN" altLang="en-US" sz="140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海德堡大学经济学硕士，浙江大学管理学学士，竺可桢学院创业与创新管理强化班，FRM 持证人；拥有多年国际金融机构风控合规、跨境尽调经验，精通跨境财务统筹、合规体系搭建与硬科技创业项目运营。</a:t>
            </a:r>
            <a:endParaRPr lang="zh-CN" altLang="en-US" sz="1400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graphicFrame>
        <p:nvGraphicFramePr>
          <p:cNvPr id="112" name="表格 71"/>
          <p:cNvGraphicFramePr/>
          <p:nvPr/>
        </p:nvGraphicFramePr>
        <p:xfrm>
          <a:off x="533400" y="3769179"/>
          <a:ext cx="10856595" cy="2048510"/>
        </p:xfrm>
        <a:graphic>
          <a:graphicData uri="http://schemas.openxmlformats.org/drawingml/2006/table">
            <a:tbl>
              <a:tblPr/>
              <a:tblGrid>
                <a:gridCol w="2316480"/>
                <a:gridCol w="2096770"/>
                <a:gridCol w="6443345"/>
              </a:tblGrid>
              <a:tr h="398780"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  <a:endParaRPr sz="11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人选</a:t>
                      </a:r>
                      <a:endParaRPr sz="11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1F32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职责</a:t>
                      </a:r>
                      <a:endParaRPr sz="1125" b="1">
                        <a:solidFill>
                          <a:srgbClr val="FFFFFF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61F32"/>
                    </a:solidFill>
                  </a:tcPr>
                </a:tc>
              </a:tr>
              <a:tr h="412750"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061F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CEO</a:t>
                      </a:r>
                      <a:endParaRPr sz="1125" b="1">
                        <a:solidFill>
                          <a:srgbClr val="061F32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061F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 b="1">
                        <a:solidFill>
                          <a:srgbClr val="061F32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卓悦</a:t>
                      </a:r>
                      <a:endParaRPr sz="1125">
                        <a:solidFill>
                          <a:srgbClr val="44546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公司战略与融资；实验数字化与数据标准，自建 Verqura 系统；关键合作伙伴关系</a:t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Arial" panose="020B0604020202020204" pitchFamily="34" charset="0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>
                        <a:solidFill>
                          <a:srgbClr val="44546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2750"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061F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CSO</a:t>
                      </a:r>
                      <a:endParaRPr sz="1125" b="1">
                        <a:solidFill>
                          <a:srgbClr val="061F32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>
                          <a:solidFill>
                            <a:srgbClr val="061F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 b="1">
                        <a:solidFill>
                          <a:srgbClr val="061F32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田伟利</a:t>
                      </a:r>
                      <a:endParaRPr sz="1125">
                        <a:solidFill>
                          <a:srgbClr val="44546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脑类器官体系搭建、疾病机制研究、整体科学路线规划；临床合作与验证设计</a:t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>
                        <a:solidFill>
                          <a:srgbClr val="44546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12750">
                <a:tc>
                  <a:txBody>
                    <a:bodyPr wrap="square">
                      <a:spAutoFit/>
                    </a:bodyPr>
                    <a:lstStyle/>
                    <a:p>
                      <a:pPr marL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CTO</a:t>
                      </a:r>
                      <a:endParaRPr sz="1125" b="1">
                        <a:solidFill>
                          <a:srgbClr val="08A6F6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 marL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 b="1">
                        <a:solidFill>
                          <a:srgbClr val="08A6F6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indent="0" algn="l" defTabSz="914400">
                        <a:lnSpc>
                          <a:spcPct val="120000"/>
                        </a:lnSpc>
                        <a:buNone/>
                      </a:pP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王中杰</a:t>
                      </a:r>
                      <a:endParaRPr sz="1125" b="0" i="0" u="none">
                        <a:solidFill>
                          <a:srgbClr val="44546A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marR="114300" algn="l">
                        <a:lnSpc>
                          <a:spcPct val="120000"/>
                        </a:lnSpc>
                        <a:buNone/>
                      </a:pP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虚拟类器官预测模型研发；多模态建模、自监督预训练、因果建模；数据平台与算力架构</a:t>
                      </a:r>
                      <a:r>
                        <a:rPr lang="zh-CN" altLang="en-US"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>
                          <a:solidFill>
                            <a:srgbClr val="44546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>
                        <a:solidFill>
                          <a:srgbClr val="44546A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1480">
                <a:tc>
                  <a:txBody>
                    <a:bodyPr wrap="square">
                      <a:spAutoFit/>
                    </a:bodyPr>
                    <a:lstStyle/>
                    <a:p>
                      <a:pPr marL="114300" algn="l">
                        <a:lnSpc>
                          <a:spcPct val="120000"/>
                        </a:lnSpc>
                        <a:buNone/>
                      </a:pP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COO</a:t>
                      </a:r>
                      <a:r>
                        <a:rPr lang="en-US" altLang="zh-CN"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lang="en-US" altLang="zh-CN" sz="1125" b="1" i="0" u="none">
                        <a:solidFill>
                          <a:srgbClr val="061F32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  <a:p>
                      <a:pPr marL="114300" algn="l">
                        <a:lnSpc>
                          <a:spcPct val="120000"/>
                        </a:lnSpc>
                        <a:buNone/>
                      </a:pPr>
                      <a:r>
                        <a:rPr lang="zh-CN" altLang="en-US"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r>
                        <a:rPr sz="1125" b="1" i="0" u="none">
                          <a:solidFill>
                            <a:srgbClr val="061F32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  <a:endParaRPr sz="1125" b="1" i="0" u="none">
                        <a:solidFill>
                          <a:srgbClr val="061F32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indent="0" algn="l" defTabSz="914400">
                        <a:lnSpc>
                          <a:spcPct val="120000"/>
                        </a:lnSpc>
                        <a:buNone/>
                      </a:pP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兰晓静</a:t>
                      </a:r>
                      <a:endParaRPr sz="1125" b="0" i="0" u="none">
                        <a:solidFill>
                          <a:srgbClr val="44546A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lstStyle/>
                    <a:p>
                      <a:pPr marL="114300" algn="l">
                        <a:lnSpc>
                          <a:spcPct val="120000"/>
                        </a:lnSpc>
                        <a:buNone/>
                      </a:pP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项目</a:t>
                      </a:r>
                      <a:r>
                        <a:rPr lang="zh-CN" altLang="en-US"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全流程</a:t>
                      </a: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运营</a:t>
                      </a:r>
                      <a:r>
                        <a:rPr lang="zh-CN" altLang="en-US"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管理；</a:t>
                      </a: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财务</a:t>
                      </a:r>
                      <a:r>
                        <a:rPr lang="zh-CN" altLang="en-US"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统筹</a:t>
                      </a: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与风控合规</a:t>
                      </a:r>
                      <a:r>
                        <a:rPr lang="zh-CN" altLang="en-US"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；</a:t>
                      </a: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商务拓展与跨</a:t>
                      </a:r>
                      <a:r>
                        <a:rPr lang="zh-CN" altLang="en-US"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机构</a:t>
                      </a:r>
                      <a:r>
                        <a:rPr sz="1125" b="0" i="0" u="none">
                          <a:solidFill>
                            <a:srgbClr val="44546A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合作</a:t>
                      </a:r>
                      <a:endParaRPr sz="1125" b="0" i="0" u="none">
                        <a:solidFill>
                          <a:srgbClr val="44546A">
                            <a:alpha val="100000"/>
                          </a:srgbClr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99" name="任意多边形 72"/>
          <p:cNvSpPr>
            <a:spLocks noGrp="1"/>
          </p:cNvSpPr>
          <p:nvPr/>
        </p:nvSpPr>
        <p:spPr>
          <a:xfrm>
            <a:off x="533400" y="5878286"/>
            <a:ext cx="11125200" cy="420914"/>
          </a:xfrm>
          <a:custGeom>
            <a:avLst/>
            <a:gdLst/>
            <a:ahLst/>
            <a:cxnLst/>
            <a:pathLst>
              <a:path w="760" h="34">
                <a:moveTo>
                  <a:pt x="0" y="0"/>
                </a:moveTo>
                <a:lnTo>
                  <a:pt x="4" y="0"/>
                </a:lnTo>
                <a:lnTo>
                  <a:pt x="4" y="34"/>
                </a:lnTo>
                <a:lnTo>
                  <a:pt x="0" y="34"/>
                </a:lnTo>
                <a:close/>
              </a:path>
            </a:pathLst>
          </a:custGeom>
          <a:solidFill>
            <a:srgbClr val="08A6F6"/>
          </a:solidFill>
        </p:spPr>
        <p:txBody>
          <a:bodyPr/>
          <a:lstStyle/>
          <a:p/>
        </p:txBody>
      </p:sp>
      <p:sp>
        <p:nvSpPr>
          <p:cNvPr id="100" name="文本框 73"/>
          <p:cNvSpPr>
            <a:spLocks noGrp="1"/>
          </p:cNvSpPr>
          <p:nvPr/>
        </p:nvSpPr>
        <p:spPr>
          <a:xfrm>
            <a:off x="723900" y="5917293"/>
            <a:ext cx="10744200" cy="508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5000"/>
              </a:lnSpc>
              <a:buNone/>
            </a:pPr>
            <a:r>
              <a:rPr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患者采样、类器官建立、数据</a:t>
            </a:r>
            <a:r>
              <a:rPr sz="1275" b="1">
                <a:solidFill>
                  <a:srgbClr val="061F32"/>
                </a:solidFill>
                <a:latin typeface="微软雅黑" charset="0"/>
                <a:ea typeface="微软雅黑" charset="0"/>
                <a:cs typeface="微软雅黑" charset="0"/>
              </a:rPr>
              <a:t>构建</a:t>
            </a:r>
            <a:r>
              <a:rPr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、模型迭代、前瞻</a:t>
            </a:r>
            <a:r>
              <a:rPr lang="zh-CN" altLang="en-US"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性</a:t>
            </a:r>
            <a:r>
              <a:rPr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验证——数据飞轮</a:t>
            </a:r>
            <a:r>
              <a:rPr lang="zh-CN" altLang="en-US"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完整链路均可在</a:t>
            </a:r>
            <a:r>
              <a:rPr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团队内部闭环</a:t>
            </a:r>
            <a:r>
              <a:rPr lang="zh-CN" altLang="en-US" sz="12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运行。</a:t>
            </a:r>
            <a:endParaRPr sz="12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1" name="文本框 77"/>
          <p:cNvSpPr>
            <a:spLocks noGrp="1"/>
          </p:cNvSpPr>
          <p:nvPr/>
        </p:nvSpPr>
        <p:spPr>
          <a:xfrm>
            <a:off x="533400" y="6381750"/>
            <a:ext cx="4810125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AIVC 商业故事 BP §5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文本框 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08 / 08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