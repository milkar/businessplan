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5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" name="矩形 25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95" name="文本框 257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为什么是现在：类器官预测患者治疗响应，已获独立研究证实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6" name="矩形 258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97" name="矩形 259"/>
          <p:cNvSpPr>
            <a:spLocks noGrp="1"/>
          </p:cNvSpPr>
          <p:nvPr/>
        </p:nvSpPr>
        <p:spPr>
          <a:xfrm>
            <a:off x="533400" y="1019175"/>
            <a:ext cx="4000500" cy="430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pic>
        <p:nvPicPr>
          <p:cNvPr id="322" name="图片 260"/>
          <p:cNvPicPr>
            <a:picLocks noChangeAspect="1"/>
          </p:cNvPicPr>
          <p:nvPr/>
        </p:nvPicPr>
        <p:blipFill>
          <a:blip r:embed="rId1"/>
          <a:srcRect t="8263" b="8263"/>
          <a:stretch>
            <a:fillRect/>
          </a:stretch>
        </p:blipFill>
        <p:spPr>
          <a:xfrm>
            <a:off x="590550" y="1076325"/>
            <a:ext cx="3867150" cy="4191000"/>
          </a:xfrm>
          <a:prstGeom prst="rect">
            <a:avLst/>
          </a:prstGeom>
        </p:spPr>
      </p:pic>
      <p:sp>
        <p:nvSpPr>
          <p:cNvPr id="401" name="证据1说明"/>
          <p:cNvSpPr txBox="1"/>
          <p:nvPr/>
        </p:nvSpPr>
        <p:spPr>
          <a:xfrm>
            <a:off x="530352" y="5422392"/>
            <a:ext cx="400507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1｜Peng et al., </a:t>
            </a:r>
            <a:r>
              <a:rPr lang="zh-CN" altLang="en-US" sz="1100" b="1" i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Cell Stem Cell</a:t>
            </a: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2025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IPTO 保留肿瘤生态，前瞻性预测患者治疗响应（PFS / OS，p = 0.034 / 0.033）；本团队成员为共同作者</a:t>
            </a:r>
          </a:p>
        </p:txBody>
      </p:sp>
      <p:sp>
        <p:nvSpPr>
          <p:cNvPr id="402" name="证据2图片占位"/>
          <p:cNvSpPr txBox="1"/>
          <p:nvPr/>
        </p:nvSpPr>
        <p:spPr>
          <a:xfrm>
            <a:off x="4754880" y="1014984"/>
            <a:ext cx="4005072" cy="4306824"/>
          </a:xfrm>
          <a:prstGeom prst="rect">
            <a:avLst/>
          </a:prstGeom>
          <a:solidFill>
            <a:srgbClr val="F2F5F9"/>
          </a:solidFill>
          <a:ln w="9525">
            <a:solidFill>
              <a:srgbClr val="99BDED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400" b="1">
                <a:solidFill>
                  <a:srgbClr val="8496B0"/>
                </a:solidFill>
                <a:latin typeface="微软雅黑"/>
                <a:ea typeface="微软雅黑"/>
                <a:cs typeface="微软雅黑"/>
              </a:rPr>
              <a:t>证据 2 配图</a:t>
            </a:r>
          </a:p>
          <a:p>
            <a:pPr algn="ctr">
              <a:lnSpc>
                <a:spcPct val="120000"/>
              </a:lnSpc>
              <a:buNone/>
            </a:pPr>
            <a:r>
              <a:rPr lang="zh-CN" altLang="en-US" sz="1100">
                <a:solidFill>
                  <a:srgbClr val="8496B0"/>
                </a:solidFill>
                <a:latin typeface="微软雅黑"/>
                <a:ea typeface="微软雅黑"/>
                <a:cs typeface="微软雅黑"/>
              </a:rPr>
              <a:t>待放入微信文章中论文的关键图</a:t>
            </a:r>
          </a:p>
        </p:txBody>
      </p:sp>
      <p:sp>
        <p:nvSpPr>
          <p:cNvPr id="403" name="证据2说明"/>
          <p:cNvSpPr txBox="1"/>
          <p:nvPr/>
        </p:nvSpPr>
        <p:spPr>
          <a:xfrm>
            <a:off x="4754880" y="5422392"/>
            <a:ext cx="400507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2｜（论文作者、期刊、年份待补充）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（一句话结论待补充：该研究在哪个瘤种、用什么方法证明类器官 / AI 可预测患者治疗响应）</a:t>
            </a:r>
          </a:p>
        </p:txBody>
      </p:sp>
      <p:sp>
        <p:nvSpPr>
          <p:cNvPr id="404" name="结论面板"/>
          <p:cNvSpPr txBox="1"/>
          <p:nvPr/>
        </p:nvSpPr>
        <p:spPr>
          <a:xfrm>
            <a:off x="9006840" y="1014984"/>
            <a:ext cx="2651760" cy="5230368"/>
          </a:xfrm>
          <a:prstGeom prst="rect">
            <a:avLst/>
          </a:prstGeom>
          <a:solidFill>
            <a:srgbClr val="061F32"/>
          </a:solidFill>
        </p:spPr>
        <p:txBody>
          <a:bodyPr wrap="square" lIns="201168" tIns="201168" rIns="201168" bIns="201168" anchor="t">
            <a:no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时机已到</a:t>
            </a:r>
          </a:p>
          <a:p>
            <a:pPr algn="l" marL="171450" indent="-171450">
              <a:lnSpc>
                <a:spcPct val="12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不止我们：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多个团队、多个瘤种的独立研究都表明，患者来源类器官已能在临床场景中预测治疗响应</a:t>
            </a:r>
          </a:p>
          <a:p>
            <a:pPr algn="l" marL="171450" indent="-171450">
              <a:lnSpc>
                <a:spcPct val="12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从「能不能」到「怎么规模化」：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科学可行性已被验证，下一步是纵向校准与标准化交付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→ 见第二部分：我们如何补上这一步</a:t>
            </a:r>
          </a:p>
        </p:txBody>
      </p:sp>
      <p:sp>
        <p:nvSpPr>
          <p:cNvPr id="315" name="文本框 277"/>
          <p:cNvSpPr>
            <a:spLocks noGrp="1"/>
          </p:cNvSpPr>
          <p:nvPr/>
        </p:nvSpPr>
        <p:spPr>
          <a:xfrm>
            <a:off x="533400" y="6381750"/>
            <a:ext cx="48863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Peng et al., Cell Stem Cell 32, 652–669 (2025)；证据 2 出处待补充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6" name="文本框 278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06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