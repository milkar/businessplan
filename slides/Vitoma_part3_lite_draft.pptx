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3.svg" ContentType="image/svg+xml"/>
  <Override PartName="/ppt/notesMasters/notesMaster1.xml" ContentType="application/vnd.openxmlformats-officedocument.presentationml.notesMaster+xml"/>
  <Override PartName="/ppt/notesSlides/notesSlide1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0" r:id="rId18"/>
    <p:sldId id="271" r:id="rId19"/>
    <p:sldId id="273" r:id="rId21"/>
    <p:sldId id="266" r:id="rId14"/>
    <p:sldId id="261" r:id="rId9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?><Relationships xmlns="http://schemas.openxmlformats.org/package/2006/relationships"><Relationship Id="rId9" Type="http://schemas.openxmlformats.org/officeDocument/2006/relationships/slide" Target="slides/slide6.xml"/><Relationship Id="rId4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4" Type="http://schemas.openxmlformats.org/officeDocument/2006/relationships/slide" Target="slides/slide1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技术依据：虚拟实现路径提出 Patient-specific longitudinal virtual organoid，以同一患者体内轨迹与体外 PDO 平行实验系统进行纵向校准；AIVC_BUSINESS_PLAN_ZH_SELF_CONTAINED_EXPORT 明确首个场景应由样本可获得、类器官可靠、决策窗口适配和结局可评分决定，且不代表特定瘤种已经完成筛选。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技术依据：AIVC_BUSINESS_PLAN_ZH_SELF_CONTAINED_EXPORT 强调每一轮先评分再更新；基础模型评测支持把扰动实验作为观测证据，而不是假定模型已经具备可靠因果模拟能力。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外部事实核对：Tahoe Therapeutics 2025-08-11 宣布 3000 万美元 A 轮，总融资 4200 万美元，Forbes 报道估值 1.2 亿美元；Arc Institute 2026-02-24 宣布入选 TED Audacious Project 2025 cohort，年度资助池 10.3 亿美元；CZI 2025 年披露将科学 AI 算力扩至 10,000 GPUs；英灵殿科技官网/公开报道披露三个月累计融资近 5000 万美元；投资界 2026 年报道深度细胞近亿元种子轮。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svg"/><Relationship Id="rId1" Type="http://schemas.openxmlformats.org/officeDocument/2006/relationships/image" Target="../media/image1.png"/></Relationships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8" name="矩形 280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19" name="文本框 281"/>
          <p:cNvSpPr>
            <a:spLocks noGrp="1"/>
          </p:cNvSpPr>
          <p:nvPr/>
        </p:nvSpPr>
        <p:spPr>
          <a:xfrm>
            <a:off x="533400" y="419100"/>
            <a:ext cx="11125200" cy="381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投资回报：三次价值跃升，每一次都降低一级风险</a:t>
            </a:r>
            <a:r>
              <a:rPr lang="zh-CN" altLang="en-US"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endParaRPr sz="2475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0" name="矩形 282"/>
          <p:cNvSpPr>
            <a:spLocks noGrp="1"/>
          </p:cNvSpPr>
          <p:nvPr/>
        </p:nvSpPr>
        <p:spPr>
          <a:xfrm>
            <a:off x="533400" y="895350"/>
            <a:ext cx="111252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321" name="文本框 283"/>
          <p:cNvSpPr>
            <a:spLocks noGrp="1"/>
          </p:cNvSpPr>
          <p:nvPr/>
        </p:nvSpPr>
        <p:spPr>
          <a:xfrm>
            <a:off x="533400" y="1019175"/>
            <a:ext cx="65722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每过一道闸门，风险降一级、证据升一级</a:t>
            </a:r>
            <a:endParaRPr sz="1500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2" name="任意多边形 284"/>
          <p:cNvSpPr>
            <a:spLocks noGrp="1"/>
          </p:cNvSpPr>
          <p:nvPr/>
        </p:nvSpPr>
        <p:spPr>
          <a:xfrm>
            <a:off x="533400" y="1381125"/>
            <a:ext cx="3219450" cy="2390775"/>
          </a:xfrm>
          <a:custGeom>
            <a:avLst/>
            <a:gdLst/>
            <a:ahLst/>
            <a:cxnLst/>
            <a:pathLst>
              <a:path w="338" h="251">
                <a:moveTo>
                  <a:pt x="0" y="0"/>
                </a:moveTo>
                <a:lnTo>
                  <a:pt x="338" y="0"/>
                </a:lnTo>
                <a:lnTo>
                  <a:pt x="338" y="3"/>
                </a:lnTo>
                <a:lnTo>
                  <a:pt x="0" y="3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323" name="文本框 285"/>
          <p:cNvSpPr>
            <a:spLocks noGrp="1"/>
          </p:cNvSpPr>
          <p:nvPr/>
        </p:nvSpPr>
        <p:spPr>
          <a:xfrm>
            <a:off x="723900" y="1581150"/>
            <a:ext cx="28384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65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第 6 个月｜科学可行</a:t>
            </a:r>
            <a:endParaRPr sz="1650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4" name="文本框 286"/>
          <p:cNvSpPr>
            <a:spLocks noGrp="1"/>
          </p:cNvSpPr>
          <p:nvPr/>
        </p:nvSpPr>
        <p:spPr>
          <a:xfrm>
            <a:off x="723900" y="1933575"/>
            <a:ext cx="2838450" cy="876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实验体系稳定复现，证明患者–PDO 配对可规模化执行</a:t>
            </a:r>
            <a:endParaRPr sz="1275">
              <a:solidFill>
                <a:srgbClr val="4454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5" name="任意多边形 287"/>
          <p:cNvSpPr>
            <a:spLocks noGrp="1"/>
          </p:cNvSpPr>
          <p:nvPr/>
        </p:nvSpPr>
        <p:spPr>
          <a:xfrm>
            <a:off x="3886200" y="1381125"/>
            <a:ext cx="3219450" cy="2390775"/>
          </a:xfrm>
          <a:custGeom>
            <a:avLst/>
            <a:gdLst/>
            <a:ahLst/>
            <a:cxnLst/>
            <a:pathLst>
              <a:path w="338" h="251">
                <a:moveTo>
                  <a:pt x="0" y="0"/>
                </a:moveTo>
                <a:lnTo>
                  <a:pt x="338" y="0"/>
                </a:lnTo>
                <a:lnTo>
                  <a:pt x="338" y="3"/>
                </a:lnTo>
                <a:lnTo>
                  <a:pt x="0" y="3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326" name="文本框 288"/>
          <p:cNvSpPr>
            <a:spLocks noGrp="1"/>
          </p:cNvSpPr>
          <p:nvPr/>
        </p:nvSpPr>
        <p:spPr>
          <a:xfrm>
            <a:off x="4076700" y="1581150"/>
            <a:ext cx="28384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65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第 12 个月｜商业验证</a:t>
            </a:r>
            <a:endParaRPr sz="1650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7" name="文本框 289"/>
          <p:cNvSpPr>
            <a:spLocks noGrp="1"/>
          </p:cNvSpPr>
          <p:nvPr/>
        </p:nvSpPr>
        <p:spPr>
          <a:xfrm>
            <a:off x="4076700" y="1933575"/>
            <a:ext cx="2838450" cy="876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首个付费项目 + 回顾性 AUROC + 双轨迹校准首个结果</a:t>
            </a:r>
            <a:endParaRPr sz="1275">
              <a:solidFill>
                <a:srgbClr val="4454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8" name="任意多边形 290"/>
          <p:cNvSpPr>
            <a:spLocks noGrp="1"/>
          </p:cNvSpPr>
          <p:nvPr/>
        </p:nvSpPr>
        <p:spPr>
          <a:xfrm>
            <a:off x="533400" y="3876675"/>
            <a:ext cx="3219450" cy="2390775"/>
          </a:xfrm>
          <a:custGeom>
            <a:avLst/>
            <a:gdLst/>
            <a:ahLst/>
            <a:cxnLst/>
            <a:pathLst>
              <a:path w="338" h="251">
                <a:moveTo>
                  <a:pt x="0" y="0"/>
                </a:moveTo>
                <a:lnTo>
                  <a:pt x="338" y="0"/>
                </a:lnTo>
                <a:lnTo>
                  <a:pt x="338" y="3"/>
                </a:lnTo>
                <a:lnTo>
                  <a:pt x="0" y="3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329" name="文本框 291"/>
          <p:cNvSpPr>
            <a:spLocks noGrp="1"/>
          </p:cNvSpPr>
          <p:nvPr/>
        </p:nvSpPr>
        <p:spPr>
          <a:xfrm>
            <a:off x="723900" y="4076700"/>
            <a:ext cx="28384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65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下一轮｜临床证据</a:t>
            </a:r>
            <a:endParaRPr sz="1650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0" name="文本框 292"/>
          <p:cNvSpPr>
            <a:spLocks noGrp="1"/>
          </p:cNvSpPr>
          <p:nvPr/>
        </p:nvSpPr>
        <p:spPr>
          <a:xfrm>
            <a:off x="723900" y="4429125"/>
            <a:ext cx="2838450" cy="876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多中心前瞻性评分与 AIVC v1 发布，支撑 A 轮融资</a:t>
            </a:r>
            <a:r>
              <a:rPr lang="zh-CN" altLang="en-US"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endParaRPr sz="1275">
              <a:solidFill>
                <a:srgbClr val="4454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1" name="任意多边形 293"/>
          <p:cNvSpPr>
            <a:spLocks noGrp="1"/>
          </p:cNvSpPr>
          <p:nvPr/>
        </p:nvSpPr>
        <p:spPr>
          <a:xfrm>
            <a:off x="3886200" y="3876675"/>
            <a:ext cx="3219450" cy="2390775"/>
          </a:xfrm>
          <a:custGeom>
            <a:avLst/>
            <a:gdLst/>
            <a:ahLst/>
            <a:cxnLst/>
            <a:pathLst>
              <a:path w="338" h="251">
                <a:moveTo>
                  <a:pt x="0" y="0"/>
                </a:moveTo>
                <a:lnTo>
                  <a:pt x="338" y="0"/>
                </a:lnTo>
                <a:lnTo>
                  <a:pt x="338" y="3"/>
                </a:lnTo>
                <a:lnTo>
                  <a:pt x="0" y="3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332" name="文本框 294"/>
          <p:cNvSpPr>
            <a:spLocks noGrp="1"/>
          </p:cNvSpPr>
          <p:nvPr/>
        </p:nvSpPr>
        <p:spPr>
          <a:xfrm>
            <a:off x="4076700" y="4076700"/>
            <a:ext cx="28384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65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退出路径</a:t>
            </a:r>
            <a:endParaRPr sz="1650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3" name="文本框 295"/>
          <p:cNvSpPr>
            <a:spLocks noGrp="1"/>
          </p:cNvSpPr>
          <p:nvPr/>
        </p:nvSpPr>
        <p:spPr>
          <a:xfrm>
            <a:off x="4076700" y="4429125"/>
            <a:ext cx="2838450" cy="76593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下一轮融资 → 战略并购（药企 / CRO / AI 制药平台）→ IPO</a:t>
            </a:r>
            <a:r>
              <a:rPr lang="zh-CN" altLang="en-US"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endParaRPr sz="1275">
              <a:solidFill>
                <a:srgbClr val="4454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4" name="矩形 296"/>
          <p:cNvSpPr>
            <a:spLocks noGrp="1"/>
          </p:cNvSpPr>
          <p:nvPr/>
        </p:nvSpPr>
        <p:spPr>
          <a:xfrm>
            <a:off x="7372350" y="1019175"/>
            <a:ext cx="4286250" cy="5219700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335" name="文本框 297"/>
          <p:cNvSpPr>
            <a:spLocks noGrp="1"/>
          </p:cNvSpPr>
          <p:nvPr/>
        </p:nvSpPr>
        <p:spPr>
          <a:xfrm>
            <a:off x="7639050" y="1266825"/>
            <a:ext cx="37528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结语：请记住这三句话</a:t>
            </a:r>
            <a:endParaRPr sz="16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6" name="文本框 298"/>
          <p:cNvSpPr>
            <a:spLocks noGrp="1"/>
          </p:cNvSpPr>
          <p:nvPr/>
        </p:nvSpPr>
        <p:spPr>
          <a:xfrm>
            <a:off x="7639050" y="1676400"/>
            <a:ext cx="37528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  <a:buNone/>
            </a:pPr>
            <a:r>
              <a:rPr sz="1275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为什么要做：治疗决策缺患者特异性证据</a:t>
            </a:r>
            <a:endParaRPr sz="1275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7" name="文本框 299"/>
          <p:cNvSpPr>
            <a:spLocks noGrp="1"/>
          </p:cNvSpPr>
          <p:nvPr/>
        </p:nvSpPr>
        <p:spPr>
          <a:xfrm>
            <a:off x="7639050" y="2057400"/>
            <a:ext cx="37528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  <a:buNone/>
            </a:pPr>
            <a:r>
              <a:rPr sz="1275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为什么能成：平行实验 + 双轨迹校准</a:t>
            </a:r>
            <a:endParaRPr sz="1275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8" name="文本框 300"/>
          <p:cNvSpPr>
            <a:spLocks noGrp="1"/>
          </p:cNvSpPr>
          <p:nvPr/>
        </p:nvSpPr>
        <p:spPr>
          <a:xfrm>
            <a:off x="7639050" y="2438400"/>
            <a:ext cx="37528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  <a:buNone/>
            </a:pPr>
            <a:r>
              <a:rPr sz="1275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做成值多少：数据越厚，成本越低</a:t>
            </a:r>
            <a:endParaRPr sz="1275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9" name="矩形 301"/>
          <p:cNvSpPr>
            <a:spLocks noGrp="1"/>
          </p:cNvSpPr>
          <p:nvPr/>
        </p:nvSpPr>
        <p:spPr>
          <a:xfrm>
            <a:off x="7639050" y="2914650"/>
            <a:ext cx="3752850" cy="9525"/>
          </a:xfrm>
          <a:prstGeom prst="rect">
            <a:avLst/>
          </a:prstGeom>
          <a:solidFill>
            <a:srgbClr val="44546A"/>
          </a:solidFill>
        </p:spPr>
        <p:txBody>
          <a:bodyPr/>
          <a:lstStyle/>
          <a:p/>
        </p:txBody>
      </p:sp>
      <p:sp>
        <p:nvSpPr>
          <p:cNvPr id="340" name="文本框 302"/>
          <p:cNvSpPr>
            <a:spLocks noGrp="1"/>
          </p:cNvSpPr>
          <p:nvPr/>
        </p:nvSpPr>
        <p:spPr>
          <a:xfrm>
            <a:off x="7639050" y="3114675"/>
            <a:ext cx="2940562" cy="149059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参照案例</a:t>
            </a:r>
            <a:endParaRPr sz="1500" b="1">
              <a:solidFill>
                <a:srgbClr val="08A6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1" name="文本框 303"/>
          <p:cNvSpPr>
            <a:spLocks noGrp="1"/>
          </p:cNvSpPr>
          <p:nvPr/>
        </p:nvSpPr>
        <p:spPr>
          <a:xfrm>
            <a:off x="7639050" y="3457575"/>
            <a:ext cx="3752850" cy="609600"/>
          </a:xfrm>
          <a:prstGeom prst="rect">
            <a:avLst/>
          </a:prstGeom>
        </p:spPr>
        <p:txBody>
          <a:bodyPr wrap="square" lIns="0" tIns="0" rIns="0" bIns="0">
            <a:normAutofit fontScale="67468"/>
          </a:bodyPr>
          <a:lstStyle/>
          <a:p>
            <a:pPr>
              <a:lnSpc>
                <a:spcPct val="155000"/>
              </a:lnSpc>
              <a:buNone/>
            </a:pPr>
            <a:r>
              <a:rPr sz="1275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Tahoe Therapeutics 2025 年 A 轮 3000 万美元，估值 1.2 亿美元。本轮投前估值与出让比例【待补充】。</a:t>
            </a:r>
            <a:endParaRPr sz="1275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2" name="文本框 304"/>
          <p:cNvSpPr>
            <a:spLocks noGrp="1"/>
          </p:cNvSpPr>
          <p:nvPr/>
        </p:nvSpPr>
        <p:spPr>
          <a:xfrm>
            <a:off x="7639035" y="4534206"/>
            <a:ext cx="37528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  <a:buNone/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平行推演生命，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5000"/>
              </a:lnSpc>
              <a:buNone/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交汇预见未来</a:t>
            </a:r>
            <a:r>
              <a:rPr lang="zh-CN" altLang="en-US"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3" name="文本框 305"/>
          <p:cNvSpPr>
            <a:spLocks noGrp="1"/>
          </p:cNvSpPr>
          <p:nvPr/>
        </p:nvSpPr>
        <p:spPr>
          <a:xfrm>
            <a:off x="533400" y="6381750"/>
            <a:ext cx="17811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Source: Tahoe Therapeutics 公开融资信息（2025）</a:t>
            </a:r>
            <a:endParaRPr sz="1050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4" name="文本框 306"/>
          <p:cNvSpPr>
            <a:spLocks noGrp="1"/>
          </p:cNvSpPr>
          <p:nvPr/>
        </p:nvSpPr>
        <p:spPr>
          <a:xfrm>
            <a:off x="11201400" y="6381750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05 / 05</a:t>
            </a:r>
            <a:endParaRPr sz="1050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矩形 13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41" name="文本框 14"/>
          <p:cNvSpPr>
            <a:spLocks noGrp="1"/>
          </p:cNvSpPr>
          <p:nvPr/>
        </p:nvSpPr>
        <p:spPr>
          <a:xfrm>
            <a:off x="533400" y="419100"/>
            <a:ext cx="11125200" cy="381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里程碑：第 6 个月证明可行，第 12 个月证明有用</a:t>
            </a:r>
            <a:r>
              <a:rPr lang="zh-CN" altLang="en-US"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endParaRPr sz="2475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矩形 15"/>
          <p:cNvSpPr>
            <a:spLocks noGrp="1"/>
          </p:cNvSpPr>
          <p:nvPr/>
        </p:nvSpPr>
        <p:spPr>
          <a:xfrm>
            <a:off x="533400" y="895350"/>
            <a:ext cx="111252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43" name="任意多边形 16"/>
          <p:cNvSpPr>
            <a:spLocks noGrp="1"/>
          </p:cNvSpPr>
          <p:nvPr/>
        </p:nvSpPr>
        <p:spPr>
          <a:xfrm>
            <a:off x="533400" y="1019175"/>
            <a:ext cx="1943100" cy="2133600"/>
          </a:xfrm>
          <a:custGeom>
            <a:avLst/>
            <a:gdLst/>
            <a:ahLst/>
            <a:cxnLst/>
            <a:pathLst>
              <a:path w="204" h="224">
                <a:moveTo>
                  <a:pt x="0" y="0"/>
                </a:moveTo>
                <a:lnTo>
                  <a:pt x="204" y="0"/>
                </a:lnTo>
                <a:lnTo>
                  <a:pt x="204" y="4"/>
                </a:lnTo>
                <a:lnTo>
                  <a:pt x="0" y="4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44" name="文本框 17"/>
          <p:cNvSpPr>
            <a:spLocks noGrp="1"/>
          </p:cNvSpPr>
          <p:nvPr/>
        </p:nvSpPr>
        <p:spPr>
          <a:xfrm>
            <a:off x="685800" y="1190625"/>
            <a:ext cx="16383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125" b="1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第 3 个月</a:t>
            </a:r>
            <a:r>
              <a:rPr sz="1125" b="1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endParaRPr sz="1125" b="1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文本框 18"/>
          <p:cNvSpPr>
            <a:spLocks noGrp="1"/>
          </p:cNvSpPr>
          <p:nvPr/>
        </p:nvSpPr>
        <p:spPr>
          <a:xfrm>
            <a:off x="685800" y="1400175"/>
            <a:ext cx="1638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体系就位</a:t>
            </a:r>
            <a:endParaRPr sz="1500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文本框 19"/>
          <p:cNvSpPr>
            <a:spLocks noGrp="1"/>
          </p:cNvSpPr>
          <p:nvPr/>
        </p:nvSpPr>
        <p:spPr>
          <a:xfrm>
            <a:off x="685800" y="1704975"/>
            <a:ext cx="1638300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  <a:buNone/>
            </a:pPr>
            <a:r>
              <a:rPr sz="112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伦理批件获批；首批 PDO 建立；分析管线上线</a:t>
            </a:r>
            <a:endParaRPr sz="1125">
              <a:solidFill>
                <a:srgbClr val="4454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文本框 20"/>
          <p:cNvSpPr>
            <a:spLocks noGrp="1"/>
          </p:cNvSpPr>
          <p:nvPr/>
        </p:nvSpPr>
        <p:spPr>
          <a:xfrm>
            <a:off x="685800" y="2550128"/>
            <a:ext cx="163830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0000"/>
              </a:lnSpc>
              <a:buNone/>
            </a:pPr>
            <a:r>
              <a:rPr sz="1125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执行能力</a:t>
            </a:r>
            <a:r>
              <a:rPr lang="zh-CN" altLang="en-US" sz="1125" b="1">
                <a:solidFill>
                  <a:srgbClr val="08A6F6"/>
                </a:solidFill>
                <a:latin typeface="微软雅黑"/>
                <a:ea typeface="微软雅黑"/>
                <a:cs typeface="Arial" panose="020B0604020202020204" pitchFamily="34" charset="0"/>
              </a:rPr>
              <a:t/>
            </a:r>
            <a:r>
              <a:rPr sz="1125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/>
            </a:r>
            <a:endParaRPr sz="1125" b="1">
              <a:solidFill>
                <a:srgbClr val="08A6F6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96" name="图片 2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33650" y="2000250"/>
            <a:ext cx="209550" cy="171450"/>
          </a:xfrm>
          <a:prstGeom prst="rect">
            <a:avLst/>
          </a:prstGeom>
        </p:spPr>
      </p:pic>
      <p:sp>
        <p:nvSpPr>
          <p:cNvPr id="49" name="任意多边形 22"/>
          <p:cNvSpPr>
            <a:spLocks noGrp="1"/>
          </p:cNvSpPr>
          <p:nvPr/>
        </p:nvSpPr>
        <p:spPr>
          <a:xfrm>
            <a:off x="2838450" y="1019175"/>
            <a:ext cx="1943100" cy="2133600"/>
          </a:xfrm>
          <a:custGeom>
            <a:avLst/>
            <a:gdLst/>
            <a:ahLst/>
            <a:cxnLst/>
            <a:pathLst>
              <a:path w="204" h="224">
                <a:moveTo>
                  <a:pt x="0" y="0"/>
                </a:moveTo>
                <a:lnTo>
                  <a:pt x="204" y="0"/>
                </a:lnTo>
                <a:lnTo>
                  <a:pt x="204" y="4"/>
                </a:lnTo>
                <a:lnTo>
                  <a:pt x="0" y="4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50" name="文本框 23"/>
          <p:cNvSpPr>
            <a:spLocks noGrp="1"/>
          </p:cNvSpPr>
          <p:nvPr/>
        </p:nvSpPr>
        <p:spPr>
          <a:xfrm>
            <a:off x="2990850" y="1190625"/>
            <a:ext cx="16383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125" b="1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第 6 个月</a:t>
            </a:r>
            <a:r>
              <a:rPr sz="1125" b="1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endParaRPr sz="1125" b="1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文本框 24"/>
          <p:cNvSpPr>
            <a:spLocks noGrp="1"/>
          </p:cNvSpPr>
          <p:nvPr/>
        </p:nvSpPr>
        <p:spPr>
          <a:xfrm>
            <a:off x="2990850" y="1400175"/>
            <a:ext cx="1638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Level 1 闸门</a:t>
            </a:r>
            <a:endParaRPr sz="1500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文本框 25"/>
          <p:cNvSpPr>
            <a:spLocks noGrp="1"/>
          </p:cNvSpPr>
          <p:nvPr/>
        </p:nvSpPr>
        <p:spPr>
          <a:xfrm>
            <a:off x="2990850" y="1704975"/>
            <a:ext cx="1638300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  <a:buNone/>
            </a:pPr>
            <a:r>
              <a:rPr sz="112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≥30 例配对、稳定复现；深度读出跑通</a:t>
            </a:r>
            <a:endParaRPr sz="1125">
              <a:solidFill>
                <a:srgbClr val="4454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文本框 26"/>
          <p:cNvSpPr>
            <a:spLocks noGrp="1"/>
          </p:cNvSpPr>
          <p:nvPr/>
        </p:nvSpPr>
        <p:spPr>
          <a:xfrm>
            <a:off x="2990850" y="2550128"/>
            <a:ext cx="16383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 marL="0" lvl="0" indent="0" algn="l" defTabSz="914400">
              <a:lnSpc>
                <a:spcPct val="140000"/>
              </a:lnSpc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Calibri"/>
                <a:cs typeface="Calibri"/>
              </a:defRPr>
            </a:pPr>
            <a:r>
              <a:rPr sz="1125" b="1" i="0" u="none">
                <a:solidFill>
                  <a:srgbClr val="08A6F6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闸门：</a:t>
            </a:r>
            <a:r>
              <a:rPr lang="zh-CN" altLang="en-US" sz="1125" b="1" i="0" u="none">
                <a:solidFill>
                  <a:srgbClr val="08A6F6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endParaRPr lang="zh-CN" altLang="en-US" sz="1125" b="1" i="0" u="none">
              <a:solidFill>
                <a:srgbClr val="08A6F6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  <a:p>
            <a:pPr marL="0" lvl="0" indent="0" algn="l" defTabSz="914400">
              <a:lnSpc>
                <a:spcPct val="140000"/>
              </a:lnSpc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Calibri"/>
                <a:cs typeface="Calibri"/>
              </a:defRPr>
            </a:pPr>
            <a:r>
              <a:rPr lang="zh-CN" altLang="en-US" sz="1125" b="1" i="0" u="none">
                <a:solidFill>
                  <a:srgbClr val="08A6F6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科学可行</a:t>
            </a:r>
            <a:endParaRPr sz="1125">
              <a:solidFill>
                <a:srgbClr val="808080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02" name="图片 2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38700" y="2000250"/>
            <a:ext cx="209550" cy="171450"/>
          </a:xfrm>
          <a:prstGeom prst="rect">
            <a:avLst/>
          </a:prstGeom>
        </p:spPr>
      </p:pic>
      <p:sp>
        <p:nvSpPr>
          <p:cNvPr id="55" name="任意多边形 28"/>
          <p:cNvSpPr>
            <a:spLocks noGrp="1"/>
          </p:cNvSpPr>
          <p:nvPr/>
        </p:nvSpPr>
        <p:spPr>
          <a:xfrm>
            <a:off x="5143500" y="1019175"/>
            <a:ext cx="1943100" cy="2133600"/>
          </a:xfrm>
          <a:custGeom>
            <a:avLst/>
            <a:gdLst/>
            <a:ahLst/>
            <a:cxnLst/>
            <a:pathLst>
              <a:path w="204" h="224">
                <a:moveTo>
                  <a:pt x="0" y="0"/>
                </a:moveTo>
                <a:lnTo>
                  <a:pt x="204" y="0"/>
                </a:lnTo>
                <a:lnTo>
                  <a:pt x="204" y="4"/>
                </a:lnTo>
                <a:lnTo>
                  <a:pt x="0" y="4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56" name="文本框 29"/>
          <p:cNvSpPr>
            <a:spLocks noGrp="1"/>
          </p:cNvSpPr>
          <p:nvPr/>
        </p:nvSpPr>
        <p:spPr>
          <a:xfrm>
            <a:off x="5295900" y="1190625"/>
            <a:ext cx="16383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125" b="1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第 9 个月</a:t>
            </a:r>
            <a:r>
              <a:rPr sz="1125" b="1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endParaRPr sz="1125" b="1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7" name="文本框 30"/>
          <p:cNvSpPr>
            <a:spLocks noGrp="1"/>
          </p:cNvSpPr>
          <p:nvPr/>
        </p:nvSpPr>
        <p:spPr>
          <a:xfrm>
            <a:off x="5295900" y="1400175"/>
            <a:ext cx="1638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中期评估</a:t>
            </a:r>
            <a:endParaRPr sz="1500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文本框 31"/>
          <p:cNvSpPr>
            <a:spLocks noGrp="1"/>
          </p:cNvSpPr>
          <p:nvPr/>
        </p:nvSpPr>
        <p:spPr>
          <a:xfrm>
            <a:off x="5295900" y="1704975"/>
            <a:ext cx="1638300" cy="504825"/>
          </a:xfrm>
          <a:prstGeom prst="rect">
            <a:avLst/>
          </a:prstGeom>
        </p:spPr>
        <p:txBody>
          <a:bodyPr wrap="square" lIns="0" tIns="0" rIns="0" bIns="0">
            <a:normAutofit lnSpcReduction="10000"/>
          </a:bodyPr>
          <a:lstStyle/>
          <a:p>
            <a:pPr>
              <a:lnSpc>
                <a:spcPct val="145000"/>
              </a:lnSpc>
              <a:buNone/>
            </a:pPr>
            <a:r>
              <a:rPr sz="112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回顾性 AUROC 首次评估；药企洽谈进入条款阶段</a:t>
            </a:r>
            <a:r>
              <a:rPr lang="zh-CN" altLang="en-US" sz="112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2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endParaRPr sz="1125">
              <a:solidFill>
                <a:srgbClr val="4454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9" name="文本框 32"/>
          <p:cNvSpPr>
            <a:spLocks noGrp="1"/>
          </p:cNvSpPr>
          <p:nvPr/>
        </p:nvSpPr>
        <p:spPr>
          <a:xfrm>
            <a:off x="5295900" y="2550128"/>
            <a:ext cx="163830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marL="0" lvl="0" algn="l" defTabSz="914400">
              <a:lnSpc>
                <a:spcPct val="140000"/>
              </a:lnSpc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Calibri"/>
                <a:cs typeface="Calibri"/>
              </a:defRPr>
            </a:pPr>
            <a:r>
              <a:rPr sz="1125" b="1" i="0" u="none">
                <a:solidFill>
                  <a:srgbClr val="08A6F6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启动</a:t>
            </a:r>
            <a:r>
              <a:rPr sz="1125" b="1" i="0" u="none">
                <a:solidFill>
                  <a:srgbClr val="08A6F6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25" b="1" i="0" u="none">
                <a:solidFill>
                  <a:srgbClr val="08A6F6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25" b="1" i="0" u="none">
                <a:solidFill>
                  <a:srgbClr val="08A6F6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endParaRPr sz="1125" b="1" i="0" u="none">
              <a:solidFill>
                <a:srgbClr val="08A6F6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  <a:p>
            <a:pPr marL="0" lvl="0" algn="l" defTabSz="914400">
              <a:lnSpc>
                <a:spcPct val="140000"/>
              </a:lnSpc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Calibri"/>
                <a:cs typeface="Calibri"/>
              </a:defRPr>
            </a:pPr>
            <a:r>
              <a:rPr sz="1125" b="1" i="0" u="none">
                <a:solidFill>
                  <a:srgbClr val="08A6F6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下一轮融资对话</a:t>
            </a:r>
            <a:r>
              <a:rPr lang="zh-CN" altLang="en-US" sz="1125" b="1" i="0" u="none">
                <a:solidFill>
                  <a:srgbClr val="08A6F6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endParaRPr sz="1125" b="1" i="0" u="none">
              <a:solidFill>
                <a:srgbClr val="08A6F6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08" name="图片 3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43750" y="2000250"/>
            <a:ext cx="209550" cy="171450"/>
          </a:xfrm>
          <a:prstGeom prst="rect">
            <a:avLst/>
          </a:prstGeom>
        </p:spPr>
      </p:pic>
      <p:sp>
        <p:nvSpPr>
          <p:cNvPr id="61" name="任意多边形 34"/>
          <p:cNvSpPr>
            <a:spLocks noGrp="1"/>
          </p:cNvSpPr>
          <p:nvPr/>
        </p:nvSpPr>
        <p:spPr>
          <a:xfrm>
            <a:off x="7448550" y="1019175"/>
            <a:ext cx="1943100" cy="2133600"/>
          </a:xfrm>
          <a:custGeom>
            <a:avLst/>
            <a:gdLst/>
            <a:ahLst/>
            <a:cxnLst/>
            <a:pathLst>
              <a:path w="204" h="224">
                <a:moveTo>
                  <a:pt x="0" y="0"/>
                </a:moveTo>
                <a:lnTo>
                  <a:pt x="204" y="0"/>
                </a:lnTo>
                <a:lnTo>
                  <a:pt x="204" y="4"/>
                </a:lnTo>
                <a:lnTo>
                  <a:pt x="0" y="4"/>
                </a:lnTo>
                <a:close/>
              </a:path>
            </a:pathLst>
          </a:custGeom>
          <a:solidFill>
            <a:srgbClr val="08A6F6"/>
          </a:solidFill>
        </p:spPr>
        <p:txBody>
          <a:bodyPr/>
          <a:lstStyle/>
          <a:p/>
        </p:txBody>
      </p:sp>
      <p:sp>
        <p:nvSpPr>
          <p:cNvPr id="62" name="文本框 35"/>
          <p:cNvSpPr>
            <a:spLocks noGrp="1"/>
          </p:cNvSpPr>
          <p:nvPr/>
        </p:nvSpPr>
        <p:spPr>
          <a:xfrm>
            <a:off x="7600950" y="1190625"/>
            <a:ext cx="16383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125" b="1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第 12 个月</a:t>
            </a:r>
            <a:r>
              <a:rPr sz="1125" b="1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endParaRPr sz="1125" b="1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3" name="文本框 36"/>
          <p:cNvSpPr>
            <a:spLocks noGrp="1"/>
          </p:cNvSpPr>
          <p:nvPr/>
        </p:nvSpPr>
        <p:spPr>
          <a:xfrm>
            <a:off x="7600950" y="1400175"/>
            <a:ext cx="1638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Level 2 闸门</a:t>
            </a:r>
            <a:endParaRPr sz="1500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4" name="文本框 37"/>
          <p:cNvSpPr>
            <a:spLocks noGrp="1"/>
          </p:cNvSpPr>
          <p:nvPr/>
        </p:nvSpPr>
        <p:spPr>
          <a:xfrm>
            <a:off x="7600950" y="1704975"/>
            <a:ext cx="1638300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  <a:buNone/>
            </a:pPr>
            <a:r>
              <a:rPr sz="112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约 100 例配对；AUROC 验证；双轨迹首个结果；首个付费项目</a:t>
            </a:r>
            <a:endParaRPr sz="1125">
              <a:solidFill>
                <a:srgbClr val="4454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5" name="文本框 38"/>
          <p:cNvSpPr>
            <a:spLocks noGrp="1"/>
          </p:cNvSpPr>
          <p:nvPr/>
        </p:nvSpPr>
        <p:spPr>
          <a:xfrm>
            <a:off x="7600950" y="2550128"/>
            <a:ext cx="16383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  <a:buNone/>
            </a:pPr>
            <a:r>
              <a:rPr lang="zh-CN" altLang="en-US" sz="1125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闸门：</a:t>
            </a:r>
            <a:r>
              <a:rPr sz="1125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25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/>
            </a:r>
            <a:endParaRPr lang="zh-CN" altLang="en-US" sz="1125" b="1">
              <a:solidFill>
                <a:srgbClr val="08A6F6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40000"/>
              </a:lnSpc>
              <a:buNone/>
            </a:pPr>
            <a:r>
              <a:rPr lang="zh-CN" altLang="en-US" sz="1125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商业验证</a:t>
            </a:r>
            <a:endParaRPr sz="1125" b="1">
              <a:solidFill>
                <a:srgbClr val="08A6F6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14" name="图片 3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48800" y="2000250"/>
            <a:ext cx="209550" cy="171450"/>
          </a:xfrm>
          <a:prstGeom prst="rect">
            <a:avLst/>
          </a:prstGeom>
        </p:spPr>
      </p:pic>
      <p:sp>
        <p:nvSpPr>
          <p:cNvPr id="67" name="矩形 40"/>
          <p:cNvSpPr>
            <a:spLocks noGrp="1"/>
          </p:cNvSpPr>
          <p:nvPr/>
        </p:nvSpPr>
        <p:spPr>
          <a:xfrm>
            <a:off x="9753600" y="1019175"/>
            <a:ext cx="1943100" cy="2133600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68" name="文本框 41"/>
          <p:cNvSpPr>
            <a:spLocks noGrp="1"/>
          </p:cNvSpPr>
          <p:nvPr/>
        </p:nvSpPr>
        <p:spPr>
          <a:xfrm>
            <a:off x="9906000" y="1152525"/>
            <a:ext cx="16383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125" b="1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下一轮</a:t>
            </a:r>
            <a:r>
              <a:rPr sz="1125" b="1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endParaRPr sz="1125" b="1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9" name="文本框 42"/>
          <p:cNvSpPr>
            <a:spLocks noGrp="1"/>
          </p:cNvSpPr>
          <p:nvPr/>
        </p:nvSpPr>
        <p:spPr>
          <a:xfrm>
            <a:off x="9906000" y="1362075"/>
            <a:ext cx="1638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临床证据</a:t>
            </a:r>
            <a:endParaRPr sz="15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0" name="文本框 43"/>
          <p:cNvSpPr>
            <a:spLocks noGrp="1"/>
          </p:cNvSpPr>
          <p:nvPr/>
        </p:nvSpPr>
        <p:spPr>
          <a:xfrm>
            <a:off x="9906000" y="1666875"/>
            <a:ext cx="1638300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  <a:buNone/>
            </a:pPr>
            <a:r>
              <a:rPr sz="1125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多中心前瞻性评分；AIVC v1 发布；2–3 个付费项目</a:t>
            </a:r>
            <a:endParaRPr sz="1125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1" name="文本框 44"/>
          <p:cNvSpPr>
            <a:spLocks noGrp="1"/>
          </p:cNvSpPr>
          <p:nvPr/>
        </p:nvSpPr>
        <p:spPr>
          <a:xfrm>
            <a:off x="9906000" y="2247900"/>
            <a:ext cx="16383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  <a:buNone/>
            </a:pPr>
            <a:r>
              <a:rPr sz="1125" b="1">
                <a:solidFill>
                  <a:srgbClr val="08A6F6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A 轮融资目标</a:t>
            </a:r>
            <a:endParaRPr sz="1125" b="1">
              <a:solidFill>
                <a:srgbClr val="08A6F6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40000"/>
              </a:lnSpc>
              <a:buNone/>
            </a:pPr>
            <a:r>
              <a:rPr sz="1125" b="1">
                <a:solidFill>
                  <a:srgbClr val="08A6F6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endParaRPr sz="1125" b="1">
              <a:solidFill>
                <a:srgbClr val="08A6F6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2" name="矩形 45"/>
          <p:cNvSpPr>
            <a:spLocks noGrp="1"/>
          </p:cNvSpPr>
          <p:nvPr/>
        </p:nvSpPr>
        <p:spPr>
          <a:xfrm>
            <a:off x="533400" y="3343275"/>
            <a:ext cx="6257925" cy="2895600"/>
          </a:xfrm>
          <a:prstGeom prst="rect">
            <a:avLst/>
          </a:prstGeom>
          <a:solidFill>
            <a:srgbClr val="F5F5F5"/>
          </a:solidFill>
        </p:spPr>
        <p:txBody>
          <a:bodyPr/>
          <a:lstStyle/>
          <a:p/>
        </p:txBody>
      </p:sp>
      <p:sp>
        <p:nvSpPr>
          <p:cNvPr id="73" name="文本框 46"/>
          <p:cNvSpPr>
            <a:spLocks noGrp="1"/>
          </p:cNvSpPr>
          <p:nvPr/>
        </p:nvSpPr>
        <p:spPr>
          <a:xfrm>
            <a:off x="742950" y="3514725"/>
            <a:ext cx="583882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42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展望：愿景阶梯</a:t>
            </a:r>
            <a:r>
              <a:rPr sz="1425" b="1">
                <a:solidFill>
                  <a:srgbClr val="061F32"/>
                </a:solidFill>
                <a:latin typeface="微软雅黑" charset="0"/>
                <a:ea typeface="微软雅黑" charset="0"/>
                <a:cs typeface="微软雅黑" charset="0"/>
              </a:rPr>
              <a:t/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74" name="文本框 47"/>
          <p:cNvSpPr>
            <a:spLocks noGrp="1"/>
          </p:cNvSpPr>
          <p:nvPr/>
        </p:nvSpPr>
        <p:spPr>
          <a:xfrm>
            <a:off x="742950" y="3829050"/>
            <a:ext cx="5838825" cy="62861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  <a:buNone/>
            </a:pPr>
            <a:r>
              <a:rPr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① 虚拟类器官（现在）：用患者自身类器官，预测治疗响应与复发</a:t>
            </a:r>
            <a:r>
              <a:rPr lang="zh-CN" altLang="en-US" sz="1200" b="1">
                <a:solidFill>
                  <a:srgbClr val="061F32"/>
                </a:solidFill>
                <a:latin typeface="微软雅黑"/>
                <a:ea typeface="微软雅黑"/>
                <a:cs typeface="Arial" panose="020B0604020202020204" pitchFamily="34" charset="0"/>
              </a:rPr>
              <a:t/>
            </a:r>
            <a:r>
              <a:rPr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endParaRPr sz="1200">
              <a:solidFill>
                <a:srgbClr val="4454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5" name="文本框 48"/>
          <p:cNvSpPr>
            <a:spLocks noGrp="1"/>
          </p:cNvSpPr>
          <p:nvPr/>
        </p:nvSpPr>
        <p:spPr>
          <a:xfrm>
            <a:off x="742950" y="4457700"/>
            <a:ext cx="6048417" cy="883696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  <a:buNone/>
            </a:pPr>
            <a:r>
              <a:rPr sz="12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② 虚拟组织引擎（中期）：跨疾病、多尺度，接入微环境与组织层面</a:t>
            </a:r>
            <a:r>
              <a:rPr lang="zh-CN" altLang="en-US" sz="12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/>
            </a:r>
            <a:endParaRPr sz="12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6" name="文本框 49"/>
          <p:cNvSpPr>
            <a:spLocks noGrp="1"/>
          </p:cNvSpPr>
          <p:nvPr/>
        </p:nvSpPr>
        <p:spPr>
          <a:xfrm>
            <a:off x="742950" y="5086376"/>
            <a:ext cx="5838825" cy="788394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  <a:buNone/>
            </a:pPr>
            <a:r>
              <a:rPr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③ 临床肿瘤数字孪生（长期愿景）：随患者病程持续校准，支撑个体化决策</a:t>
            </a:r>
            <a:r>
              <a:rPr lang="zh-CN" altLang="en-US"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endParaRPr sz="1200">
              <a:solidFill>
                <a:srgbClr val="4454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7" name="矩形 50"/>
          <p:cNvSpPr>
            <a:spLocks noGrp="1"/>
          </p:cNvSpPr>
          <p:nvPr/>
        </p:nvSpPr>
        <p:spPr>
          <a:xfrm>
            <a:off x="7019925" y="3343275"/>
            <a:ext cx="4638675" cy="2895600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78" name="文本框 51"/>
          <p:cNvSpPr>
            <a:spLocks noGrp="1"/>
          </p:cNvSpPr>
          <p:nvPr/>
        </p:nvSpPr>
        <p:spPr>
          <a:xfrm>
            <a:off x="7229475" y="3514725"/>
            <a:ext cx="421957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验收三指标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9" name="文本框 52"/>
          <p:cNvSpPr>
            <a:spLocks noGrp="1"/>
          </p:cNvSpPr>
          <p:nvPr/>
        </p:nvSpPr>
        <p:spPr>
          <a:xfrm>
            <a:off x="7229475" y="3829050"/>
            <a:ext cx="4219575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  <a:buNone/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科学：</a:t>
            </a:r>
            <a:r>
              <a:rPr sz="120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实验体系复现率</a:t>
            </a:r>
            <a:endParaRPr sz="1200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0" name="文本框 53"/>
          <p:cNvSpPr>
            <a:spLocks noGrp="1"/>
          </p:cNvSpPr>
          <p:nvPr/>
        </p:nvSpPr>
        <p:spPr>
          <a:xfrm>
            <a:off x="7229475" y="4457700"/>
            <a:ext cx="4219575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  <a:buNone/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科学：预测与临床结局一致性</a:t>
            </a:r>
            <a:r>
              <a:rPr lang="zh-CN" altLang="en-US"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  <a:endParaRPr sz="1200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1" name="文本框 54"/>
          <p:cNvSpPr>
            <a:spLocks noGrp="1"/>
          </p:cNvSpPr>
          <p:nvPr/>
        </p:nvSpPr>
        <p:spPr>
          <a:xfrm>
            <a:off x="7229475" y="5086350"/>
            <a:ext cx="4219575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  <a:buNone/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商业：</a:t>
            </a:r>
            <a:r>
              <a:rPr sz="120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客户付费意向与落地项目数量</a:t>
            </a:r>
            <a:r>
              <a:rPr sz="12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/>
            </a:r>
            <a:endParaRPr sz="1200" b="1">
              <a:solidFill>
                <a:srgbClr val="08A6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2" name="文本框 55"/>
          <p:cNvSpPr>
            <a:spLocks noGrp="1"/>
          </p:cNvSpPr>
          <p:nvPr/>
        </p:nvSpPr>
        <p:spPr>
          <a:xfrm>
            <a:off x="533400" y="6381750"/>
            <a:ext cx="26670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Source: 卓悦博士《AIVC 第一年执行计划》甘特图</a:t>
            </a: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endParaRPr sz="1050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3" name="文本框 56"/>
          <p:cNvSpPr>
            <a:spLocks noGrp="1"/>
          </p:cNvSpPr>
          <p:nvPr/>
        </p:nvSpPr>
        <p:spPr>
          <a:xfrm>
            <a:off x="11201400" y="6381750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04 / 05</a:t>
            </a:r>
            <a:endParaRPr sz="1050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0" name="矩形 114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2032"/>
          </a:solidFill>
        </p:spPr>
        <p:txBody>
          <a:bodyPr/>
          <a:lstStyle/>
          <a:p/>
        </p:txBody>
      </p:sp>
      <p:sp>
        <p:nvSpPr>
          <p:cNvPr id="141" name="文本框 115"/>
          <p:cNvSpPr>
            <a:spLocks noGrp="1"/>
          </p:cNvSpPr>
          <p:nvPr/>
        </p:nvSpPr>
        <p:spPr>
          <a:xfrm>
            <a:off x="4429125" y="2981325"/>
            <a:ext cx="2838450" cy="533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34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交汇</a:t>
            </a:r>
            <a:endParaRPr sz="34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2" name="文本框 116"/>
          <p:cNvSpPr>
            <a:spLocks noGrp="1"/>
          </p:cNvSpPr>
          <p:nvPr/>
        </p:nvSpPr>
        <p:spPr>
          <a:xfrm>
            <a:off x="4429125" y="3648075"/>
            <a:ext cx="28384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spc="225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THE UPSIDE</a:t>
            </a:r>
            <a:endParaRPr sz="1500" spc="225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3" name="文本框 117"/>
          <p:cNvSpPr>
            <a:spLocks noGrp="1"/>
          </p:cNvSpPr>
          <p:nvPr/>
        </p:nvSpPr>
        <p:spPr>
          <a:xfrm>
            <a:off x="685800" y="1943100"/>
            <a:ext cx="3057525" cy="2971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9500" b="1">
                <a:solidFill>
                  <a:srgbClr val="FFFFFF">
                    <a:alpha val="12000"/>
                  </a:srgbClr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9500" b="1">
              <a:solidFill>
                <a:srgbClr val="FFFFFF">
                  <a:alpha val="12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5" name="矩形 119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146" name="文本框 120"/>
          <p:cNvSpPr>
            <a:spLocks noGrp="1"/>
          </p:cNvSpPr>
          <p:nvPr/>
        </p:nvSpPr>
        <p:spPr>
          <a:xfrm>
            <a:off x="533400" y="419100"/>
            <a:ext cx="11125200" cy="381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商业模式：每过一道闸门，解锁一类合作伙伴</a:t>
            </a:r>
            <a:endParaRPr sz="2475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7" name="矩形 121"/>
          <p:cNvSpPr>
            <a:spLocks noGrp="1"/>
          </p:cNvSpPr>
          <p:nvPr/>
        </p:nvSpPr>
        <p:spPr>
          <a:xfrm>
            <a:off x="533400" y="895350"/>
            <a:ext cx="111252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/>
        </p:txBody>
      </p:sp>
      <p:graphicFrame>
        <p:nvGraphicFramePr>
          <p:cNvPr id="161" name="表格 122"/>
          <p:cNvGraphicFramePr/>
          <p:nvPr/>
        </p:nvGraphicFramePr>
        <p:xfrm>
          <a:off x="533400" y="1019175"/>
          <a:ext cx="11128248" cy="3154596"/>
        </p:xfrm>
        <a:graphic>
          <a:graphicData uri="http://schemas.openxmlformats.org/drawingml/2006/table">
            <a:tbl>
              <a:tblPr/>
              <a:tblGrid>
                <a:gridCol w="1464184"/>
                <a:gridCol w="2837309"/>
                <a:gridCol w="2909579"/>
                <a:gridCol w="3914128"/>
              </a:tblGrid>
              <a:tr h="301668"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  <a:endParaRPr sz="11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1F32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证据节点</a:t>
                      </a:r>
                      <a:endParaRPr sz="11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1F32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合作对象</a:t>
                      </a:r>
                      <a:endParaRPr sz="11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1F32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合作形式与收入</a:t>
                      </a:r>
                      <a:endParaRPr sz="1125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1F32"/>
                    </a:solidFill>
                  </a:tcPr>
                </a:tc>
              </a:tr>
              <a:tr h="713232"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 b="1">
                          <a:solidFill>
                            <a:srgbClr val="061F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搭建期｜第 0–6 个月</a:t>
                      </a:r>
                      <a:endParaRPr sz="1050" b="1">
                        <a:solidFill>
                          <a:srgbClr val="061F3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>
                          <a:solidFill>
                            <a:srgbClr val="44546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6 个月 Level 1：体系稳定复现</a:t>
                      </a:r>
                      <a:endParaRPr sz="1050">
                        <a:solidFill>
                          <a:srgbClr val="44546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algn="l">
                        <a:lnSpc>
                          <a:spcPct val="120000"/>
                        </a:lnSpc>
                        <a:buNone/>
                      </a:pP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合作医院 / 肿瘤中心；测序服务商</a:t>
                      </a:r>
                      <a:endParaRPr sz="1050">
                        <a:solidFill>
                          <a:srgbClr val="44546A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临床研究合作、样本与伦理协议；测序服务采购。投入期，不计收入</a:t>
                      </a:r>
                      <a:r>
                        <a:rPr lang="zh-CN" altLang="en-US"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lang="zh-CN" altLang="en-US"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endParaRPr sz="1050" b="0" i="0" u="none">
                        <a:solidFill>
                          <a:srgbClr val="44546A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r>
                        <a:rPr sz="1050" b="0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/>
                      </a: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lang="zh-CN" altLang="en-US"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endParaRPr sz="1050" b="0" i="0" u="none">
                        <a:solidFill>
                          <a:srgbClr val="44546A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13232"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 b="1">
                          <a:solidFill>
                            <a:srgbClr val="061F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验证期｜第 6–12 个月</a:t>
                      </a:r>
                      <a:endParaRPr sz="1050" b="1">
                        <a:solidFill>
                          <a:srgbClr val="061F3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>
                          <a:solidFill>
                            <a:srgbClr val="44546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12 个月 Level 2：回顾性 AUROC + 双轨迹校准首个结果</a:t>
                      </a:r>
                      <a:endParaRPr sz="1050">
                        <a:solidFill>
                          <a:srgbClr val="44546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algn="l">
                        <a:lnSpc>
                          <a:spcPct val="120000"/>
                        </a:lnSpc>
                        <a:buNone/>
                      </a:pP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药企与 Biotech 转化研发部门；CRO；类器官平台与实验室</a:t>
                      </a:r>
                      <a:endParaRPr sz="1050" b="1">
                        <a:solidFill>
                          <a:srgbClr val="44546A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algn="l">
                        <a:lnSpc>
                          <a:spcPct val="120000"/>
                        </a:lnSpc>
                        <a:buNone/>
                      </a:pP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联合开发 / 试点项目 → 首个付费项目；类器官平台试点集成解读模块。研究预算 + 里程碑付款</a:t>
                      </a:r>
                      <a:r>
                        <a:rPr lang="zh-CN" altLang="en-US"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lang="zh-CN" altLang="en-US"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lang="zh-CN" altLang="en-US"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endParaRPr sz="1050">
                        <a:solidFill>
                          <a:srgbClr val="44546A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</a:tr>
              <a:tr h="713232"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 b="1">
                          <a:solidFill>
                            <a:srgbClr val="061F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扩张期｜下一轮</a:t>
                      </a:r>
                      <a:endParaRPr sz="1050" b="1">
                        <a:solidFill>
                          <a:srgbClr val="061F3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algn="l">
                        <a:lnSpc>
                          <a:spcPct val="120000"/>
                        </a:lnSpc>
                        <a:buNone/>
                      </a:pP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多中心前瞻性评分</a:t>
                      </a:r>
                      <a:endParaRPr sz="1050">
                        <a:solidFill>
                          <a:srgbClr val="44546A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algn="l">
                        <a:lnSpc>
                          <a:spcPct val="120000"/>
                        </a:lnSpc>
                        <a:buNone/>
                      </a:pP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药企（队列共建）；肿瘤中心（前瞻性研究）；类器官平台（模块授权）</a:t>
                      </a:r>
                      <a:endParaRPr sz="1050">
                        <a:solidFill>
                          <a:srgbClr val="44546A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队列共建 + 按例预测服务；平台模块授权。首付款 + 里程碑；按例收费</a:t>
                      </a:r>
                      <a:r>
                        <a:rPr lang="zh-CN" altLang="en-US"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lang="zh-CN" altLang="en-US"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lang="zh-CN" altLang="en-US"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endParaRPr lang="zh-CN" altLang="en-US" sz="1050" b="0" i="0" u="none">
                        <a:solidFill>
                          <a:srgbClr val="44546A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r>
                        <a:rPr lang="zh-CN" altLang="en-US" sz="1050" b="0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/>
                      </a:r>
                      <a:r>
                        <a:rPr lang="zh-CN" altLang="en-US"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endParaRPr sz="1050" b="0" i="0" u="none">
                        <a:solidFill>
                          <a:srgbClr val="44546A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13232"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 b="1">
                          <a:solidFill>
                            <a:srgbClr val="061F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平台期｜长期</a:t>
                      </a:r>
                      <a:endParaRPr sz="1050" b="1">
                        <a:solidFill>
                          <a:srgbClr val="061F3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algn="l">
                        <a:lnSpc>
                          <a:spcPct val="120000"/>
                        </a:lnSpc>
                        <a:buNone/>
                      </a:pP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前瞻性验证完成</a:t>
                      </a:r>
                      <a:endParaRPr sz="1050">
                        <a:solidFill>
                          <a:srgbClr val="44546A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algn="l">
                        <a:lnSpc>
                          <a:spcPct val="120000"/>
                        </a:lnSpc>
                        <a:buNone/>
                      </a:pP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合格合作伙伴；医疗机构 / 支付方</a:t>
                      </a:r>
                      <a:r>
                        <a:rPr lang="zh-CN" altLang="en-US"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endParaRPr sz="1050">
                        <a:solidFill>
                          <a:srgbClr val="44546A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algn="l">
                        <a:lnSpc>
                          <a:spcPct val="120000"/>
                        </a:lnSpc>
                        <a:buNone/>
                      </a:pP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平台许可与数据服务；临床决策支持。许可费 + 使用费；机构采购</a:t>
                      </a:r>
                      <a:r>
                        <a:rPr lang="zh-CN" altLang="en-US"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Arial" panose="020B0604020202020204" pitchFamily="34" charset="0"/>
                        </a:rPr>
                        <a:t/>
                      </a: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lang="zh-CN" altLang="en-US"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lang="zh-CN" altLang="en-US"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lang="zh-CN" altLang="en-US"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lang="zh-CN" altLang="en-US"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r>
                        <a:rPr sz="1050" b="0" i="0" u="none">
                          <a:solidFill>
                            <a:srgbClr val="44546A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  <a:endParaRPr sz="1050">
                        <a:solidFill>
                          <a:srgbClr val="44546A">
                            <a:alpha val="100000"/>
                          </a:srgbClr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49" name="矩形 123"/>
          <p:cNvSpPr>
            <a:spLocks noGrp="1"/>
          </p:cNvSpPr>
          <p:nvPr/>
        </p:nvSpPr>
        <p:spPr>
          <a:xfrm>
            <a:off x="533400" y="4543425"/>
            <a:ext cx="5467350" cy="1695450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150" name="文本框 124"/>
          <p:cNvSpPr>
            <a:spLocks noGrp="1"/>
          </p:cNvSpPr>
          <p:nvPr/>
        </p:nvSpPr>
        <p:spPr>
          <a:xfrm>
            <a:off x="723900" y="5000625"/>
            <a:ext cx="50863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75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飞轮复利</a:t>
            </a:r>
            <a:endParaRPr sz="1275" b="1">
              <a:solidFill>
                <a:srgbClr val="08A6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1" name="文本框 125"/>
          <p:cNvSpPr>
            <a:spLocks noGrp="1"/>
          </p:cNvSpPr>
          <p:nvPr/>
        </p:nvSpPr>
        <p:spPr>
          <a:xfrm>
            <a:off x="723900" y="5257800"/>
            <a:ext cx="508635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  <a:buNone/>
            </a:pPr>
            <a:r>
              <a: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每个付费项目同时沉淀配对数据：模型越用越准，交付成本越来越低。湿实验约 2.9 万元 / 例；每样本算力成本从 600 元降到 120 元。</a:t>
            </a:r>
            <a:r>
              <a:rPr sz="1200">
                <a:solidFill>
                  <a:srgbClr val="FFFFFF"/>
                </a:solidFill>
                <a:latin typeface="微软雅黑" charset="0"/>
                <a:ea typeface="微软雅黑" charset="0"/>
                <a:cs typeface="微软雅黑" charset="0"/>
              </a:rPr>
              <a:t/>
            </a:r>
            <a:r>
              <a: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  <a:endParaRPr sz="120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2" name="矩形 126"/>
          <p:cNvSpPr>
            <a:spLocks noGrp="1"/>
          </p:cNvSpPr>
          <p:nvPr/>
        </p:nvSpPr>
        <p:spPr>
          <a:xfrm>
            <a:off x="6191250" y="4543425"/>
            <a:ext cx="5467350" cy="1695450"/>
          </a:xfrm>
          <a:prstGeom prst="rect">
            <a:avLst/>
          </a:prstGeom>
          <a:ln w="19050">
            <a:solidFill>
              <a:srgbClr val="061F32"/>
            </a:solidFill>
            <a:prstDash val="solid"/>
          </a:ln>
        </p:spPr>
        <p:txBody>
          <a:bodyPr/>
          <a:lstStyle/>
          <a:p/>
        </p:txBody>
      </p:sp>
      <p:sp>
        <p:nvSpPr>
          <p:cNvPr id="153" name="文本框 127"/>
          <p:cNvSpPr>
            <a:spLocks noGrp="1"/>
          </p:cNvSpPr>
          <p:nvPr/>
        </p:nvSpPr>
        <p:spPr>
          <a:xfrm>
            <a:off x="6381750" y="5000625"/>
            <a:ext cx="50863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为什么客户买我们，而不是自建？</a:t>
            </a:r>
            <a:r>
              <a:rPr lang="zh-CN" altLang="en-US" sz="12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endParaRPr sz="1275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4" name="文本框 128"/>
          <p:cNvSpPr>
            <a:spLocks noGrp="1"/>
          </p:cNvSpPr>
          <p:nvPr/>
        </p:nvSpPr>
        <p:spPr>
          <a:xfrm>
            <a:off x="6381750" y="5257800"/>
            <a:ext cx="5086350" cy="764164"/>
          </a:xfrm>
          <a:prstGeom prst="rect">
            <a:avLst/>
          </a:prstGeom>
        </p:spPr>
        <p:txBody>
          <a:bodyPr wrap="square" lIns="0" tIns="0" rIns="0" bIns="0">
            <a:normAutofit lnSpcReduction="10000"/>
          </a:bodyPr>
          <a:lstStyle/>
          <a:p>
            <a:pPr>
              <a:lnSpc>
                <a:spcPct val="145000"/>
              </a:lnSpc>
              <a:buNone/>
            </a:pPr>
            <a:r>
              <a:rPr sz="12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患者–PDO 纵向配对队列、培养偏差校正和跨项目模型复用都需要病例和时间积累；数据越厚，我们的边际成本越低，客户自建的门槛越高。</a:t>
            </a:r>
            <a:r>
              <a:rPr sz="1200">
                <a:solidFill>
                  <a:srgbClr val="44546A"/>
                </a:solidFill>
                <a:latin typeface="微软雅黑" charset="0"/>
                <a:ea typeface="微软雅黑" charset="0"/>
                <a:cs typeface="微软雅黑" charset="0"/>
              </a:rPr>
              <a:t/>
            </a:r>
            <a:r>
              <a:rPr sz="12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endParaRPr sz="1200">
              <a:solidFill>
                <a:srgbClr val="4454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5" name="文本框 129"/>
          <p:cNvSpPr>
            <a:spLocks noGrp="1"/>
          </p:cNvSpPr>
          <p:nvPr/>
        </p:nvSpPr>
        <p:spPr>
          <a:xfrm>
            <a:off x="533400" y="6381750"/>
            <a:ext cx="40767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Source: AIVC BP v13 §3.2；卓悦博士执行计划；王中杰博士算力测算</a:t>
            </a: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endParaRPr sz="1050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6" name="文本框 130"/>
          <p:cNvSpPr>
            <a:spLocks noGrp="1"/>
          </p:cNvSpPr>
          <p:nvPr/>
        </p:nvSpPr>
        <p:spPr>
          <a:xfrm>
            <a:off x="11201400" y="6381750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02 / 05</a:t>
            </a:r>
            <a:endParaRPr sz="1050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9" name="矩形 16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200" name="文本框 162"/>
          <p:cNvSpPr>
            <a:spLocks noGrp="1"/>
          </p:cNvSpPr>
          <p:nvPr/>
        </p:nvSpPr>
        <p:spPr>
          <a:xfrm>
            <a:off x="685800" y="495300"/>
            <a:ext cx="10820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 b="1" spc="225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本轮融资</a:t>
            </a:r>
            <a:r>
              <a:rPr sz="1200" b="1" spc="225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 · THE ASK</a:t>
            </a:r>
            <a:endParaRPr sz="1200" b="1" spc="225">
              <a:solidFill>
                <a:srgbClr val="08A6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1" name="文本框 163"/>
          <p:cNvSpPr>
            <a:spLocks noGrp="1"/>
          </p:cNvSpPr>
          <p:nvPr/>
        </p:nvSpPr>
        <p:spPr>
          <a:xfrm>
            <a:off x="685800" y="742950"/>
            <a:ext cx="3933825" cy="1209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0000"/>
              </a:lnSpc>
              <a:buNone/>
            </a:pPr>
            <a:r>
              <a:rPr sz="7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¥5000 </a:t>
            </a:r>
            <a:r>
              <a:rPr sz="3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万元</a:t>
            </a:r>
            <a:endParaRPr sz="33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2" name="文本框 164"/>
          <p:cNvSpPr>
            <a:spLocks noGrp="1"/>
          </p:cNvSpPr>
          <p:nvPr/>
        </p:nvSpPr>
        <p:spPr>
          <a:xfrm>
            <a:off x="4962525" y="1362075"/>
            <a:ext cx="1323975" cy="590550"/>
          </a:xfrm>
          <a:prstGeom prst="rect">
            <a:avLst/>
          </a:prstGeom>
        </p:spPr>
        <p:txBody>
          <a:bodyPr wrap="none" lIns="0" tIns="0" rIns="0" bIns="128588"/>
          <a:lstStyle/>
          <a:p>
            <a:pPr>
              <a:lnSpc>
                <a:spcPct val="150000"/>
              </a:lnSpc>
              <a:buNone/>
            </a:pPr>
            <a:r>
              <a:rPr sz="180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覆盖</a:t>
            </a:r>
            <a:r>
              <a:rPr lang="zh-CN" altLang="en-US" sz="180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运营周期</a:t>
            </a:r>
            <a:r>
              <a:rPr sz="180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 12 </a:t>
            </a:r>
            <a:r>
              <a:rPr sz="180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个月</a:t>
            </a:r>
            <a:endParaRPr sz="1800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3" name="文本框 165"/>
          <p:cNvSpPr>
            <a:spLocks noGrp="1"/>
          </p:cNvSpPr>
          <p:nvPr/>
        </p:nvSpPr>
        <p:spPr>
          <a:xfrm>
            <a:off x="676222" y="2009775"/>
            <a:ext cx="108204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75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八成用于拿到第 12 个月的证据，两成留作 Plan B 准备金；融资期内不计收入（保守口径）</a:t>
            </a:r>
            <a:r>
              <a:rPr lang="zh-CN" altLang="en-US" sz="1275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75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75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75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75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75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endParaRPr sz="1275" b="1">
              <a:solidFill>
                <a:srgbClr val="FFFFFF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4" name="文本框 166"/>
          <p:cNvSpPr>
            <a:spLocks noGrp="1"/>
          </p:cNvSpPr>
          <p:nvPr/>
        </p:nvSpPr>
        <p:spPr>
          <a:xfrm>
            <a:off x="685800" y="2667000"/>
            <a:ext cx="108204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75" b="1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资金用途（初稿，金额待团队确认）</a:t>
            </a:r>
            <a:endParaRPr sz="1275" b="1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5" name="矩形 167"/>
          <p:cNvSpPr>
            <a:spLocks noGrp="1"/>
          </p:cNvSpPr>
          <p:nvPr/>
        </p:nvSpPr>
        <p:spPr>
          <a:xfrm>
            <a:off x="685800" y="2962275"/>
            <a:ext cx="2999232" cy="381000"/>
          </a:xfrm>
          <a:prstGeom prst="rect">
            <a:avLst/>
          </a:prstGeom>
          <a:solidFill>
            <a:srgbClr val="08A6F6"/>
          </a:solidFill>
        </p:spPr>
        <p:txBody>
          <a:bodyPr/>
          <a:lstStyle/>
          <a:p/>
        </p:txBody>
      </p:sp>
      <p:sp>
        <p:nvSpPr>
          <p:cNvPr id="206" name="文本框 168"/>
          <p:cNvSpPr>
            <a:spLocks noGrp="1"/>
          </p:cNvSpPr>
          <p:nvPr/>
        </p:nvSpPr>
        <p:spPr>
          <a:xfrm>
            <a:off x="795528" y="3057525"/>
            <a:ext cx="2852927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A 核心数据</a:t>
            </a:r>
            <a:r>
              <a:rPr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 28%</a:t>
            </a:r>
            <a:endParaRPr sz="1200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7" name="矩形 169"/>
          <p:cNvSpPr>
            <a:spLocks noGrp="1"/>
          </p:cNvSpPr>
          <p:nvPr/>
        </p:nvSpPr>
        <p:spPr>
          <a:xfrm>
            <a:off x="3721608" y="2962275"/>
            <a:ext cx="4069080" cy="381000"/>
          </a:xfrm>
          <a:prstGeom prst="rect">
            <a:avLst/>
          </a:prstGeom>
          <a:solidFill>
            <a:srgbClr val="99BDED"/>
          </a:solidFill>
        </p:spPr>
        <p:txBody>
          <a:bodyPr/>
          <a:lstStyle/>
          <a:p/>
        </p:txBody>
      </p:sp>
      <p:sp>
        <p:nvSpPr>
          <p:cNvPr id="208" name="文本框 170"/>
          <p:cNvSpPr>
            <a:spLocks noGrp="1"/>
          </p:cNvSpPr>
          <p:nvPr/>
        </p:nvSpPr>
        <p:spPr>
          <a:xfrm>
            <a:off x="3831336" y="3057525"/>
            <a:ext cx="3922776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B 能力建设</a:t>
            </a:r>
            <a:r>
              <a:rPr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 38%</a:t>
            </a:r>
            <a:endParaRPr sz="1200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9" name="矩形 171"/>
          <p:cNvSpPr>
            <a:spLocks noGrp="1"/>
          </p:cNvSpPr>
          <p:nvPr/>
        </p:nvSpPr>
        <p:spPr>
          <a:xfrm>
            <a:off x="7827264" y="2962275"/>
            <a:ext cx="1499616" cy="381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210" name="文本框 172"/>
          <p:cNvSpPr>
            <a:spLocks noGrp="1"/>
          </p:cNvSpPr>
          <p:nvPr/>
        </p:nvSpPr>
        <p:spPr>
          <a:xfrm>
            <a:off x="7936992" y="3057525"/>
            <a:ext cx="1353312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C 商业合规等</a:t>
            </a:r>
            <a:r>
              <a:rPr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 14%</a:t>
            </a:r>
            <a:endParaRPr sz="1200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1" name="矩形 173"/>
          <p:cNvSpPr>
            <a:spLocks noGrp="1"/>
          </p:cNvSpPr>
          <p:nvPr/>
        </p:nvSpPr>
        <p:spPr>
          <a:xfrm>
            <a:off x="9363456" y="2962275"/>
            <a:ext cx="2139696" cy="381000"/>
          </a:xfrm>
          <a:prstGeom prst="rect">
            <a:avLst/>
          </a:prstGeom>
          <a:solidFill>
            <a:srgbClr val="44546A"/>
          </a:solidFill>
        </p:spPr>
        <p:txBody>
          <a:bodyPr/>
          <a:lstStyle/>
          <a:p/>
        </p:txBody>
      </p:sp>
      <p:sp>
        <p:nvSpPr>
          <p:cNvPr id="212" name="文本框 174"/>
          <p:cNvSpPr>
            <a:spLocks noGrp="1"/>
          </p:cNvSpPr>
          <p:nvPr/>
        </p:nvSpPr>
        <p:spPr>
          <a:xfrm>
            <a:off x="9473184" y="3076575"/>
            <a:ext cx="1993391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Plan B 准备金</a:t>
            </a:r>
            <a:r>
              <a:rPr sz="105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20%</a:t>
            </a:r>
            <a:endParaRPr sz="105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5" name="文本框 177"/>
          <p:cNvSpPr>
            <a:spLocks noGrp="1"/>
          </p:cNvSpPr>
          <p:nvPr/>
        </p:nvSpPr>
        <p:spPr>
          <a:xfrm>
            <a:off x="685800" y="3800475"/>
            <a:ext cx="108204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75" b="1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资金换来什么</a:t>
            </a:r>
            <a:r>
              <a:rPr sz="1275" b="1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endParaRPr sz="1275" b="1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6" name="任意多边形 178"/>
          <p:cNvSpPr>
            <a:spLocks noGrp="1"/>
          </p:cNvSpPr>
          <p:nvPr/>
        </p:nvSpPr>
        <p:spPr>
          <a:xfrm>
            <a:off x="685800" y="4114800"/>
            <a:ext cx="2590800" cy="962025"/>
          </a:xfrm>
          <a:custGeom>
            <a:avLst/>
            <a:gdLst/>
            <a:ahLst/>
            <a:cxnLst/>
            <a:pathLst>
              <a:path w="272" h="101">
                <a:moveTo>
                  <a:pt x="0" y="0"/>
                </a:moveTo>
                <a:lnTo>
                  <a:pt x="272" y="0"/>
                </a:lnTo>
                <a:lnTo>
                  <a:pt x="272" y="3"/>
                </a:lnTo>
                <a:lnTo>
                  <a:pt x="0" y="3"/>
                </a:lnTo>
                <a:close/>
              </a:path>
            </a:pathLst>
          </a:custGeom>
          <a:solidFill>
            <a:srgbClr val="08A6F6"/>
          </a:solidFill>
        </p:spPr>
        <p:txBody>
          <a:bodyPr/>
          <a:lstStyle/>
          <a:p/>
        </p:txBody>
      </p:sp>
      <p:sp>
        <p:nvSpPr>
          <p:cNvPr id="217" name="文本框 179"/>
          <p:cNvSpPr>
            <a:spLocks noGrp="1"/>
          </p:cNvSpPr>
          <p:nvPr/>
        </p:nvSpPr>
        <p:spPr>
          <a:xfrm>
            <a:off x="685800" y="4257675"/>
            <a:ext cx="25908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42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A 核心数据｜约 1410 万</a:t>
            </a:r>
            <a:r>
              <a:rPr sz="142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42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42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endParaRPr sz="1425" b="1">
              <a:solidFill>
                <a:srgbClr val="FFFFFF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8" name="文本框 180"/>
          <p:cNvSpPr>
            <a:spLocks noGrp="1"/>
          </p:cNvSpPr>
          <p:nvPr/>
        </p:nvSpPr>
        <p:spPr>
          <a:xfrm>
            <a:off x="685800" y="4533900"/>
            <a:ext cx="2590800" cy="70568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150 例入组、60 例深度读出、30 对回顾性纵向配对、30 例回顾性验证</a:t>
            </a: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 charset="0"/>
                <a:ea typeface="微软雅黑" charset="0"/>
                <a:cs typeface="微软雅黑" charset="0"/>
              </a:rPr>
              <a:t/>
            </a: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endParaRPr sz="1100">
              <a:solidFill>
                <a:srgbClr val="99BDED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9" name="任意多边形 181"/>
          <p:cNvSpPr>
            <a:spLocks noGrp="1"/>
          </p:cNvSpPr>
          <p:nvPr/>
        </p:nvSpPr>
        <p:spPr>
          <a:xfrm>
            <a:off x="3429000" y="4114800"/>
            <a:ext cx="2590800" cy="962025"/>
          </a:xfrm>
          <a:custGeom>
            <a:avLst/>
            <a:gdLst/>
            <a:ahLst/>
            <a:cxnLst/>
            <a:pathLst>
              <a:path w="272" h="101">
                <a:moveTo>
                  <a:pt x="0" y="0"/>
                </a:moveTo>
                <a:lnTo>
                  <a:pt x="272" y="0"/>
                </a:lnTo>
                <a:lnTo>
                  <a:pt x="272" y="3"/>
                </a:lnTo>
                <a:lnTo>
                  <a:pt x="0" y="3"/>
                </a:lnTo>
                <a:close/>
              </a:path>
            </a:pathLst>
          </a:custGeom>
          <a:solidFill>
            <a:srgbClr val="08A6F6"/>
          </a:solidFill>
        </p:spPr>
        <p:txBody>
          <a:bodyPr/>
          <a:lstStyle/>
          <a:p/>
        </p:txBody>
      </p:sp>
      <p:sp>
        <p:nvSpPr>
          <p:cNvPr id="220" name="文本框 182"/>
          <p:cNvSpPr>
            <a:spLocks noGrp="1"/>
          </p:cNvSpPr>
          <p:nvPr/>
        </p:nvSpPr>
        <p:spPr>
          <a:xfrm>
            <a:off x="3429000" y="4257675"/>
            <a:ext cx="25908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42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B 能力建设｜约 1890 万</a:t>
            </a:r>
            <a:r>
              <a:rPr sz="142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42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42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endParaRPr sz="1425" b="1">
              <a:solidFill>
                <a:srgbClr val="FFFFFF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1" name="文本框 183"/>
          <p:cNvSpPr>
            <a:spLocks noGrp="1"/>
          </p:cNvSpPr>
          <p:nvPr/>
        </p:nvSpPr>
        <p:spPr>
          <a:xfrm>
            <a:off x="3429000" y="4533900"/>
            <a:ext cx="2590800" cy="70566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团队 14 → 约 26 人；设备约 650 万、实验室约 500 m²；算力按王博测算</a:t>
            </a:r>
            <a:r>
              <a:rPr lang="zh-CN" altLang="en-US"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endParaRPr sz="1100">
              <a:solidFill>
                <a:srgbClr val="99BDED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2" name="任意多边形 184"/>
          <p:cNvSpPr>
            <a:spLocks noGrp="1"/>
          </p:cNvSpPr>
          <p:nvPr/>
        </p:nvSpPr>
        <p:spPr>
          <a:xfrm>
            <a:off x="6172200" y="4114800"/>
            <a:ext cx="2590800" cy="962025"/>
          </a:xfrm>
          <a:custGeom>
            <a:avLst/>
            <a:gdLst/>
            <a:ahLst/>
            <a:cxnLst/>
            <a:pathLst>
              <a:path w="272" h="101">
                <a:moveTo>
                  <a:pt x="0" y="0"/>
                </a:moveTo>
                <a:lnTo>
                  <a:pt x="272" y="0"/>
                </a:lnTo>
                <a:lnTo>
                  <a:pt x="272" y="3"/>
                </a:lnTo>
                <a:lnTo>
                  <a:pt x="0" y="3"/>
                </a:lnTo>
                <a:close/>
              </a:path>
            </a:pathLst>
          </a:custGeom>
          <a:solidFill>
            <a:srgbClr val="08A6F6"/>
          </a:solidFill>
        </p:spPr>
        <p:txBody>
          <a:bodyPr/>
          <a:lstStyle/>
          <a:p/>
        </p:txBody>
      </p:sp>
      <p:sp>
        <p:nvSpPr>
          <p:cNvPr id="223" name="文本框 185"/>
          <p:cNvSpPr>
            <a:spLocks noGrp="1"/>
          </p:cNvSpPr>
          <p:nvPr/>
        </p:nvSpPr>
        <p:spPr>
          <a:xfrm>
            <a:off x="6172200" y="4257675"/>
            <a:ext cx="25908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42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C 商业合规等｜约 710 万</a:t>
            </a:r>
            <a:r>
              <a:rPr sz="142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42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42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endParaRPr sz="1425" b="1">
              <a:solidFill>
                <a:srgbClr val="FFFFFF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4" name="文本框 186"/>
          <p:cNvSpPr>
            <a:spLocks noGrp="1"/>
          </p:cNvSpPr>
          <p:nvPr/>
        </p:nvSpPr>
        <p:spPr>
          <a:xfrm>
            <a:off x="6172200" y="4533900"/>
            <a:ext cx="2590800" cy="705688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4 家合作医院、遗传资源与数据合规、8 件专利、BD 试点、运营；含不可预见费约 190 万</a:t>
            </a:r>
            <a:r>
              <a:rPr lang="zh-CN" altLang="en-US"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endParaRPr sz="1100">
              <a:solidFill>
                <a:srgbClr val="99BDED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5" name="任意多边形 187"/>
          <p:cNvSpPr>
            <a:spLocks noGrp="1"/>
          </p:cNvSpPr>
          <p:nvPr/>
        </p:nvSpPr>
        <p:spPr>
          <a:xfrm>
            <a:off x="8915400" y="4114800"/>
            <a:ext cx="2590800" cy="962025"/>
          </a:xfrm>
          <a:custGeom>
            <a:avLst/>
            <a:gdLst/>
            <a:ahLst/>
            <a:cxnLst/>
            <a:pathLst>
              <a:path w="272" h="101">
                <a:moveTo>
                  <a:pt x="0" y="0"/>
                </a:moveTo>
                <a:lnTo>
                  <a:pt x="272" y="0"/>
                </a:lnTo>
                <a:lnTo>
                  <a:pt x="272" y="3"/>
                </a:lnTo>
                <a:lnTo>
                  <a:pt x="0" y="3"/>
                </a:lnTo>
                <a:close/>
              </a:path>
            </a:pathLst>
          </a:custGeom>
          <a:solidFill>
            <a:srgbClr val="08A6F6"/>
          </a:solidFill>
        </p:spPr>
        <p:txBody>
          <a:bodyPr/>
          <a:lstStyle/>
          <a:p/>
        </p:txBody>
      </p:sp>
      <p:sp>
        <p:nvSpPr>
          <p:cNvPr id="226" name="文本框 188"/>
          <p:cNvSpPr>
            <a:spLocks noGrp="1"/>
          </p:cNvSpPr>
          <p:nvPr/>
        </p:nvSpPr>
        <p:spPr>
          <a:xfrm>
            <a:off x="8915400" y="4257675"/>
            <a:ext cx="25908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42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Plan B 准备金｜约 990 万</a:t>
            </a:r>
            <a:r>
              <a:rPr sz="142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42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endParaRPr sz="1425" b="1">
              <a:solidFill>
                <a:srgbClr val="FFFFFF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7" name="文本框 189"/>
          <p:cNvSpPr>
            <a:spLocks noGrp="1"/>
          </p:cNvSpPr>
          <p:nvPr/>
        </p:nvSpPr>
        <p:spPr>
          <a:xfrm>
            <a:off x="8915400" y="4533900"/>
            <a:ext cx="2590800" cy="82267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独立账户；闸门未过或融资受阻时，经董事会批准才能动用</a:t>
            </a:r>
            <a:r>
              <a:rPr lang="zh-CN" altLang="en-US"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endParaRPr sz="1100">
              <a:solidFill>
                <a:srgbClr val="99BDED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8" name="文本框 190"/>
          <p:cNvSpPr>
            <a:spLocks noGrp="1"/>
          </p:cNvSpPr>
          <p:nvPr/>
        </p:nvSpPr>
        <p:spPr>
          <a:xfrm>
            <a:off x="676184" y="5649115"/>
            <a:ext cx="771616" cy="286277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400" b="1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收缩顺序：</a:t>
            </a:r>
            <a:endParaRPr sz="1400" b="1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9" name="文本框 191"/>
          <p:cNvSpPr>
            <a:spLocks noGrp="1"/>
          </p:cNvSpPr>
          <p:nvPr/>
        </p:nvSpPr>
        <p:spPr>
          <a:xfrm>
            <a:off x="1562100" y="5649115"/>
            <a:ext cx="145732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先砍 C 商业与运营</a:t>
            </a:r>
            <a:endParaRPr sz="14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71" name="图片 19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33725" y="5677690"/>
            <a:ext cx="209550" cy="152400"/>
          </a:xfrm>
          <a:prstGeom prst="rect">
            <a:avLst/>
          </a:prstGeom>
        </p:spPr>
      </p:pic>
      <p:sp>
        <p:nvSpPr>
          <p:cNvPr id="231" name="文本框 193"/>
          <p:cNvSpPr>
            <a:spLocks noGrp="1"/>
          </p:cNvSpPr>
          <p:nvPr/>
        </p:nvSpPr>
        <p:spPr>
          <a:xfrm>
            <a:off x="3457575" y="5649115"/>
            <a:ext cx="16192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再砍 B 能力建设</a:t>
            </a:r>
            <a:endParaRPr sz="14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73" name="图片 19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91125" y="5677690"/>
            <a:ext cx="209550" cy="152400"/>
          </a:xfrm>
          <a:prstGeom prst="rect">
            <a:avLst/>
          </a:prstGeom>
        </p:spPr>
      </p:pic>
      <p:sp>
        <p:nvSpPr>
          <p:cNvPr id="233" name="文本框 195"/>
          <p:cNvSpPr>
            <a:spLocks noGrp="1"/>
          </p:cNvSpPr>
          <p:nvPr/>
        </p:nvSpPr>
        <p:spPr>
          <a:xfrm>
            <a:off x="5514975" y="5649115"/>
            <a:ext cx="19431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4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最后才动 A 核心数据</a:t>
            </a:r>
            <a:r>
              <a:rPr sz="1400" b="1">
                <a:solidFill>
                  <a:srgbClr val="08A6F6"/>
                </a:solidFill>
                <a:latin typeface="微软雅黑"/>
                <a:ea typeface="微软雅黑"/>
                <a:cs typeface="Arial" panose="020B0604020202020204" pitchFamily="34" charset="0"/>
              </a:rPr>
              <a:t/>
            </a:r>
            <a:r>
              <a:rPr sz="14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4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/>
            </a:r>
            <a:endParaRPr sz="1400" b="1">
              <a:solidFill>
                <a:srgbClr val="08A6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5" name="任意多边形 197"/>
          <p:cNvSpPr>
            <a:spLocks noGrp="1"/>
          </p:cNvSpPr>
          <p:nvPr/>
        </p:nvSpPr>
        <p:spPr>
          <a:xfrm>
            <a:off x="685800" y="6162675"/>
            <a:ext cx="10820400" cy="323850"/>
          </a:xfrm>
          <a:custGeom>
            <a:avLst/>
            <a:gdLst/>
            <a:ahLst/>
            <a:cxnLst/>
            <a:pathLst>
              <a:path w="1136" h="34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44546A"/>
          </a:solidFill>
        </p:spPr>
        <p:txBody>
          <a:bodyPr/>
          <a:lstStyle/>
          <a:p/>
        </p:txBody>
      </p:sp>
      <p:sp>
        <p:nvSpPr>
          <p:cNvPr id="236" name="文本框 198"/>
          <p:cNvSpPr>
            <a:spLocks noGrp="1"/>
          </p:cNvSpPr>
          <p:nvPr/>
        </p:nvSpPr>
        <p:spPr>
          <a:xfrm>
            <a:off x="685800" y="6305550"/>
            <a:ext cx="54959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100" b="1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钱先投给决定第 12 个月证据的地方：配对队列、深度读出、双轨迹校准首个结果。</a:t>
            </a:r>
            <a:r>
              <a:rPr lang="zh-CN" altLang="en-US" sz="1100" b="1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 b="1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 b="1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 b="1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 b="1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 b="1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 b="1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endParaRPr sz="1100" b="1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7" name="文本框 199"/>
          <p:cNvSpPr>
            <a:spLocks noGrp="1"/>
          </p:cNvSpPr>
          <p:nvPr/>
        </p:nvSpPr>
        <p:spPr>
          <a:xfrm>
            <a:off x="11049000" y="6315075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03 / 05</a:t>
            </a:r>
            <a:endParaRPr sz="1050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7375</Words>
  <Application>WPS Office WWO_wpscloud_20260902094840-997daf6cd0</Application>
  <PresentationFormat>Converted Presentation</PresentationFormat>
  <Paragraphs>640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Arial</vt:lpstr>
      <vt:lpstr>宋体</vt:lpstr>
      <vt:lpstr>Wingdings</vt:lpstr>
      <vt:lpstr>Arial</vt:lpstr>
      <vt:lpstr>微软雅黑</vt:lpstr>
      <vt:lpstr>汉仪旗黑KW 55S</vt:lpstr>
      <vt:lpstr>Calibri</vt:lpstr>
      <vt:lpstr>微软雅黑</vt:lpstr>
      <vt:lpstr>Calibri</vt:lpstr>
      <vt:lpstr>微软雅黑</vt:lpstr>
      <vt:lpstr>汉仪书宋二KW</vt:lpstr>
      <vt:lpstr>Kingsoft Confetti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Walnut Exporter</cp:lastModifiedBy>
  <dcterms:created xsi:type="dcterms:W3CDTF">2026-09-14T21:32:23Z</dcterms:created>
  <dcterms:modified xsi:type="dcterms:W3CDTF">2026-09-14T21:32:23Z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21C91B9422BFD48899299F6A1ACD7A80_42</vt:lpwstr>
  </property>
  <property fmtid="{D5CDD505-2E9C-101B-9397-08002B2CF9AE}" pid="3" name="KSOProductBuildVer">
    <vt:lpwstr>2052-12.9.0.28579</vt:lpwstr>
  </property>
</Properties>
</file>