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5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9" name="矩形 2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0" name="文本框 202"/>
          <p:cNvSpPr>
            <a:spLocks noGrp="1"/>
          </p:cNvSpPr>
          <p:nvPr/>
        </p:nvSpPr>
        <p:spPr>
          <a:xfrm>
            <a:off x="533400" y="419100"/>
            <a:ext cx="111252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22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1" name="矩形 203"/>
          <p:cNvSpPr>
            <a:spLocks noGrp="1"/>
          </p:cNvSpPr>
          <p:nvPr/>
        </p:nvSpPr>
        <p:spPr>
          <a:xfrm>
            <a:off x="533400" y="8572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2" name="任意多边形 204"/>
          <p:cNvSpPr>
            <a:spLocks noGrp="1"/>
          </p:cNvSpPr>
          <p:nvPr/>
        </p:nvSpPr>
        <p:spPr>
          <a:xfrm>
            <a:off x="533400" y="237553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3" name="文本框 205"/>
          <p:cNvSpPr>
            <a:spLocks noGrp="1"/>
          </p:cNvSpPr>
          <p:nvPr/>
        </p:nvSpPr>
        <p:spPr>
          <a:xfrm>
            <a:off x="533400" y="259689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4" name="文本框 206"/>
          <p:cNvSpPr>
            <a:spLocks noGrp="1"/>
          </p:cNvSpPr>
          <p:nvPr/>
        </p:nvSpPr>
        <p:spPr>
          <a:xfrm>
            <a:off x="533400" y="3172967"/>
            <a:ext cx="3557016" cy="54864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破局</a:t>
            </a:r>
            <a:r>
              <a:rPr lang="en-US" altLang="zh-CN" sz="1100" b="1" spc="2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 WHY NOW</a:t>
            </a:r>
          </a:p>
        </p:txBody>
      </p:sp>
      <p:sp>
        <p:nvSpPr>
          <p:cNvPr id="245" name="文本框 207"/>
          <p:cNvSpPr>
            <a:spLocks noGrp="1"/>
          </p:cNvSpPr>
          <p:nvPr/>
        </p:nvSpPr>
        <p:spPr>
          <a:xfrm>
            <a:off x="533400" y="384048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试错代价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临床缺口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时机成熟</a:t>
            </a:r>
          </a:p>
        </p:txBody>
      </p:sp>
      <p:sp>
        <p:nvSpPr>
          <p:cNvPr id="246" name="任意多边形 208"/>
          <p:cNvSpPr>
            <a:spLocks noGrp="1"/>
          </p:cNvSpPr>
          <p:nvPr/>
        </p:nvSpPr>
        <p:spPr>
          <a:xfrm>
            <a:off x="4319016" y="237553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7" name="文本框 209"/>
          <p:cNvSpPr>
            <a:spLocks noGrp="1"/>
          </p:cNvSpPr>
          <p:nvPr/>
        </p:nvSpPr>
        <p:spPr>
          <a:xfrm>
            <a:off x="4319016" y="259689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8" name="文本框 210"/>
          <p:cNvSpPr>
            <a:spLocks noGrp="1"/>
          </p:cNvSpPr>
          <p:nvPr/>
        </p:nvSpPr>
        <p:spPr>
          <a:xfrm>
            <a:off x="4319016" y="3172967"/>
            <a:ext cx="3557016" cy="54864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平行</a:t>
            </a:r>
            <a:r>
              <a:rPr lang="en-US" altLang="zh-CN" sz="1100" b="1" spc="2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 WHY US</a:t>
            </a:r>
          </a:p>
        </p:txBody>
      </p:sp>
      <p:sp>
        <p:nvSpPr>
          <p:cNvPr id="249" name="文本框 211"/>
          <p:cNvSpPr>
            <a:spLocks noGrp="1"/>
          </p:cNvSpPr>
          <p:nvPr/>
        </p:nvSpPr>
        <p:spPr>
          <a:xfrm>
            <a:off x="4319016" y="384048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双轨校准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数据飞轮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核心团队</a:t>
            </a:r>
          </a:p>
        </p:txBody>
      </p:sp>
      <p:sp>
        <p:nvSpPr>
          <p:cNvPr id="250" name="任意多边形 212"/>
          <p:cNvSpPr>
            <a:spLocks noGrp="1"/>
          </p:cNvSpPr>
          <p:nvPr/>
        </p:nvSpPr>
        <p:spPr>
          <a:xfrm>
            <a:off x="8104632" y="237553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51" name="文本框 213"/>
          <p:cNvSpPr>
            <a:spLocks noGrp="1"/>
          </p:cNvSpPr>
          <p:nvPr/>
        </p:nvSpPr>
        <p:spPr>
          <a:xfrm>
            <a:off x="8104632" y="259689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2" name="文本框 214"/>
          <p:cNvSpPr>
            <a:spLocks noGrp="1"/>
          </p:cNvSpPr>
          <p:nvPr/>
        </p:nvSpPr>
        <p:spPr>
          <a:xfrm>
            <a:off x="8104632" y="3172967"/>
            <a:ext cx="3557016" cy="54864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交汇</a:t>
            </a:r>
            <a:r>
              <a:rPr lang="en-US" altLang="zh-CN" sz="1100" b="1" spc="2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 THE UPSIDE</a:t>
            </a:r>
          </a:p>
        </p:txBody>
      </p:sp>
      <p:sp>
        <p:nvSpPr>
          <p:cNvPr id="253" name="文本框 215"/>
          <p:cNvSpPr>
            <a:spLocks noGrp="1"/>
          </p:cNvSpPr>
          <p:nvPr/>
        </p:nvSpPr>
        <p:spPr>
          <a:xfrm>
            <a:off x="8104632" y="384048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商业模式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融资规划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投资回报</a:t>
            </a:r>
          </a:p>
        </p:txBody>
      </p:sp>
      <p:sp>
        <p:nvSpPr>
          <p:cNvPr id="258" name="文本框 220"/>
          <p:cNvSpPr>
            <a:spLocks noGrp="1"/>
          </p:cNvSpPr>
          <p:nvPr/>
        </p:nvSpPr>
        <p:spPr>
          <a:xfrm>
            <a:off x="533400" y="6343650"/>
            <a:ext cx="2066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Vitoma ·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9" name="文本框 221"/>
          <p:cNvSpPr>
            <a:spLocks noGrp="1"/>
          </p:cNvSpPr>
          <p:nvPr/>
        </p:nvSpPr>
        <p:spPr>
          <a:xfrm>
            <a:off x="11201400" y="63436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