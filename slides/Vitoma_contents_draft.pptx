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" name="矩形 2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40" name="文本框 202"/>
          <p:cNvSpPr>
            <a:spLocks noGrp="1"/>
          </p:cNvSpPr>
          <p:nvPr/>
        </p:nvSpPr>
        <p:spPr>
          <a:xfrm>
            <a:off x="533400" y="419100"/>
            <a:ext cx="11125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2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22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1" name="矩形 203"/>
          <p:cNvSpPr>
            <a:spLocks noGrp="1"/>
          </p:cNvSpPr>
          <p:nvPr/>
        </p:nvSpPr>
        <p:spPr>
          <a:xfrm>
            <a:off x="533400" y="8572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42" name="任意多边形 204"/>
          <p:cNvSpPr>
            <a:spLocks noGrp="1"/>
          </p:cNvSpPr>
          <p:nvPr/>
        </p:nvSpPr>
        <p:spPr>
          <a:xfrm>
            <a:off x="533400" y="2009775"/>
            <a:ext cx="3557016" cy="2466975"/>
          </a:xfrm>
          <a:custGeom>
            <a:avLst/>
            <a:gdLst/>
            <a:ahLst/>
            <a:cxnLst/>
            <a:pathLst>
              <a:path w="572" h="259">
                <a:moveTo>
                  <a:pt x="0" y="0"/>
                </a:moveTo>
                <a:lnTo>
                  <a:pt x="572" y="0"/>
                </a:lnTo>
                <a:lnTo>
                  <a:pt x="5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43" name="文本框 205"/>
          <p:cNvSpPr>
            <a:spLocks noGrp="1"/>
          </p:cNvSpPr>
          <p:nvPr/>
        </p:nvSpPr>
        <p:spPr>
          <a:xfrm>
            <a:off x="533400" y="2231136"/>
            <a:ext cx="3557016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3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3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4" name="文本框 206"/>
          <p:cNvSpPr>
            <a:spLocks noGrp="1"/>
          </p:cNvSpPr>
          <p:nvPr/>
        </p:nvSpPr>
        <p:spPr>
          <a:xfrm>
            <a:off x="533400" y="2807207"/>
            <a:ext cx="3557016" cy="5486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破局</a:t>
            </a:r>
            <a:r>
              <a:rPr lang="en-US" altLang="zh-CN" sz="1100" b="1" spc="20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  WHY NOW</a:t>
            </a:r>
          </a:p>
        </p:txBody>
      </p:sp>
      <p:sp>
        <p:nvSpPr>
          <p:cNvPr id="245" name="文本框 207"/>
          <p:cNvSpPr>
            <a:spLocks noGrp="1"/>
          </p:cNvSpPr>
          <p:nvPr/>
        </p:nvSpPr>
        <p:spPr>
          <a:xfrm>
            <a:off x="533400" y="3474720"/>
            <a:ext cx="3557016" cy="329184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试错代价 · 临床缺口 · 时机成熟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6" name="任意多边形 208"/>
          <p:cNvSpPr>
            <a:spLocks noGrp="1"/>
          </p:cNvSpPr>
          <p:nvPr/>
        </p:nvSpPr>
        <p:spPr>
          <a:xfrm>
            <a:off x="4319016" y="2009775"/>
            <a:ext cx="3557016" cy="2466975"/>
          </a:xfrm>
          <a:custGeom>
            <a:avLst/>
            <a:gdLst/>
            <a:ahLst/>
            <a:cxnLst/>
            <a:pathLst>
              <a:path w="572" h="259">
                <a:moveTo>
                  <a:pt x="0" y="0"/>
                </a:moveTo>
                <a:lnTo>
                  <a:pt x="572" y="0"/>
                </a:lnTo>
                <a:lnTo>
                  <a:pt x="5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47" name="文本框 209"/>
          <p:cNvSpPr>
            <a:spLocks noGrp="1"/>
          </p:cNvSpPr>
          <p:nvPr/>
        </p:nvSpPr>
        <p:spPr>
          <a:xfrm>
            <a:off x="4319016" y="2231136"/>
            <a:ext cx="3557016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3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3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8" name="文本框 210"/>
          <p:cNvSpPr>
            <a:spLocks noGrp="1"/>
          </p:cNvSpPr>
          <p:nvPr/>
        </p:nvSpPr>
        <p:spPr>
          <a:xfrm>
            <a:off x="4319016" y="2807207"/>
            <a:ext cx="3557016" cy="5486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平行</a:t>
            </a:r>
            <a:r>
              <a:rPr lang="en-US" altLang="zh-CN" sz="1100" b="1" spc="20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  WHY US</a:t>
            </a:r>
          </a:p>
        </p:txBody>
      </p:sp>
      <p:sp>
        <p:nvSpPr>
          <p:cNvPr id="249" name="文本框 211"/>
          <p:cNvSpPr>
            <a:spLocks noGrp="1"/>
          </p:cNvSpPr>
          <p:nvPr/>
        </p:nvSpPr>
        <p:spPr>
          <a:xfrm>
            <a:off x="4319016" y="3474720"/>
            <a:ext cx="3557016" cy="329184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双轨校准 · 数据飞轮 · 核心团队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0" name="任意多边形 212"/>
          <p:cNvSpPr>
            <a:spLocks noGrp="1"/>
          </p:cNvSpPr>
          <p:nvPr/>
        </p:nvSpPr>
        <p:spPr>
          <a:xfrm>
            <a:off x="8104632" y="2009775"/>
            <a:ext cx="3557016" cy="2466975"/>
          </a:xfrm>
          <a:custGeom>
            <a:avLst/>
            <a:gdLst/>
            <a:ahLst/>
            <a:cxnLst/>
            <a:pathLst>
              <a:path w="572" h="259">
                <a:moveTo>
                  <a:pt x="0" y="0"/>
                </a:moveTo>
                <a:lnTo>
                  <a:pt x="572" y="0"/>
                </a:lnTo>
                <a:lnTo>
                  <a:pt x="5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51" name="文本框 213"/>
          <p:cNvSpPr>
            <a:spLocks noGrp="1"/>
          </p:cNvSpPr>
          <p:nvPr/>
        </p:nvSpPr>
        <p:spPr>
          <a:xfrm>
            <a:off x="8104632" y="2231136"/>
            <a:ext cx="3557016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3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3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2" name="文本框 214"/>
          <p:cNvSpPr>
            <a:spLocks noGrp="1"/>
          </p:cNvSpPr>
          <p:nvPr/>
        </p:nvSpPr>
        <p:spPr>
          <a:xfrm>
            <a:off x="8104632" y="2807207"/>
            <a:ext cx="3557016" cy="5486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交汇</a:t>
            </a:r>
            <a:r>
              <a:rPr lang="en-US" altLang="zh-CN" sz="1100" b="1" spc="20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  THE UPSIDE</a:t>
            </a:r>
          </a:p>
        </p:txBody>
      </p:sp>
      <p:sp>
        <p:nvSpPr>
          <p:cNvPr id="253" name="文本框 215"/>
          <p:cNvSpPr>
            <a:spLocks noGrp="1"/>
          </p:cNvSpPr>
          <p:nvPr/>
        </p:nvSpPr>
        <p:spPr>
          <a:xfrm>
            <a:off x="8104632" y="3474720"/>
            <a:ext cx="3557016" cy="329184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商业模式 · 融资规划 · 投资回报</a:t>
            </a:r>
            <a:endParaRPr sz="1275">
              <a:solidFill>
                <a:srgbClr val="44546A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8" name="文本框 220"/>
          <p:cNvSpPr>
            <a:spLocks noGrp="1"/>
          </p:cNvSpPr>
          <p:nvPr/>
        </p:nvSpPr>
        <p:spPr>
          <a:xfrm>
            <a:off x="533400" y="6343650"/>
            <a:ext cx="2066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Vitoma · AIVC 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虚拟类器官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融资商业计划书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9" name="文本框 221"/>
          <p:cNvSpPr>
            <a:spLocks noGrp="1"/>
          </p:cNvSpPr>
          <p:nvPr/>
        </p:nvSpPr>
        <p:spPr>
          <a:xfrm>
            <a:off x="11201400" y="63436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02 / 08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Office WWO_wpscloud_20260902094840-997daf6cd0</Application>
  <PresentationFormat>Converted Presentation</PresentationFormat>
  <Paragraphs>640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汉仪旗黑KW 55S</vt:lpstr>
      <vt:lpstr>Calibri</vt:lpstr>
      <vt:lpstr>微软雅黑</vt:lpstr>
      <vt:lpstr>Calibri</vt:lpstr>
      <vt:lpstr>微软雅黑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2026-09-14T21:32:23Z</dcterms:created>
  <dcterms:modified xsi:type="dcterms:W3CDTF">2026-09-14T21:32:23Z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21C91B9422BFD48899299F6A1ACD7A80_42</vt:lpwstr>
  </property>
  <property fmtid="{D5CDD505-2E9C-101B-9397-08002B2CF9AE}" pid="3" name="KSOProductBuildVer">
    <vt:lpwstr>2052-12.9.0.28579</vt:lpwstr>
  </property>
</Properties>
</file>