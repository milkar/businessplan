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Default Extension="jpg" ContentType="image/jpeg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74" r:id="rId25"/>
    <p:sldId id="262" r:id="rId10"/>
    <p:sldId id="290" r:id="rId90"/>
    <p:sldId id="263" r:id="rId11"/>
    <p:sldId id="268" r:id="rId1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" Type="http://schemas.openxmlformats.org/officeDocument/2006/relationships/theme" Target="theme/theme1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  <Relationship Id="rId25" Type="http://schemas.openxmlformats.org/officeDocument/2006/relationships/slide" Target="slides/slide19.xml"/>
<Relationship Id="rId90" Type="http://schemas.openxmlformats.org/officeDocument/2006/relationships/slide" Target="slides/slide2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1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Ph1" Type="http://schemas.openxmlformats.org/officeDocument/2006/relationships/image" Target="../media/team_photo_1.jpg"/><Relationship Id="rIdPh2" Type="http://schemas.openxmlformats.org/officeDocument/2006/relationships/image" Target="../media/team_photo_2.jpg"/><Relationship Id="rIdPh3" Type="http://schemas.openxmlformats.org/officeDocument/2006/relationships/image" Target="../media/team_photo_3.jpg"/><Relationship Id="rIdPh4" Type="http://schemas.openxmlformats.org/officeDocument/2006/relationships/image" Target="../media/team_photo_4.jpg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1.png"/></Relationships>
</file>

<file path=ppt/slides/_rels/slide20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Relationship Id="rId9" Type="http://schemas.openxmlformats.org/officeDocument/2006/relationships/image" Target="../media/hcmi_title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pic>
        <p:nvPicPr>
          <p:cNvPr id="15" name="图片 2"/>
          <p:cNvPicPr>
            <a:picLocks noChangeAspect="1"/>
          </p:cNvPicPr>
          <p:nvPr/>
        </p:nvPicPr>
        <p:blipFill>
          <a:blip r:embed="rId1">
            <a:alphaModFix amt="16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0500" y="0"/>
            <a:ext cx="4381500" cy="6858000"/>
          </a:xfrm>
          <a:prstGeom prst="rect">
            <a:avLst/>
          </a:prstGeom>
        </p:spPr>
      </p:pic>
      <p:sp>
        <p:nvSpPr>
          <p:cNvPr id="6" name="文本框 5"/>
          <p:cNvSpPr>
            <a:spLocks noGrp="1"/>
          </p:cNvSpPr>
          <p:nvPr/>
        </p:nvSpPr>
        <p:spPr>
          <a:xfrm>
            <a:off x="685800" y="1552575"/>
            <a:ext cx="10820400" cy="2505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6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Vitonaut 维探</a:t>
            </a:r>
          </a:p>
          <a:p>
            <a:pPr algn="l">
              <a:lnSpc>
                <a:spcPct val="130000"/>
              </a:lnSpc>
              <a:buNone/>
            </a:pPr>
            <a:r>
              <a:rPr lang="zh-CN" altLang="en-US"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多维探索，推演生命</a:t>
            </a: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685800" y="4313555"/>
            <a:ext cx="1082040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l">
              <a:lnSpc>
                <a:spcPct val="150000"/>
              </a:lnSpc>
              <a:buNone/>
            </a:pPr>
            <a:r>
              <a:rPr sz="165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以患者来源类器官为生物模型，AI 预测疾病发展与治疗响应</a:t>
            </a:r>
            <a:endParaRPr sz="1650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685800" y="5829300"/>
            <a:ext cx="1371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AIVC </a:t>
            </a: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虚拟类器官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240280" y="5848350"/>
            <a:ext cx="9525" cy="152400"/>
          </a:xfrm>
          <a:prstGeom prst="rect">
            <a:avLst/>
          </a:prstGeom>
          <a:solidFill>
            <a:srgbClr val="44546A"/>
          </a:solidFill>
        </p:spPr>
        <p:txBody>
          <a:bodyPr/>
          <a:lstStyle/>
          <a:p/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2514600" y="5829300"/>
            <a:ext cx="219456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本轮融资</a:t>
            </a:r>
            <a:r>
              <a:rPr sz="12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 5000 </a:t>
            </a:r>
            <a:r>
              <a:rPr sz="12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万元人民币</a:t>
            </a:r>
            <a:endParaRPr sz="1200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846320" y="5848350"/>
            <a:ext cx="9525" cy="152400"/>
          </a:xfrm>
          <a:prstGeom prst="rect">
            <a:avLst/>
          </a:prstGeom>
          <a:solidFill>
            <a:srgbClr val="44546A"/>
          </a:solidFill>
        </p:spPr>
        <p:txBody>
          <a:bodyPr/>
          <a:lstStyle/>
          <a:p/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5120640" y="5829300"/>
            <a:ext cx="128016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2026 </a:t>
            </a:r>
            <a:r>
              <a:rPr sz="12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年</a:t>
            </a:r>
            <a:r>
              <a:rPr sz="12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 10 </a:t>
            </a:r>
            <a:r>
              <a:rPr sz="12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月</a:t>
            </a:r>
            <a:endParaRPr sz="1200">
              <a:solidFill>
                <a:srgbClr val="99BDED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685800" y="838200"/>
            <a:ext cx="10820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Vitonaut 维探 · 融资商业计划书</a:t>
            </a:r>
            <a:r>
              <a:rPr sz="1200" b="1" spc="300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/>
            </a:r>
            <a:endParaRPr sz="1200" b="1" spc="300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200150"/>
            <a:ext cx="609600" cy="28575"/>
          </a:xfrm>
          <a:prstGeom prst="rect">
            <a:avLst/>
          </a:prstGeom>
          <a:solidFill>
            <a:srgbClr val="08A6F6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9" name="矩形 2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40" name="文本框 202"/>
          <p:cNvSpPr>
            <a:spLocks noGrp="1"/>
          </p:cNvSpPr>
          <p:nvPr/>
        </p:nvSpPr>
        <p:spPr>
          <a:xfrm>
            <a:off x="533400" y="419100"/>
            <a:ext cx="111252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2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225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1" name="矩形 203"/>
          <p:cNvSpPr>
            <a:spLocks noGrp="1"/>
          </p:cNvSpPr>
          <p:nvPr/>
        </p:nvSpPr>
        <p:spPr>
          <a:xfrm>
            <a:off x="533400" y="8572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42" name="任意多边形 204"/>
          <p:cNvSpPr>
            <a:spLocks noGrp="1"/>
          </p:cNvSpPr>
          <p:nvPr/>
        </p:nvSpPr>
        <p:spPr>
          <a:xfrm>
            <a:off x="533400" y="2878455"/>
            <a:ext cx="3557016" cy="2466975"/>
          </a:xfrm>
          <a:custGeom>
            <a:avLst/>
            <a:gdLst/>
            <a:ahLst/>
            <a:cxnLst/>
            <a:pathLst>
              <a:path w="572" h="259">
                <a:moveTo>
                  <a:pt x="0" y="0"/>
                </a:moveTo>
                <a:lnTo>
                  <a:pt x="572" y="0"/>
                </a:lnTo>
                <a:lnTo>
                  <a:pt x="572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43" name="文本框 205"/>
          <p:cNvSpPr>
            <a:spLocks noGrp="1"/>
          </p:cNvSpPr>
          <p:nvPr/>
        </p:nvSpPr>
        <p:spPr>
          <a:xfrm>
            <a:off x="533400" y="3099816"/>
            <a:ext cx="3557016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33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300" b="1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4" name="文本框 206"/>
          <p:cNvSpPr>
            <a:spLocks noGrp="1"/>
          </p:cNvSpPr>
          <p:nvPr/>
        </p:nvSpPr>
        <p:spPr>
          <a:xfrm>
            <a:off x="533400" y="3675887"/>
            <a:ext cx="3557016" cy="54864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洞见</a:t>
            </a:r>
            <a:r>
              <a:rPr lang="en-US" altLang="zh-CN" sz="1100" b="1" spc="200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   WHY NOW</a:t>
            </a:r>
          </a:p>
        </p:txBody>
      </p:sp>
      <p:sp>
        <p:nvSpPr>
          <p:cNvPr id="245" name="文本框 207"/>
          <p:cNvSpPr>
            <a:spLocks noGrp="1"/>
          </p:cNvSpPr>
          <p:nvPr/>
        </p:nvSpPr>
        <p:spPr>
          <a:xfrm>
            <a:off x="533400" y="4343400"/>
            <a:ext cx="3557016" cy="329184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00025" indent="-200025">
              <a:lnSpc>
                <a:spcPct val="10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制药痛点</a:t>
            </a:r>
          </a:p>
          <a:p>
            <a:pPr marL="200025" indent="-200025">
              <a:lnSpc>
                <a:spcPct val="10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临床缺口</a:t>
            </a:r>
          </a:p>
          <a:p>
            <a:pPr marL="200025" indent="-200025">
              <a:lnSpc>
                <a:spcPct val="10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技术拐点</a:t>
            </a:r>
          </a:p>
        </p:txBody>
      </p:sp>
      <p:sp>
        <p:nvSpPr>
          <p:cNvPr id="246" name="任意多边形 208"/>
          <p:cNvSpPr>
            <a:spLocks noGrp="1"/>
          </p:cNvSpPr>
          <p:nvPr/>
        </p:nvSpPr>
        <p:spPr>
          <a:xfrm>
            <a:off x="4319016" y="2878455"/>
            <a:ext cx="3557016" cy="2466975"/>
          </a:xfrm>
          <a:custGeom>
            <a:avLst/>
            <a:gdLst/>
            <a:ahLst/>
            <a:cxnLst/>
            <a:pathLst>
              <a:path w="572" h="259">
                <a:moveTo>
                  <a:pt x="0" y="0"/>
                </a:moveTo>
                <a:lnTo>
                  <a:pt x="572" y="0"/>
                </a:lnTo>
                <a:lnTo>
                  <a:pt x="572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47" name="文本框 209"/>
          <p:cNvSpPr>
            <a:spLocks noGrp="1"/>
          </p:cNvSpPr>
          <p:nvPr/>
        </p:nvSpPr>
        <p:spPr>
          <a:xfrm>
            <a:off x="4319016" y="3099816"/>
            <a:ext cx="3557016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33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300" b="1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8" name="文本框 210"/>
          <p:cNvSpPr>
            <a:spLocks noGrp="1"/>
          </p:cNvSpPr>
          <p:nvPr/>
        </p:nvSpPr>
        <p:spPr>
          <a:xfrm>
            <a:off x="4319016" y="3675887"/>
            <a:ext cx="3557016" cy="54864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推演</a:t>
            </a:r>
            <a:r>
              <a:rPr lang="en-US" altLang="zh-CN" sz="1100" b="1" spc="200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   WHY US</a:t>
            </a:r>
          </a:p>
        </p:txBody>
      </p:sp>
      <p:sp>
        <p:nvSpPr>
          <p:cNvPr id="249" name="文本框 211"/>
          <p:cNvSpPr>
            <a:spLocks noGrp="1"/>
          </p:cNvSpPr>
          <p:nvPr/>
        </p:nvSpPr>
        <p:spPr>
          <a:xfrm>
            <a:off x="4319016" y="4343400"/>
            <a:ext cx="3557016" cy="329184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00025" indent="-200025">
              <a:lnSpc>
                <a:spcPct val="10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双轨校准</a:t>
            </a:r>
          </a:p>
          <a:p>
            <a:pPr marL="200025" indent="-200025">
              <a:lnSpc>
                <a:spcPct val="10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数据飞轮</a:t>
            </a:r>
          </a:p>
          <a:p>
            <a:pPr marL="200025" indent="-200025">
              <a:lnSpc>
                <a:spcPct val="10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核心团队</a:t>
            </a:r>
          </a:p>
        </p:txBody>
      </p:sp>
      <p:sp>
        <p:nvSpPr>
          <p:cNvPr id="250" name="任意多边形 212"/>
          <p:cNvSpPr>
            <a:spLocks noGrp="1"/>
          </p:cNvSpPr>
          <p:nvPr/>
        </p:nvSpPr>
        <p:spPr>
          <a:xfrm>
            <a:off x="8104632" y="2878455"/>
            <a:ext cx="3557016" cy="2466975"/>
          </a:xfrm>
          <a:custGeom>
            <a:avLst/>
            <a:gdLst/>
            <a:ahLst/>
            <a:cxnLst/>
            <a:pathLst>
              <a:path w="572" h="259">
                <a:moveTo>
                  <a:pt x="0" y="0"/>
                </a:moveTo>
                <a:lnTo>
                  <a:pt x="572" y="0"/>
                </a:lnTo>
                <a:lnTo>
                  <a:pt x="572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51" name="文本框 213"/>
          <p:cNvSpPr>
            <a:spLocks noGrp="1"/>
          </p:cNvSpPr>
          <p:nvPr/>
        </p:nvSpPr>
        <p:spPr>
          <a:xfrm>
            <a:off x="8104632" y="3099816"/>
            <a:ext cx="3557016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33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300" b="1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2" name="文本框 214"/>
          <p:cNvSpPr>
            <a:spLocks noGrp="1"/>
          </p:cNvSpPr>
          <p:nvPr/>
        </p:nvSpPr>
        <p:spPr>
          <a:xfrm>
            <a:off x="8104632" y="3675887"/>
            <a:ext cx="3557016" cy="54864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启航</a:t>
            </a:r>
            <a:r>
              <a:rPr lang="en-US" altLang="zh-CN" sz="1100" b="1" spc="200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   THE UPSIDE</a:t>
            </a:r>
          </a:p>
        </p:txBody>
      </p:sp>
      <p:sp>
        <p:nvSpPr>
          <p:cNvPr id="253" name="文本框 215"/>
          <p:cNvSpPr>
            <a:spLocks noGrp="1"/>
          </p:cNvSpPr>
          <p:nvPr/>
        </p:nvSpPr>
        <p:spPr>
          <a:xfrm>
            <a:off x="8104632" y="4343400"/>
            <a:ext cx="3557016" cy="329184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00025" indent="-200025">
              <a:lnSpc>
                <a:spcPct val="10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商业模式</a:t>
            </a:r>
          </a:p>
          <a:p>
            <a:pPr marL="200025" indent="-200025">
              <a:lnSpc>
                <a:spcPct val="10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融资规划</a:t>
            </a:r>
          </a:p>
          <a:p>
            <a:pPr marL="200025" indent="-200025">
              <a:lnSpc>
                <a:spcPct val="10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投资回报</a:t>
            </a:r>
          </a:p>
        </p:txBody>
      </p:sp>
      <p:sp>
        <p:nvSpPr>
          <p:cNvPr id="259" name="文本框 221"/>
          <p:cNvSpPr>
            <a:spLocks noGrp="1"/>
          </p:cNvSpPr>
          <p:nvPr/>
        </p:nvSpPr>
        <p:spPr>
          <a:xfrm>
            <a:off x="11201400" y="63436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02 / 09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01" name="品牌页脚"/>
          <p:cNvSpPr txBox="1"/>
          <p:nvPr/>
        </p:nvSpPr>
        <p:spPr>
          <a:xfrm>
            <a:off x="530352" y="63825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Vitonaut 维探 · AIVC 虚拟类器官 · 融资商业计划书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1" name="矩形 22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</p:spPr>
        <p:txBody>
          <a:bodyPr/>
          <a:lstStyle/>
          <a:p/>
        </p:txBody>
      </p:sp>
      <p:sp>
        <p:nvSpPr>
          <p:cNvPr id="262" name="文本框 224"/>
          <p:cNvSpPr>
            <a:spLocks noGrp="1"/>
          </p:cNvSpPr>
          <p:nvPr/>
        </p:nvSpPr>
        <p:spPr>
          <a:xfrm>
            <a:off x="4429125" y="2981325"/>
            <a:ext cx="321945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洞见</a:t>
            </a:r>
            <a:endParaRPr sz="34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3" name="文本框 225"/>
          <p:cNvSpPr>
            <a:spLocks noGrp="1"/>
          </p:cNvSpPr>
          <p:nvPr/>
        </p:nvSpPr>
        <p:spPr>
          <a:xfrm>
            <a:off x="4429125" y="3648075"/>
            <a:ext cx="32194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spc="22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WHY NOW</a:t>
            </a:r>
            <a:endParaRPr sz="1500" spc="225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4" name="文本框 226"/>
          <p:cNvSpPr>
            <a:spLocks noGrp="1"/>
          </p:cNvSpPr>
          <p:nvPr/>
        </p:nvSpPr>
        <p:spPr>
          <a:xfrm>
            <a:off x="685800" y="1943100"/>
            <a:ext cx="3057525" cy="2971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9500" b="1">
                <a:solidFill>
                  <a:srgbClr val="FFFFFF">
                    <a:alpha val="12000"/>
                  </a:srgbClr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9500" b="1">
              <a:solidFill>
                <a:srgbClr val="FFFFFF">
                  <a:alpha val="12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" name="矩形 22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67" name="文本框 229"/>
          <p:cNvSpPr>
            <a:spLocks noGrp="1"/>
          </p:cNvSpPr>
          <p:nvPr/>
        </p:nvSpPr>
        <p:spPr>
          <a:xfrm>
            <a:off x="533400" y="419100"/>
            <a:ext cx="111252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痛点：药物研发的「试错」正在变得不可承受</a:t>
            </a:r>
            <a:endParaRPr sz="24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8" name="矩形 230"/>
          <p:cNvSpPr>
            <a:spLocks noGrp="1"/>
          </p:cNvSpPr>
          <p:nvPr/>
        </p:nvSpPr>
        <p:spPr>
          <a:xfrm>
            <a:off x="533400" y="8953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69" name="任意多边形 231"/>
          <p:cNvSpPr>
            <a:spLocks noGrp="1"/>
          </p:cNvSpPr>
          <p:nvPr/>
        </p:nvSpPr>
        <p:spPr>
          <a:xfrm>
            <a:off x="533400" y="1019175"/>
            <a:ext cx="3543300" cy="1809750"/>
          </a:xfrm>
          <a:custGeom>
            <a:avLst/>
            <a:gdLst/>
            <a:ahLst/>
            <a:cxnLst/>
            <a:pathLst>
              <a:path w="372" h="190">
                <a:moveTo>
                  <a:pt x="0" y="0"/>
                </a:moveTo>
                <a:lnTo>
                  <a:pt x="4" y="0"/>
                </a:lnTo>
                <a:lnTo>
                  <a:pt x="4" y="190"/>
                </a:lnTo>
                <a:lnTo>
                  <a:pt x="0" y="190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70" name="文本框 232"/>
          <p:cNvSpPr>
            <a:spLocks noGrp="1"/>
          </p:cNvSpPr>
          <p:nvPr/>
        </p:nvSpPr>
        <p:spPr>
          <a:xfrm>
            <a:off x="800100" y="1190625"/>
            <a:ext cx="3238500" cy="1009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66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10</a:t>
            </a:r>
            <a:r>
              <a:rPr sz="30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+ </a:t>
            </a:r>
            <a:r>
              <a:rPr sz="30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年</a:t>
            </a:r>
            <a:endParaRPr sz="3000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1" name="文本框 233"/>
          <p:cNvSpPr>
            <a:spLocks noGrp="1"/>
          </p:cNvSpPr>
          <p:nvPr/>
        </p:nvSpPr>
        <p:spPr>
          <a:xfrm>
            <a:off x="800100" y="2333625"/>
            <a:ext cx="32385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一个创新药从发现到上市的平均耗时</a:t>
            </a:r>
            <a:endParaRPr sz="1500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2" name="任意多边形 234"/>
          <p:cNvSpPr>
            <a:spLocks noGrp="1"/>
          </p:cNvSpPr>
          <p:nvPr/>
        </p:nvSpPr>
        <p:spPr>
          <a:xfrm>
            <a:off x="4343400" y="1019175"/>
            <a:ext cx="3543300" cy="1809750"/>
          </a:xfrm>
          <a:custGeom>
            <a:avLst/>
            <a:gdLst/>
            <a:ahLst/>
            <a:cxnLst/>
            <a:pathLst>
              <a:path w="372" h="190">
                <a:moveTo>
                  <a:pt x="0" y="0"/>
                </a:moveTo>
                <a:lnTo>
                  <a:pt x="4" y="0"/>
                </a:lnTo>
                <a:lnTo>
                  <a:pt x="4" y="190"/>
                </a:lnTo>
                <a:lnTo>
                  <a:pt x="0" y="190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73" name="文本框 235"/>
          <p:cNvSpPr>
            <a:spLocks noGrp="1"/>
          </p:cNvSpPr>
          <p:nvPr/>
        </p:nvSpPr>
        <p:spPr>
          <a:xfrm>
            <a:off x="4610100" y="1190625"/>
            <a:ext cx="3238500" cy="1009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66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$20</a:t>
            </a:r>
            <a:r>
              <a:rPr sz="30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30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亿</a:t>
            </a:r>
            <a:r>
              <a:rPr sz="30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+</a:t>
            </a:r>
            <a:endParaRPr sz="3000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4" name="文本框 236"/>
          <p:cNvSpPr>
            <a:spLocks noGrp="1"/>
          </p:cNvSpPr>
          <p:nvPr/>
        </p:nvSpPr>
        <p:spPr>
          <a:xfrm>
            <a:off x="4610100" y="2333625"/>
            <a:ext cx="32385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平均研发花费（美元），且仍在上升</a:t>
            </a:r>
            <a:endParaRPr sz="1500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5" name="任意多边形 237"/>
          <p:cNvSpPr>
            <a:spLocks noGrp="1"/>
          </p:cNvSpPr>
          <p:nvPr/>
        </p:nvSpPr>
        <p:spPr>
          <a:xfrm>
            <a:off x="8153400" y="1019175"/>
            <a:ext cx="3543300" cy="1809750"/>
          </a:xfrm>
          <a:custGeom>
            <a:avLst/>
            <a:gdLst/>
            <a:ahLst/>
            <a:cxnLst/>
            <a:pathLst>
              <a:path w="372" h="190">
                <a:moveTo>
                  <a:pt x="0" y="0"/>
                </a:moveTo>
                <a:lnTo>
                  <a:pt x="4" y="0"/>
                </a:lnTo>
                <a:lnTo>
                  <a:pt x="4" y="190"/>
                </a:lnTo>
                <a:lnTo>
                  <a:pt x="0" y="190"/>
                </a:lnTo>
                <a:close/>
              </a:path>
            </a:pathLst>
          </a:custGeom>
          <a:solidFill>
            <a:srgbClr val="5A0E13"/>
          </a:solidFill>
        </p:spPr>
        <p:txBody>
          <a:bodyPr/>
          <a:lstStyle/>
          <a:p/>
        </p:txBody>
      </p:sp>
      <p:sp>
        <p:nvSpPr>
          <p:cNvPr id="276" name="文本框 238"/>
          <p:cNvSpPr>
            <a:spLocks noGrp="1"/>
          </p:cNvSpPr>
          <p:nvPr/>
        </p:nvSpPr>
        <p:spPr>
          <a:xfrm>
            <a:off x="8420100" y="1028700"/>
            <a:ext cx="3238500" cy="1009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6600" b="1">
                <a:solidFill>
                  <a:srgbClr val="5A0E13"/>
                </a:solidFill>
                <a:latin typeface="微软雅黑"/>
                <a:ea typeface="微软雅黑"/>
                <a:cs typeface="微软雅黑"/>
              </a:rPr>
              <a:t>后期</a:t>
            </a:r>
            <a:endParaRPr sz="6600" b="1">
              <a:solidFill>
                <a:srgbClr val="5A0E1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7" name="文本框 239"/>
          <p:cNvSpPr>
            <a:spLocks noGrp="1"/>
          </p:cNvSpPr>
          <p:nvPr/>
        </p:nvSpPr>
        <p:spPr>
          <a:xfrm>
            <a:off x="8420100" y="2171700"/>
            <a:ext cx="323850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  <a:buNone/>
            </a:pPr>
            <a:r>
              <a: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失败主要发生在临床后期——代价最高的阶段</a:t>
            </a:r>
            <a:endParaRPr sz="1500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8" name="矩形 240"/>
          <p:cNvSpPr>
            <a:spLocks noGrp="1"/>
          </p:cNvSpPr>
          <p:nvPr/>
        </p:nvSpPr>
        <p:spPr>
          <a:xfrm>
            <a:off x="533400" y="3038475"/>
            <a:ext cx="11125200" cy="1257300"/>
          </a:xfrm>
          <a:prstGeom prst="rect">
            <a:avLst/>
          </a:prstGeom>
          <a:solidFill>
            <a:srgbClr val="F5F5F5"/>
          </a:solidFill>
        </p:spPr>
        <p:txBody>
          <a:bodyPr/>
          <a:lstStyle/>
          <a:p/>
        </p:txBody>
      </p:sp>
      <p:sp>
        <p:nvSpPr>
          <p:cNvPr id="280" name="矩形 242"/>
          <p:cNvSpPr>
            <a:spLocks noGrp="1"/>
          </p:cNvSpPr>
          <p:nvPr/>
        </p:nvSpPr>
        <p:spPr>
          <a:xfrm>
            <a:off x="800100" y="3417189"/>
            <a:ext cx="295275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  <p:txBody>
          <a:bodyPr/>
          <a:lstStyle/>
          <a:p/>
        </p:txBody>
      </p:sp>
      <p:sp>
        <p:nvSpPr>
          <p:cNvPr id="281" name="文本框 243"/>
          <p:cNvSpPr>
            <a:spLocks noGrp="1"/>
          </p:cNvSpPr>
          <p:nvPr/>
        </p:nvSpPr>
        <p:spPr>
          <a:xfrm>
            <a:off x="971550" y="3550539"/>
            <a:ext cx="26098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细胞模型：体外有效</a:t>
            </a:r>
            <a:endParaRPr sz="15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11" name="图片 24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05250" y="3569589"/>
            <a:ext cx="266700" cy="190500"/>
          </a:xfrm>
          <a:prstGeom prst="rect">
            <a:avLst/>
          </a:prstGeom>
        </p:spPr>
      </p:pic>
      <p:sp>
        <p:nvSpPr>
          <p:cNvPr id="283" name="矩形 245"/>
          <p:cNvSpPr>
            <a:spLocks noGrp="1"/>
          </p:cNvSpPr>
          <p:nvPr/>
        </p:nvSpPr>
        <p:spPr>
          <a:xfrm>
            <a:off x="4324350" y="3417189"/>
            <a:ext cx="295275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  <p:txBody>
          <a:bodyPr/>
          <a:lstStyle/>
          <a:p/>
        </p:txBody>
      </p:sp>
      <p:sp>
        <p:nvSpPr>
          <p:cNvPr id="284" name="文本框 246"/>
          <p:cNvSpPr>
            <a:spLocks noGrp="1"/>
          </p:cNvSpPr>
          <p:nvPr/>
        </p:nvSpPr>
        <p:spPr>
          <a:xfrm>
            <a:off x="4495800" y="3550539"/>
            <a:ext cx="26098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动物模型：动物有效</a:t>
            </a:r>
            <a:endParaRPr sz="15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14" name="图片 24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29500" y="3569589"/>
            <a:ext cx="266700" cy="190500"/>
          </a:xfrm>
          <a:prstGeom prst="rect">
            <a:avLst/>
          </a:prstGeom>
        </p:spPr>
      </p:pic>
      <p:sp>
        <p:nvSpPr>
          <p:cNvPr id="286" name="矩形 248"/>
          <p:cNvSpPr>
            <a:spLocks noGrp="1"/>
          </p:cNvSpPr>
          <p:nvPr/>
        </p:nvSpPr>
        <p:spPr>
          <a:xfrm>
            <a:off x="7848600" y="3417189"/>
            <a:ext cx="3543300" cy="495300"/>
          </a:xfrm>
          <a:prstGeom prst="rect">
            <a:avLst/>
          </a:prstGeom>
          <a:solidFill>
            <a:srgbClr val="FFFFFF"/>
          </a:solidFill>
          <a:ln w="19050">
            <a:solidFill>
              <a:srgbClr val="5A0E13"/>
            </a:solidFill>
            <a:prstDash val="solid"/>
          </a:ln>
        </p:spPr>
        <p:txBody>
          <a:bodyPr/>
          <a:lstStyle/>
          <a:p/>
        </p:txBody>
      </p:sp>
      <p:sp>
        <p:nvSpPr>
          <p:cNvPr id="287" name="文本框 249"/>
          <p:cNvSpPr>
            <a:spLocks noGrp="1"/>
          </p:cNvSpPr>
          <p:nvPr/>
        </p:nvSpPr>
        <p:spPr>
          <a:xfrm>
            <a:off x="8020050" y="3550539"/>
            <a:ext cx="32004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5A0E13"/>
                </a:solidFill>
                <a:latin typeface="微软雅黑"/>
                <a:ea typeface="微软雅黑"/>
                <a:cs typeface="微软雅黑"/>
              </a:rPr>
              <a:t>患者身上：无效甚至有害</a:t>
            </a:r>
            <a:endParaRPr sz="1500" b="1">
              <a:solidFill>
                <a:srgbClr val="5A0E1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8" name="矩形 250"/>
          <p:cNvSpPr>
            <a:spLocks noGrp="1"/>
          </p:cNvSpPr>
          <p:nvPr/>
        </p:nvSpPr>
        <p:spPr>
          <a:xfrm>
            <a:off x="533400" y="4505325"/>
            <a:ext cx="11125200" cy="1481328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90" name="文本框 252"/>
          <p:cNvSpPr>
            <a:spLocks noGrp="1"/>
          </p:cNvSpPr>
          <p:nvPr/>
        </p:nvSpPr>
        <p:spPr>
          <a:xfrm>
            <a:off x="804672" y="4507992"/>
            <a:ext cx="10588752" cy="1481328"/>
          </a:xfrm>
          <a:prstGeom prst="rect">
            <a:avLst/>
          </a:prstGeom>
        </p:spPr>
        <p:txBody>
          <a:bodyPr anchor="ctr" wrap="square" lIns="0" tIns="0" rIns="0" bIns="0">
            <a:norm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28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试错范式走到尽头，必须换一条路！</a:t>
            </a:r>
            <a:endParaRPr sz="28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1" name="文本框 253"/>
          <p:cNvSpPr>
            <a:spLocks noGrp="1"/>
          </p:cNvSpPr>
          <p:nvPr/>
        </p:nvSpPr>
        <p:spPr>
          <a:xfrm>
            <a:off x="530352" y="6163056"/>
            <a:ext cx="10515600" cy="164592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Source: 行业公开数据</a:t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2" name="文本框 254"/>
          <p:cNvSpPr>
            <a:spLocks noGrp="1"/>
          </p:cNvSpPr>
          <p:nvPr/>
        </p:nvSpPr>
        <p:spPr>
          <a:xfrm>
            <a:off x="11201400" y="63817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04 / 09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02" name="品牌页脚"/>
          <p:cNvSpPr txBox="1"/>
          <p:nvPr/>
        </p:nvSpPr>
        <p:spPr>
          <a:xfrm>
            <a:off x="530352" y="63825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Vitonaut 维探 · AIVC 虚拟类器官 · 融资商业计划书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6" name="矩形 28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47" name="文本框 281"/>
          <p:cNvSpPr>
            <a:spLocks noGrp="1"/>
          </p:cNvSpPr>
          <p:nvPr/>
        </p:nvSpPr>
        <p:spPr>
          <a:xfrm>
            <a:off x="533400" y="419100"/>
            <a:ext cx="111252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为什么是现在？三项关键技术条件同步趋于成熟</a:t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Arial" panose="020B0604020202020204" pitchFamily="34" charset="0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endParaRPr sz="24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8" name="矩形 282"/>
          <p:cNvSpPr>
            <a:spLocks noGrp="1"/>
          </p:cNvSpPr>
          <p:nvPr/>
        </p:nvSpPr>
        <p:spPr>
          <a:xfrm>
            <a:off x="533400" y="8953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49" name="文本框 283"/>
          <p:cNvSpPr>
            <a:spLocks noGrp="1"/>
          </p:cNvSpPr>
          <p:nvPr/>
        </p:nvSpPr>
        <p:spPr>
          <a:xfrm>
            <a:off x="533400" y="981075"/>
            <a:ext cx="65722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zh-CN" altLang="en-US"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为</a:t>
            </a:r>
            <a:r>
              <a:rPr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患者特异性纵向虚拟类器官</a:t>
            </a:r>
            <a:r>
              <a:rPr lang="zh-CN" altLang="en-US"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搭建</a:t>
            </a:r>
            <a:r>
              <a:rPr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工程化基础</a:t>
            </a:r>
            <a:endParaRPr sz="15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0" name="任意多边形 284"/>
          <p:cNvSpPr>
            <a:spLocks noGrp="1"/>
          </p:cNvSpPr>
          <p:nvPr/>
        </p:nvSpPr>
        <p:spPr>
          <a:xfrm>
            <a:off x="530352" y="1691640"/>
            <a:ext cx="3435095" cy="3429000"/>
          </a:xfrm>
          <a:custGeom>
            <a:avLst/>
            <a:gdLst/>
            <a:ahLst/>
            <a:cxnLst/>
            <a:pathLst>
              <a:path w="338" h="251">
                <a:moveTo>
                  <a:pt x="0" y="0"/>
                </a:moveTo>
                <a:lnTo>
                  <a:pt x="338" y="0"/>
                </a:lnTo>
                <a:lnTo>
                  <a:pt x="338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53" name="任意多边形 287"/>
          <p:cNvSpPr>
            <a:spLocks noGrp="1"/>
          </p:cNvSpPr>
          <p:nvPr/>
        </p:nvSpPr>
        <p:spPr>
          <a:xfrm>
            <a:off x="4376928" y="1691640"/>
            <a:ext cx="3435095" cy="3429000"/>
          </a:xfrm>
          <a:custGeom>
            <a:avLst/>
            <a:gdLst/>
            <a:ahLst/>
            <a:cxnLst/>
            <a:pathLst>
              <a:path w="338" h="251">
                <a:moveTo>
                  <a:pt x="0" y="0"/>
                </a:moveTo>
                <a:lnTo>
                  <a:pt x="338" y="0"/>
                </a:lnTo>
                <a:lnTo>
                  <a:pt x="338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56" name="任意多边形 290"/>
          <p:cNvSpPr>
            <a:spLocks noGrp="1"/>
          </p:cNvSpPr>
          <p:nvPr/>
        </p:nvSpPr>
        <p:spPr>
          <a:xfrm>
            <a:off x="8223503" y="1691640"/>
            <a:ext cx="3435095" cy="3429000"/>
          </a:xfrm>
          <a:custGeom>
            <a:avLst/>
            <a:gdLst/>
            <a:ahLst/>
            <a:cxnLst/>
            <a:pathLst>
              <a:path w="338" h="251">
                <a:moveTo>
                  <a:pt x="0" y="0"/>
                </a:moveTo>
                <a:lnTo>
                  <a:pt x="338" y="0"/>
                </a:lnTo>
                <a:lnTo>
                  <a:pt x="338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72" name="文本框 306"/>
          <p:cNvSpPr>
            <a:spLocks noGrp="1"/>
          </p:cNvSpPr>
          <p:nvPr/>
        </p:nvSpPr>
        <p:spPr>
          <a:xfrm>
            <a:off x="11201400" y="63817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06 / 09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04" name="条件类别 1"/>
          <p:cNvSpPr txBox="1"/>
          <p:nvPr/>
        </p:nvSpPr>
        <p:spPr>
          <a:xfrm>
            <a:off x="758952" y="1947672"/>
            <a:ext cx="297789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4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实验基础</a:t>
            </a:r>
          </a:p>
        </p:txBody>
      </p:sp>
      <p:sp>
        <p:nvSpPr>
          <p:cNvPr id="905" name="条件标题 1"/>
          <p:cNvSpPr txBox="1"/>
          <p:nvPr/>
        </p:nvSpPr>
        <p:spPr>
          <a:xfrm>
            <a:off x="758952" y="2295144"/>
            <a:ext cx="297789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20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类器官与基因编辑技术</a:t>
            </a:r>
          </a:p>
        </p:txBody>
      </p:sp>
      <p:sp>
        <p:nvSpPr>
          <p:cNvPr id="906" name="条件要点 1"/>
          <p:cNvSpPr txBox="1"/>
          <p:nvPr/>
        </p:nvSpPr>
        <p:spPr>
          <a:xfrm>
            <a:off x="758952" y="2880360"/>
            <a:ext cx="2977895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0500" indent="-190500">
              <a:lnSpc>
                <a:spcPct val="11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高保真肿瘤生态系统</a:t>
            </a:r>
          </a:p>
          <a:p>
            <a:pPr algn="l" marL="190500" indent="-190500">
              <a:lnSpc>
                <a:spcPct val="11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个体差异与微环境</a:t>
            </a:r>
          </a:p>
          <a:p>
            <a:pPr algn="l" marL="190500" indent="-190500">
              <a:lnSpc>
                <a:spcPct val="11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纵向追踪演化</a:t>
            </a:r>
          </a:p>
          <a:p>
            <a:pPr algn="l" marL="190500" indent="-190500">
              <a:lnSpc>
                <a:spcPct val="11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CRISPR 基因编辑</a:t>
            </a:r>
          </a:p>
          <a:p>
            <a:pPr algn="l" marL="190500" indent="-190500">
              <a:lnSpc>
                <a:spcPct val="11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多基因扰动</a:t>
            </a:r>
          </a:p>
          <a:p>
            <a:pPr algn="l" marL="190500" indent="-190500">
              <a:lnSpc>
                <a:spcPct val="11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药物扰动</a:t>
            </a:r>
          </a:p>
        </p:txBody>
      </p:sp>
      <p:sp>
        <p:nvSpPr>
          <p:cNvPr id="907" name="条件类别 2"/>
          <p:cNvSpPr txBox="1"/>
          <p:nvPr/>
        </p:nvSpPr>
        <p:spPr>
          <a:xfrm>
            <a:off x="4605528" y="1947672"/>
            <a:ext cx="297789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4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数据基础</a:t>
            </a:r>
          </a:p>
        </p:txBody>
      </p:sp>
      <p:sp>
        <p:nvSpPr>
          <p:cNvPr id="908" name="条件标题 2"/>
          <p:cNvSpPr txBox="1"/>
          <p:nvPr/>
        </p:nvSpPr>
        <p:spPr>
          <a:xfrm>
            <a:off x="4605528" y="2295144"/>
            <a:ext cx="297789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20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成像与多组学</a:t>
            </a:r>
          </a:p>
        </p:txBody>
      </p:sp>
      <p:sp>
        <p:nvSpPr>
          <p:cNvPr id="909" name="条件要点 2a"/>
          <p:cNvSpPr txBox="1"/>
          <p:nvPr/>
        </p:nvSpPr>
        <p:spPr>
          <a:xfrm>
            <a:off x="4605528" y="2880360"/>
            <a:ext cx="1488947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0500" indent="-190500">
              <a:lnSpc>
                <a:spcPct val="11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高内涵成像</a:t>
            </a:r>
          </a:p>
          <a:p>
            <a:pPr algn="l" marL="190500" indent="-190500">
              <a:lnSpc>
                <a:spcPct val="11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单细胞</a:t>
            </a:r>
          </a:p>
          <a:p>
            <a:pPr algn="l" marL="190500" indent="-190500">
              <a:lnSpc>
                <a:spcPct val="11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空间组</a:t>
            </a:r>
          </a:p>
          <a:p>
            <a:pPr algn="l" marL="190500" indent="-190500">
              <a:lnSpc>
                <a:spcPct val="11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基因组</a:t>
            </a:r>
          </a:p>
        </p:txBody>
      </p:sp>
      <p:sp>
        <p:nvSpPr>
          <p:cNvPr id="910" name="条件要点 2b"/>
          <p:cNvSpPr txBox="1"/>
          <p:nvPr/>
        </p:nvSpPr>
        <p:spPr>
          <a:xfrm>
            <a:off x="6094475" y="2880360"/>
            <a:ext cx="1488947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0500" indent="-190500">
              <a:lnSpc>
                <a:spcPct val="11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转录组</a:t>
            </a:r>
          </a:p>
          <a:p>
            <a:pPr algn="l" marL="190500" indent="-190500">
              <a:lnSpc>
                <a:spcPct val="11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蛋白组</a:t>
            </a:r>
          </a:p>
          <a:p>
            <a:pPr algn="l" marL="190500" indent="-190500">
              <a:lnSpc>
                <a:spcPct val="11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代谢组</a:t>
            </a:r>
          </a:p>
          <a:p>
            <a:pPr algn="l" marL="190500" indent="-190500">
              <a:lnSpc>
                <a:spcPct val="11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微生物组</a:t>
            </a:r>
          </a:p>
        </p:txBody>
      </p:sp>
      <p:sp>
        <p:nvSpPr>
          <p:cNvPr id="911" name="条件类别 3"/>
          <p:cNvSpPr txBox="1"/>
          <p:nvPr/>
        </p:nvSpPr>
        <p:spPr>
          <a:xfrm>
            <a:off x="8452103" y="1947672"/>
            <a:ext cx="297789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4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计算与预测能力</a:t>
            </a:r>
          </a:p>
        </p:txBody>
      </p:sp>
      <p:sp>
        <p:nvSpPr>
          <p:cNvPr id="912" name="条件标题 3"/>
          <p:cNvSpPr txBox="1"/>
          <p:nvPr/>
        </p:nvSpPr>
        <p:spPr>
          <a:xfrm>
            <a:off x="8452103" y="2295144"/>
            <a:ext cx="297789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20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算力和 AI 建模</a:t>
            </a:r>
          </a:p>
        </p:txBody>
      </p:sp>
      <p:sp>
        <p:nvSpPr>
          <p:cNvPr id="913" name="条件要点 3"/>
          <p:cNvSpPr txBox="1"/>
          <p:nvPr/>
        </p:nvSpPr>
        <p:spPr>
          <a:xfrm>
            <a:off x="8452103" y="2880360"/>
            <a:ext cx="2977895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0500" indent="-190500">
              <a:lnSpc>
                <a:spcPct val="11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多模态数据融合</a:t>
            </a:r>
          </a:p>
          <a:p>
            <a:pPr algn="l" marL="190500" indent="-190500">
              <a:lnSpc>
                <a:spcPct val="11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基础模型与扰动建模</a:t>
            </a:r>
          </a:p>
          <a:p>
            <a:pPr algn="l" marL="190500" indent="-190500">
              <a:lnSpc>
                <a:spcPct val="11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大规模模型训练</a:t>
            </a:r>
          </a:p>
          <a:p>
            <a:pPr algn="l" marL="190500" indent="-190500">
              <a:lnSpc>
                <a:spcPct val="11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干预后状态预测</a:t>
            </a:r>
          </a:p>
        </p:txBody>
      </p:sp>
      <p:sp>
        <p:nvSpPr>
          <p:cNvPr id="914" name="品牌页脚"/>
          <p:cNvSpPr txBox="1"/>
          <p:nvPr/>
        </p:nvSpPr>
        <p:spPr>
          <a:xfrm>
            <a:off x="530352" y="63825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Vitonaut 维探 · AIVC 虚拟类器官 · 融资商业计划书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4" name="矩形 30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</p:spPr>
        <p:txBody>
          <a:bodyPr/>
          <a:lstStyle/>
          <a:p/>
        </p:txBody>
      </p:sp>
      <p:sp>
        <p:nvSpPr>
          <p:cNvPr id="375" name="文本框 309"/>
          <p:cNvSpPr>
            <a:spLocks noGrp="1"/>
          </p:cNvSpPr>
          <p:nvPr/>
        </p:nvSpPr>
        <p:spPr>
          <a:xfrm>
            <a:off x="4429125" y="2981325"/>
            <a:ext cx="2447925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推演</a:t>
            </a:r>
            <a:endParaRPr sz="34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6" name="文本框 310"/>
          <p:cNvSpPr>
            <a:spLocks noGrp="1"/>
          </p:cNvSpPr>
          <p:nvPr/>
        </p:nvSpPr>
        <p:spPr>
          <a:xfrm>
            <a:off x="4429125" y="3648075"/>
            <a:ext cx="24479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spc="22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WHY US</a:t>
            </a:r>
            <a:endParaRPr sz="1500" spc="225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7" name="文本框 311"/>
          <p:cNvSpPr>
            <a:spLocks noGrp="1"/>
          </p:cNvSpPr>
          <p:nvPr/>
        </p:nvSpPr>
        <p:spPr>
          <a:xfrm>
            <a:off x="685800" y="1943100"/>
            <a:ext cx="3057525" cy="2971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9500" b="1">
                <a:solidFill>
                  <a:srgbClr val="FFFFFF">
                    <a:alpha val="12000"/>
                  </a:srgbClr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9500" b="1">
              <a:solidFill>
                <a:srgbClr val="FFFFFF">
                  <a:alpha val="12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" name="矩形 6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91" name="文本框 64"/>
          <p:cNvSpPr>
            <a:spLocks noGrp="1"/>
          </p:cNvSpPr>
          <p:nvPr/>
        </p:nvSpPr>
        <p:spPr>
          <a:xfrm>
            <a:off x="533400" y="419100"/>
            <a:ext cx="111252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团队：科学 × 数据 × 模型 × 运营，核心能力</a:t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实现</a:t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自持</a:t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闭环</a:t>
            </a:r>
            <a:endParaRPr sz="24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2" name="矩形 65"/>
          <p:cNvSpPr>
            <a:spLocks noGrp="1"/>
          </p:cNvSpPr>
          <p:nvPr/>
        </p:nvSpPr>
        <p:spPr>
          <a:xfrm>
            <a:off x="533400" y="8953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pic>
        <p:nvPicPr>
          <p:cNvPr id="301" name="照片 1"/>
          <p:cNvPicPr>
            <a:picLocks noChangeAspect="1"/>
          </p:cNvPicPr>
          <p:nvPr/>
        </p:nvPicPr>
        <p:blipFill>
          <a:blip r:embed="rIdPh1"/>
          <a:stretch>
            <a:fillRect/>
          </a:stretch>
        </p:blipFill>
        <p:spPr>
          <a:xfrm>
            <a:off x="1178433" y="1005840"/>
            <a:ext cx="1280160" cy="1280160"/>
          </a:xfrm>
          <a:prstGeom prst="ellipse">
            <a:avLst/>
          </a:prstGeom>
          <a:ln w="12700">
            <a:solidFill>
              <a:srgbClr val="99BDED"/>
            </a:solidFill>
          </a:ln>
        </p:spPr>
      </p:pic>
      <p:sp>
        <p:nvSpPr>
          <p:cNvPr id="302" name="姓名 1"/>
          <p:cNvSpPr txBox="1"/>
          <p:nvPr/>
        </p:nvSpPr>
        <p:spPr>
          <a:xfrm>
            <a:off x="530352" y="2404872"/>
            <a:ext cx="257632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zh-CN" altLang="en-US" sz="16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卓悦 博士</a:t>
            </a:r>
          </a:p>
        </p:txBody>
      </p:sp>
      <p:sp>
        <p:nvSpPr>
          <p:cNvPr id="303" name="职位 1"/>
          <p:cNvSpPr txBox="1"/>
          <p:nvPr/>
        </p:nvSpPr>
        <p:spPr>
          <a:xfrm>
            <a:off x="530352" y="2724912"/>
            <a:ext cx="257632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zh-CN" altLang="en-US" sz="13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CEO 首席执行官</a:t>
            </a:r>
          </a:p>
        </p:txBody>
      </p:sp>
      <p:sp>
        <p:nvSpPr>
          <p:cNvPr id="304" name="亮点 1"/>
          <p:cNvSpPr txBox="1"/>
          <p:nvPr/>
        </p:nvSpPr>
        <p:spPr>
          <a:xfrm>
            <a:off x="530352" y="3017520"/>
            <a:ext cx="257632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zh-CN" altLang="en-US" sz="105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湿实验 × 数据 × AI，全链路打通</a:t>
            </a:r>
          </a:p>
        </p:txBody>
      </p:sp>
      <p:sp>
        <p:nvSpPr>
          <p:cNvPr id="305" name="经历 1"/>
          <p:cNvSpPr txBox="1"/>
          <p:nvPr/>
        </p:nvSpPr>
        <p:spPr>
          <a:xfrm>
            <a:off x="603504" y="3456432"/>
            <a:ext cx="2484882" cy="2606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海德堡大学 / DKFZ 发育生物学博士</a:t>
            </a:r>
          </a:p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密歇根大学安娜堡分校学士</a:t>
            </a:r>
          </a:p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Verqura 实验室管理系统创始人</a:t>
            </a:r>
          </a:p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精通 iPSC 脑类器官构建、CRISPR 基因组编辑与标记</a:t>
            </a:r>
          </a:p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单细胞测序与 AI 图像分析（YOLO / Cellpose）</a:t>
            </a:r>
          </a:p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Cell Stem Cell 2025、npj Precision Oncology 2024 作者</a:t>
            </a:r>
          </a:p>
        </p:txBody>
      </p:sp>
      <p:pic>
        <p:nvPicPr>
          <p:cNvPr id="306" name="照片 2"/>
          <p:cNvPicPr>
            <a:picLocks noChangeAspect="1"/>
          </p:cNvPicPr>
          <p:nvPr/>
        </p:nvPicPr>
        <p:blipFill>
          <a:blip r:embed="rIdPh2"/>
          <a:stretch>
            <a:fillRect/>
          </a:stretch>
        </p:blipFill>
        <p:spPr>
          <a:xfrm>
            <a:off x="4029075" y="1005840"/>
            <a:ext cx="1280160" cy="1280160"/>
          </a:xfrm>
          <a:prstGeom prst="ellipse">
            <a:avLst/>
          </a:prstGeom>
          <a:ln w="12700">
            <a:solidFill>
              <a:srgbClr val="99BDED"/>
            </a:solidFill>
          </a:ln>
        </p:spPr>
      </p:pic>
      <p:sp>
        <p:nvSpPr>
          <p:cNvPr id="307" name="姓名 2"/>
          <p:cNvSpPr txBox="1"/>
          <p:nvPr/>
        </p:nvSpPr>
        <p:spPr>
          <a:xfrm>
            <a:off x="3380994" y="2404872"/>
            <a:ext cx="257632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zh-CN" altLang="en-US" sz="16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田伟利 博士</a:t>
            </a:r>
          </a:p>
        </p:txBody>
      </p:sp>
      <p:sp>
        <p:nvSpPr>
          <p:cNvPr id="308" name="职位 2"/>
          <p:cNvSpPr txBox="1"/>
          <p:nvPr/>
        </p:nvSpPr>
        <p:spPr>
          <a:xfrm>
            <a:off x="3380994" y="2724912"/>
            <a:ext cx="257632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zh-CN" altLang="en-US" sz="13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CSO 首席科学官</a:t>
            </a:r>
          </a:p>
        </p:txBody>
      </p:sp>
      <p:sp>
        <p:nvSpPr>
          <p:cNvPr id="309" name="亮点 2"/>
          <p:cNvSpPr txBox="1"/>
          <p:nvPr/>
        </p:nvSpPr>
        <p:spPr>
          <a:xfrm>
            <a:off x="3380994" y="3017520"/>
            <a:ext cx="257632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zh-CN" altLang="en-US" sz="105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神经科学 × 脑类器官 × 产业转化</a:t>
            </a:r>
          </a:p>
        </p:txBody>
      </p:sp>
      <p:sp>
        <p:nvSpPr>
          <p:cNvPr id="310" name="经历 2"/>
          <p:cNvSpPr txBox="1"/>
          <p:nvPr/>
        </p:nvSpPr>
        <p:spPr>
          <a:xfrm>
            <a:off x="3454146" y="3456432"/>
            <a:ext cx="2484882" cy="2606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DKFZ / 海德堡大学与德国癌症研究中心联合研究中心博士后 / 资深科学家（神经科学）/ 慕尼黑大学博士</a:t>
            </a:r>
          </a:p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精通湿实验及各种小动物及类器官模型</a:t>
            </a:r>
          </a:p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主持欧中重大科研项目</a:t>
            </a:r>
          </a:p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深耕神经调控与脑类器官方向，长期研究胶质母细胞瘤复发与耐药</a:t>
            </a:r>
          </a:p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Cell Stem Cell 2025、npj Precision Oncology 2024 核心成员</a:t>
            </a:r>
          </a:p>
        </p:txBody>
      </p:sp>
      <p:pic>
        <p:nvPicPr>
          <p:cNvPr id="311" name="照片 3"/>
          <p:cNvPicPr>
            <a:picLocks noChangeAspect="1"/>
          </p:cNvPicPr>
          <p:nvPr/>
        </p:nvPicPr>
        <p:blipFill>
          <a:blip r:embed="rIdPh3"/>
          <a:stretch>
            <a:fillRect/>
          </a:stretch>
        </p:blipFill>
        <p:spPr>
          <a:xfrm>
            <a:off x="6879717" y="1005840"/>
            <a:ext cx="1280160" cy="1280160"/>
          </a:xfrm>
          <a:prstGeom prst="ellipse">
            <a:avLst/>
          </a:prstGeom>
          <a:ln w="12700">
            <a:solidFill>
              <a:srgbClr val="99BDED"/>
            </a:solidFill>
          </a:ln>
        </p:spPr>
      </p:pic>
      <p:sp>
        <p:nvSpPr>
          <p:cNvPr id="312" name="姓名 3"/>
          <p:cNvSpPr txBox="1"/>
          <p:nvPr/>
        </p:nvSpPr>
        <p:spPr>
          <a:xfrm>
            <a:off x="6231636" y="2404872"/>
            <a:ext cx="257632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zh-CN" altLang="en-US" sz="16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王中杰 博士</a:t>
            </a:r>
          </a:p>
        </p:txBody>
      </p:sp>
      <p:sp>
        <p:nvSpPr>
          <p:cNvPr id="313" name="职位 3"/>
          <p:cNvSpPr txBox="1"/>
          <p:nvPr/>
        </p:nvSpPr>
        <p:spPr>
          <a:xfrm>
            <a:off x="6231636" y="2724912"/>
            <a:ext cx="257632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zh-CN" altLang="en-US" sz="13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CTO 首席技术官</a:t>
            </a:r>
          </a:p>
        </p:txBody>
      </p:sp>
      <p:sp>
        <p:nvSpPr>
          <p:cNvPr id="314" name="亮点 3"/>
          <p:cNvSpPr txBox="1"/>
          <p:nvPr/>
        </p:nvSpPr>
        <p:spPr>
          <a:xfrm>
            <a:off x="6231636" y="3017520"/>
            <a:ext cx="257632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zh-CN" altLang="en-US" sz="105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生物信息 × 机器学习预测建模</a:t>
            </a:r>
          </a:p>
        </p:txBody>
      </p:sp>
      <p:sp>
        <p:nvSpPr>
          <p:cNvPr id="315" name="经历 3"/>
          <p:cNvSpPr txBox="1"/>
          <p:nvPr/>
        </p:nvSpPr>
        <p:spPr>
          <a:xfrm>
            <a:off x="6304788" y="3456432"/>
            <a:ext cx="2484882" cy="2606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哈佛医学院，巴斯德研究所博士后研究员</a:t>
            </a:r>
          </a:p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慕尼黑工业大学 / 慕尼黑亥姆霍兹中心博士</a:t>
            </a:r>
          </a:p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近 10 年生物信息与多组学数据分析经验</a:t>
            </a:r>
          </a:p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精通大规模计算与机器学习预测建模</a:t>
            </a:r>
          </a:p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擅长搭建端到端可复用分析流程，支撑临床与生物医药项目的数据挖掘与决策输出</a:t>
            </a:r>
          </a:p>
        </p:txBody>
      </p:sp>
      <p:pic>
        <p:nvPicPr>
          <p:cNvPr id="316" name="照片 4"/>
          <p:cNvPicPr>
            <a:picLocks noChangeAspect="1"/>
          </p:cNvPicPr>
          <p:nvPr/>
        </p:nvPicPr>
        <p:blipFill>
          <a:blip r:embed="rIdPh4"/>
          <a:stretch>
            <a:fillRect/>
          </a:stretch>
        </p:blipFill>
        <p:spPr>
          <a:xfrm>
            <a:off x="9730359" y="1005840"/>
            <a:ext cx="1280160" cy="1280160"/>
          </a:xfrm>
          <a:prstGeom prst="ellipse">
            <a:avLst/>
          </a:prstGeom>
          <a:ln w="12700">
            <a:solidFill>
              <a:srgbClr val="99BDED"/>
            </a:solidFill>
          </a:ln>
        </p:spPr>
      </p:pic>
      <p:sp>
        <p:nvSpPr>
          <p:cNvPr id="317" name="姓名 4"/>
          <p:cNvSpPr txBox="1"/>
          <p:nvPr/>
        </p:nvSpPr>
        <p:spPr>
          <a:xfrm>
            <a:off x="9082278" y="2404872"/>
            <a:ext cx="257632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zh-CN" altLang="en-US" sz="16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兰晓静</a:t>
            </a:r>
          </a:p>
        </p:txBody>
      </p:sp>
      <p:sp>
        <p:nvSpPr>
          <p:cNvPr id="318" name="职位 4"/>
          <p:cNvSpPr txBox="1"/>
          <p:nvPr/>
        </p:nvSpPr>
        <p:spPr>
          <a:xfrm>
            <a:off x="9082278" y="2724912"/>
            <a:ext cx="257632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zh-CN" altLang="en-US" sz="13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COO 首席运营官</a:t>
            </a:r>
          </a:p>
        </p:txBody>
      </p:sp>
      <p:sp>
        <p:nvSpPr>
          <p:cNvPr id="319" name="亮点 4"/>
          <p:cNvSpPr txBox="1"/>
          <p:nvPr/>
        </p:nvSpPr>
        <p:spPr>
          <a:xfrm>
            <a:off x="9082278" y="3017520"/>
            <a:ext cx="257632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zh-CN" altLang="en-US" sz="105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跨境金融风控 × 科创运营</a:t>
            </a:r>
          </a:p>
        </p:txBody>
      </p:sp>
      <p:sp>
        <p:nvSpPr>
          <p:cNvPr id="320" name="经历 4"/>
          <p:cNvSpPr txBox="1"/>
          <p:nvPr/>
        </p:nvSpPr>
        <p:spPr>
          <a:xfrm>
            <a:off x="9155430" y="3456432"/>
            <a:ext cx="2484882" cy="2606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海德堡大学经济学硕士</a:t>
            </a:r>
          </a:p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浙江大学管理学学士；竺可桢学院创业与创新管理强化班</a:t>
            </a:r>
          </a:p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FRM 持证人</a:t>
            </a:r>
          </a:p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多年国际金融机构风控合规与跨境尽调经验</a:t>
            </a:r>
          </a:p>
          <a:p>
            <a:pPr algn="l" marL="190500" indent="-190500">
              <a:lnSpc>
                <a:spcPct val="110000"/>
              </a:lnSpc>
              <a:spcAft>
                <a:spcPts val="45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1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精通跨境财务统筹、合规体系搭建与硬科技项目运营</a:t>
            </a:r>
          </a:p>
        </p:txBody>
      </p:sp>
      <p:sp>
        <p:nvSpPr>
          <p:cNvPr id="101" name="文本框 77"/>
          <p:cNvSpPr>
            <a:spLocks noGrp="1"/>
          </p:cNvSpPr>
          <p:nvPr/>
        </p:nvSpPr>
        <p:spPr>
          <a:xfrm>
            <a:off x="530352" y="6163056"/>
            <a:ext cx="10515600" cy="164592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Source: 团队成员简历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2" name="文本框 78"/>
          <p:cNvSpPr>
            <a:spLocks noGrp="1"/>
          </p:cNvSpPr>
          <p:nvPr/>
        </p:nvSpPr>
        <p:spPr>
          <a:xfrm>
            <a:off x="11201400" y="63817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09 / 09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16" name="品牌页脚"/>
          <p:cNvSpPr txBox="1"/>
          <p:nvPr/>
        </p:nvSpPr>
        <p:spPr>
          <a:xfrm>
            <a:off x="530352" y="63825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Vitonaut 维探 · AIVC 虚拟类器官 · 融资商业计划书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" name="矩形 22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67" name="文本框 229"/>
          <p:cNvSpPr>
            <a:spLocks noGrp="1"/>
          </p:cNvSpPr>
          <p:nvPr/>
        </p:nvSpPr>
        <p:spPr>
          <a:xfrm>
            <a:off x="533400" y="419100"/>
            <a:ext cx="111252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临床痛点：治疗选择缺少及时、患者特异性的功能证据</a:t>
            </a:r>
            <a:endParaRPr sz="24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8" name="矩形 230"/>
          <p:cNvSpPr>
            <a:spLocks noGrp="1"/>
          </p:cNvSpPr>
          <p:nvPr/>
        </p:nvSpPr>
        <p:spPr>
          <a:xfrm>
            <a:off x="533400" y="8953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69" name="任意多边形 231"/>
          <p:cNvSpPr>
            <a:spLocks noGrp="1"/>
          </p:cNvSpPr>
          <p:nvPr/>
        </p:nvSpPr>
        <p:spPr>
          <a:xfrm>
            <a:off x="533400" y="1430655"/>
            <a:ext cx="3543300" cy="1809750"/>
          </a:xfrm>
          <a:custGeom>
            <a:avLst/>
            <a:gdLst/>
            <a:ahLst/>
            <a:cxnLst/>
            <a:pathLst>
              <a:path w="372" h="190">
                <a:moveTo>
                  <a:pt x="0" y="0"/>
                </a:moveTo>
                <a:lnTo>
                  <a:pt x="4" y="0"/>
                </a:lnTo>
                <a:lnTo>
                  <a:pt x="4" y="190"/>
                </a:lnTo>
                <a:lnTo>
                  <a:pt x="0" y="190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70" name="文本框 232"/>
          <p:cNvSpPr>
            <a:spLocks noGrp="1"/>
          </p:cNvSpPr>
          <p:nvPr/>
        </p:nvSpPr>
        <p:spPr>
          <a:xfrm>
            <a:off x="800100" y="1602105"/>
            <a:ext cx="3238500" cy="1009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66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静态</a:t>
            </a:r>
            <a:r>
              <a:rPr sz="30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30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 证据</a:t>
            </a:r>
            <a:endParaRPr sz="3000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1" name="文本框 233"/>
          <p:cNvSpPr>
            <a:spLocks noGrp="1"/>
          </p:cNvSpPr>
          <p:nvPr/>
        </p:nvSpPr>
        <p:spPr>
          <a:xfrm>
            <a:off x="800100" y="2745105"/>
            <a:ext cx="32385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单次检测只是采样那一刻的快照</a:t>
            </a:r>
            <a:endParaRPr sz="1500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2" name="任意多边形 234"/>
          <p:cNvSpPr>
            <a:spLocks noGrp="1"/>
          </p:cNvSpPr>
          <p:nvPr/>
        </p:nvSpPr>
        <p:spPr>
          <a:xfrm>
            <a:off x="4343400" y="1430655"/>
            <a:ext cx="3543300" cy="1809750"/>
          </a:xfrm>
          <a:custGeom>
            <a:avLst/>
            <a:gdLst/>
            <a:ahLst/>
            <a:cxnLst/>
            <a:pathLst>
              <a:path w="372" h="190">
                <a:moveTo>
                  <a:pt x="0" y="0"/>
                </a:moveTo>
                <a:lnTo>
                  <a:pt x="4" y="0"/>
                </a:lnTo>
                <a:lnTo>
                  <a:pt x="4" y="190"/>
                </a:lnTo>
                <a:lnTo>
                  <a:pt x="0" y="190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73" name="文本框 235"/>
          <p:cNvSpPr>
            <a:spLocks noGrp="1"/>
          </p:cNvSpPr>
          <p:nvPr/>
        </p:nvSpPr>
        <p:spPr>
          <a:xfrm>
            <a:off x="4610100" y="1602105"/>
            <a:ext cx="3238500" cy="1009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66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滞后</a:t>
            </a:r>
            <a:r>
              <a:rPr sz="30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30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 反馈</a:t>
            </a:r>
            <a:r>
              <a:rPr sz="30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/>
            </a:r>
            <a:endParaRPr sz="3000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4" name="文本框 236"/>
          <p:cNvSpPr>
            <a:spLocks noGrp="1"/>
          </p:cNvSpPr>
          <p:nvPr/>
        </p:nvSpPr>
        <p:spPr>
          <a:xfrm>
            <a:off x="4610100" y="2745105"/>
            <a:ext cx="32385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治疗失败后才知道耐药已发生</a:t>
            </a:r>
            <a:endParaRPr sz="1500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5" name="任意多边形 237"/>
          <p:cNvSpPr>
            <a:spLocks noGrp="1"/>
          </p:cNvSpPr>
          <p:nvPr/>
        </p:nvSpPr>
        <p:spPr>
          <a:xfrm>
            <a:off x="8153400" y="1430655"/>
            <a:ext cx="3543300" cy="1809750"/>
          </a:xfrm>
          <a:custGeom>
            <a:avLst/>
            <a:gdLst/>
            <a:ahLst/>
            <a:cxnLst/>
            <a:pathLst>
              <a:path w="372" h="190">
                <a:moveTo>
                  <a:pt x="0" y="0"/>
                </a:moveTo>
                <a:lnTo>
                  <a:pt x="4" y="0"/>
                </a:lnTo>
                <a:lnTo>
                  <a:pt x="4" y="190"/>
                </a:lnTo>
                <a:lnTo>
                  <a:pt x="0" y="190"/>
                </a:lnTo>
                <a:close/>
              </a:path>
            </a:pathLst>
          </a:custGeom>
          <a:solidFill>
            <a:srgbClr val="5A0E13"/>
          </a:solidFill>
        </p:spPr>
        <p:txBody>
          <a:bodyPr/>
          <a:lstStyle/>
          <a:p/>
        </p:txBody>
      </p:sp>
      <p:sp>
        <p:nvSpPr>
          <p:cNvPr id="276" name="文本框 238"/>
          <p:cNvSpPr>
            <a:spLocks noGrp="1"/>
          </p:cNvSpPr>
          <p:nvPr/>
        </p:nvSpPr>
        <p:spPr>
          <a:xfrm>
            <a:off x="8420100" y="1440180"/>
            <a:ext cx="3238500" cy="1009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6600" b="1">
                <a:solidFill>
                  <a:srgbClr val="5A0E13"/>
                </a:solidFill>
                <a:latin typeface="微软雅黑"/>
                <a:ea typeface="微软雅黑"/>
                <a:cs typeface="微软雅黑"/>
              </a:rPr>
              <a:t>割裂</a:t>
            </a:r>
            <a:endParaRPr sz="6600" b="1">
              <a:solidFill>
                <a:srgbClr val="5A0E1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7" name="文本框 239"/>
          <p:cNvSpPr>
            <a:spLocks noGrp="1"/>
          </p:cNvSpPr>
          <p:nvPr/>
        </p:nvSpPr>
        <p:spPr>
          <a:xfrm>
            <a:off x="8420100" y="2583180"/>
            <a:ext cx="323850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  <a:buNone/>
            </a:pPr>
            <a:r>
              <a: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药筛止于「敏感性」，未转化为纵向校准的患者预测</a:t>
            </a:r>
            <a:endParaRPr sz="1500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8" name="矩形 250"/>
          <p:cNvSpPr>
            <a:spLocks noGrp="1"/>
          </p:cNvSpPr>
          <p:nvPr/>
        </p:nvSpPr>
        <p:spPr>
          <a:xfrm>
            <a:off x="533400" y="3611880"/>
            <a:ext cx="11125200" cy="2057400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89" name="文本框 251"/>
          <p:cNvSpPr>
            <a:spLocks noGrp="1"/>
          </p:cNvSpPr>
          <p:nvPr/>
        </p:nvSpPr>
        <p:spPr>
          <a:xfrm>
            <a:off x="804672" y="3931920"/>
            <a:ext cx="10588752" cy="27432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sz="1350" b="1" spc="150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方向</a:t>
            </a:r>
            <a:endParaRPr sz="1350" b="1" spc="150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0" name="文本框 252"/>
          <p:cNvSpPr>
            <a:spLocks noGrp="1"/>
          </p:cNvSpPr>
          <p:nvPr/>
        </p:nvSpPr>
        <p:spPr>
          <a:xfrm>
            <a:off x="804672" y="4297680"/>
            <a:ext cx="10588752" cy="1097280"/>
          </a:xfrm>
          <a:prstGeom prst="rect">
            <a:avLst/>
          </a:prstGeom>
        </p:spPr>
        <p:txBody>
          <a:bodyPr anchor="ctr" wrap="square" lIns="0" tIns="0" rIns="0" bIns="0">
            <a:norm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26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动态追踪患者数据，实时预测病程发展，个体定制指导用药</a:t>
            </a:r>
            <a:endParaRPr sz="26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2" name="文本框 254"/>
          <p:cNvSpPr>
            <a:spLocks noGrp="1"/>
          </p:cNvSpPr>
          <p:nvPr/>
        </p:nvSpPr>
        <p:spPr>
          <a:xfrm>
            <a:off x="11201400" y="63817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05 / 09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03" name="品牌页脚"/>
          <p:cNvSpPr txBox="1"/>
          <p:nvPr/>
        </p:nvSpPr>
        <p:spPr>
          <a:xfrm>
            <a:off x="530352" y="63825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Vitonaut 维探 · AIVC 虚拟类器官 · 融资商业计划书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4" name="矩形 25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95" name="文本框 257"/>
          <p:cNvSpPr>
            <a:spLocks noGrp="1"/>
          </p:cNvSpPr>
          <p:nvPr/>
        </p:nvSpPr>
        <p:spPr>
          <a:xfrm>
            <a:off x="533400" y="419100"/>
            <a:ext cx="111252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为什么是现在？类器官分子高保真、能预测治疗响应，已获多项研究证实</a:t>
            </a:r>
            <a:endParaRPr sz="24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6" name="矩形 258"/>
          <p:cNvSpPr>
            <a:spLocks noGrp="1"/>
          </p:cNvSpPr>
          <p:nvPr/>
        </p:nvSpPr>
        <p:spPr>
          <a:xfrm>
            <a:off x="533400" y="8953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97" name="矩形 259"/>
          <p:cNvSpPr>
            <a:spLocks noGrp="1"/>
          </p:cNvSpPr>
          <p:nvPr/>
        </p:nvSpPr>
        <p:spPr>
          <a:xfrm>
            <a:off x="1244346" y="1019175"/>
            <a:ext cx="4000500" cy="430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  <p:txBody>
          <a:bodyPr/>
          <a:lstStyle/>
          <a:p/>
        </p:txBody>
      </p:sp>
      <p:pic>
        <p:nvPicPr>
          <p:cNvPr id="322" name="图片 260"/>
          <p:cNvPicPr>
            <a:picLocks noChangeAspect="1"/>
          </p:cNvPicPr>
          <p:nvPr/>
        </p:nvPicPr>
        <p:blipFill>
          <a:blip r:embed="rId1"/>
          <a:srcRect t="8263" b="8263"/>
          <a:stretch>
            <a:fillRect/>
          </a:stretch>
        </p:blipFill>
        <p:spPr>
          <a:xfrm>
            <a:off x="1301496" y="1076325"/>
            <a:ext cx="3867150" cy="4191000"/>
          </a:xfrm>
          <a:prstGeom prst="rect">
            <a:avLst/>
          </a:prstGeom>
        </p:spPr>
      </p:pic>
      <p:sp>
        <p:nvSpPr>
          <p:cNvPr id="500" name="作者遮罩"/>
          <p:cNvSpPr/>
          <p:nvPr/>
        </p:nvSpPr>
        <p:spPr>
          <a:xfrm>
            <a:off x="3559302" y="1883664"/>
            <a:ext cx="160020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545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600">
                <a:solidFill>
                  <a:srgbClr val="231F20"/>
                </a:solidFill>
                <a:latin typeface="Arial"/>
                <a:cs typeface="Arial"/>
              </a:rPr>
              <a:t>Tianping Peng, ..., </a:t>
            </a:r>
            <a:r>
              <a:rPr lang="en-US" sz="600" b="1">
                <a:solidFill>
                  <a:srgbClr val="0B6FB8"/>
                </a:solidFill>
                <a:latin typeface="Arial"/>
                <a:cs typeface="Arial"/>
              </a:rPr>
              <a:t>Weili Tian</a:t>
            </a:r>
            <a:r>
              <a:rPr lang="en-US" sz="600">
                <a:solidFill>
                  <a:srgbClr val="231F20"/>
                </a:solidFill>
                <a:latin typeface="Arial"/>
                <a:cs typeface="Arial"/>
              </a:rPr>
              <a:t>,</a:t>
            </a:r>
          </a:p>
          <a:p>
            <a:pPr>
              <a:lnSpc>
                <a:spcPct val="100000"/>
              </a:lnSpc>
              <a:buNone/>
            </a:pPr>
            <a:r>
              <a:rPr lang="en-US" sz="600">
                <a:solidFill>
                  <a:srgbClr val="231F20"/>
                </a:solidFill>
                <a:latin typeface="Arial"/>
                <a:cs typeface="Arial"/>
              </a:rPr>
              <a:t>..., </a:t>
            </a:r>
            <a:r>
              <a:rPr lang="en-US" sz="600" b="1">
                <a:solidFill>
                  <a:srgbClr val="0B6FB8"/>
                </a:solidFill>
                <a:latin typeface="Arial"/>
                <a:cs typeface="Arial"/>
              </a:rPr>
              <a:t>Yue Zhuo</a:t>
            </a:r>
            <a:r>
              <a:rPr lang="en-US" sz="600">
                <a:solidFill>
                  <a:srgbClr val="231F20"/>
                </a:solidFill>
                <a:latin typeface="Arial"/>
                <a:cs typeface="Arial"/>
              </a:rPr>
              <a:t>, ...</a:t>
            </a:r>
          </a:p>
        </p:txBody>
      </p:sp>
      <p:sp>
        <p:nvSpPr>
          <p:cNvPr id="401" name="证据1说明"/>
          <p:cNvSpPr txBox="1"/>
          <p:nvPr/>
        </p:nvSpPr>
        <p:spPr>
          <a:xfrm>
            <a:off x="530352" y="5440680"/>
            <a:ext cx="542696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zh-CN" altLang="en-US" sz="11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证据 1｜能预测｜Peng et al., </a:t>
            </a:r>
            <a:r>
              <a:rPr lang="zh-CN" altLang="en-US" sz="1100" b="1" i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Cell Stem Cell</a:t>
            </a:r>
            <a:r>
              <a:rPr lang="zh-CN" altLang="en-US" sz="11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 2025</a:t>
            </a:r>
          </a:p>
          <a:p>
            <a:pPr algn="l">
              <a:lnSpc>
                <a:spcPct val="115000"/>
              </a:lnSpc>
              <a:buNone/>
            </a:pPr>
            <a:r>
              <a:rPr lang="zh-CN" altLang="en-US" sz="10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IPTO 保留肿瘤生态，前瞻性预测患者治疗响应（PFS / OS，p = 0.034 / 0.033）；本团队成员为共同作者</a:t>
            </a:r>
          </a:p>
        </p:txBody>
      </p:sp>
      <p:sp>
        <p:nvSpPr>
          <p:cNvPr id="402" name="证据2边框"/>
          <p:cNvSpPr txBox="1"/>
          <p:nvPr/>
        </p:nvSpPr>
        <p:spPr>
          <a:xfrm>
            <a:off x="6231636" y="1014984"/>
            <a:ext cx="5426964" cy="43068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/>
        </p:txBody>
      </p:sp>
      <p:pic>
        <p:nvPicPr>
          <p:cNvPr id="403" name="证据2图片" descr="Nature 2026 HCMI 论文标题与作者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9117" y="1115568"/>
            <a:ext cx="4572000" cy="2275216"/>
          </a:xfrm>
          <a:prstGeom prst="rect">
            <a:avLst/>
          </a:prstGeom>
        </p:spPr>
      </p:pic>
      <p:sp>
        <p:nvSpPr>
          <p:cNvPr id="404" name="证据2数字1"/>
          <p:cNvSpPr txBox="1"/>
          <p:nvPr/>
        </p:nvSpPr>
        <p:spPr>
          <a:xfrm>
            <a:off x="6231636" y="3520440"/>
            <a:ext cx="180898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zh-CN" altLang="en-US" sz="26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665</a:t>
            </a:r>
          </a:p>
        </p:txBody>
      </p:sp>
      <p:sp>
        <p:nvSpPr>
          <p:cNvPr id="405" name="证据2标签1"/>
          <p:cNvSpPr txBox="1"/>
          <p:nvPr/>
        </p:nvSpPr>
        <p:spPr>
          <a:xfrm>
            <a:off x="6231636" y="4041648"/>
            <a:ext cx="18089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zh-CN" altLang="en-US" sz="10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个患者来源模型</a:t>
            </a:r>
          </a:p>
        </p:txBody>
      </p:sp>
      <p:sp>
        <p:nvSpPr>
          <p:cNvPr id="406" name="证据2数字2"/>
          <p:cNvSpPr txBox="1"/>
          <p:nvPr/>
        </p:nvSpPr>
        <p:spPr>
          <a:xfrm>
            <a:off x="8040624" y="3520440"/>
            <a:ext cx="180898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zh-CN" altLang="en-US" sz="26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407" name="证据2标签2"/>
          <p:cNvSpPr txBox="1"/>
          <p:nvPr/>
        </p:nvSpPr>
        <p:spPr>
          <a:xfrm>
            <a:off x="8040624" y="4041648"/>
            <a:ext cx="18089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zh-CN" altLang="en-US" sz="10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种癌症</a:t>
            </a:r>
          </a:p>
        </p:txBody>
      </p:sp>
      <p:sp>
        <p:nvSpPr>
          <p:cNvPr id="408" name="证据2数字3"/>
          <p:cNvSpPr txBox="1"/>
          <p:nvPr/>
        </p:nvSpPr>
        <p:spPr>
          <a:xfrm>
            <a:off x="9849612" y="3520440"/>
            <a:ext cx="180898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zh-CN" altLang="en-US" sz="26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97.8%</a:t>
            </a:r>
          </a:p>
        </p:txBody>
      </p:sp>
      <p:sp>
        <p:nvSpPr>
          <p:cNvPr id="409" name="证据2标签3"/>
          <p:cNvSpPr txBox="1"/>
          <p:nvPr/>
        </p:nvSpPr>
        <p:spPr>
          <a:xfrm>
            <a:off x="9849612" y="4041648"/>
            <a:ext cx="18089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zh-CN" altLang="en-US" sz="10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模型保留关键 DNA 特征</a:t>
            </a:r>
          </a:p>
        </p:txBody>
      </p:sp>
      <p:sp>
        <p:nvSpPr>
          <p:cNvPr id="410" name="证据2补充"/>
          <p:cNvSpPr txBox="1"/>
          <p:nvPr/>
        </p:nvSpPr>
        <p:spPr>
          <a:xfrm>
            <a:off x="6505955" y="4434840"/>
            <a:ext cx="4878324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zh-CN" altLang="en-US" sz="10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421 对「肿瘤–模型」配对：95% 配对样本甲基化一致，92% 模型转录组吻合；覆盖结直肠、胰腺、食管及罕见癌种</a:t>
            </a:r>
          </a:p>
        </p:txBody>
      </p:sp>
      <p:sp>
        <p:nvSpPr>
          <p:cNvPr id="411" name="证据2说明"/>
          <p:cNvSpPr txBox="1"/>
          <p:nvPr/>
        </p:nvSpPr>
        <p:spPr>
          <a:xfrm>
            <a:off x="6231636" y="5440680"/>
            <a:ext cx="542696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zh-CN" altLang="en-US" sz="11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证据 2｜分子高保真｜ElHarouni et al., </a:t>
            </a:r>
            <a:r>
              <a:rPr lang="zh-CN" altLang="en-US" sz="1100" b="1" i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Nature</a:t>
            </a:r>
            <a:r>
              <a:rPr lang="zh-CN" altLang="en-US" sz="11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 2026</a:t>
            </a:r>
          </a:p>
          <a:p>
            <a:pPr algn="l">
              <a:lnSpc>
                <a:spcPct val="115000"/>
              </a:lnSpc>
              <a:buNone/>
            </a:pPr>
            <a:r>
              <a:rPr lang="zh-CN" altLang="en-US" sz="10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人类癌症模型计划（HCMI），Broad 研究所 / 美国国家癌症研究所独立团队；患者来源模型长期传代后仍保留原发肿瘤的分子特征</a:t>
            </a:r>
          </a:p>
        </p:txBody>
      </p:sp>
      <p:sp>
        <p:nvSpPr>
          <p:cNvPr id="315" name="文本框 277"/>
          <p:cNvSpPr>
            <a:spLocks noGrp="1"/>
          </p:cNvSpPr>
          <p:nvPr/>
        </p:nvSpPr>
        <p:spPr>
          <a:xfrm>
            <a:off x="530352" y="6163056"/>
            <a:ext cx="10515600" cy="164592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图片与数据来源：Peng T. et al., Cell Stem Cell 32, 652–669 (2025)；ElHarouni D. et al., Nature (2026), doi:10.1038/s41586-026-10806-y（开放获取）</a:t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6" name="文本框 278"/>
          <p:cNvSpPr>
            <a:spLocks noGrp="1"/>
          </p:cNvSpPr>
          <p:nvPr/>
        </p:nvSpPr>
        <p:spPr>
          <a:xfrm>
            <a:off x="11201400" y="63817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07 / 09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15" name="品牌页脚"/>
          <p:cNvSpPr txBox="1"/>
          <p:nvPr/>
        </p:nvSpPr>
        <p:spPr>
          <a:xfrm>
            <a:off x="530352" y="63825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Vitonaut 维探 · AIVC 虚拟类器官 · 融资商业计划书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7375</Words>
  <Application>WPS Office WWO_wpscloud_20260902094840-997daf6cd0</Application>
  <PresentationFormat>Converted Presentation</PresentationFormat>
  <Paragraphs>640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汉仪旗黑KW 55S</vt:lpstr>
      <vt:lpstr>Calibri</vt:lpstr>
      <vt:lpstr>微软雅黑</vt:lpstr>
      <vt:lpstr>Calibri</vt:lpstr>
      <vt:lpstr>微软雅黑</vt:lpstr>
      <vt:lpstr>汉仪书宋二KW</vt:lpstr>
      <vt:lpstr>Kingsoft Confetti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dcterms:created xsi:type="dcterms:W3CDTF">2026-09-14T21:32:23Z</dcterms:created>
  <dcterms:modified xsi:type="dcterms:W3CDTF">2026-09-14T21:32:23Z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21C91B9422BFD48899299F6A1ACD7A80_42</vt:lpwstr>
  </property>
  <property fmtid="{D5CDD505-2E9C-101B-9397-08002B2CF9AE}" pid="3" name="KSOProductBuildVer">
    <vt:lpwstr>2052-12.9.0.28579</vt:lpwstr>
  </property>
</Properties>
</file>