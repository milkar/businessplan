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5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5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62" r:id="rId10"/>
    <p:sldId id="260" r:id="rId8"/>
  </p:sldIdLst>
  <p:sldSz cx="12192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1" d="1"/>
          <a:sy n="1" d="1"/>
        </p:scale>
        <p:origin x="0" y="0"/>
      </p:cViewPr>
      <p:guideLst/>
    </p:cSldViewPr>
  </p:slideViewPr>
  <p:gridSpacing cx="76200" cy="76200"/>
</p:viewPr>
</file>

<file path=ppt/_rels/presentation.xml.rels><?xml version="1.0" encoding="utf-8"?><Relationships xmlns="http://schemas.openxmlformats.org/package/2006/relationships"><Relationship Id="rId8" Type="http://schemas.openxmlformats.org/officeDocument/2006/relationships/slide" Target="slides/slide5.xml"/><Relationship Id="rId4" Type="http://schemas.openxmlformats.org/officeDocument/2006/relationships/notesMaster" Target="notesMasters/notesMaster1.xml"/><Relationship Id="rId24" Type="http://schemas.openxmlformats.org/officeDocument/2006/relationships/tableStyles" Target="tableStyles.xml"/><Relationship Id="rId23" Type="http://schemas.openxmlformats.org/officeDocument/2006/relationships/viewProps" Target="viewProps.xml"/><Relationship Id="rId22" Type="http://schemas.openxmlformats.org/officeDocument/2006/relationships/presProps" Target="presProps.xml"/><Relationship Id="rId2" Type="http://schemas.openxmlformats.org/officeDocument/2006/relationships/theme" Target="theme/theme1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Header Placeholder"/>
          <p:cNvSpPr/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342900" indent="-342900" algn="l" defTabSz="914400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marL="742950" indent="-285750" algn="l" defTabSz="914400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 defTabSz="914400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 defTabSz="914400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 defTabSz="914400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 defTabSz="914400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 defTabSz="914400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 defTabSz="914400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 defTabSz="914400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94" name="矩形 256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</p:spPr>
        <p:txBody>
          <a:bodyPr/>
          <a:lstStyle/>
          <a:p/>
        </p:txBody>
      </p:sp>
      <p:sp>
        <p:nvSpPr>
          <p:cNvPr id="295" name="文本框 257"/>
          <p:cNvSpPr>
            <a:spLocks noGrp="1"/>
          </p:cNvSpPr>
          <p:nvPr/>
        </p:nvSpPr>
        <p:spPr>
          <a:xfrm>
            <a:off x="533400" y="419100"/>
            <a:ext cx="11125200" cy="3810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  <a:buNone/>
            </a:pPr>
            <a:r>
              <a:rPr sz="2475" b="1">
                <a:solidFill>
                  <a:srgbClr val="061F32"/>
                </a:solidFill>
                <a:latin typeface="微软雅黑"/>
                <a:ea typeface="微软雅黑"/>
                <a:cs typeface="微软雅黑"/>
              </a:rPr>
              <a:t>为什么是现在：类器官预测患者治疗响应，已获独立研究证实</a:t>
            </a:r>
            <a:endParaRPr sz="2475" b="1">
              <a:solidFill>
                <a:srgbClr val="061F3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96" name="矩形 258"/>
          <p:cNvSpPr>
            <a:spLocks noGrp="1"/>
          </p:cNvSpPr>
          <p:nvPr/>
        </p:nvSpPr>
        <p:spPr>
          <a:xfrm>
            <a:off x="533400" y="895350"/>
            <a:ext cx="11125200" cy="9525"/>
          </a:xfrm>
          <a:prstGeom prst="rect">
            <a:avLst/>
          </a:prstGeom>
          <a:solidFill>
            <a:srgbClr val="061F32"/>
          </a:solidFill>
        </p:spPr>
        <p:txBody>
          <a:bodyPr/>
          <a:lstStyle/>
          <a:p/>
        </p:txBody>
      </p:sp>
      <p:sp>
        <p:nvSpPr>
          <p:cNvPr id="297" name="矩形 259"/>
          <p:cNvSpPr>
            <a:spLocks noGrp="1"/>
          </p:cNvSpPr>
          <p:nvPr/>
        </p:nvSpPr>
        <p:spPr>
          <a:xfrm>
            <a:off x="533400" y="1019175"/>
            <a:ext cx="4000500" cy="4305300"/>
          </a:xfrm>
          <a:prstGeom prst="rect">
            <a:avLst/>
          </a:prstGeom>
          <a:solidFill>
            <a:srgbClr val="FFFFFF"/>
          </a:solidFill>
          <a:ln w="12700">
            <a:solidFill>
              <a:srgbClr val="E7E6E6"/>
            </a:solidFill>
            <a:prstDash val="solid"/>
          </a:ln>
        </p:spPr>
        <p:txBody>
          <a:bodyPr/>
          <a:lstStyle/>
          <a:p/>
        </p:txBody>
      </p:sp>
      <p:pic>
        <p:nvPicPr>
          <p:cNvPr id="322" name="图片 260"/>
          <p:cNvPicPr>
            <a:picLocks noChangeAspect="1"/>
          </p:cNvPicPr>
          <p:nvPr/>
        </p:nvPicPr>
        <p:blipFill>
          <a:blip r:embed="rId1"/>
          <a:srcRect t="8263" b="8263"/>
          <a:stretch>
            <a:fillRect/>
          </a:stretch>
        </p:blipFill>
        <p:spPr>
          <a:xfrm>
            <a:off x="590550" y="1076325"/>
            <a:ext cx="3867150" cy="4191000"/>
          </a:xfrm>
          <a:prstGeom prst="rect">
            <a:avLst/>
          </a:prstGeom>
        </p:spPr>
      </p:pic>
      <p:sp>
        <p:nvSpPr>
          <p:cNvPr id="401" name="证据1说明"/>
          <p:cNvSpPr txBox="1"/>
          <p:nvPr/>
        </p:nvSpPr>
        <p:spPr>
          <a:xfrm>
            <a:off x="530352" y="5422392"/>
            <a:ext cx="4005072" cy="8686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  <a:buNone/>
            </a:pPr>
            <a:r>
              <a:rPr lang="zh-CN" altLang="en-US" sz="1100" b="1">
                <a:solidFill>
                  <a:srgbClr val="061F32"/>
                </a:solidFill>
                <a:latin typeface="微软雅黑"/>
                <a:ea typeface="微软雅黑"/>
                <a:cs typeface="微软雅黑"/>
              </a:rPr>
              <a:t>证据 1｜Peng et al., </a:t>
            </a:r>
            <a:r>
              <a:rPr lang="zh-CN" altLang="en-US" sz="1100" b="1" i="1">
                <a:solidFill>
                  <a:srgbClr val="061F32"/>
                </a:solidFill>
                <a:latin typeface="微软雅黑"/>
                <a:ea typeface="微软雅黑"/>
                <a:cs typeface="微软雅黑"/>
              </a:rPr>
              <a:t>Cell Stem Cell</a:t>
            </a:r>
            <a:r>
              <a:rPr lang="zh-CN" altLang="en-US" sz="1100" b="1">
                <a:solidFill>
                  <a:srgbClr val="061F32"/>
                </a:solidFill>
                <a:latin typeface="微软雅黑"/>
                <a:ea typeface="微软雅黑"/>
                <a:cs typeface="微软雅黑"/>
              </a:rPr>
              <a:t> 2025</a:t>
            </a:r>
          </a:p>
          <a:p>
            <a:pPr algn="l">
              <a:lnSpc>
                <a:spcPct val="120000"/>
              </a:lnSpc>
              <a:buNone/>
            </a:pPr>
            <a:r>
              <a:rPr lang="zh-CN" altLang="en-US" sz="1000">
                <a:solidFill>
                  <a:srgbClr val="44546A"/>
                </a:solidFill>
                <a:latin typeface="微软雅黑"/>
                <a:ea typeface="微软雅黑"/>
                <a:cs typeface="微软雅黑"/>
              </a:rPr>
              <a:t>IPTO 保留肿瘤生态，前瞻性预测患者治疗响应（PFS / OS，p = 0.034 / 0.033）；本团队成员为共同作者</a:t>
            </a:r>
          </a:p>
        </p:txBody>
      </p:sp>
      <p:sp>
        <p:nvSpPr>
          <p:cNvPr id="402" name="证据2图片占位"/>
          <p:cNvSpPr txBox="1"/>
          <p:nvPr/>
        </p:nvSpPr>
        <p:spPr>
          <a:xfrm>
            <a:off x="4754880" y="1014984"/>
            <a:ext cx="4005072" cy="4306824"/>
          </a:xfrm>
          <a:prstGeom prst="rect">
            <a:avLst/>
          </a:prstGeom>
          <a:solidFill>
            <a:srgbClr val="F2F5F9"/>
          </a:solidFill>
          <a:ln w="9525">
            <a:solidFill>
              <a:srgbClr val="99BDED"/>
            </a:solidFill>
            <a:prstDash val="dash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20000"/>
              </a:lnSpc>
              <a:spcAft>
                <a:spcPts val="300"/>
              </a:spcAft>
              <a:buNone/>
            </a:pPr>
            <a:r>
              <a:rPr lang="zh-CN" altLang="en-US" sz="1400" b="1">
                <a:solidFill>
                  <a:srgbClr val="8496B0"/>
                </a:solidFill>
                <a:latin typeface="微软雅黑"/>
                <a:ea typeface="微软雅黑"/>
                <a:cs typeface="微软雅黑"/>
              </a:rPr>
              <a:t>证据 2 配图</a:t>
            </a:r>
          </a:p>
          <a:p>
            <a:pPr algn="ctr">
              <a:lnSpc>
                <a:spcPct val="120000"/>
              </a:lnSpc>
              <a:buNone/>
            </a:pPr>
            <a:r>
              <a:rPr lang="zh-CN" altLang="en-US" sz="1100">
                <a:solidFill>
                  <a:srgbClr val="8496B0"/>
                </a:solidFill>
                <a:latin typeface="微软雅黑"/>
                <a:ea typeface="微软雅黑"/>
                <a:cs typeface="微软雅黑"/>
              </a:rPr>
              <a:t>待放入微信文章中论文的关键图</a:t>
            </a:r>
          </a:p>
        </p:txBody>
      </p:sp>
      <p:sp>
        <p:nvSpPr>
          <p:cNvPr id="403" name="证据2说明"/>
          <p:cNvSpPr txBox="1"/>
          <p:nvPr/>
        </p:nvSpPr>
        <p:spPr>
          <a:xfrm>
            <a:off x="4754880" y="5422392"/>
            <a:ext cx="4005072" cy="8686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  <a:buNone/>
            </a:pPr>
            <a:r>
              <a:rPr lang="zh-CN" altLang="en-US" sz="1100" b="1">
                <a:solidFill>
                  <a:srgbClr val="061F32"/>
                </a:solidFill>
                <a:latin typeface="微软雅黑"/>
                <a:ea typeface="微软雅黑"/>
                <a:cs typeface="微软雅黑"/>
              </a:rPr>
              <a:t>证据 2｜（论文作者、期刊、年份待补充）</a:t>
            </a:r>
          </a:p>
          <a:p>
            <a:pPr algn="l">
              <a:lnSpc>
                <a:spcPct val="120000"/>
              </a:lnSpc>
              <a:buNone/>
            </a:pPr>
            <a:r>
              <a:rPr lang="zh-CN" altLang="en-US" sz="1000">
                <a:solidFill>
                  <a:srgbClr val="44546A"/>
                </a:solidFill>
                <a:latin typeface="微软雅黑"/>
                <a:ea typeface="微软雅黑"/>
                <a:cs typeface="微软雅黑"/>
              </a:rPr>
              <a:t>（一句话结论待补充：该研究在哪个瘤种、用什么方法证明类器官 / AI 可预测患者治疗响应）</a:t>
            </a:r>
          </a:p>
        </p:txBody>
      </p:sp>
      <p:sp>
        <p:nvSpPr>
          <p:cNvPr id="404" name="结论面板"/>
          <p:cNvSpPr txBox="1"/>
          <p:nvPr/>
        </p:nvSpPr>
        <p:spPr>
          <a:xfrm>
            <a:off x="9006840" y="1014984"/>
            <a:ext cx="2651760" cy="5230368"/>
          </a:xfrm>
          <a:prstGeom prst="rect">
            <a:avLst/>
          </a:prstGeom>
          <a:solidFill>
            <a:srgbClr val="061F32"/>
          </a:solidFill>
        </p:spPr>
        <p:txBody>
          <a:bodyPr wrap="square" lIns="201168" tIns="201168" rIns="201168" bIns="201168" anchor="t">
            <a:noAutofit/>
          </a:bodyPr>
          <a:lstStyle/>
          <a:p>
            <a:pPr algn="l">
              <a:lnSpc>
                <a:spcPct val="120000"/>
              </a:lnSpc>
              <a:spcAft>
                <a:spcPts val="900"/>
              </a:spcAft>
              <a:buNone/>
            </a:pPr>
            <a:r>
              <a:rPr lang="zh-CN" altLang="en-US" sz="1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时机已到</a:t>
            </a:r>
          </a:p>
          <a:p>
            <a:pPr algn="l" marL="171450" indent="-171450">
              <a:lnSpc>
                <a:spcPct val="120000"/>
              </a:lnSpc>
              <a:spcAft>
                <a:spcPts val="900"/>
              </a:spcAft>
              <a:buClr>
                <a:srgbClr val="08A6F6"/>
              </a:buClr>
              <a:buFont typeface="Arial"/>
              <a:buChar char="•"/>
            </a:pPr>
            <a:r>
              <a:rPr lang="zh-CN" altLang="en-US" sz="1200" b="1">
                <a:solidFill>
                  <a:srgbClr val="08A6F6"/>
                </a:solidFill>
                <a:latin typeface="微软雅黑"/>
                <a:ea typeface="微软雅黑"/>
                <a:cs typeface="微软雅黑"/>
              </a:rPr>
              <a:t>不止我们：</a:t>
            </a:r>
            <a:r>
              <a:rPr lang="zh-CN" altLang="en-US" sz="120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独立研究团队已在肿瘤治疗领域证明，患者来源类器官可在临床场景中预测治疗响应</a:t>
            </a:r>
          </a:p>
          <a:p>
            <a:pPr algn="l" marL="171450" indent="-171450">
              <a:lnSpc>
                <a:spcPct val="120000"/>
              </a:lnSpc>
              <a:spcAft>
                <a:spcPts val="900"/>
              </a:spcAft>
              <a:buClr>
                <a:srgbClr val="08A6F6"/>
              </a:buClr>
              <a:buFont typeface="Arial"/>
              <a:buChar char="•"/>
            </a:pPr>
            <a:r>
              <a:rPr lang="zh-CN" altLang="en-US" sz="1200" b="1">
                <a:solidFill>
                  <a:srgbClr val="08A6F6"/>
                </a:solidFill>
                <a:latin typeface="微软雅黑"/>
                <a:ea typeface="微软雅黑"/>
                <a:cs typeface="微软雅黑"/>
              </a:rPr>
              <a:t>从「能不能」到「怎么规模化」：</a:t>
            </a:r>
            <a:r>
              <a:rPr lang="zh-CN" altLang="en-US" sz="120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科学可行性已被验证，下一步是纵向校准与标准化交付</a:t>
            </a:r>
          </a:p>
          <a:p>
            <a:pPr algn="l">
              <a:lnSpc>
                <a:spcPct val="120000"/>
              </a:lnSpc>
              <a:buNone/>
            </a:pPr>
            <a:r>
              <a:rPr lang="zh-CN" altLang="en-US" sz="1200" b="1">
                <a:solidFill>
                  <a:srgbClr val="99BDED"/>
                </a:solidFill>
                <a:latin typeface="微软雅黑"/>
                <a:ea typeface="微软雅黑"/>
                <a:cs typeface="微软雅黑"/>
              </a:rPr>
              <a:t>→ 第二部分：我们如何补上这一步</a:t>
            </a:r>
          </a:p>
        </p:txBody>
      </p:sp>
      <p:sp>
        <p:nvSpPr>
          <p:cNvPr id="315" name="文本框 277"/>
          <p:cNvSpPr>
            <a:spLocks noGrp="1"/>
          </p:cNvSpPr>
          <p:nvPr/>
        </p:nvSpPr>
        <p:spPr>
          <a:xfrm>
            <a:off x="533400" y="6381750"/>
            <a:ext cx="4886325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  <a:buNone/>
            </a:pPr>
            <a:r>
              <a:rPr sz="1050">
                <a:solidFill>
                  <a:srgbClr val="808080"/>
                </a:solidFill>
                <a:latin typeface="微软雅黑"/>
                <a:ea typeface="微软雅黑"/>
                <a:cs typeface="微软雅黑"/>
              </a:rPr>
              <a:t>Source: Peng et al., Cell Stem Cell 32, 652–669 (2025)；证据 2 出处待补充</a:t>
            </a:r>
            <a:r>
              <a:rPr sz="1050">
                <a:solidFill>
                  <a:srgbClr val="808080"/>
                </a:solidFill>
                <a:latin typeface="微软雅黑"/>
                <a:ea typeface="微软雅黑"/>
                <a:cs typeface="微软雅黑"/>
              </a:rPr>
              <a:t/>
            </a:r>
            <a:r>
              <a:rPr sz="1050">
                <a:solidFill>
                  <a:srgbClr val="808080"/>
                </a:solidFill>
                <a:latin typeface="微软雅黑"/>
                <a:ea typeface="微软雅黑"/>
                <a:cs typeface="微软雅黑"/>
              </a:rPr>
              <a:t/>
            </a:r>
            <a:r>
              <a:rPr sz="1050">
                <a:solidFill>
                  <a:srgbClr val="808080"/>
                </a:solidFill>
                <a:latin typeface="微软雅黑"/>
                <a:ea typeface="微软雅黑"/>
                <a:cs typeface="微软雅黑"/>
              </a:rPr>
              <a:t/>
            </a:r>
            <a:r>
              <a:rPr sz="1050">
                <a:solidFill>
                  <a:srgbClr val="808080"/>
                </a:solidFill>
                <a:latin typeface="微软雅黑"/>
                <a:ea typeface="微软雅黑"/>
                <a:cs typeface="微软雅黑"/>
              </a:rPr>
              <a:t/>
            </a:r>
            <a:endParaRPr sz="1050">
              <a:solidFill>
                <a:srgbClr val="80808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16" name="文本框 278"/>
          <p:cNvSpPr>
            <a:spLocks noGrp="1"/>
          </p:cNvSpPr>
          <p:nvPr/>
        </p:nvSpPr>
        <p:spPr>
          <a:xfrm>
            <a:off x="11201400" y="6381750"/>
            <a:ext cx="457200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  <a:buNone/>
            </a:pPr>
            <a:r>
              <a:rPr sz="1050">
                <a:solidFill>
                  <a:srgbClr val="808080"/>
                </a:solidFill>
                <a:latin typeface="微软雅黑"/>
                <a:ea typeface="微软雅黑"/>
                <a:cs typeface="微软雅黑"/>
              </a:rPr>
              <a:t>07 / 09</a:t>
            </a:r>
            <a:endParaRPr sz="1050">
              <a:solidFill>
                <a:srgbClr val="808080"/>
              </a:solidFill>
              <a:latin typeface="微软雅黑"/>
              <a:ea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46" name="矩形 280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</p:spPr>
        <p:txBody>
          <a:bodyPr/>
          <a:lstStyle/>
          <a:p/>
        </p:txBody>
      </p:sp>
      <p:sp>
        <p:nvSpPr>
          <p:cNvPr id="347" name="文本框 281"/>
          <p:cNvSpPr>
            <a:spLocks noGrp="1"/>
          </p:cNvSpPr>
          <p:nvPr/>
        </p:nvSpPr>
        <p:spPr>
          <a:xfrm>
            <a:off x="533400" y="419100"/>
            <a:ext cx="11125200" cy="3810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  <a:buNone/>
            </a:pPr>
            <a:r>
              <a:rPr sz="2475" b="1">
                <a:solidFill>
                  <a:srgbClr val="061F32"/>
                </a:solidFill>
                <a:latin typeface="微软雅黑"/>
                <a:ea typeface="微软雅黑"/>
                <a:cs typeface="微软雅黑"/>
              </a:rPr>
              <a:t>为什么是现在：四项技术条件同步成熟</a:t>
            </a:r>
            <a:r>
              <a:rPr lang="zh-CN" altLang="en-US" sz="2475" b="1">
                <a:solidFill>
                  <a:srgbClr val="061F32"/>
                </a:solidFill>
                <a:latin typeface="微软雅黑"/>
                <a:ea typeface="微软雅黑"/>
                <a:cs typeface="Arial" panose="020B0604020202020204" pitchFamily="34" charset="0"/>
              </a:rPr>
              <a:t/>
            </a:r>
            <a:r>
              <a:rPr sz="2475" b="1">
                <a:solidFill>
                  <a:srgbClr val="061F32"/>
                </a:solidFill>
                <a:latin typeface="微软雅黑"/>
                <a:ea typeface="微软雅黑"/>
                <a:cs typeface="微软雅黑"/>
              </a:rPr>
              <a:t/>
            </a:r>
            <a:r>
              <a:rPr lang="zh-CN" altLang="en-US" sz="2475" b="1">
                <a:solidFill>
                  <a:srgbClr val="061F32"/>
                </a:solidFill>
                <a:latin typeface="微软雅黑"/>
                <a:ea typeface="微软雅黑"/>
                <a:cs typeface="微软雅黑"/>
              </a:rPr>
              <a:t/>
            </a:r>
            <a:r>
              <a:rPr sz="2475" b="1">
                <a:solidFill>
                  <a:srgbClr val="061F32"/>
                </a:solidFill>
                <a:latin typeface="微软雅黑"/>
                <a:ea typeface="微软雅黑"/>
                <a:cs typeface="微软雅黑"/>
              </a:rPr>
              <a:t/>
            </a:r>
            <a:r>
              <a:rPr lang="zh-CN" altLang="en-US" sz="2475" b="1">
                <a:solidFill>
                  <a:srgbClr val="061F32"/>
                </a:solidFill>
                <a:latin typeface="微软雅黑"/>
                <a:ea typeface="微软雅黑"/>
                <a:cs typeface="微软雅黑"/>
              </a:rPr>
              <a:t/>
            </a:r>
            <a:r>
              <a:rPr sz="2475" b="1">
                <a:solidFill>
                  <a:srgbClr val="061F32"/>
                </a:solidFill>
                <a:latin typeface="微软雅黑"/>
                <a:ea typeface="微软雅黑"/>
                <a:cs typeface="微软雅黑"/>
              </a:rPr>
              <a:t/>
            </a:r>
            <a:r>
              <a:rPr lang="zh-CN" altLang="en-US" sz="2475" b="1">
                <a:solidFill>
                  <a:srgbClr val="061F32"/>
                </a:solidFill>
                <a:latin typeface="微软雅黑"/>
                <a:ea typeface="微软雅黑"/>
                <a:cs typeface="微软雅黑"/>
              </a:rPr>
              <a:t/>
            </a:r>
            <a:r>
              <a:rPr sz="2475" b="1">
                <a:solidFill>
                  <a:srgbClr val="061F32"/>
                </a:solidFill>
                <a:latin typeface="微软雅黑"/>
                <a:ea typeface="微软雅黑"/>
                <a:cs typeface="微软雅黑"/>
              </a:rPr>
              <a:t/>
            </a:r>
            <a:r>
              <a:rPr lang="zh-CN" altLang="en-US" sz="2475" b="1">
                <a:solidFill>
                  <a:srgbClr val="061F32"/>
                </a:solidFill>
                <a:latin typeface="微软雅黑"/>
                <a:ea typeface="微软雅黑"/>
                <a:cs typeface="微软雅黑"/>
              </a:rPr>
              <a:t/>
            </a:r>
            <a:r>
              <a:rPr sz="2475" b="1">
                <a:solidFill>
                  <a:srgbClr val="061F32"/>
                </a:solidFill>
                <a:latin typeface="微软雅黑"/>
                <a:ea typeface="微软雅黑"/>
                <a:cs typeface="微软雅黑"/>
              </a:rPr>
              <a:t/>
            </a:r>
            <a:r>
              <a:rPr lang="zh-CN" altLang="en-US" sz="2475" b="1">
                <a:solidFill>
                  <a:srgbClr val="061F32"/>
                </a:solidFill>
                <a:latin typeface="微软雅黑"/>
                <a:ea typeface="微软雅黑"/>
                <a:cs typeface="微软雅黑"/>
              </a:rPr>
              <a:t/>
            </a:r>
            <a:r>
              <a:rPr sz="2475" b="1">
                <a:solidFill>
                  <a:srgbClr val="061F32"/>
                </a:solidFill>
                <a:latin typeface="微软雅黑"/>
                <a:ea typeface="微软雅黑"/>
                <a:cs typeface="微软雅黑"/>
              </a:rPr>
              <a:t/>
            </a:r>
            <a:r>
              <a:rPr lang="zh-CN" altLang="en-US" sz="2475" b="1">
                <a:solidFill>
                  <a:srgbClr val="061F32"/>
                </a:solidFill>
                <a:latin typeface="微软雅黑"/>
                <a:ea typeface="微软雅黑"/>
                <a:cs typeface="微软雅黑"/>
              </a:rPr>
              <a:t/>
            </a:r>
            <a:endParaRPr sz="2475" b="1">
              <a:solidFill>
                <a:srgbClr val="061F3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48" name="矩形 282"/>
          <p:cNvSpPr>
            <a:spLocks noGrp="1"/>
          </p:cNvSpPr>
          <p:nvPr/>
        </p:nvSpPr>
        <p:spPr>
          <a:xfrm>
            <a:off x="533400" y="895350"/>
            <a:ext cx="11125200" cy="9525"/>
          </a:xfrm>
          <a:prstGeom prst="rect">
            <a:avLst/>
          </a:prstGeom>
          <a:solidFill>
            <a:srgbClr val="061F32"/>
          </a:solidFill>
        </p:spPr>
        <p:txBody>
          <a:bodyPr/>
          <a:lstStyle/>
          <a:p/>
        </p:txBody>
      </p:sp>
      <p:sp>
        <p:nvSpPr>
          <p:cNvPr id="349" name="文本框 283"/>
          <p:cNvSpPr>
            <a:spLocks noGrp="1"/>
          </p:cNvSpPr>
          <p:nvPr/>
        </p:nvSpPr>
        <p:spPr>
          <a:xfrm>
            <a:off x="533400" y="981075"/>
            <a:ext cx="6572250" cy="2286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  <a:buNone/>
            </a:pPr>
            <a:r>
              <a:rPr lang="zh-CN" altLang="en-US" sz="1500" b="1">
                <a:solidFill>
                  <a:srgbClr val="061F32"/>
                </a:solidFill>
                <a:latin typeface="微软雅黑"/>
                <a:ea typeface="微软雅黑"/>
                <a:cs typeface="微软雅黑"/>
              </a:rPr>
              <a:t>为</a:t>
            </a:r>
            <a:r>
              <a:rPr sz="1500" b="1">
                <a:solidFill>
                  <a:srgbClr val="061F32"/>
                </a:solidFill>
                <a:latin typeface="微软雅黑"/>
                <a:ea typeface="微软雅黑"/>
                <a:cs typeface="微软雅黑"/>
              </a:rPr>
              <a:t>患者特异性纵向虚拟类器官</a:t>
            </a:r>
            <a:r>
              <a:rPr lang="zh-CN" altLang="en-US" sz="1500" b="1">
                <a:solidFill>
                  <a:srgbClr val="061F32"/>
                </a:solidFill>
                <a:latin typeface="微软雅黑"/>
                <a:ea typeface="微软雅黑"/>
                <a:cs typeface="微软雅黑"/>
              </a:rPr>
              <a:t>搭建</a:t>
            </a:r>
            <a:r>
              <a:rPr sz="1500" b="1">
                <a:solidFill>
                  <a:srgbClr val="061F32"/>
                </a:solidFill>
                <a:latin typeface="微软雅黑"/>
                <a:ea typeface="微软雅黑"/>
                <a:cs typeface="微软雅黑"/>
              </a:rPr>
              <a:t>工程化基础</a:t>
            </a:r>
            <a:endParaRPr sz="1500" b="1">
              <a:solidFill>
                <a:srgbClr val="061F3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50" name="任意多边形 284"/>
          <p:cNvSpPr>
            <a:spLocks noGrp="1"/>
          </p:cNvSpPr>
          <p:nvPr/>
        </p:nvSpPr>
        <p:spPr>
          <a:xfrm>
            <a:off x="533400" y="1381125"/>
            <a:ext cx="3219450" cy="2390775"/>
          </a:xfrm>
          <a:custGeom>
            <a:avLst/>
            <a:gdLst/>
            <a:ahLst/>
            <a:cxnLst/>
            <a:pathLst>
              <a:path w="338" h="251">
                <a:moveTo>
                  <a:pt x="0" y="0"/>
                </a:moveTo>
                <a:lnTo>
                  <a:pt x="338" y="0"/>
                </a:lnTo>
                <a:lnTo>
                  <a:pt x="338" y="3"/>
                </a:lnTo>
                <a:lnTo>
                  <a:pt x="0" y="3"/>
                </a:lnTo>
                <a:close/>
              </a:path>
            </a:pathLst>
          </a:custGeom>
          <a:solidFill>
            <a:srgbClr val="061F32"/>
          </a:solidFill>
        </p:spPr>
        <p:txBody>
          <a:bodyPr/>
          <a:lstStyle/>
          <a:p/>
        </p:txBody>
      </p:sp>
      <p:sp>
        <p:nvSpPr>
          <p:cNvPr id="351" name="文本框 285"/>
          <p:cNvSpPr>
            <a:spLocks noGrp="1"/>
          </p:cNvSpPr>
          <p:nvPr/>
        </p:nvSpPr>
        <p:spPr>
          <a:xfrm>
            <a:off x="723900" y="1581150"/>
            <a:ext cx="2838450" cy="2571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  <a:buNone/>
            </a:pPr>
            <a:r>
              <a:rPr sz="1650" b="1">
                <a:solidFill>
                  <a:srgbClr val="061F32"/>
                </a:solidFill>
                <a:latin typeface="微软雅黑"/>
                <a:ea typeface="微软雅黑"/>
                <a:cs typeface="微软雅黑"/>
              </a:rPr>
              <a:t>类器官技术</a:t>
            </a:r>
            <a:endParaRPr sz="1650" b="1">
              <a:solidFill>
                <a:srgbClr val="061F3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52" name="文本框 286"/>
          <p:cNvSpPr>
            <a:spLocks noGrp="1"/>
          </p:cNvSpPr>
          <p:nvPr/>
        </p:nvSpPr>
        <p:spPr>
          <a:xfrm>
            <a:off x="723900" y="1933575"/>
            <a:ext cx="2838450" cy="876300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50000"/>
              </a:lnSpc>
              <a:buNone/>
            </a:pPr>
            <a:r>
              <a:rPr sz="1275">
                <a:solidFill>
                  <a:srgbClr val="44546A"/>
                </a:solidFill>
                <a:latin typeface="微软雅黑"/>
                <a:ea typeface="微软雅黑"/>
                <a:cs typeface="微软雅黑"/>
              </a:rPr>
              <a:t>患者来源类器官（IPTO）能高保真保留肿瘤生态系统，个体差异与微环境同时在线，可纵向追踪演化</a:t>
            </a:r>
            <a:endParaRPr sz="1275">
              <a:solidFill>
                <a:srgbClr val="44546A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53" name="任意多边形 287"/>
          <p:cNvSpPr>
            <a:spLocks noGrp="1"/>
          </p:cNvSpPr>
          <p:nvPr/>
        </p:nvSpPr>
        <p:spPr>
          <a:xfrm>
            <a:off x="3886200" y="1381125"/>
            <a:ext cx="3219450" cy="2390775"/>
          </a:xfrm>
          <a:custGeom>
            <a:avLst/>
            <a:gdLst/>
            <a:ahLst/>
            <a:cxnLst/>
            <a:pathLst>
              <a:path w="338" h="251">
                <a:moveTo>
                  <a:pt x="0" y="0"/>
                </a:moveTo>
                <a:lnTo>
                  <a:pt x="338" y="0"/>
                </a:lnTo>
                <a:lnTo>
                  <a:pt x="338" y="3"/>
                </a:lnTo>
                <a:lnTo>
                  <a:pt x="0" y="3"/>
                </a:lnTo>
                <a:close/>
              </a:path>
            </a:pathLst>
          </a:custGeom>
          <a:solidFill>
            <a:srgbClr val="061F32"/>
          </a:solidFill>
        </p:spPr>
        <p:txBody>
          <a:bodyPr/>
          <a:lstStyle/>
          <a:p/>
        </p:txBody>
      </p:sp>
      <p:sp>
        <p:nvSpPr>
          <p:cNvPr id="354" name="文本框 288"/>
          <p:cNvSpPr>
            <a:spLocks noGrp="1"/>
          </p:cNvSpPr>
          <p:nvPr/>
        </p:nvSpPr>
        <p:spPr>
          <a:xfrm>
            <a:off x="4076700" y="1581150"/>
            <a:ext cx="2838450" cy="2571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  <a:buNone/>
            </a:pPr>
            <a:r>
              <a:rPr sz="1650" b="1">
                <a:solidFill>
                  <a:srgbClr val="061F32"/>
                </a:solidFill>
                <a:latin typeface="微软雅黑"/>
                <a:ea typeface="微软雅黑"/>
                <a:cs typeface="微软雅黑"/>
              </a:rPr>
              <a:t>成像与测量</a:t>
            </a:r>
            <a:endParaRPr sz="1650" b="1">
              <a:solidFill>
                <a:srgbClr val="061F3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55" name="文本框 289"/>
          <p:cNvSpPr>
            <a:spLocks noGrp="1"/>
          </p:cNvSpPr>
          <p:nvPr/>
        </p:nvSpPr>
        <p:spPr>
          <a:xfrm>
            <a:off x="4076700" y="1933575"/>
            <a:ext cx="2838450" cy="876300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50000"/>
              </a:lnSpc>
              <a:buNone/>
            </a:pPr>
            <a:r>
              <a:rPr sz="1275">
                <a:solidFill>
                  <a:srgbClr val="44546A"/>
                </a:solidFill>
                <a:latin typeface="微软雅黑"/>
                <a:ea typeface="微软雅黑"/>
                <a:cs typeface="微软雅黑"/>
              </a:rPr>
              <a:t>长时程活细胞成像、高内涵成像、单细胞 / 空间组学，把细胞状态</a:t>
            </a:r>
            <a:r>
              <a:rPr lang="zh-CN" altLang="en-US" sz="1275">
                <a:solidFill>
                  <a:srgbClr val="44546A"/>
                </a:solidFill>
                <a:latin typeface="微软雅黑"/>
                <a:ea typeface="微软雅黑"/>
                <a:cs typeface="微软雅黑"/>
              </a:rPr>
              <a:t>转化</a:t>
            </a:r>
            <a:r>
              <a:rPr sz="1275">
                <a:solidFill>
                  <a:srgbClr val="44546A"/>
                </a:solidFill>
                <a:latin typeface="微软雅黑"/>
                <a:ea typeface="微软雅黑"/>
                <a:cs typeface="微软雅黑"/>
              </a:rPr>
              <a:t>成可计算的多模态数据</a:t>
            </a:r>
            <a:endParaRPr sz="1275">
              <a:solidFill>
                <a:srgbClr val="44546A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56" name="任意多边形 290"/>
          <p:cNvSpPr>
            <a:spLocks noGrp="1"/>
          </p:cNvSpPr>
          <p:nvPr/>
        </p:nvSpPr>
        <p:spPr>
          <a:xfrm>
            <a:off x="533400" y="3876675"/>
            <a:ext cx="3219450" cy="2390775"/>
          </a:xfrm>
          <a:custGeom>
            <a:avLst/>
            <a:gdLst/>
            <a:ahLst/>
            <a:cxnLst/>
            <a:pathLst>
              <a:path w="338" h="251">
                <a:moveTo>
                  <a:pt x="0" y="0"/>
                </a:moveTo>
                <a:lnTo>
                  <a:pt x="338" y="0"/>
                </a:lnTo>
                <a:lnTo>
                  <a:pt x="338" y="3"/>
                </a:lnTo>
                <a:lnTo>
                  <a:pt x="0" y="3"/>
                </a:lnTo>
                <a:close/>
              </a:path>
            </a:pathLst>
          </a:custGeom>
          <a:solidFill>
            <a:srgbClr val="061F32"/>
          </a:solidFill>
        </p:spPr>
        <p:txBody>
          <a:bodyPr/>
          <a:lstStyle/>
          <a:p/>
        </p:txBody>
      </p:sp>
      <p:sp>
        <p:nvSpPr>
          <p:cNvPr id="357" name="文本框 291"/>
          <p:cNvSpPr>
            <a:spLocks noGrp="1"/>
          </p:cNvSpPr>
          <p:nvPr/>
        </p:nvSpPr>
        <p:spPr>
          <a:xfrm>
            <a:off x="723900" y="4076700"/>
            <a:ext cx="2838450" cy="2571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  <a:buNone/>
            </a:pPr>
            <a:r>
              <a:rPr sz="1650" b="1">
                <a:solidFill>
                  <a:srgbClr val="061F32"/>
                </a:solidFill>
                <a:latin typeface="微软雅黑"/>
                <a:ea typeface="微软雅黑"/>
                <a:cs typeface="微软雅黑"/>
              </a:rPr>
              <a:t>数据与算力</a:t>
            </a:r>
            <a:endParaRPr sz="1650" b="1">
              <a:solidFill>
                <a:srgbClr val="061F3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58" name="文本框 292"/>
          <p:cNvSpPr>
            <a:spLocks noGrp="1"/>
          </p:cNvSpPr>
          <p:nvPr/>
        </p:nvSpPr>
        <p:spPr>
          <a:xfrm>
            <a:off x="723900" y="4429125"/>
            <a:ext cx="2838450" cy="876300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50000"/>
              </a:lnSpc>
              <a:buNone/>
            </a:pPr>
            <a:r>
              <a:rPr sz="1275">
                <a:solidFill>
                  <a:srgbClr val="44546A"/>
                </a:solidFill>
                <a:latin typeface="微软雅黑"/>
                <a:ea typeface="微软雅黑"/>
                <a:cs typeface="微软雅黑"/>
              </a:rPr>
              <a:t>多模态数据基础设施成熟，</a:t>
            </a:r>
            <a:r>
              <a:rPr lang="zh-CN" altLang="en-US" sz="1275">
                <a:solidFill>
                  <a:srgbClr val="44546A"/>
                </a:solidFill>
                <a:latin typeface="微软雅黑"/>
                <a:ea typeface="微软雅黑"/>
                <a:cs typeface="微软雅黑"/>
              </a:rPr>
              <a:t>大规模</a:t>
            </a:r>
            <a:r>
              <a:rPr sz="1275">
                <a:solidFill>
                  <a:srgbClr val="44546A"/>
                </a:solidFill>
                <a:latin typeface="微软雅黑"/>
                <a:ea typeface="微软雅黑"/>
                <a:cs typeface="微软雅黑"/>
              </a:rPr>
              <a:t>训练成本</a:t>
            </a:r>
            <a:r>
              <a:rPr lang="zh-CN" altLang="en-US" sz="1275">
                <a:solidFill>
                  <a:srgbClr val="44546A"/>
                </a:solidFill>
                <a:latin typeface="微软雅黑"/>
                <a:ea typeface="微软雅黑"/>
                <a:cs typeface="微软雅黑"/>
              </a:rPr>
              <a:t>显著</a:t>
            </a:r>
            <a:r>
              <a:rPr sz="1275">
                <a:solidFill>
                  <a:srgbClr val="44546A"/>
                </a:solidFill>
                <a:latin typeface="微软雅黑"/>
                <a:ea typeface="微软雅黑"/>
                <a:cs typeface="微软雅黑"/>
              </a:rPr>
              <a:t>下降，基础模型级别</a:t>
            </a:r>
            <a:r>
              <a:rPr lang="zh-CN" altLang="en-US" sz="1275">
                <a:solidFill>
                  <a:srgbClr val="44546A"/>
                </a:solidFill>
                <a:latin typeface="微软雅黑"/>
                <a:ea typeface="微软雅黑"/>
                <a:cs typeface="微软雅黑"/>
              </a:rPr>
              <a:t>的</a:t>
            </a:r>
            <a:r>
              <a:rPr sz="1275">
                <a:solidFill>
                  <a:srgbClr val="44546A"/>
                </a:solidFill>
                <a:latin typeface="微软雅黑"/>
                <a:ea typeface="微软雅黑"/>
                <a:cs typeface="微软雅黑"/>
              </a:rPr>
              <a:t>训练</a:t>
            </a:r>
            <a:r>
              <a:rPr lang="zh-CN" altLang="en-US" sz="1275">
                <a:solidFill>
                  <a:srgbClr val="44546A"/>
                </a:solidFill>
                <a:latin typeface="微软雅黑"/>
                <a:ea typeface="微软雅黑"/>
                <a:cs typeface="微软雅黑"/>
              </a:rPr>
              <a:t>工具具备落地可行性</a:t>
            </a:r>
            <a:endParaRPr sz="1275">
              <a:solidFill>
                <a:srgbClr val="44546A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59" name="任意多边形 293"/>
          <p:cNvSpPr>
            <a:spLocks noGrp="1"/>
          </p:cNvSpPr>
          <p:nvPr/>
        </p:nvSpPr>
        <p:spPr>
          <a:xfrm>
            <a:off x="3886200" y="3876675"/>
            <a:ext cx="3219450" cy="2390775"/>
          </a:xfrm>
          <a:custGeom>
            <a:avLst/>
            <a:gdLst/>
            <a:ahLst/>
            <a:cxnLst/>
            <a:pathLst>
              <a:path w="338" h="251">
                <a:moveTo>
                  <a:pt x="0" y="0"/>
                </a:moveTo>
                <a:lnTo>
                  <a:pt x="338" y="0"/>
                </a:lnTo>
                <a:lnTo>
                  <a:pt x="338" y="3"/>
                </a:lnTo>
                <a:lnTo>
                  <a:pt x="0" y="3"/>
                </a:lnTo>
                <a:close/>
              </a:path>
            </a:pathLst>
          </a:custGeom>
          <a:solidFill>
            <a:srgbClr val="061F32"/>
          </a:solidFill>
        </p:spPr>
        <p:txBody>
          <a:bodyPr/>
          <a:lstStyle/>
          <a:p/>
        </p:txBody>
      </p:sp>
      <p:sp>
        <p:nvSpPr>
          <p:cNvPr id="360" name="文本框 294"/>
          <p:cNvSpPr>
            <a:spLocks noGrp="1"/>
          </p:cNvSpPr>
          <p:nvPr/>
        </p:nvSpPr>
        <p:spPr>
          <a:xfrm>
            <a:off x="4076700" y="4076700"/>
            <a:ext cx="2838450" cy="2571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  <a:buNone/>
            </a:pPr>
            <a:r>
              <a:rPr sz="1650" b="1">
                <a:solidFill>
                  <a:srgbClr val="061F32"/>
                </a:solidFill>
                <a:latin typeface="微软雅黑"/>
                <a:ea typeface="微软雅黑"/>
                <a:cs typeface="微软雅黑"/>
              </a:rPr>
              <a:t>AI </a:t>
            </a:r>
            <a:r>
              <a:rPr sz="1650" b="1">
                <a:solidFill>
                  <a:srgbClr val="061F32"/>
                </a:solidFill>
                <a:latin typeface="微软雅黑"/>
                <a:ea typeface="微软雅黑"/>
                <a:cs typeface="微软雅黑"/>
              </a:rPr>
              <a:t>方法</a:t>
            </a:r>
            <a:endParaRPr sz="1650" b="1">
              <a:solidFill>
                <a:srgbClr val="061F3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61" name="文本框 295"/>
          <p:cNvSpPr>
            <a:spLocks noGrp="1"/>
          </p:cNvSpPr>
          <p:nvPr/>
        </p:nvSpPr>
        <p:spPr>
          <a:xfrm>
            <a:off x="4076700" y="4429125"/>
            <a:ext cx="2838450" cy="1127914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50000"/>
              </a:lnSpc>
              <a:buNone/>
            </a:pPr>
            <a:r>
              <a:rPr sz="1275">
                <a:solidFill>
                  <a:srgbClr val="44546A"/>
                </a:solidFill>
                <a:latin typeface="微软雅黑"/>
                <a:ea typeface="微软雅黑"/>
                <a:cs typeface="微软雅黑"/>
              </a:rPr>
              <a:t>自监督预训练 + 扰动建模，让</a:t>
            </a:r>
            <a:r>
              <a:rPr lang="en-US" altLang="zh-CN" sz="1275">
                <a:solidFill>
                  <a:srgbClr val="44546A"/>
                </a:solidFill>
                <a:latin typeface="微软雅黑"/>
                <a:ea typeface="微软雅黑"/>
                <a:cs typeface="微软雅黑"/>
              </a:rPr>
              <a:t>AI</a:t>
            </a:r>
            <a:r>
              <a:rPr sz="1275">
                <a:solidFill>
                  <a:srgbClr val="44546A"/>
                </a:solidFill>
                <a:latin typeface="微软雅黑"/>
                <a:ea typeface="微软雅黑"/>
                <a:cs typeface="微软雅黑"/>
              </a:rPr>
              <a:t>模型</a:t>
            </a:r>
            <a:r>
              <a:rPr lang="zh-CN" altLang="en-US" sz="1275">
                <a:solidFill>
                  <a:srgbClr val="44546A"/>
                </a:solidFill>
                <a:latin typeface="微软雅黑"/>
                <a:ea typeface="微软雅黑"/>
                <a:cs typeface="微软雅黑"/>
              </a:rPr>
              <a:t>具备</a:t>
            </a:r>
            <a:r>
              <a:rPr sz="1275">
                <a:solidFill>
                  <a:srgbClr val="44546A"/>
                </a:solidFill>
                <a:latin typeface="微软雅黑"/>
                <a:ea typeface="微软雅黑"/>
                <a:cs typeface="微软雅黑"/>
              </a:rPr>
              <a:t>学习“干预后进入什么新状态”</a:t>
            </a:r>
            <a:r>
              <a:rPr lang="zh-CN" altLang="en-US" sz="1275">
                <a:solidFill>
                  <a:srgbClr val="44546A"/>
                </a:solidFill>
                <a:latin typeface="微软雅黑"/>
                <a:ea typeface="微软雅黑"/>
                <a:cs typeface="微软雅黑"/>
              </a:rPr>
              <a:t>的能力</a:t>
            </a:r>
            <a:endParaRPr sz="1275">
              <a:solidFill>
                <a:srgbClr val="44546A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62" name="矩形 296"/>
          <p:cNvSpPr>
            <a:spLocks noGrp="1"/>
          </p:cNvSpPr>
          <p:nvPr/>
        </p:nvSpPr>
        <p:spPr>
          <a:xfrm>
            <a:off x="7239000" y="1375859"/>
            <a:ext cx="4286250" cy="4891591"/>
          </a:xfrm>
          <a:prstGeom prst="rect">
            <a:avLst/>
          </a:prstGeom>
          <a:solidFill>
            <a:srgbClr val="061F32"/>
          </a:solidFill>
        </p:spPr>
        <p:txBody>
          <a:bodyPr/>
          <a:lstStyle/>
          <a:p/>
        </p:txBody>
      </p:sp>
      <p:sp>
        <p:nvSpPr>
          <p:cNvPr id="363" name="文本框 297"/>
          <p:cNvSpPr>
            <a:spLocks noGrp="1"/>
          </p:cNvSpPr>
          <p:nvPr/>
        </p:nvSpPr>
        <p:spPr>
          <a:xfrm>
            <a:off x="7562850" y="1920875"/>
            <a:ext cx="3752850" cy="2571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  <a:buNone/>
            </a:pPr>
            <a:r>
              <a:rPr sz="16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时机已到，证据已在</a:t>
            </a:r>
            <a:r>
              <a:rPr sz="16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/>
            </a:r>
            <a:r>
              <a:rPr sz="16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/>
            </a:r>
            <a:endParaRPr sz="165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64" name="文本框 298"/>
          <p:cNvSpPr>
            <a:spLocks noGrp="1"/>
          </p:cNvSpPr>
          <p:nvPr/>
        </p:nvSpPr>
        <p:spPr>
          <a:xfrm>
            <a:off x="7562850" y="2330450"/>
            <a:ext cx="3752850" cy="2857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45000"/>
              </a:lnSpc>
              <a:buNone/>
            </a:pPr>
            <a:r>
              <a:rPr sz="1275">
                <a:solidFill>
                  <a:srgbClr val="99BDED"/>
                </a:solidFill>
                <a:latin typeface="微软雅黑"/>
                <a:ea typeface="微软雅黑"/>
                <a:cs typeface="微软雅黑"/>
              </a:rPr>
              <a:t>· 四项技术条件同步成熟（左）</a:t>
            </a:r>
            <a:r>
              <a:rPr sz="1275">
                <a:solidFill>
                  <a:srgbClr val="99BDED"/>
                </a:solidFill>
                <a:latin typeface="微软雅黑"/>
                <a:ea typeface="微软雅黑"/>
                <a:cs typeface="微软雅黑"/>
              </a:rPr>
              <a:t/>
            </a:r>
            <a:r>
              <a:rPr sz="1275">
                <a:solidFill>
                  <a:srgbClr val="99BDED"/>
                </a:solidFill>
                <a:latin typeface="微软雅黑"/>
                <a:ea typeface="微软雅黑"/>
                <a:cs typeface="微软雅黑"/>
              </a:rPr>
              <a:t/>
            </a:r>
            <a:r>
              <a:rPr sz="1275">
                <a:solidFill>
                  <a:srgbClr val="99BDED"/>
                </a:solidFill>
                <a:latin typeface="微软雅黑"/>
                <a:ea typeface="微软雅黑"/>
                <a:cs typeface="微软雅黑"/>
              </a:rPr>
              <a:t/>
            </a:r>
            <a:endParaRPr sz="1275">
              <a:solidFill>
                <a:srgbClr val="99BDED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65" name="文本框 299"/>
          <p:cNvSpPr>
            <a:spLocks noGrp="1"/>
          </p:cNvSpPr>
          <p:nvPr/>
        </p:nvSpPr>
        <p:spPr>
          <a:xfrm>
            <a:off x="7562850" y="2711450"/>
            <a:ext cx="3752850" cy="2857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45000"/>
              </a:lnSpc>
              <a:buNone/>
            </a:pPr>
            <a:r>
              <a:rPr sz="1275">
                <a:solidFill>
                  <a:srgbClr val="99BDED"/>
                </a:solidFill>
                <a:latin typeface="微软雅黑"/>
                <a:ea typeface="微软雅黑"/>
                <a:cs typeface="微软雅黑"/>
              </a:rPr>
              <a:t>· 类器官预测治疗响应，已获临床研究证实（下页）</a:t>
            </a:r>
            <a:r>
              <a:rPr sz="1275">
                <a:solidFill>
                  <a:srgbClr val="99BDED"/>
                </a:solidFill>
                <a:latin typeface="微软雅黑"/>
                <a:ea typeface="微软雅黑"/>
                <a:cs typeface="微软雅黑"/>
              </a:rPr>
              <a:t/>
            </a:r>
            <a:endParaRPr sz="1275">
              <a:solidFill>
                <a:srgbClr val="99BDED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66" name="文本框 300"/>
          <p:cNvSpPr>
            <a:spLocks noGrp="1"/>
          </p:cNvSpPr>
          <p:nvPr/>
        </p:nvSpPr>
        <p:spPr>
          <a:xfrm>
            <a:off x="7562850" y="3092450"/>
            <a:ext cx="3752850" cy="2857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45000"/>
              </a:lnSpc>
              <a:buNone/>
            </a:pPr>
            <a:r>
              <a:rPr sz="1275">
                <a:solidFill>
                  <a:srgbClr val="99BDED"/>
                </a:solidFill>
                <a:latin typeface="微软雅黑"/>
                <a:ea typeface="微软雅黑"/>
                <a:cs typeface="微软雅黑"/>
              </a:rPr>
              <a:t>· 证据来自不同研究团队，并非单一个案</a:t>
            </a:r>
            <a:r>
              <a:rPr sz="1275">
                <a:solidFill>
                  <a:srgbClr val="99BDED"/>
                </a:solidFill>
                <a:latin typeface="微软雅黑"/>
                <a:ea typeface="微软雅黑"/>
                <a:cs typeface="微软雅黑"/>
              </a:rPr>
              <a:t/>
            </a:r>
            <a:endParaRPr sz="1275">
              <a:solidFill>
                <a:srgbClr val="99BDED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67" name="矩形 301"/>
          <p:cNvSpPr>
            <a:spLocks noGrp="1"/>
          </p:cNvSpPr>
          <p:nvPr/>
        </p:nvSpPr>
        <p:spPr>
          <a:xfrm>
            <a:off x="7639050" y="3611880"/>
            <a:ext cx="3752850" cy="9525"/>
          </a:xfrm>
          <a:prstGeom prst="rect">
            <a:avLst/>
          </a:prstGeom>
          <a:solidFill>
            <a:srgbClr val="44546A"/>
          </a:solidFill>
        </p:spPr>
        <p:txBody>
          <a:bodyPr/>
          <a:lstStyle/>
          <a:p/>
        </p:txBody>
      </p:sp>
      <p:sp>
        <p:nvSpPr>
          <p:cNvPr id="368" name="文本框 302"/>
          <p:cNvSpPr>
            <a:spLocks noGrp="1"/>
          </p:cNvSpPr>
          <p:nvPr/>
        </p:nvSpPr>
        <p:spPr>
          <a:xfrm>
            <a:off x="7562850" y="3768725"/>
            <a:ext cx="3752850" cy="2286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  <a:buNone/>
            </a:pPr>
            <a:r>
              <a:rPr sz="1500" b="1">
                <a:solidFill>
                  <a:srgbClr val="08A6F6"/>
                </a:solidFill>
                <a:latin typeface="微软雅黑"/>
                <a:ea typeface="微软雅黑"/>
                <a:cs typeface="微软雅黑"/>
              </a:rPr>
              <a:t>我们的切入点</a:t>
            </a:r>
            <a:endParaRPr sz="1500" b="1">
              <a:solidFill>
                <a:srgbClr val="08A6F6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69" name="文本框 303"/>
          <p:cNvSpPr>
            <a:spLocks noGrp="1"/>
          </p:cNvSpPr>
          <p:nvPr/>
        </p:nvSpPr>
        <p:spPr>
          <a:xfrm>
            <a:off x="7562850" y="4111625"/>
            <a:ext cx="3752850" cy="1079500"/>
          </a:xfrm>
          <a:prstGeom prst="rect">
            <a:avLst/>
          </a:prstGeom>
        </p:spPr>
        <p:txBody>
          <a:bodyPr wrap="square" lIns="0" tIns="0" rIns="0" bIns="0">
            <a:normAutofit fontScale="95206"/>
          </a:bodyPr>
          <a:lstStyle/>
          <a:p>
            <a:pPr marL="0" lvl="0" algn="l" defTabSz="914400">
              <a:lnSpc>
                <a:spcPct val="155000"/>
              </a:lnSpc>
              <a:buNone/>
              <a:defRPr sz="1800">
                <a:solidFill>
                  <a:schemeClr val="tx1">
                    <a:alpha val="100000"/>
                  </a:schemeClr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FFFFFF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先从临床路径更标准化的实体瘤切入，更快做出可验证的成果、覆盖更广的应用；再拓展到复杂度最高的脑肿瘤。</a:t>
            </a:r>
            <a:endParaRPr sz="1275">
              <a:solidFill>
                <a:srgbClr val="FFFFFF">
                  <a:alpha val="100000"/>
                </a:srgbClr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70" name="文本框 304"/>
          <p:cNvSpPr>
            <a:spLocks noGrp="1"/>
          </p:cNvSpPr>
          <p:nvPr/>
        </p:nvSpPr>
        <p:spPr>
          <a:xfrm>
            <a:off x="7562850" y="5305425"/>
            <a:ext cx="3752850" cy="3048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55000"/>
              </a:lnSpc>
              <a:buNone/>
            </a:pPr>
            <a:r>
              <a:rPr sz="1275" b="1">
                <a:solidFill>
                  <a:srgbClr val="FFFFFF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→ 下一页：临床研究证据</a:t>
            </a:r>
            <a:endParaRPr sz="1275" b="1">
              <a:solidFill>
                <a:srgbClr val="FFFFFF">
                  <a:alpha val="100000"/>
                </a:srgbClr>
              </a:solidFill>
              <a:latin typeface="微软雅黑"/>
              <a:ea typeface="微软雅黑"/>
              <a:cs typeface="微软雅黑"/>
            </a:endParaRPr>
          </a:p>
          <a:p>
            <a:pPr>
              <a:lnSpc>
                <a:spcPct val="155000"/>
              </a:lnSpc>
              <a:buNone/>
            </a:pPr>
            <a:r>
              <a:rPr sz="1275" b="1">
                <a:solidFill>
                  <a:srgbClr val="FFFFFF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/>
            </a:r>
            <a:endParaRPr sz="1275" b="1">
              <a:solidFill>
                <a:srgbClr val="FFFFFF">
                  <a:alpha val="100000"/>
                </a:srgbClr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71" name="文本框 305"/>
          <p:cNvSpPr>
            <a:spLocks noGrp="1"/>
          </p:cNvSpPr>
          <p:nvPr/>
        </p:nvSpPr>
        <p:spPr>
          <a:xfrm>
            <a:off x="533400" y="6381750"/>
            <a:ext cx="1781175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  <a:buNone/>
            </a:pPr>
            <a:r>
              <a:rPr sz="1050">
                <a:solidFill>
                  <a:srgbClr val="808080"/>
                </a:solidFill>
                <a:latin typeface="微软雅黑"/>
                <a:ea typeface="微软雅黑"/>
                <a:cs typeface="微软雅黑"/>
              </a:rPr>
              <a:t>Source: AIVC </a:t>
            </a:r>
            <a:r>
              <a:rPr sz="1050">
                <a:solidFill>
                  <a:srgbClr val="808080"/>
                </a:solidFill>
                <a:latin typeface="微软雅黑"/>
                <a:ea typeface="微软雅黑"/>
                <a:cs typeface="微软雅黑"/>
              </a:rPr>
              <a:t>商业故事</a:t>
            </a:r>
            <a:r>
              <a:rPr sz="1050">
                <a:solidFill>
                  <a:srgbClr val="808080"/>
                </a:solidFill>
                <a:latin typeface="微软雅黑"/>
                <a:ea typeface="微软雅黑"/>
                <a:cs typeface="微软雅黑"/>
              </a:rPr>
              <a:t> BP §3</a:t>
            </a:r>
            <a:endParaRPr sz="1050">
              <a:solidFill>
                <a:srgbClr val="80808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72" name="文本框 306"/>
          <p:cNvSpPr>
            <a:spLocks noGrp="1"/>
          </p:cNvSpPr>
          <p:nvPr/>
        </p:nvSpPr>
        <p:spPr>
          <a:xfrm>
            <a:off x="11201400" y="6381750"/>
            <a:ext cx="457200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  <a:buNone/>
            </a:pPr>
            <a:r>
              <a:rPr sz="1050">
                <a:solidFill>
                  <a:srgbClr val="808080"/>
                </a:solidFill>
                <a:latin typeface="微软雅黑"/>
                <a:ea typeface="微软雅黑"/>
                <a:cs typeface="微软雅黑"/>
              </a:rPr>
              <a:t>06 / 09</a:t>
            </a:r>
            <a:endParaRPr sz="1050">
              <a:solidFill>
                <a:srgbClr val="808080"/>
              </a:solidFill>
              <a:latin typeface="微软雅黑"/>
              <a:ea typeface="微软雅黑"/>
              <a:cs typeface="微软雅黑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7375</Words>
  <Application>WPS Office WWO_wpscloud_20260902094840-997daf6cd0</Application>
  <PresentationFormat>Converted Presentation</PresentationFormat>
  <Paragraphs>640</Paragraphs>
  <Slides>18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18</vt:i4>
      </vt:variant>
    </vt:vector>
  </HeadingPairs>
  <TitlesOfParts>
    <vt:vector size="31" baseType="lpstr">
      <vt:lpstr>Arial</vt:lpstr>
      <vt:lpstr>宋体</vt:lpstr>
      <vt:lpstr>Wingdings</vt:lpstr>
      <vt:lpstr>Arial</vt:lpstr>
      <vt:lpstr>微软雅黑</vt:lpstr>
      <vt:lpstr>汉仪旗黑KW 55S</vt:lpstr>
      <vt:lpstr>Calibri</vt:lpstr>
      <vt:lpstr>微软雅黑</vt:lpstr>
      <vt:lpstr>Calibri</vt:lpstr>
      <vt:lpstr>微软雅黑</vt:lpstr>
      <vt:lpstr>汉仪书宋二KW</vt:lpstr>
      <vt:lpstr>Kingsoft Confetti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Walnut Exporter</cp:lastModifiedBy>
  <dcterms:created xsi:type="dcterms:W3CDTF">2026-09-14T21:32:23Z</dcterms:created>
  <dcterms:modified xsi:type="dcterms:W3CDTF">2026-09-14T21:32:23Z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21C91B9422BFD48899299F6A1ACD7A80_42</vt:lpwstr>
  </property>
  <property fmtid="{D5CDD505-2E9C-101B-9397-08002B2CF9AE}" pid="3" name="KSOProductBuildVer">
    <vt:lpwstr>2052-12.9.0.28579</vt:lpwstr>
  </property>
</Properties>
</file>