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10"/>
    <p:sldId id="260" r:id="rId8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5.xml"/><Relationship Id="rId4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Relationship Id="rId9" Type="http://schemas.openxmlformats.org/officeDocument/2006/relationships/image" Target="../media/hcmi_title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4" name="矩形 256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95" name="文本框 257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为什么是现在：类器官分子高保真、能预测治疗响应，已获多项研究证实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6" name="矩形 258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97" name="矩形 259"/>
          <p:cNvSpPr>
            <a:spLocks noGrp="1"/>
          </p:cNvSpPr>
          <p:nvPr/>
        </p:nvSpPr>
        <p:spPr>
          <a:xfrm>
            <a:off x="533400" y="1019175"/>
            <a:ext cx="4000500" cy="430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pic>
        <p:nvPicPr>
          <p:cNvPr id="322" name="图片 260"/>
          <p:cNvPicPr>
            <a:picLocks noChangeAspect="1"/>
          </p:cNvPicPr>
          <p:nvPr/>
        </p:nvPicPr>
        <p:blipFill>
          <a:blip r:embed="rId1"/>
          <a:srcRect t="8263" b="8263"/>
          <a:stretch>
            <a:fillRect/>
          </a:stretch>
        </p:blipFill>
        <p:spPr>
          <a:xfrm>
            <a:off x="590550" y="1076325"/>
            <a:ext cx="3867150" cy="4191000"/>
          </a:xfrm>
          <a:prstGeom prst="rect">
            <a:avLst/>
          </a:prstGeom>
        </p:spPr>
      </p:pic>
      <p:sp>
        <p:nvSpPr>
          <p:cNvPr id="500" name="作者遮罩"/>
          <p:cNvSpPr/>
          <p:nvPr/>
        </p:nvSpPr>
        <p:spPr>
          <a:xfrm>
            <a:off x="2848356" y="1883664"/>
            <a:ext cx="160020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5545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Tianping Peng, 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Weili Tian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Yue Zhuo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 ...</a:t>
            </a:r>
          </a:p>
        </p:txBody>
      </p:sp>
      <p:sp>
        <p:nvSpPr>
          <p:cNvPr id="401" name="证据1说明"/>
          <p:cNvSpPr txBox="1"/>
          <p:nvPr/>
        </p:nvSpPr>
        <p:spPr>
          <a:xfrm>
            <a:off x="530352" y="5422392"/>
            <a:ext cx="4005072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1｜能预测｜Peng et al., </a:t>
            </a:r>
            <a:r>
              <a:rPr lang="zh-CN" altLang="en-US" sz="1100" b="1" i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</a:t>
            </a: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2025</a:t>
            </a:r>
          </a:p>
          <a:p>
            <a:pPr algn="l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IPTO 保留肿瘤生态，前瞻性预测患者治疗响应（PFS / OS，p = 0.034 / 0.033）；本团队成员为共同作者</a:t>
            </a:r>
          </a:p>
        </p:txBody>
      </p:sp>
      <p:sp>
        <p:nvSpPr>
          <p:cNvPr id="402" name="证据2边框"/>
          <p:cNvSpPr txBox="1"/>
          <p:nvPr/>
        </p:nvSpPr>
        <p:spPr>
          <a:xfrm>
            <a:off x="4754880" y="1014984"/>
            <a:ext cx="4005072" cy="43068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/>
        </p:txBody>
      </p:sp>
      <p:pic>
        <p:nvPicPr>
          <p:cNvPr id="403" name="证据2图片" descr="Nature 2026 HCMI 论文标题与作者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18888" y="1078992"/>
            <a:ext cx="3877056" cy="1930774"/>
          </a:xfrm>
          <a:prstGeom prst="rect">
            <a:avLst/>
          </a:prstGeom>
        </p:spPr>
      </p:pic>
      <p:sp>
        <p:nvSpPr>
          <p:cNvPr id="404" name="证据2数字1"/>
          <p:cNvSpPr txBox="1"/>
          <p:nvPr/>
        </p:nvSpPr>
        <p:spPr>
          <a:xfrm>
            <a:off x="4892040" y="3337560"/>
            <a:ext cx="124358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2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665</a:t>
            </a:r>
          </a:p>
        </p:txBody>
      </p:sp>
      <p:sp>
        <p:nvSpPr>
          <p:cNvPr id="405" name="证据2标签1"/>
          <p:cNvSpPr txBox="1"/>
          <p:nvPr/>
        </p:nvSpPr>
        <p:spPr>
          <a:xfrm>
            <a:off x="4892040" y="3913632"/>
            <a:ext cx="12435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个患者来源模型</a:t>
            </a:r>
          </a:p>
        </p:txBody>
      </p:sp>
      <p:sp>
        <p:nvSpPr>
          <p:cNvPr id="406" name="证据2数字2"/>
          <p:cNvSpPr txBox="1"/>
          <p:nvPr/>
        </p:nvSpPr>
        <p:spPr>
          <a:xfrm>
            <a:off x="6135624" y="3337560"/>
            <a:ext cx="124358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2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25</a:t>
            </a:r>
          </a:p>
        </p:txBody>
      </p:sp>
      <p:sp>
        <p:nvSpPr>
          <p:cNvPr id="407" name="证据2标签2"/>
          <p:cNvSpPr txBox="1"/>
          <p:nvPr/>
        </p:nvSpPr>
        <p:spPr>
          <a:xfrm>
            <a:off x="6135624" y="3913632"/>
            <a:ext cx="12435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种癌症</a:t>
            </a:r>
          </a:p>
        </p:txBody>
      </p:sp>
      <p:sp>
        <p:nvSpPr>
          <p:cNvPr id="408" name="证据2数字3"/>
          <p:cNvSpPr txBox="1"/>
          <p:nvPr/>
        </p:nvSpPr>
        <p:spPr>
          <a:xfrm>
            <a:off x="7379208" y="3337560"/>
            <a:ext cx="124358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2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97.8%</a:t>
            </a:r>
          </a:p>
        </p:txBody>
      </p:sp>
      <p:sp>
        <p:nvSpPr>
          <p:cNvPr id="409" name="证据2标签3"/>
          <p:cNvSpPr txBox="1"/>
          <p:nvPr/>
        </p:nvSpPr>
        <p:spPr>
          <a:xfrm>
            <a:off x="7379208" y="3913632"/>
            <a:ext cx="124358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模型保留关键 DNA 特征</a:t>
            </a:r>
          </a:p>
        </p:txBody>
      </p:sp>
      <p:sp>
        <p:nvSpPr>
          <p:cNvPr id="410" name="证据2补充"/>
          <p:cNvSpPr txBox="1"/>
          <p:nvPr/>
        </p:nvSpPr>
        <p:spPr>
          <a:xfrm>
            <a:off x="4937760" y="4343400"/>
            <a:ext cx="3639312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421 对「肿瘤–模型」配对：95% 配对样本甲基化一致，92% 模型转录组吻合；覆盖结直肠、胰腺、食管及罕见癌种</a:t>
            </a:r>
          </a:p>
        </p:txBody>
      </p:sp>
      <p:sp>
        <p:nvSpPr>
          <p:cNvPr id="411" name="证据2说明"/>
          <p:cNvSpPr txBox="1"/>
          <p:nvPr/>
        </p:nvSpPr>
        <p:spPr>
          <a:xfrm>
            <a:off x="4754880" y="5422392"/>
            <a:ext cx="4005072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2｜分子高保真｜ElHarouni et al., </a:t>
            </a:r>
            <a:r>
              <a:rPr lang="zh-CN" altLang="en-US" sz="1100" b="1" i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Nature</a:t>
            </a: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2026</a:t>
            </a:r>
          </a:p>
          <a:p>
            <a:pPr algn="l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人类癌症模型计划（HCMI），Broad 研究所 / 美国国家癌症研究所独立团队；患者来源模型长期传代后仍保留原发肿瘤的分子特征</a:t>
            </a:r>
          </a:p>
        </p:txBody>
      </p:sp>
      <p:sp>
        <p:nvSpPr>
          <p:cNvPr id="412" name="结论面板"/>
          <p:cNvSpPr txBox="1"/>
          <p:nvPr/>
        </p:nvSpPr>
        <p:spPr>
          <a:xfrm>
            <a:off x="9006840" y="1014984"/>
            <a:ext cx="2651760" cy="5230368"/>
          </a:xfrm>
          <a:prstGeom prst="rect">
            <a:avLst/>
          </a:prstGeom>
          <a:solidFill>
            <a:srgbClr val="061F32"/>
          </a:solidFill>
          <a:ln>
            <a:noFill/>
          </a:ln>
        </p:spPr>
        <p:txBody>
          <a:bodyPr wrap="square" lIns="201168" tIns="201168" rIns="201168" bIns="201168" anchor="t">
            <a:no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时机已到</a:t>
            </a:r>
          </a:p>
          <a:p>
            <a:pPr algn="l" marL="171450" indent="-171450">
              <a:lnSpc>
                <a:spcPct val="115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分子高保真：</a:t>
            </a:r>
            <a:r>
              <a:rPr lang="zh-CN" altLang="en-US" sz="11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独立团队在 25 种癌症、421 对配对样本中证明，模型长期传代后仍保留原发肿瘤的基因组、甲基化与转录组特征</a:t>
            </a:r>
          </a:p>
          <a:p>
            <a:pPr algn="l" marL="171450" indent="-171450">
              <a:lnSpc>
                <a:spcPct val="115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能预测：</a:t>
            </a:r>
            <a:r>
              <a:rPr lang="zh-CN" altLang="en-US" sz="11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前瞻性研究证明，类器官可在临床中预测患者治疗响应</a:t>
            </a:r>
          </a:p>
          <a:p>
            <a:pPr algn="l" marL="171450" indent="-171450">
              <a:lnSpc>
                <a:spcPct val="115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保真有边界：</a:t>
            </a:r>
            <a:r>
              <a:rPr lang="zh-CN" altLang="en-US" sz="115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培养会带来可逆的细胞状态漂移，需要系统校准——这正是下一步要补上的</a:t>
            </a:r>
          </a:p>
          <a:p>
            <a:pPr algn="l">
              <a:lnSpc>
                <a:spcPct val="115000"/>
              </a:lnSpc>
              <a:buNone/>
            </a:pPr>
            <a:r>
              <a:rPr lang="zh-CN" altLang="en-US" sz="115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→ 第二部分：我们如何补上这一步</a:t>
            </a:r>
          </a:p>
        </p:txBody>
      </p:sp>
      <p:sp>
        <p:nvSpPr>
          <p:cNvPr id="315" name="文本框 277"/>
          <p:cNvSpPr>
            <a:spLocks noGrp="1"/>
          </p:cNvSpPr>
          <p:nvPr/>
        </p:nvSpPr>
        <p:spPr>
          <a:xfrm>
            <a:off x="533400" y="6381750"/>
            <a:ext cx="109000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图片与数据来源：Peng T. et al., Cell Stem Cell 32, 652–669 (2025)；ElHarouni D. et al., Nature (2026), doi:10.1038/s41586-026-10806-y（开放获取）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6" name="文本框 2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07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6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47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为什么是现在：四项技术条件同步成熟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Arial" panose="020B0604020202020204" pitchFamily="34" charset="0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8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9" name="文本框 283"/>
          <p:cNvSpPr>
            <a:spLocks noGrp="1"/>
          </p:cNvSpPr>
          <p:nvPr/>
        </p:nvSpPr>
        <p:spPr>
          <a:xfrm>
            <a:off x="533400" y="981075"/>
            <a:ext cx="65722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患者特异性纵向虚拟类器官</a:t>
            </a: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工程化基础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0" name="任意多边形 284"/>
          <p:cNvSpPr>
            <a:spLocks noGrp="1"/>
          </p:cNvSpPr>
          <p:nvPr/>
        </p:nvSpPr>
        <p:spPr>
          <a:xfrm>
            <a:off x="530352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1" name="文本框 285"/>
          <p:cNvSpPr>
            <a:spLocks noGrp="1"/>
          </p:cNvSpPr>
          <p:nvPr/>
        </p:nvSpPr>
        <p:spPr>
          <a:xfrm>
            <a:off x="722376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类器官技术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2" name="文本框 286"/>
          <p:cNvSpPr>
            <a:spLocks noGrp="1"/>
          </p:cNvSpPr>
          <p:nvPr/>
        </p:nvSpPr>
        <p:spPr>
          <a:xfrm>
            <a:off x="722376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患者来源类器官（IPTO）能高保真保留肿瘤生态系统，个体差异与微环境同时在线，可纵向追踪演化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3" name="任意多边形 287"/>
          <p:cNvSpPr>
            <a:spLocks noGrp="1"/>
          </p:cNvSpPr>
          <p:nvPr/>
        </p:nvSpPr>
        <p:spPr>
          <a:xfrm>
            <a:off x="3369564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4" name="文本框 288"/>
          <p:cNvSpPr>
            <a:spLocks noGrp="1"/>
          </p:cNvSpPr>
          <p:nvPr/>
        </p:nvSpPr>
        <p:spPr>
          <a:xfrm>
            <a:off x="3561588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成像与测量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5" name="文本框 289"/>
          <p:cNvSpPr>
            <a:spLocks noGrp="1"/>
          </p:cNvSpPr>
          <p:nvPr/>
        </p:nvSpPr>
        <p:spPr>
          <a:xfrm>
            <a:off x="3561588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长时程活细胞成像、高内涵成像、单细胞 / 空间组学，把细胞状态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转化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成可计算的多模态数据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6" name="任意多边形 290"/>
          <p:cNvSpPr>
            <a:spLocks noGrp="1"/>
          </p:cNvSpPr>
          <p:nvPr/>
        </p:nvSpPr>
        <p:spPr>
          <a:xfrm>
            <a:off x="6208776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7" name="文本框 291"/>
          <p:cNvSpPr>
            <a:spLocks noGrp="1"/>
          </p:cNvSpPr>
          <p:nvPr/>
        </p:nvSpPr>
        <p:spPr>
          <a:xfrm>
            <a:off x="6400800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数据与算力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8" name="文本框 292"/>
          <p:cNvSpPr>
            <a:spLocks noGrp="1"/>
          </p:cNvSpPr>
          <p:nvPr/>
        </p:nvSpPr>
        <p:spPr>
          <a:xfrm>
            <a:off x="6400800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多模态数据基础设施成熟，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大规模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训练成本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显著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下降，基础模型级别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工具具备落地可行性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9" name="任意多边形 293"/>
          <p:cNvSpPr>
            <a:spLocks noGrp="1"/>
          </p:cNvSpPr>
          <p:nvPr/>
        </p:nvSpPr>
        <p:spPr>
          <a:xfrm>
            <a:off x="9047988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0" name="文本框 294"/>
          <p:cNvSpPr>
            <a:spLocks noGrp="1"/>
          </p:cNvSpPr>
          <p:nvPr/>
        </p:nvSpPr>
        <p:spPr>
          <a:xfrm>
            <a:off x="9240012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AI </a:t>
            </a: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方法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1" name="文本框 295"/>
          <p:cNvSpPr>
            <a:spLocks noGrp="1"/>
          </p:cNvSpPr>
          <p:nvPr/>
        </p:nvSpPr>
        <p:spPr>
          <a:xfrm>
            <a:off x="9240012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自监督预训练 + 扰动建模，让</a:t>
            </a:r>
            <a:r>
              <a:rPr lang="en-US" altLang="zh-CN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模型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具备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学习“干预后进入什么新状态”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的能力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2" name="矩形 296"/>
          <p:cNvSpPr>
            <a:spLocks noGrp="1"/>
          </p:cNvSpPr>
          <p:nvPr/>
        </p:nvSpPr>
        <p:spPr>
          <a:xfrm>
            <a:off x="530352" y="4114800"/>
            <a:ext cx="11128248" cy="178308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3" name="文本框 297"/>
          <p:cNvSpPr>
            <a:spLocks noGrp="1"/>
          </p:cNvSpPr>
          <p:nvPr/>
        </p:nvSpPr>
        <p:spPr>
          <a:xfrm>
            <a:off x="868680" y="4343400"/>
            <a:ext cx="1042416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四项条件首次同时具备</a:t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9" name="文本框 303"/>
          <p:cNvSpPr>
            <a:spLocks noGrp="1"/>
          </p:cNvSpPr>
          <p:nvPr/>
        </p:nvSpPr>
        <p:spPr>
          <a:xfrm>
            <a:off x="868680" y="4727448"/>
            <a:ext cx="10424160" cy="822960"/>
          </a:xfrm>
          <a:prstGeom prst="rect">
            <a:avLst/>
          </a:prstGeom>
        </p:spPr>
        <p:txBody>
          <a:bodyPr wrap="square" lIns="0" tIns="0" rIns="0" bIns="0">
            <a:normAutofit fontScale="95206"/>
          </a:bodyPr>
          <a:lstStyle/>
          <a:p>
            <a:pPr marL="0" lvl="0" algn="l" defTabSz="914400">
              <a:lnSpc>
                <a:spcPct val="155000"/>
              </a:lnSpc>
              <a:buNone/>
              <a:defRPr sz="1800">
                <a:solidFill>
                  <a:schemeClr val="tx1">
                    <a:alpha val="100000"/>
                  </a:schemeClr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患者来源类器官能保留个体肿瘤特征，多模态测量能把细胞状态变成可计算的数据，算力与 AI 方法能学习「干预后进入什么新状态」——患者特异性的治疗响应与复发预测，第一次从科学设想进入工程可行阶段。</a:t>
            </a:r>
            <a:endParaRPr sz="1275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0" name="文本框 304"/>
          <p:cNvSpPr>
            <a:spLocks noGrp="1"/>
          </p:cNvSpPr>
          <p:nvPr/>
        </p:nvSpPr>
        <p:spPr>
          <a:xfrm>
            <a:off x="868680" y="5440680"/>
            <a:ext cx="1042416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→ 临床证据：类器官已在前瞻性研究中预测患者治疗响应（见下页）</a:t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1" name="文本框 305"/>
          <p:cNvSpPr>
            <a:spLocks noGrp="1"/>
          </p:cNvSpPr>
          <p:nvPr/>
        </p:nvSpPr>
        <p:spPr>
          <a:xfrm>
            <a:off x="533400" y="6381750"/>
            <a:ext cx="17811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§3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2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06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