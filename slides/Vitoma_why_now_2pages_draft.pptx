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10"/>
    <p:sldId id="260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Relationship Id="rId9" Type="http://schemas.openxmlformats.org/officeDocument/2006/relationships/image" Target="../media/hcmi_title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为什么是现在：类器官「能预测」也「保真」，已获多项研究证实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533400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590550" y="1076325"/>
            <a:ext cx="3867150" cy="4191000"/>
          </a:xfrm>
          <a:prstGeom prst="rect">
            <a:avLst/>
          </a:prstGeom>
        </p:spPr>
      </p:pic>
      <p:sp>
        <p:nvSpPr>
          <p:cNvPr id="500" name="作者遮罩"/>
          <p:cNvSpPr/>
          <p:nvPr/>
        </p:nvSpPr>
        <p:spPr>
          <a:xfrm>
            <a:off x="2848356" y="1883664"/>
            <a:ext cx="160020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5545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Tianping Peng,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Weili Tian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Yue Zhuo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 ...</a:t>
            </a:r>
          </a:p>
        </p:txBody>
      </p:sp>
      <p:sp>
        <p:nvSpPr>
          <p:cNvPr id="401" name="证据1说明"/>
          <p:cNvSpPr txBox="1"/>
          <p:nvPr/>
        </p:nvSpPr>
        <p:spPr>
          <a:xfrm>
            <a:off x="530352" y="5422392"/>
            <a:ext cx="400507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1｜能预测｜Peng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2025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IPTO 保留肿瘤生态，前瞻性预测患者治疗响应（PFS / OS，p = 0.034 / 0.033）；本团队成员为共同作者</a:t>
            </a:r>
          </a:p>
        </p:txBody>
      </p:sp>
      <p:sp>
        <p:nvSpPr>
          <p:cNvPr id="402" name="证据2边框"/>
          <p:cNvSpPr txBox="1"/>
          <p:nvPr/>
        </p:nvSpPr>
        <p:spPr>
          <a:xfrm>
            <a:off x="4754880" y="1014984"/>
            <a:ext cx="4005072" cy="4306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/>
        </p:txBody>
      </p:sp>
      <p:pic>
        <p:nvPicPr>
          <p:cNvPr id="403" name="证据2图片" descr="Nature 2026 HCMI 论文标题与作者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18888" y="1078992"/>
            <a:ext cx="3877056" cy="1930774"/>
          </a:xfrm>
          <a:prstGeom prst="rect">
            <a:avLst/>
          </a:prstGeom>
        </p:spPr>
      </p:pic>
      <p:sp>
        <p:nvSpPr>
          <p:cNvPr id="404" name="证据2数字1"/>
          <p:cNvSpPr txBox="1"/>
          <p:nvPr/>
        </p:nvSpPr>
        <p:spPr>
          <a:xfrm>
            <a:off x="4892040" y="3337560"/>
            <a:ext cx="12435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665</a:t>
            </a:r>
          </a:p>
        </p:txBody>
      </p:sp>
      <p:sp>
        <p:nvSpPr>
          <p:cNvPr id="405" name="证据2标签1"/>
          <p:cNvSpPr txBox="1"/>
          <p:nvPr/>
        </p:nvSpPr>
        <p:spPr>
          <a:xfrm>
            <a:off x="4892040" y="3913632"/>
            <a:ext cx="12435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个患者来源模型</a:t>
            </a:r>
          </a:p>
        </p:txBody>
      </p:sp>
      <p:sp>
        <p:nvSpPr>
          <p:cNvPr id="406" name="证据2数字2"/>
          <p:cNvSpPr txBox="1"/>
          <p:nvPr/>
        </p:nvSpPr>
        <p:spPr>
          <a:xfrm>
            <a:off x="6135624" y="3337560"/>
            <a:ext cx="12435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  <p:sp>
        <p:nvSpPr>
          <p:cNvPr id="407" name="证据2标签2"/>
          <p:cNvSpPr txBox="1"/>
          <p:nvPr/>
        </p:nvSpPr>
        <p:spPr>
          <a:xfrm>
            <a:off x="6135624" y="3913632"/>
            <a:ext cx="12435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种癌症</a:t>
            </a:r>
          </a:p>
        </p:txBody>
      </p:sp>
      <p:sp>
        <p:nvSpPr>
          <p:cNvPr id="408" name="证据2数字3"/>
          <p:cNvSpPr txBox="1"/>
          <p:nvPr/>
        </p:nvSpPr>
        <p:spPr>
          <a:xfrm>
            <a:off x="7379208" y="3337560"/>
            <a:ext cx="12435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97.8%</a:t>
            </a:r>
          </a:p>
        </p:txBody>
      </p:sp>
      <p:sp>
        <p:nvSpPr>
          <p:cNvPr id="409" name="证据2标签3"/>
          <p:cNvSpPr txBox="1"/>
          <p:nvPr/>
        </p:nvSpPr>
        <p:spPr>
          <a:xfrm>
            <a:off x="7379208" y="3913632"/>
            <a:ext cx="12435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DNA 特征一致性</a:t>
            </a:r>
          </a:p>
        </p:txBody>
      </p:sp>
      <p:sp>
        <p:nvSpPr>
          <p:cNvPr id="410" name="证据2补充"/>
          <p:cNvSpPr txBox="1"/>
          <p:nvPr/>
        </p:nvSpPr>
        <p:spPr>
          <a:xfrm>
            <a:off x="4937760" y="4343400"/>
            <a:ext cx="363931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421 对「肿瘤–模型」配对：DNA 甲基化一致性 95%，转录组吻合 92%；覆盖结直肠、胰腺、食管及罕见癌种</a:t>
            </a:r>
          </a:p>
        </p:txBody>
      </p:sp>
      <p:sp>
        <p:nvSpPr>
          <p:cNvPr id="411" name="证据2说明"/>
          <p:cNvSpPr txBox="1"/>
          <p:nvPr/>
        </p:nvSpPr>
        <p:spPr>
          <a:xfrm>
            <a:off x="4754880" y="5422392"/>
            <a:ext cx="400507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2｜能保真｜ElHarouni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Nature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2026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人类癌症模型计划（HCMI），Broad 研究所 / 美国国家癌症研究所独立团队；患者来源模型长期传代后仍高度保留原发肿瘤特征</a:t>
            </a:r>
          </a:p>
        </p:txBody>
      </p:sp>
      <p:sp>
        <p:nvSpPr>
          <p:cNvPr id="412" name="结论面板"/>
          <p:cNvSpPr txBox="1"/>
          <p:nvPr/>
        </p:nvSpPr>
        <p:spPr>
          <a:xfrm>
            <a:off x="9006840" y="1014984"/>
            <a:ext cx="2651760" cy="5230368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 wrap="square" lIns="201168" tIns="201168" rIns="201168" bIns="201168" anchor="t">
            <a:no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</a:t>
            </a:r>
          </a:p>
          <a:p>
            <a:pPr algn="l" marL="171450" indent="-171450">
              <a:lnSpc>
                <a:spcPct val="115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能保真：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独立团队在 25 种癌症中证明，患者来源模型长期传代后仍高度保留原发肿瘤特征</a:t>
            </a:r>
          </a:p>
          <a:p>
            <a:pPr algn="l" marL="171450" indent="-171450">
              <a:lnSpc>
                <a:spcPct val="115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能预测：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前瞻性研究证明，类器官可在临床中预测患者治疗响应</a:t>
            </a:r>
          </a:p>
          <a:p>
            <a:pPr algn="l" marL="171450" indent="-171450">
              <a:lnSpc>
                <a:spcPct val="115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下一步：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从单点验证走向纵向校准与标准化交付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→ 第二部分：我们如何补上这一步</a:t>
            </a: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3400" y="6381750"/>
            <a:ext cx="10900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图片与数据来源：Peng T. et al., Cell Stem Cell 32, 652–669 (2025)；ElHarouni D. et al., Nature (2026), doi:10.1038/s41586-026-10806-y（开放获取）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07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0352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2376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2376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369564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3561588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3561588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6208776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6400800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6400800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9047988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9240012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9240012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530352" y="4114800"/>
            <a:ext cx="11128248" cy="178308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868680" y="4343400"/>
            <a:ext cx="1042416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四项条件首次同时具备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868680" y="4727448"/>
            <a:ext cx="10424160" cy="82296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患者来源类器官能保留个体肿瘤特征，多模态测量能把细胞状态变成可计算的数据，算力与 AI 方法能学习「干预后进入什么新状态」——患者特异性的治疗响应与复发预测，第一次从科学设想进入工程可行阶段。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868680" y="5440680"/>
            <a:ext cx="1042416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临床证据：类器官已在前瞻性研究中预测患者治疗响应（见下页）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