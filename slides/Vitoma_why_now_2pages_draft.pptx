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10"/>
    <p:sldId id="260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4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为什么是现在：类器官预测患者治疗响应，已获独立研究证实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533400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590550" y="1076325"/>
            <a:ext cx="3867150" cy="4191000"/>
          </a:xfrm>
          <a:prstGeom prst="rect">
            <a:avLst/>
          </a:prstGeom>
        </p:spPr>
      </p:pic>
      <p:sp>
        <p:nvSpPr>
          <p:cNvPr id="500" name="作者遮罩"/>
          <p:cNvSpPr/>
          <p:nvPr/>
        </p:nvSpPr>
        <p:spPr>
          <a:xfrm>
            <a:off x="2848356" y="1883664"/>
            <a:ext cx="160020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5545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Tianping Peng,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Weili Tian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Yue Zhuo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 ...</a:t>
            </a:r>
          </a:p>
        </p:txBody>
      </p:sp>
      <p:sp>
        <p:nvSpPr>
          <p:cNvPr id="401" name="证据1说明"/>
          <p:cNvSpPr txBox="1"/>
          <p:nvPr/>
        </p:nvSpPr>
        <p:spPr>
          <a:xfrm>
            <a:off x="530352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1｜Peng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2025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IPTO 保留肿瘤生态，前瞻性预测患者治疗响应（PFS / OS，p = 0.034 / 0.033）；本团队成员为共同作者</a:t>
            </a:r>
          </a:p>
        </p:txBody>
      </p:sp>
      <p:sp>
        <p:nvSpPr>
          <p:cNvPr id="402" name="证据2图片占位"/>
          <p:cNvSpPr txBox="1"/>
          <p:nvPr/>
        </p:nvSpPr>
        <p:spPr>
          <a:xfrm>
            <a:off x="4754880" y="1014984"/>
            <a:ext cx="4005072" cy="4306824"/>
          </a:xfrm>
          <a:prstGeom prst="rect">
            <a:avLst/>
          </a:prstGeom>
          <a:solidFill>
            <a:srgbClr val="F2F5F9"/>
          </a:solidFill>
          <a:ln w="9525">
            <a:solidFill>
              <a:srgbClr val="99BDED"/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  <a:spcAft>
                <a:spcPts val="300"/>
              </a:spcAft>
              <a:buNone/>
            </a:pPr>
            <a:r>
              <a:rPr lang="zh-CN" altLang="en-US" sz="1400" b="1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证据 2 配图</a:t>
            </a:r>
          </a:p>
          <a:p>
            <a:pPr algn="ctr">
              <a:lnSpc>
                <a:spcPct val="120000"/>
              </a:lnSpc>
              <a:buNone/>
            </a:pPr>
            <a:r>
              <a:rPr lang="zh-CN" altLang="en-US" sz="1100">
                <a:solidFill>
                  <a:srgbClr val="8496B0"/>
                </a:solidFill>
                <a:latin typeface="微软雅黑"/>
                <a:ea typeface="微软雅黑"/>
                <a:cs typeface="微软雅黑"/>
              </a:rPr>
              <a:t>待放入微信文章中论文的关键图</a:t>
            </a:r>
          </a:p>
        </p:txBody>
      </p:sp>
      <p:sp>
        <p:nvSpPr>
          <p:cNvPr id="403" name="证据2说明"/>
          <p:cNvSpPr txBox="1"/>
          <p:nvPr/>
        </p:nvSpPr>
        <p:spPr>
          <a:xfrm>
            <a:off x="4754880" y="5422392"/>
            <a:ext cx="400507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2｜（论文作者、期刊、年份待补充）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（一句话结论待补充：该研究在哪个瘤种、用什么方法证明类器官 / AI 可预测患者治疗响应）</a:t>
            </a:r>
          </a:p>
        </p:txBody>
      </p:sp>
      <p:sp>
        <p:nvSpPr>
          <p:cNvPr id="404" name="结论面板"/>
          <p:cNvSpPr txBox="1"/>
          <p:nvPr/>
        </p:nvSpPr>
        <p:spPr>
          <a:xfrm>
            <a:off x="9006840" y="1014984"/>
            <a:ext cx="2651760" cy="5230368"/>
          </a:xfrm>
          <a:prstGeom prst="rect">
            <a:avLst/>
          </a:prstGeom>
          <a:solidFill>
            <a:srgbClr val="061F32"/>
          </a:solidFill>
        </p:spPr>
        <p:txBody>
          <a:bodyPr wrap="square" lIns="201168" tIns="201168" rIns="201168" bIns="201168" anchor="t">
            <a:no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时机已到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不止我们：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独立研究团队已在肿瘤治疗领域证明，患者来源类器官可在临床场景中预测治疗响应</a:t>
            </a:r>
          </a:p>
          <a:p>
            <a:pPr algn="l" marL="171450" indent="-171450">
              <a:lnSpc>
                <a:spcPct val="12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2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从「能不能」到「怎么规模化」：</a:t>
            </a:r>
            <a:r>
              <a:rPr lang="zh-CN" altLang="en-US" sz="12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科学可行性已被验证，下一步是纵向校准与标准化交付</a:t>
            </a:r>
          </a:p>
          <a:p>
            <a:pPr algn="l">
              <a:lnSpc>
                <a:spcPct val="120000"/>
              </a:lnSpc>
              <a:buNone/>
            </a:pPr>
            <a:r>
              <a:rPr lang="zh-CN" altLang="en-US" sz="12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→ 第二部分：我们如何补上这一步</a:t>
            </a: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3400" y="6381750"/>
            <a:ext cx="48863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Peng et al., Cell Stem Cell 32, 652–669 (2025)；证据 2 出处待补充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07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0352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2376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2376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369564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3561588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3561588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6208776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6400800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6400800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9047988" y="1380744"/>
            <a:ext cx="2610612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9240012" y="1581912"/>
            <a:ext cx="2290572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9240012" y="1965960"/>
            <a:ext cx="2290572" cy="173736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530352" y="4114800"/>
            <a:ext cx="11128248" cy="178308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868680" y="4343400"/>
            <a:ext cx="1042416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四项条件首次同时具备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868680" y="4727448"/>
            <a:ext cx="10424160" cy="82296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患者来源类器官能保留个体肿瘤特征，多模态测量能把细胞状态变成可计算的数据，算力与 AI 方法能学习「干预后进入什么新状态」——患者特异性的治疗响应与复发预测，第一次从科学设想进入工程可行阶段。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868680" y="5440680"/>
            <a:ext cx="1042416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临床证据：类器官已在前瞻性研究中预测患者治疗响应（见下页）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09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