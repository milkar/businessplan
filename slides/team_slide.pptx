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团队" id="{bffaaaff-c1e7-0253-b135-8301481e224e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四位成员同属创始团队。卓悦博士的介绍来自简历（2026-08）与用户补充；田伟利、王中杰、兰晓静的介绍来自原 BP 与用户补充。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Vitoma｜AIVC 虚拟类器官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团队：从类器官到 AI，飞轮的每一环都有人负责</a:t>
            </a:r>
            <a:endParaRPr lang="en-US" sz="3000" dirty="0"/>
          </a:p>
        </p:txBody>
      </p:sp>
      <p:sp>
        <p:nvSpPr>
          <p:cNvPr id="3" name="card-0"/>
          <p:cNvSpPr/>
          <p:nvPr/>
        </p:nvSpPr>
        <p:spPr>
          <a:xfrm>
            <a:off x="548640" y="1097280"/>
            <a:ext cx="2567178" cy="292608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234440"/>
            <a:ext cx="2201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卓悦 博士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609344"/>
            <a:ext cx="22014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CEO 首席执行官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11680"/>
            <a:ext cx="229285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创立 Verqura 实验室管理系统，打通样本、实验与数据管理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精通 iPSC 脑类器官构建、CRISPR 基因组编辑与标记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海德堡大学 / DKFZ 发育生物学博士，获亥姆霍兹研究生院奖学金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Cell Stem Cell 2025、npj Precis Oncol 2024 作者；擅长单细胞组学与图像 AI</a:t>
            </a:r>
            <a:endParaRPr lang="en-US" sz="1100" dirty="0"/>
          </a:p>
        </p:txBody>
      </p:sp>
      <p:sp>
        <p:nvSpPr>
          <p:cNvPr id="7" name="card-1"/>
          <p:cNvSpPr/>
          <p:nvPr/>
        </p:nvSpPr>
        <p:spPr>
          <a:xfrm>
            <a:off x="3390138" y="1097280"/>
            <a:ext cx="2567178" cy="292608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1306" y="1234440"/>
            <a:ext cx="2201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田伟利 博士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591306" y="1609344"/>
            <a:ext cx="22014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CSO 首席科学官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54730" y="2011680"/>
            <a:ext cx="229285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DKFZ / 海德堡大学分子神经遗传学资深科学家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深耕神经调控与脑类器官方向，长期研究胶质母细胞瘤复发与耐药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霍英东杰出青年学者；主持欧中重大科研项目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Cell Stem Cell 2025、npj Precis Oncol 2024 核心成员</a:t>
            </a:r>
            <a:endParaRPr lang="en-US" sz="1100" dirty="0"/>
          </a:p>
        </p:txBody>
      </p:sp>
      <p:sp>
        <p:nvSpPr>
          <p:cNvPr id="11" name="card-2"/>
          <p:cNvSpPr/>
          <p:nvPr/>
        </p:nvSpPr>
        <p:spPr>
          <a:xfrm>
            <a:off x="6231636" y="1097280"/>
            <a:ext cx="2567178" cy="292608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2804" y="1234440"/>
            <a:ext cx="2201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王中杰 博士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32804" y="1609344"/>
            <a:ext cx="22014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CTO 首席技术官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96228" y="2011680"/>
            <a:ext cx="229285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巴斯德研究所博士后；曾任职哈佛医学院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精通大规模计算与机器学习预测建模，近 10 年多组学分析经验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擅长搭建端到端可复用分析流程，支撑临床与生物医药项目的数据挖掘与决策输出</a:t>
            </a:r>
            <a:endParaRPr lang="en-US" sz="1100" dirty="0"/>
          </a:p>
        </p:txBody>
      </p:sp>
      <p:sp>
        <p:nvSpPr>
          <p:cNvPr id="15" name="card-3"/>
          <p:cNvSpPr/>
          <p:nvPr/>
        </p:nvSpPr>
        <p:spPr>
          <a:xfrm>
            <a:off x="9073134" y="1097280"/>
            <a:ext cx="2567178" cy="292608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74302" y="1234440"/>
            <a:ext cx="2201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兰晓静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274302" y="1609344"/>
            <a:ext cx="22014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COO 首席运营官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237726" y="2011680"/>
            <a:ext cx="2292858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海德堡大学经济学硕士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浙江大学管理学学士，就读竺可桢学院创业与创新管理强化班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FRM 持证；国际金融机构风控合规与跨境尽调经验</a:t>
            </a:r>
            <a:endParaRPr lang="en-US" sz="1100" dirty="0"/>
          </a:p>
        </p:txBody>
      </p:sp>
      <p:graphicFrame>
        <p:nvGraphicFramePr>
          <p:cNvPr id="2" name="rol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45920"/>
                <a:gridCol w="752551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职务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成员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核心职责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CEO 首席执行官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卓悦 博士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公司战略与融资；实验数字化与数据标准（Verqura）；关键合作伙伴关系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CSO 首席科学官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田伟利 博士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科学路线与类器官体系；临床合作与三级验证设计；疾病机制研究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CTO 首席技术官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王中杰 博士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AIVC 预测模型；大规模计算与多模态 / 自监督 / 因果建模；数据平台与算力架构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COO 首席运营官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兰晓静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3"/>
                          </a:solidFill>
                        </a:rPr>
                        <a:t>运营与项目管理；财务与合规（人类遗传资源、数据安全）；商务拓展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7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548640" y="608076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团队即壁垒：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患者采样 → 类器官建立 → 数据构建 → 模型迭代 → 前瞻验证，全链路在团队内部闭环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toma">
  <a:themeElements>
    <a:clrScheme name="Vitoma">
      <a:dk1>
        <a:srgbClr val="1B2A33"/>
      </a:dk1>
      <a:lt1>
        <a:srgbClr val="FFFFFF"/>
      </a:lt1>
      <a:dk2>
        <a:srgbClr val="0B3C5D"/>
      </a:dk2>
      <a:lt2>
        <a:srgbClr val="EEF4F4"/>
      </a:lt2>
      <a:accent1>
        <a:srgbClr val="0B3C5D"/>
      </a:accent1>
      <a:accent2>
        <a:srgbClr val="1FA39A"/>
      </a:accent2>
      <a:accent3>
        <a:srgbClr val="7FC8C0"/>
      </a:accent3>
      <a:accent4>
        <a:srgbClr val="F2A541"/>
      </a:accent4>
      <a:accent5>
        <a:srgbClr val="5B6B73"/>
      </a:accent5>
      <a:accent6>
        <a:srgbClr val="D9E7E6"/>
      </a:accent6>
      <a:hlink>
        <a:srgbClr val="1FA39A"/>
      </a:hlink>
      <a:folHlink>
        <a:srgbClr val="0B3C5D"/>
      </a:folHlink>
    </a:clrScheme>
    <a:fontScheme name="Vitoma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Vitoma 团队</dc:title>
  <dc:subject>PptxGenJS Presentation</dc:subject>
  <dc:creator>PptxGenJS</dc:creator>
  <cp:lastModifiedBy>PptxGenJS</cp:lastModifiedBy>
  <cp:revision>1</cp:revision>
  <dcterms:created xsi:type="dcterms:W3CDTF">2026-10-06T20:11:13Z</dcterms:created>
  <dcterms:modified xsi:type="dcterms:W3CDTF">2026-10-06T20:11:13Z</dcterms:modified>
</cp:coreProperties>
</file>