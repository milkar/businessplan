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3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0" r:id="rId18"/>
    <p:sldId id="272" r:id="rId20"/>
    <p:sldId id="259" r:id="rId7"/>
    <p:sldId id="273" r:id="rId21"/>
    <p:sldId id="271" r:id="rId19"/>
    <p:sldId id="266" r:id="rId14"/>
    <p:sldId id="262" r:id="rId10"/>
    <p:sldId id="261" r:id="rId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" Target="slides/slide6.xml"/><Relationship Id="rId7" Type="http://schemas.openxmlformats.org/officeDocument/2006/relationships/slide" Target="slides/slide4.xml"/><Relationship Id="rId4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4" Type="http://schemas.openxmlformats.org/officeDocument/2006/relationships/slide" Target="slides/slide1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技术依据：虚拟实现路径提出 Patient-specific longitudinal virtual organoid，以同一患者体内轨迹与体外 PDO 平行实验系统进行纵向校准；AIVC_BUSINESS_PLAN_ZH_SELF_CONTAINED_EXPORT 明确首个场景应由样本可获得、类器官可靠、决策窗口适配和结局可评分决定，且不代表特定瘤种已经完成筛选。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技术依据：AIVC_BUSINESS_PLAN_ZH_SELF_CONTAINED_EXPORT 强调每一轮先评分再更新；基础模型评测支持把扰动实验作为观测证据，而不是假定模型已经具备可靠因果模拟能力。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外部事实核对：Tahoe Therapeutics 2025-08-11 宣布 3000 万美元 A 轮，总融资 4200 万美元，Forbes 报道估值 1.2 亿美元；Arc Institute 2026-02-24 宣布入选 TED Audacious Project 2025 cohort，年度资助池 10.3 亿美元；CZI 2025 年披露将科学 AI 算力扩至 10,000 GPUs；英灵殿科技官网/公开报道披露三个月累计融资近 5000 万美元；投资界 2026 年报道深度细胞近亿元种子轮。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svg"/><Relationship Id="rId1" Type="http://schemas.openxmlformats.org/officeDocument/2006/relationships/image" Target="../media/image1.png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" name="矩形 22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67" name="文本框 229"/>
          <p:cNvSpPr>
            <a:spLocks noGrp="1"/>
          </p:cNvSpPr>
          <p:nvPr/>
        </p:nvSpPr>
        <p:spPr>
          <a:xfrm>
            <a:off x="533400" y="419100"/>
            <a:ext cx="111252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单位经济：样本越多，模型越准，单样本成本越低</a:t>
            </a:r>
            <a:endParaRPr sz="24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8" name="矩形 230"/>
          <p:cNvSpPr>
            <a:spLocks noGrp="1"/>
          </p:cNvSpPr>
          <p:nvPr/>
        </p:nvSpPr>
        <p:spPr>
          <a:xfrm>
            <a:off x="533400" y="8953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69" name="任意多边形 231"/>
          <p:cNvSpPr>
            <a:spLocks noGrp="1"/>
          </p:cNvSpPr>
          <p:nvPr/>
        </p:nvSpPr>
        <p:spPr>
          <a:xfrm>
            <a:off x="533400" y="1019175"/>
            <a:ext cx="3543300" cy="1809750"/>
          </a:xfrm>
          <a:custGeom>
            <a:avLst/>
            <a:gdLst/>
            <a:ahLst/>
            <a:cxnLst/>
            <a:pathLst>
              <a:path w="372" h="190">
                <a:moveTo>
                  <a:pt x="0" y="0"/>
                </a:moveTo>
                <a:lnTo>
                  <a:pt x="4" y="0"/>
                </a:lnTo>
                <a:lnTo>
                  <a:pt x="4" y="190"/>
                </a:lnTo>
                <a:lnTo>
                  <a:pt x="0" y="190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70" name="文本框 232"/>
          <p:cNvSpPr>
            <a:spLocks noGrp="1"/>
          </p:cNvSpPr>
          <p:nvPr/>
        </p:nvSpPr>
        <p:spPr>
          <a:xfrm>
            <a:off x="800100" y="1190625"/>
            <a:ext cx="3238500" cy="1009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66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2.9</a:t>
            </a:r>
            <a:r>
              <a:rPr sz="30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万元</a:t>
            </a:r>
            <a:r>
              <a:rPr sz="30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 / 例</a:t>
            </a:r>
            <a:endParaRPr sz="3000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1" name="文本框 233"/>
          <p:cNvSpPr>
            <a:spLocks noGrp="1"/>
          </p:cNvSpPr>
          <p:nvPr/>
        </p:nvSpPr>
        <p:spPr>
          <a:xfrm>
            <a:off x="800100" y="2333625"/>
            <a:ext cx="32385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单例湿实验直接成本（深度读出另计）</a:t>
            </a:r>
            <a:endParaRPr sz="1500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2" name="任意多边形 234"/>
          <p:cNvSpPr>
            <a:spLocks noGrp="1"/>
          </p:cNvSpPr>
          <p:nvPr/>
        </p:nvSpPr>
        <p:spPr>
          <a:xfrm>
            <a:off x="4343400" y="1019175"/>
            <a:ext cx="3543300" cy="1809750"/>
          </a:xfrm>
          <a:custGeom>
            <a:avLst/>
            <a:gdLst/>
            <a:ahLst/>
            <a:cxnLst/>
            <a:pathLst>
              <a:path w="372" h="190">
                <a:moveTo>
                  <a:pt x="0" y="0"/>
                </a:moveTo>
                <a:lnTo>
                  <a:pt x="4" y="0"/>
                </a:lnTo>
                <a:lnTo>
                  <a:pt x="4" y="190"/>
                </a:lnTo>
                <a:lnTo>
                  <a:pt x="0" y="190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73" name="文本框 235"/>
          <p:cNvSpPr>
            <a:spLocks noGrp="1"/>
          </p:cNvSpPr>
          <p:nvPr/>
        </p:nvSpPr>
        <p:spPr>
          <a:xfrm>
            <a:off x="4610100" y="1190625"/>
            <a:ext cx="3238500" cy="1009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66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1/5</a:t>
            </a:r>
            <a:r>
              <a:rPr sz="30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30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30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/>
            </a:r>
            <a:endParaRPr sz="3000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4" name="文本框 236"/>
          <p:cNvSpPr>
            <a:spLocks noGrp="1"/>
          </p:cNvSpPr>
          <p:nvPr/>
        </p:nvSpPr>
        <p:spPr>
          <a:xfrm>
            <a:off x="4610100" y="2333625"/>
            <a:ext cx="32385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每样本算力成本：600 → 120 元</a:t>
            </a:r>
            <a:endParaRPr sz="1500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5" name="任意多边形 237"/>
          <p:cNvSpPr>
            <a:spLocks noGrp="1"/>
          </p:cNvSpPr>
          <p:nvPr/>
        </p:nvSpPr>
        <p:spPr>
          <a:xfrm>
            <a:off x="8153400" y="1019175"/>
            <a:ext cx="3543300" cy="1809750"/>
          </a:xfrm>
          <a:custGeom>
            <a:avLst/>
            <a:gdLst/>
            <a:ahLst/>
            <a:cxnLst/>
            <a:pathLst>
              <a:path w="372" h="190">
                <a:moveTo>
                  <a:pt x="0" y="0"/>
                </a:moveTo>
                <a:lnTo>
                  <a:pt x="4" y="0"/>
                </a:lnTo>
                <a:lnTo>
                  <a:pt x="4" y="190"/>
                </a:lnTo>
                <a:lnTo>
                  <a:pt x="0" y="190"/>
                </a:lnTo>
                <a:close/>
              </a:path>
            </a:pathLst>
          </a:custGeom>
          <a:solidFill>
            <a:srgbClr val="5A0E13"/>
          </a:solidFill>
        </p:spPr>
        <p:txBody>
          <a:bodyPr/>
          <a:lstStyle/>
          <a:p/>
        </p:txBody>
      </p:sp>
      <p:sp>
        <p:nvSpPr>
          <p:cNvPr id="276" name="文本框 238"/>
          <p:cNvSpPr>
            <a:spLocks noGrp="1"/>
          </p:cNvSpPr>
          <p:nvPr/>
        </p:nvSpPr>
        <p:spPr>
          <a:xfrm>
            <a:off x="8420100" y="1028700"/>
            <a:ext cx="3238500" cy="1009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6600" b="1">
                <a:solidFill>
                  <a:srgbClr val="5A0E13"/>
                </a:solidFill>
                <a:latin typeface="微软雅黑"/>
                <a:ea typeface="微软雅黑"/>
                <a:cs typeface="微软雅黑"/>
              </a:rPr>
              <a:t>递减</a:t>
            </a:r>
            <a:endParaRPr sz="6600" b="1">
              <a:solidFill>
                <a:srgbClr val="5A0E1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7" name="文本框 239"/>
          <p:cNvSpPr>
            <a:spLocks noGrp="1"/>
          </p:cNvSpPr>
          <p:nvPr/>
        </p:nvSpPr>
        <p:spPr>
          <a:xfrm>
            <a:off x="8420100" y="2171700"/>
            <a:ext cx="323850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  <a:buNone/>
            </a:pPr>
            <a:r>
              <a: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样本 ×500，算力总成本仅 ×100</a:t>
            </a:r>
            <a:endParaRPr sz="1500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8" name="矩形 240"/>
          <p:cNvSpPr>
            <a:spLocks noGrp="1"/>
          </p:cNvSpPr>
          <p:nvPr/>
        </p:nvSpPr>
        <p:spPr>
          <a:xfrm>
            <a:off x="533400" y="3038475"/>
            <a:ext cx="11125200" cy="1257300"/>
          </a:xfrm>
          <a:prstGeom prst="rect">
            <a:avLst/>
          </a:prstGeom>
          <a:solidFill>
            <a:srgbClr val="F5F5F5"/>
          </a:solidFill>
        </p:spPr>
        <p:txBody>
          <a:bodyPr/>
          <a:lstStyle/>
          <a:p/>
        </p:txBody>
      </p:sp>
      <p:sp>
        <p:nvSpPr>
          <p:cNvPr id="279" name="文本框 241"/>
          <p:cNvSpPr>
            <a:spLocks noGrp="1"/>
          </p:cNvSpPr>
          <p:nvPr/>
        </p:nvSpPr>
        <p:spPr>
          <a:xfrm>
            <a:off x="800100" y="3248025"/>
            <a:ext cx="10591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王中杰博士测算：样本规模每上一个台阶，每样本算力成本随之下降：</a:t>
            </a:r>
            <a:endParaRPr sz="1350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0" name="矩形 242"/>
          <p:cNvSpPr>
            <a:spLocks noGrp="1"/>
          </p:cNvSpPr>
          <p:nvPr/>
        </p:nvSpPr>
        <p:spPr>
          <a:xfrm>
            <a:off x="800100" y="3590925"/>
            <a:ext cx="295275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  <p:txBody>
          <a:bodyPr/>
          <a:lstStyle/>
          <a:p/>
        </p:txBody>
      </p:sp>
      <p:sp>
        <p:nvSpPr>
          <p:cNvPr id="281" name="文本框 243"/>
          <p:cNvSpPr>
            <a:spLocks noGrp="1"/>
          </p:cNvSpPr>
          <p:nvPr/>
        </p:nvSpPr>
        <p:spPr>
          <a:xfrm>
            <a:off x="971550" y="3724275"/>
            <a:ext cx="26098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1,000 样本：300 元</a:t>
            </a:r>
            <a:endParaRPr sz="15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11" name="图片 24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05250" y="3743325"/>
            <a:ext cx="266700" cy="190500"/>
          </a:xfrm>
          <a:prstGeom prst="rect">
            <a:avLst/>
          </a:prstGeom>
        </p:spPr>
      </p:pic>
      <p:sp>
        <p:nvSpPr>
          <p:cNvPr id="283" name="矩形 245"/>
          <p:cNvSpPr>
            <a:spLocks noGrp="1"/>
          </p:cNvSpPr>
          <p:nvPr/>
        </p:nvSpPr>
        <p:spPr>
          <a:xfrm>
            <a:off x="4324350" y="3590925"/>
            <a:ext cx="295275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  <p:txBody>
          <a:bodyPr/>
          <a:lstStyle/>
          <a:p/>
        </p:txBody>
      </p:sp>
      <p:sp>
        <p:nvSpPr>
          <p:cNvPr id="284" name="文本框 246"/>
          <p:cNvSpPr>
            <a:spLocks noGrp="1"/>
          </p:cNvSpPr>
          <p:nvPr/>
        </p:nvSpPr>
        <p:spPr>
          <a:xfrm>
            <a:off x="4495800" y="3724275"/>
            <a:ext cx="26098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1 万样本：150 元</a:t>
            </a:r>
            <a:endParaRPr sz="15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14" name="图片 24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29500" y="3743325"/>
            <a:ext cx="266700" cy="190500"/>
          </a:xfrm>
          <a:prstGeom prst="rect">
            <a:avLst/>
          </a:prstGeom>
        </p:spPr>
      </p:pic>
      <p:sp>
        <p:nvSpPr>
          <p:cNvPr id="286" name="矩形 248"/>
          <p:cNvSpPr>
            <a:spLocks noGrp="1"/>
          </p:cNvSpPr>
          <p:nvPr/>
        </p:nvSpPr>
        <p:spPr>
          <a:xfrm>
            <a:off x="7848600" y="3590925"/>
            <a:ext cx="3543300" cy="495300"/>
          </a:xfrm>
          <a:prstGeom prst="rect">
            <a:avLst/>
          </a:prstGeom>
          <a:solidFill>
            <a:srgbClr val="FFFFFF"/>
          </a:solidFill>
          <a:ln w="19050">
            <a:solidFill>
              <a:srgbClr val="5A0E13"/>
            </a:solidFill>
            <a:prstDash val="solid"/>
          </a:ln>
        </p:spPr>
        <p:txBody>
          <a:bodyPr/>
          <a:lstStyle/>
          <a:p/>
        </p:txBody>
      </p:sp>
      <p:sp>
        <p:nvSpPr>
          <p:cNvPr id="287" name="文本框 249"/>
          <p:cNvSpPr>
            <a:spLocks noGrp="1"/>
          </p:cNvSpPr>
          <p:nvPr/>
        </p:nvSpPr>
        <p:spPr>
          <a:xfrm>
            <a:off x="8020050" y="3724275"/>
            <a:ext cx="32004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5A0E13"/>
                </a:solidFill>
                <a:latin typeface="微软雅黑"/>
                <a:ea typeface="微软雅黑"/>
                <a:cs typeface="微软雅黑"/>
              </a:rPr>
              <a:t>5 万样本：120 元</a:t>
            </a:r>
            <a:endParaRPr sz="1500" b="1">
              <a:solidFill>
                <a:srgbClr val="5A0E1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8" name="矩形 250"/>
          <p:cNvSpPr>
            <a:spLocks noGrp="1"/>
          </p:cNvSpPr>
          <p:nvPr/>
        </p:nvSpPr>
        <p:spPr>
          <a:xfrm>
            <a:off x="533400" y="4505325"/>
            <a:ext cx="11125200" cy="1733550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89" name="文本框 251"/>
          <p:cNvSpPr>
            <a:spLocks noGrp="1"/>
          </p:cNvSpPr>
          <p:nvPr/>
        </p:nvSpPr>
        <p:spPr>
          <a:xfrm>
            <a:off x="800100" y="4867275"/>
            <a:ext cx="10591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 spc="150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规模效应</a:t>
            </a:r>
            <a:endParaRPr sz="1350" b="1" spc="150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0" name="文本框 252"/>
          <p:cNvSpPr>
            <a:spLocks noGrp="1"/>
          </p:cNvSpPr>
          <p:nvPr/>
        </p:nvSpPr>
        <p:spPr>
          <a:xfrm>
            <a:off x="800100" y="5153025"/>
            <a:ext cx="1059180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57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每个付费项目同时沉淀新的配对数据：模型更准，下一个项目的交付成本更低——服务收入与模型资产同步增长。单例 / 单项目定价与毛利率【待补充】。</a:t>
            </a:r>
            <a:endParaRPr sz="157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1" name="文本框 253"/>
          <p:cNvSpPr>
            <a:spLocks noGrp="1"/>
          </p:cNvSpPr>
          <p:nvPr/>
        </p:nvSpPr>
        <p:spPr>
          <a:xfrm>
            <a:off x="533400" y="6381750"/>
            <a:ext cx="28289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Source: 卓悦博士预算模拟；王中杰博士《数据计算成本扩张表》</a:t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2" name="文本框 254"/>
          <p:cNvSpPr>
            <a:spLocks noGrp="1"/>
          </p:cNvSpPr>
          <p:nvPr/>
        </p:nvSpPr>
        <p:spPr>
          <a:xfrm>
            <a:off x="11201400" y="63817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03 / 08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8" name="矩形 28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19" name="文本框 281"/>
          <p:cNvSpPr>
            <a:spLocks noGrp="1"/>
          </p:cNvSpPr>
          <p:nvPr/>
        </p:nvSpPr>
        <p:spPr>
          <a:xfrm>
            <a:off x="533400" y="419100"/>
            <a:ext cx="111252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投资回报：三次价值跃升，每一次都降低一级风险</a:t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endParaRPr sz="24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0" name="矩形 282"/>
          <p:cNvSpPr>
            <a:spLocks noGrp="1"/>
          </p:cNvSpPr>
          <p:nvPr/>
        </p:nvSpPr>
        <p:spPr>
          <a:xfrm>
            <a:off x="533400" y="8953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21" name="文本框 283"/>
          <p:cNvSpPr>
            <a:spLocks noGrp="1"/>
          </p:cNvSpPr>
          <p:nvPr/>
        </p:nvSpPr>
        <p:spPr>
          <a:xfrm>
            <a:off x="533400" y="1019175"/>
            <a:ext cx="65722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每过一道闸门，风险降一级、证据升一级</a:t>
            </a:r>
            <a:endParaRPr sz="15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2" name="任意多边形 284"/>
          <p:cNvSpPr>
            <a:spLocks noGrp="1"/>
          </p:cNvSpPr>
          <p:nvPr/>
        </p:nvSpPr>
        <p:spPr>
          <a:xfrm>
            <a:off x="533400" y="1381125"/>
            <a:ext cx="3219450" cy="2390775"/>
          </a:xfrm>
          <a:custGeom>
            <a:avLst/>
            <a:gdLst/>
            <a:ahLst/>
            <a:cxnLst/>
            <a:pathLst>
              <a:path w="338" h="251">
                <a:moveTo>
                  <a:pt x="0" y="0"/>
                </a:moveTo>
                <a:lnTo>
                  <a:pt x="338" y="0"/>
                </a:lnTo>
                <a:lnTo>
                  <a:pt x="338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23" name="文本框 285"/>
          <p:cNvSpPr>
            <a:spLocks noGrp="1"/>
          </p:cNvSpPr>
          <p:nvPr/>
        </p:nvSpPr>
        <p:spPr>
          <a:xfrm>
            <a:off x="723900" y="1581150"/>
            <a:ext cx="2838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第 6 个月｜科学可行</a:t>
            </a:r>
            <a:endParaRPr sz="165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4" name="文本框 286"/>
          <p:cNvSpPr>
            <a:spLocks noGrp="1"/>
          </p:cNvSpPr>
          <p:nvPr/>
        </p:nvSpPr>
        <p:spPr>
          <a:xfrm>
            <a:off x="723900" y="1933575"/>
            <a:ext cx="2838450" cy="876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实验体系稳定复现，证明患者–PDO 配对可规模化执行</a:t>
            </a:r>
            <a:endParaRPr sz="127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5" name="任意多边形 287"/>
          <p:cNvSpPr>
            <a:spLocks noGrp="1"/>
          </p:cNvSpPr>
          <p:nvPr/>
        </p:nvSpPr>
        <p:spPr>
          <a:xfrm>
            <a:off x="3886200" y="1381125"/>
            <a:ext cx="3219450" cy="2390775"/>
          </a:xfrm>
          <a:custGeom>
            <a:avLst/>
            <a:gdLst/>
            <a:ahLst/>
            <a:cxnLst/>
            <a:pathLst>
              <a:path w="338" h="251">
                <a:moveTo>
                  <a:pt x="0" y="0"/>
                </a:moveTo>
                <a:lnTo>
                  <a:pt x="338" y="0"/>
                </a:lnTo>
                <a:lnTo>
                  <a:pt x="338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26" name="文本框 288"/>
          <p:cNvSpPr>
            <a:spLocks noGrp="1"/>
          </p:cNvSpPr>
          <p:nvPr/>
        </p:nvSpPr>
        <p:spPr>
          <a:xfrm>
            <a:off x="4076700" y="1581150"/>
            <a:ext cx="2838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第 12 个月｜商业验证</a:t>
            </a:r>
            <a:endParaRPr sz="165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7" name="文本框 289"/>
          <p:cNvSpPr>
            <a:spLocks noGrp="1"/>
          </p:cNvSpPr>
          <p:nvPr/>
        </p:nvSpPr>
        <p:spPr>
          <a:xfrm>
            <a:off x="4076700" y="1933575"/>
            <a:ext cx="2838450" cy="876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首个付费项目 + 回顾性 AUROC + 双轨迹校准首个结果</a:t>
            </a:r>
            <a:endParaRPr sz="127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8" name="任意多边形 290"/>
          <p:cNvSpPr>
            <a:spLocks noGrp="1"/>
          </p:cNvSpPr>
          <p:nvPr/>
        </p:nvSpPr>
        <p:spPr>
          <a:xfrm>
            <a:off x="533400" y="3876675"/>
            <a:ext cx="3219450" cy="2390775"/>
          </a:xfrm>
          <a:custGeom>
            <a:avLst/>
            <a:gdLst/>
            <a:ahLst/>
            <a:cxnLst/>
            <a:pathLst>
              <a:path w="338" h="251">
                <a:moveTo>
                  <a:pt x="0" y="0"/>
                </a:moveTo>
                <a:lnTo>
                  <a:pt x="338" y="0"/>
                </a:lnTo>
                <a:lnTo>
                  <a:pt x="338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29" name="文本框 291"/>
          <p:cNvSpPr>
            <a:spLocks noGrp="1"/>
          </p:cNvSpPr>
          <p:nvPr/>
        </p:nvSpPr>
        <p:spPr>
          <a:xfrm>
            <a:off x="723900" y="4076700"/>
            <a:ext cx="2838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下一轮｜临床证据</a:t>
            </a:r>
            <a:endParaRPr sz="165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0" name="文本框 292"/>
          <p:cNvSpPr>
            <a:spLocks noGrp="1"/>
          </p:cNvSpPr>
          <p:nvPr/>
        </p:nvSpPr>
        <p:spPr>
          <a:xfrm>
            <a:off x="723900" y="4429125"/>
            <a:ext cx="2838450" cy="876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多中心前瞻性评分与 AIVC v1 发布，支撑 A 轮融资</a:t>
            </a:r>
            <a:r>
              <a:rPr lang="zh-CN" altLang="en-US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endParaRPr sz="127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1" name="任意多边形 293"/>
          <p:cNvSpPr>
            <a:spLocks noGrp="1"/>
          </p:cNvSpPr>
          <p:nvPr/>
        </p:nvSpPr>
        <p:spPr>
          <a:xfrm>
            <a:off x="3886200" y="3876675"/>
            <a:ext cx="3219450" cy="2390775"/>
          </a:xfrm>
          <a:custGeom>
            <a:avLst/>
            <a:gdLst/>
            <a:ahLst/>
            <a:cxnLst/>
            <a:pathLst>
              <a:path w="338" h="251">
                <a:moveTo>
                  <a:pt x="0" y="0"/>
                </a:moveTo>
                <a:lnTo>
                  <a:pt x="338" y="0"/>
                </a:lnTo>
                <a:lnTo>
                  <a:pt x="338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32" name="文本框 294"/>
          <p:cNvSpPr>
            <a:spLocks noGrp="1"/>
          </p:cNvSpPr>
          <p:nvPr/>
        </p:nvSpPr>
        <p:spPr>
          <a:xfrm>
            <a:off x="4076700" y="4076700"/>
            <a:ext cx="2838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退出路径</a:t>
            </a:r>
            <a:endParaRPr sz="165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3" name="文本框 295"/>
          <p:cNvSpPr>
            <a:spLocks noGrp="1"/>
          </p:cNvSpPr>
          <p:nvPr/>
        </p:nvSpPr>
        <p:spPr>
          <a:xfrm>
            <a:off x="4076700" y="4429125"/>
            <a:ext cx="2838450" cy="76593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下一轮融资 → 战略并购（药企 / CRO / AI 制药平台）→ IPO</a:t>
            </a:r>
            <a:r>
              <a:rPr lang="zh-CN" altLang="en-US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endParaRPr sz="127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4" name="矩形 296"/>
          <p:cNvSpPr>
            <a:spLocks noGrp="1"/>
          </p:cNvSpPr>
          <p:nvPr/>
        </p:nvSpPr>
        <p:spPr>
          <a:xfrm>
            <a:off x="7372350" y="1019175"/>
            <a:ext cx="4286250" cy="5219700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35" name="文本框 297"/>
          <p:cNvSpPr>
            <a:spLocks noGrp="1"/>
          </p:cNvSpPr>
          <p:nvPr/>
        </p:nvSpPr>
        <p:spPr>
          <a:xfrm>
            <a:off x="7639050" y="1266825"/>
            <a:ext cx="37528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结语：请记住这三句话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6" name="文本框 298"/>
          <p:cNvSpPr>
            <a:spLocks noGrp="1"/>
          </p:cNvSpPr>
          <p:nvPr/>
        </p:nvSpPr>
        <p:spPr>
          <a:xfrm>
            <a:off x="7639050" y="1676400"/>
            <a:ext cx="37528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  <a:buNone/>
            </a:pP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为什么要做：治疗决策缺患者特异性证据</a:t>
            </a:r>
            <a:endParaRPr sz="1275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7" name="文本框 299"/>
          <p:cNvSpPr>
            <a:spLocks noGrp="1"/>
          </p:cNvSpPr>
          <p:nvPr/>
        </p:nvSpPr>
        <p:spPr>
          <a:xfrm>
            <a:off x="7639050" y="2057400"/>
            <a:ext cx="37528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  <a:buNone/>
            </a:pP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为什么能成：平行实验 + 双轨迹校准</a:t>
            </a:r>
            <a:endParaRPr sz="1275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8" name="文本框 300"/>
          <p:cNvSpPr>
            <a:spLocks noGrp="1"/>
          </p:cNvSpPr>
          <p:nvPr/>
        </p:nvSpPr>
        <p:spPr>
          <a:xfrm>
            <a:off x="7639050" y="2438400"/>
            <a:ext cx="37528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  <a:buNone/>
            </a:pP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做成值多少：数据越厚，成本越低</a:t>
            </a:r>
            <a:endParaRPr sz="1275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9" name="矩形 301"/>
          <p:cNvSpPr>
            <a:spLocks noGrp="1"/>
          </p:cNvSpPr>
          <p:nvPr/>
        </p:nvSpPr>
        <p:spPr>
          <a:xfrm>
            <a:off x="7639050" y="2914650"/>
            <a:ext cx="3752850" cy="9525"/>
          </a:xfrm>
          <a:prstGeom prst="rect">
            <a:avLst/>
          </a:prstGeom>
          <a:solidFill>
            <a:srgbClr val="44546A"/>
          </a:solidFill>
        </p:spPr>
        <p:txBody>
          <a:bodyPr/>
          <a:lstStyle/>
          <a:p/>
        </p:txBody>
      </p:sp>
      <p:sp>
        <p:nvSpPr>
          <p:cNvPr id="340" name="文本框 302"/>
          <p:cNvSpPr>
            <a:spLocks noGrp="1"/>
          </p:cNvSpPr>
          <p:nvPr/>
        </p:nvSpPr>
        <p:spPr>
          <a:xfrm>
            <a:off x="7639050" y="3114675"/>
            <a:ext cx="2940562" cy="149059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参照案例</a:t>
            </a:r>
            <a:endParaRPr sz="1500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1" name="文本框 303"/>
          <p:cNvSpPr>
            <a:spLocks noGrp="1"/>
          </p:cNvSpPr>
          <p:nvPr/>
        </p:nvSpPr>
        <p:spPr>
          <a:xfrm>
            <a:off x="7639050" y="3457575"/>
            <a:ext cx="3752850" cy="609600"/>
          </a:xfrm>
          <a:prstGeom prst="rect">
            <a:avLst/>
          </a:prstGeom>
        </p:spPr>
        <p:txBody>
          <a:bodyPr wrap="square" lIns="0" tIns="0" rIns="0" bIns="0">
            <a:normAutofit fontScale="67468"/>
          </a:bodyPr>
          <a:lstStyle/>
          <a:p>
            <a:pPr>
              <a:lnSpc>
                <a:spcPct val="155000"/>
              </a:lnSpc>
              <a:buNone/>
            </a:pPr>
            <a:r>
              <a:rPr sz="127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Tahoe Therapeutics 2025 年 A 轮 3000 万美元，估值 1.2 亿美元。本轮投前估值与出让比例【待补充】。</a:t>
            </a:r>
            <a:endParaRPr sz="127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2" name="文本框 304"/>
          <p:cNvSpPr>
            <a:spLocks noGrp="1"/>
          </p:cNvSpPr>
          <p:nvPr/>
        </p:nvSpPr>
        <p:spPr>
          <a:xfrm>
            <a:off x="7639035" y="4534206"/>
            <a:ext cx="37528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  <a:buNone/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平行推演生命，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5000"/>
              </a:lnSpc>
              <a:buNone/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交汇预见未来</a:t>
            </a:r>
            <a:r>
              <a:rPr lang="zh-CN" altLang="en-US"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3" name="文本框 305"/>
          <p:cNvSpPr>
            <a:spLocks noGrp="1"/>
          </p:cNvSpPr>
          <p:nvPr/>
        </p:nvSpPr>
        <p:spPr>
          <a:xfrm>
            <a:off x="533400" y="6381750"/>
            <a:ext cx="17811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Source: Tahoe Therapeutics 公开融资信息（2025）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4" name="文本框 306"/>
          <p:cNvSpPr>
            <a:spLocks noGrp="1"/>
          </p:cNvSpPr>
          <p:nvPr/>
        </p:nvSpPr>
        <p:spPr>
          <a:xfrm>
            <a:off x="11201400" y="63817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08 / 08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6" name="矩形 28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47" name="文本框 281"/>
          <p:cNvSpPr>
            <a:spLocks noGrp="1"/>
          </p:cNvSpPr>
          <p:nvPr/>
        </p:nvSpPr>
        <p:spPr>
          <a:xfrm>
            <a:off x="533400" y="419100"/>
            <a:ext cx="111252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风险可控：三个情景下，核心资产都能保住</a:t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Arial" panose="020B0604020202020204" pitchFamily="34" charset="0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endParaRPr sz="24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8" name="矩形 282"/>
          <p:cNvSpPr>
            <a:spLocks noGrp="1"/>
          </p:cNvSpPr>
          <p:nvPr/>
        </p:nvSpPr>
        <p:spPr>
          <a:xfrm>
            <a:off x="533400" y="8953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49" name="文本框 283"/>
          <p:cNvSpPr>
            <a:spLocks noGrp="1"/>
          </p:cNvSpPr>
          <p:nvPr/>
        </p:nvSpPr>
        <p:spPr>
          <a:xfrm>
            <a:off x="533400" y="981075"/>
            <a:ext cx="65722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zh-CN" altLang="en-US"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按准备金规则收缩，团队、类器官库与配对数据不流失</a:t>
            </a:r>
            <a:r>
              <a:rPr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endParaRPr sz="15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0" name="任意多边形 284"/>
          <p:cNvSpPr>
            <a:spLocks noGrp="1"/>
          </p:cNvSpPr>
          <p:nvPr/>
        </p:nvSpPr>
        <p:spPr>
          <a:xfrm>
            <a:off x="533400" y="1381125"/>
            <a:ext cx="3219450" cy="2390775"/>
          </a:xfrm>
          <a:custGeom>
            <a:avLst/>
            <a:gdLst/>
            <a:ahLst/>
            <a:cxnLst/>
            <a:pathLst>
              <a:path w="338" h="251">
                <a:moveTo>
                  <a:pt x="0" y="0"/>
                </a:moveTo>
                <a:lnTo>
                  <a:pt x="338" y="0"/>
                </a:lnTo>
                <a:lnTo>
                  <a:pt x="338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51" name="文本框 285"/>
          <p:cNvSpPr>
            <a:spLocks noGrp="1"/>
          </p:cNvSpPr>
          <p:nvPr/>
        </p:nvSpPr>
        <p:spPr>
          <a:xfrm>
            <a:off x="723900" y="1581150"/>
            <a:ext cx="2838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情景 A｜正常推进</a:t>
            </a:r>
            <a:endParaRPr sz="165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2" name="文本框 286"/>
          <p:cNvSpPr>
            <a:spLocks noGrp="1"/>
          </p:cNvSpPr>
          <p:nvPr/>
        </p:nvSpPr>
        <p:spPr>
          <a:xfrm>
            <a:off x="723900" y="1933575"/>
            <a:ext cx="2838450" cy="876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按 Plan A 执行，准备金不动用；第 12 个月末留约 990 万，总跑道约 24 个月</a:t>
            </a:r>
            <a:endParaRPr sz="127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3" name="任意多边形 287"/>
          <p:cNvSpPr>
            <a:spLocks noGrp="1"/>
          </p:cNvSpPr>
          <p:nvPr/>
        </p:nvSpPr>
        <p:spPr>
          <a:xfrm>
            <a:off x="3886200" y="1381125"/>
            <a:ext cx="3219450" cy="2390775"/>
          </a:xfrm>
          <a:custGeom>
            <a:avLst/>
            <a:gdLst/>
            <a:ahLst/>
            <a:cxnLst/>
            <a:pathLst>
              <a:path w="338" h="251">
                <a:moveTo>
                  <a:pt x="0" y="0"/>
                </a:moveTo>
                <a:lnTo>
                  <a:pt x="338" y="0"/>
                </a:lnTo>
                <a:lnTo>
                  <a:pt x="338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54" name="文本框 288"/>
          <p:cNvSpPr>
            <a:spLocks noGrp="1"/>
          </p:cNvSpPr>
          <p:nvPr/>
        </p:nvSpPr>
        <p:spPr>
          <a:xfrm>
            <a:off x="4076700" y="1581150"/>
            <a:ext cx="2838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情景 B｜闸门未过</a:t>
            </a:r>
            <a:endParaRPr sz="165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5" name="文本框 289"/>
          <p:cNvSpPr>
            <a:spLocks noGrp="1"/>
          </p:cNvSpPr>
          <p:nvPr/>
        </p:nvSpPr>
        <p:spPr>
          <a:xfrm>
            <a:off x="4076700" y="1933575"/>
            <a:ext cx="2838450" cy="876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第 6 个月 Level 1 未达标：冻结招聘、入组减半、暂停 BD 试点；总跑道约 32 个月</a:t>
            </a:r>
            <a:r>
              <a:rPr lang="zh-CN" altLang="en-US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endParaRPr sz="127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6" name="任意多边形 290"/>
          <p:cNvSpPr>
            <a:spLocks noGrp="1"/>
          </p:cNvSpPr>
          <p:nvPr/>
        </p:nvSpPr>
        <p:spPr>
          <a:xfrm>
            <a:off x="533400" y="3876675"/>
            <a:ext cx="3219450" cy="2390775"/>
          </a:xfrm>
          <a:custGeom>
            <a:avLst/>
            <a:gdLst/>
            <a:ahLst/>
            <a:cxnLst/>
            <a:pathLst>
              <a:path w="338" h="251">
                <a:moveTo>
                  <a:pt x="0" y="0"/>
                </a:moveTo>
                <a:lnTo>
                  <a:pt x="338" y="0"/>
                </a:lnTo>
                <a:lnTo>
                  <a:pt x="338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57" name="文本框 291"/>
          <p:cNvSpPr>
            <a:spLocks noGrp="1"/>
          </p:cNvSpPr>
          <p:nvPr/>
        </p:nvSpPr>
        <p:spPr>
          <a:xfrm>
            <a:off x="723900" y="4076700"/>
            <a:ext cx="2838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情景 C｜再遇融资受阻</a:t>
            </a:r>
            <a:endParaRPr sz="165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8" name="文本框 292"/>
          <p:cNvSpPr>
            <a:spLocks noGrp="1"/>
          </p:cNvSpPr>
          <p:nvPr/>
        </p:nvSpPr>
        <p:spPr>
          <a:xfrm>
            <a:off x="723900" y="4429125"/>
            <a:ext cx="2838450" cy="876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第 7 个月起进入维持期，只保留核心团队与类器官库；总跑道约 40 个月</a:t>
            </a:r>
            <a:r>
              <a:rPr lang="zh-CN" altLang="en-US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endParaRPr sz="127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9" name="任意多边形 293"/>
          <p:cNvSpPr>
            <a:spLocks noGrp="1"/>
          </p:cNvSpPr>
          <p:nvPr/>
        </p:nvSpPr>
        <p:spPr>
          <a:xfrm>
            <a:off x="3886200" y="3876675"/>
            <a:ext cx="3219450" cy="2390775"/>
          </a:xfrm>
          <a:custGeom>
            <a:avLst/>
            <a:gdLst/>
            <a:ahLst/>
            <a:cxnLst/>
            <a:pathLst>
              <a:path w="338" h="251">
                <a:moveTo>
                  <a:pt x="0" y="0"/>
                </a:moveTo>
                <a:lnTo>
                  <a:pt x="338" y="0"/>
                </a:lnTo>
                <a:lnTo>
                  <a:pt x="338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60" name="文本框 294"/>
          <p:cNvSpPr>
            <a:spLocks noGrp="1"/>
          </p:cNvSpPr>
          <p:nvPr/>
        </p:nvSpPr>
        <p:spPr>
          <a:xfrm>
            <a:off x="4076700" y="4076700"/>
            <a:ext cx="2838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动用程序</a:t>
            </a:r>
            <a:r>
              <a:rPr sz="16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endParaRPr sz="165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1" name="文本框 295"/>
          <p:cNvSpPr>
            <a:spLocks noGrp="1"/>
          </p:cNvSpPr>
          <p:nvPr/>
        </p:nvSpPr>
        <p:spPr>
          <a:xfrm>
            <a:off x="4076700" y="4429125"/>
            <a:ext cx="2838450" cy="1127914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准备金独立存放；动用需董事会（含投资人董事）批准，并同步公布收缩方案</a:t>
            </a:r>
            <a:r>
              <a:rPr lang="en-US" altLang="zh-CN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endParaRPr sz="127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2" name="矩形 296"/>
          <p:cNvSpPr>
            <a:spLocks noGrp="1"/>
          </p:cNvSpPr>
          <p:nvPr/>
        </p:nvSpPr>
        <p:spPr>
          <a:xfrm>
            <a:off x="7239000" y="1375859"/>
            <a:ext cx="4286250" cy="4891591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63" name="文本框 297"/>
          <p:cNvSpPr>
            <a:spLocks noGrp="1"/>
          </p:cNvSpPr>
          <p:nvPr/>
        </p:nvSpPr>
        <p:spPr>
          <a:xfrm>
            <a:off x="7562850" y="1920875"/>
            <a:ext cx="37528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准备金的三个触发条件</a:t>
            </a: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4" name="文本框 298"/>
          <p:cNvSpPr>
            <a:spLocks noGrp="1"/>
          </p:cNvSpPr>
          <p:nvPr/>
        </p:nvSpPr>
        <p:spPr>
          <a:xfrm>
            <a:off x="7562850" y="2330450"/>
            <a:ext cx="37528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  <a:buNone/>
            </a:pP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· 第 6 个月：Level 1 闸门未达标</a:t>
            </a: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endParaRPr sz="1275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5" name="文本框 299"/>
          <p:cNvSpPr>
            <a:spLocks noGrp="1"/>
          </p:cNvSpPr>
          <p:nvPr/>
        </p:nvSpPr>
        <p:spPr>
          <a:xfrm>
            <a:off x="7562850" y="2711450"/>
            <a:ext cx="37528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  <a:buNone/>
            </a:pP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· 第 9 个月：无下一轮 TS，跑道 &lt; 6 个月</a:t>
            </a: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endParaRPr sz="1275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6" name="文本框 300"/>
          <p:cNvSpPr>
            <a:spLocks noGrp="1"/>
          </p:cNvSpPr>
          <p:nvPr/>
        </p:nvSpPr>
        <p:spPr>
          <a:xfrm>
            <a:off x="7562850" y="3092450"/>
            <a:ext cx="37528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  <a:buNone/>
            </a:pP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· 第 12 个月：无付费项目 → 转检测服务</a:t>
            </a: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endParaRPr sz="1275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7" name="矩形 301"/>
          <p:cNvSpPr>
            <a:spLocks noGrp="1"/>
          </p:cNvSpPr>
          <p:nvPr/>
        </p:nvSpPr>
        <p:spPr>
          <a:xfrm>
            <a:off x="7639050" y="3547872"/>
            <a:ext cx="3752850" cy="9525"/>
          </a:xfrm>
          <a:prstGeom prst="rect">
            <a:avLst/>
          </a:prstGeom>
          <a:solidFill>
            <a:srgbClr val="44546A"/>
          </a:solidFill>
        </p:spPr>
        <p:txBody>
          <a:bodyPr/>
          <a:lstStyle/>
          <a:p/>
        </p:txBody>
      </p:sp>
      <p:sp>
        <p:nvSpPr>
          <p:cNvPr id="368" name="文本框 302"/>
          <p:cNvSpPr>
            <a:spLocks noGrp="1"/>
          </p:cNvSpPr>
          <p:nvPr/>
        </p:nvSpPr>
        <p:spPr>
          <a:xfrm>
            <a:off x="7562850" y="3768725"/>
            <a:ext cx="37528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不得用于</a:t>
            </a:r>
            <a:endParaRPr sz="1500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9" name="文本框 303"/>
          <p:cNvSpPr>
            <a:spLocks noGrp="1"/>
          </p:cNvSpPr>
          <p:nvPr/>
        </p:nvSpPr>
        <p:spPr>
          <a:xfrm>
            <a:off x="7562850" y="4111625"/>
            <a:ext cx="3752850" cy="1079500"/>
          </a:xfrm>
          <a:prstGeom prst="rect">
            <a:avLst/>
          </a:prstGeom>
        </p:spPr>
        <p:txBody>
          <a:bodyPr wrap="square" lIns="0" tIns="0" rIns="0" bIns="0">
            <a:normAutofit fontScale="95206"/>
          </a:bodyPr>
          <a:lstStyle/>
          <a:p>
            <a:pPr marL="0" lvl="0" algn="l" defTabSz="914400">
              <a:lnSpc>
                <a:spcPct val="155000"/>
              </a:lnSpc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Plan A 的常规超支（由不可预见费覆盖）、新增非核心岗位、未经批准的设备采购。</a:t>
            </a:r>
            <a:endParaRPr sz="1275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0" name="文本框 304"/>
          <p:cNvSpPr>
            <a:spLocks noGrp="1"/>
          </p:cNvSpPr>
          <p:nvPr/>
        </p:nvSpPr>
        <p:spPr>
          <a:xfrm>
            <a:off x="7562850" y="5305425"/>
            <a:ext cx="37528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  <a:buNone/>
            </a:pPr>
            <a:r>
              <a:rPr sz="127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跑道按维持期月耗约 85 万估算，</a:t>
            </a:r>
            <a:endParaRPr sz="1275" b="1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5000"/>
              </a:lnSpc>
              <a:buNone/>
            </a:pPr>
            <a:r>
              <a:rPr sz="127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待按新预算重算。</a:t>
            </a:r>
            <a:endParaRPr sz="1275" b="1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1" name="文本框 305"/>
          <p:cNvSpPr>
            <a:spLocks noGrp="1"/>
          </p:cNvSpPr>
          <p:nvPr/>
        </p:nvSpPr>
        <p:spPr>
          <a:xfrm>
            <a:off x="533400" y="6381750"/>
            <a:ext cx="17811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Source: AIVC BP v13 §3.3 Plan B 规则；跑道为本稿估算</a:t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2" name="文本框 306"/>
          <p:cNvSpPr>
            <a:spLocks noGrp="1"/>
          </p:cNvSpPr>
          <p:nvPr/>
        </p:nvSpPr>
        <p:spPr>
          <a:xfrm>
            <a:off x="11201400" y="63817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07 / 08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1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41" name="文本框 14"/>
          <p:cNvSpPr>
            <a:spLocks noGrp="1"/>
          </p:cNvSpPr>
          <p:nvPr/>
        </p:nvSpPr>
        <p:spPr>
          <a:xfrm>
            <a:off x="533400" y="419100"/>
            <a:ext cx="111252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里程碑：第 6 个月证明可行，第 12 个月证明有用</a:t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endParaRPr sz="24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15"/>
          <p:cNvSpPr>
            <a:spLocks noGrp="1"/>
          </p:cNvSpPr>
          <p:nvPr/>
        </p:nvSpPr>
        <p:spPr>
          <a:xfrm>
            <a:off x="533400" y="8953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43" name="任意多边形 16"/>
          <p:cNvSpPr>
            <a:spLocks noGrp="1"/>
          </p:cNvSpPr>
          <p:nvPr/>
        </p:nvSpPr>
        <p:spPr>
          <a:xfrm>
            <a:off x="533400" y="1019175"/>
            <a:ext cx="1943100" cy="2133600"/>
          </a:xfrm>
          <a:custGeom>
            <a:avLst/>
            <a:gdLst/>
            <a:ahLst/>
            <a:cxnLst/>
            <a:pathLst>
              <a:path w="204" h="224">
                <a:moveTo>
                  <a:pt x="0" y="0"/>
                </a:moveTo>
                <a:lnTo>
                  <a:pt x="204" y="0"/>
                </a:lnTo>
                <a:lnTo>
                  <a:pt x="204" y="4"/>
                </a:lnTo>
                <a:lnTo>
                  <a:pt x="0" y="4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44" name="文本框 17"/>
          <p:cNvSpPr>
            <a:spLocks noGrp="1"/>
          </p:cNvSpPr>
          <p:nvPr/>
        </p:nvSpPr>
        <p:spPr>
          <a:xfrm>
            <a:off x="685800" y="1190625"/>
            <a:ext cx="16383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第 3 个月</a:t>
            </a:r>
            <a:r>
              <a:rPr sz="1125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endParaRPr sz="1125" b="1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文本框 18"/>
          <p:cNvSpPr>
            <a:spLocks noGrp="1"/>
          </p:cNvSpPr>
          <p:nvPr/>
        </p:nvSpPr>
        <p:spPr>
          <a:xfrm>
            <a:off x="685800" y="1400175"/>
            <a:ext cx="163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体系就位</a:t>
            </a:r>
            <a:endParaRPr sz="15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文本框 19"/>
          <p:cNvSpPr>
            <a:spLocks noGrp="1"/>
          </p:cNvSpPr>
          <p:nvPr/>
        </p:nvSpPr>
        <p:spPr>
          <a:xfrm>
            <a:off x="685800" y="1704975"/>
            <a:ext cx="163830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12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伦理批件获批；首批 PDO 建立；分析管线上线</a:t>
            </a:r>
            <a:endParaRPr sz="112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文本框 20"/>
          <p:cNvSpPr>
            <a:spLocks noGrp="1"/>
          </p:cNvSpPr>
          <p:nvPr/>
        </p:nvSpPr>
        <p:spPr>
          <a:xfrm>
            <a:off x="685800" y="2550128"/>
            <a:ext cx="16383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  <a:buNone/>
            </a:pPr>
            <a:r>
              <a:rPr sz="1125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执行能力</a:t>
            </a:r>
            <a:r>
              <a:rPr lang="zh-CN" altLang="en-US" sz="1125" b="1">
                <a:solidFill>
                  <a:srgbClr val="08A6F6"/>
                </a:solidFill>
                <a:latin typeface="微软雅黑"/>
                <a:ea typeface="微软雅黑"/>
                <a:cs typeface="Arial" panose="020B0604020202020204" pitchFamily="34" charset="0"/>
              </a:rPr>
              <a:t/>
            </a:r>
            <a:r>
              <a:rPr sz="1125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/>
            </a:r>
            <a:endParaRPr sz="1125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96" name="图片 2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33650" y="2000250"/>
            <a:ext cx="209550" cy="171450"/>
          </a:xfrm>
          <a:prstGeom prst="rect">
            <a:avLst/>
          </a:prstGeom>
        </p:spPr>
      </p:pic>
      <p:sp>
        <p:nvSpPr>
          <p:cNvPr id="49" name="任意多边形 22"/>
          <p:cNvSpPr>
            <a:spLocks noGrp="1"/>
          </p:cNvSpPr>
          <p:nvPr/>
        </p:nvSpPr>
        <p:spPr>
          <a:xfrm>
            <a:off x="2838450" y="1019175"/>
            <a:ext cx="1943100" cy="2133600"/>
          </a:xfrm>
          <a:custGeom>
            <a:avLst/>
            <a:gdLst/>
            <a:ahLst/>
            <a:cxnLst/>
            <a:pathLst>
              <a:path w="204" h="224">
                <a:moveTo>
                  <a:pt x="0" y="0"/>
                </a:moveTo>
                <a:lnTo>
                  <a:pt x="204" y="0"/>
                </a:lnTo>
                <a:lnTo>
                  <a:pt x="204" y="4"/>
                </a:lnTo>
                <a:lnTo>
                  <a:pt x="0" y="4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50" name="文本框 23"/>
          <p:cNvSpPr>
            <a:spLocks noGrp="1"/>
          </p:cNvSpPr>
          <p:nvPr/>
        </p:nvSpPr>
        <p:spPr>
          <a:xfrm>
            <a:off x="2990850" y="1190625"/>
            <a:ext cx="16383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第 6 个月</a:t>
            </a:r>
            <a:r>
              <a:rPr sz="1125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endParaRPr sz="1125" b="1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文本框 24"/>
          <p:cNvSpPr>
            <a:spLocks noGrp="1"/>
          </p:cNvSpPr>
          <p:nvPr/>
        </p:nvSpPr>
        <p:spPr>
          <a:xfrm>
            <a:off x="2990850" y="1400175"/>
            <a:ext cx="163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Level 1 闸门</a:t>
            </a:r>
            <a:endParaRPr sz="15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文本框 25"/>
          <p:cNvSpPr>
            <a:spLocks noGrp="1"/>
          </p:cNvSpPr>
          <p:nvPr/>
        </p:nvSpPr>
        <p:spPr>
          <a:xfrm>
            <a:off x="2990850" y="1704975"/>
            <a:ext cx="163830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12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≥30 例配对、稳定复现；深度读出跑通</a:t>
            </a:r>
            <a:endParaRPr sz="112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文本框 26"/>
          <p:cNvSpPr>
            <a:spLocks noGrp="1"/>
          </p:cNvSpPr>
          <p:nvPr/>
        </p:nvSpPr>
        <p:spPr>
          <a:xfrm>
            <a:off x="2990850" y="2550128"/>
            <a:ext cx="16383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 marL="0" lvl="0" indent="0" algn="l" defTabSz="914400">
              <a:lnSpc>
                <a:spcPct val="140000"/>
              </a:lnSpc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Calibri"/>
                <a:cs typeface="Calibri"/>
              </a:defRPr>
            </a:pPr>
            <a:r>
              <a:rPr sz="1125" b="1" i="0" u="none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闸门：</a:t>
            </a:r>
            <a:r>
              <a:rPr lang="zh-CN" altLang="en-US" sz="1125" b="1" i="0" u="none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altLang="en-US" sz="1125" b="1" i="0" u="none">
              <a:solidFill>
                <a:srgbClr val="08A6F6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marL="0" lvl="0" indent="0" algn="l" defTabSz="914400">
              <a:lnSpc>
                <a:spcPct val="140000"/>
              </a:lnSpc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Calibri"/>
                <a:cs typeface="Calibri"/>
              </a:defRPr>
            </a:pPr>
            <a:r>
              <a:rPr lang="zh-CN" altLang="en-US" sz="1125" b="1" i="0" u="none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科学可行</a:t>
            </a:r>
            <a:endParaRPr sz="1125">
              <a:solidFill>
                <a:srgbClr val="808080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02" name="图片 2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38700" y="2000250"/>
            <a:ext cx="209550" cy="171450"/>
          </a:xfrm>
          <a:prstGeom prst="rect">
            <a:avLst/>
          </a:prstGeom>
        </p:spPr>
      </p:pic>
      <p:sp>
        <p:nvSpPr>
          <p:cNvPr id="55" name="任意多边形 28"/>
          <p:cNvSpPr>
            <a:spLocks noGrp="1"/>
          </p:cNvSpPr>
          <p:nvPr/>
        </p:nvSpPr>
        <p:spPr>
          <a:xfrm>
            <a:off x="5143500" y="1019175"/>
            <a:ext cx="1943100" cy="2133600"/>
          </a:xfrm>
          <a:custGeom>
            <a:avLst/>
            <a:gdLst/>
            <a:ahLst/>
            <a:cxnLst/>
            <a:pathLst>
              <a:path w="204" h="224">
                <a:moveTo>
                  <a:pt x="0" y="0"/>
                </a:moveTo>
                <a:lnTo>
                  <a:pt x="204" y="0"/>
                </a:lnTo>
                <a:lnTo>
                  <a:pt x="204" y="4"/>
                </a:lnTo>
                <a:lnTo>
                  <a:pt x="0" y="4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56" name="文本框 29"/>
          <p:cNvSpPr>
            <a:spLocks noGrp="1"/>
          </p:cNvSpPr>
          <p:nvPr/>
        </p:nvSpPr>
        <p:spPr>
          <a:xfrm>
            <a:off x="5295900" y="1190625"/>
            <a:ext cx="16383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第 9 个月</a:t>
            </a:r>
            <a:r>
              <a:rPr sz="1125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endParaRPr sz="1125" b="1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文本框 30"/>
          <p:cNvSpPr>
            <a:spLocks noGrp="1"/>
          </p:cNvSpPr>
          <p:nvPr/>
        </p:nvSpPr>
        <p:spPr>
          <a:xfrm>
            <a:off x="5295900" y="1400175"/>
            <a:ext cx="163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中期评估</a:t>
            </a:r>
            <a:endParaRPr sz="15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文本框 31"/>
          <p:cNvSpPr>
            <a:spLocks noGrp="1"/>
          </p:cNvSpPr>
          <p:nvPr/>
        </p:nvSpPr>
        <p:spPr>
          <a:xfrm>
            <a:off x="5295900" y="1704975"/>
            <a:ext cx="1638300" cy="504825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45000"/>
              </a:lnSpc>
              <a:buNone/>
            </a:pPr>
            <a:r>
              <a:rPr sz="112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回顾性 AUROC 首次评估；药企洽谈进入条款阶段</a:t>
            </a:r>
            <a:r>
              <a:rPr lang="zh-CN" altLang="en-US" sz="112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2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endParaRPr sz="112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文本框 32"/>
          <p:cNvSpPr>
            <a:spLocks noGrp="1"/>
          </p:cNvSpPr>
          <p:nvPr/>
        </p:nvSpPr>
        <p:spPr>
          <a:xfrm>
            <a:off x="5295900" y="2550128"/>
            <a:ext cx="16383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lvl="0" algn="l" defTabSz="914400">
              <a:lnSpc>
                <a:spcPct val="140000"/>
              </a:lnSpc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Calibri"/>
                <a:cs typeface="Calibri"/>
              </a:defRPr>
            </a:pPr>
            <a:r>
              <a:rPr sz="1125" b="1" i="0" u="none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启动</a:t>
            </a:r>
            <a:r>
              <a:rPr sz="1125" b="1" i="0" u="none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25" b="1" i="0" u="none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25" b="1" i="0" u="none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125" b="1" i="0" u="none">
              <a:solidFill>
                <a:srgbClr val="08A6F6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marL="0" lvl="0" algn="l" defTabSz="914400">
              <a:lnSpc>
                <a:spcPct val="140000"/>
              </a:lnSpc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Calibri"/>
                <a:cs typeface="Calibri"/>
              </a:defRPr>
            </a:pPr>
            <a:r>
              <a:rPr sz="1125" b="1" i="0" u="none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下一轮融资对话</a:t>
            </a:r>
            <a:r>
              <a:rPr lang="zh-CN" altLang="en-US" sz="1125" b="1" i="0" u="none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125" b="1" i="0" u="none">
              <a:solidFill>
                <a:srgbClr val="08A6F6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08" name="图片 3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0" y="2000250"/>
            <a:ext cx="209550" cy="171450"/>
          </a:xfrm>
          <a:prstGeom prst="rect">
            <a:avLst/>
          </a:prstGeom>
        </p:spPr>
      </p:pic>
      <p:sp>
        <p:nvSpPr>
          <p:cNvPr id="61" name="任意多边形 34"/>
          <p:cNvSpPr>
            <a:spLocks noGrp="1"/>
          </p:cNvSpPr>
          <p:nvPr/>
        </p:nvSpPr>
        <p:spPr>
          <a:xfrm>
            <a:off x="7448550" y="1019175"/>
            <a:ext cx="1943100" cy="2133600"/>
          </a:xfrm>
          <a:custGeom>
            <a:avLst/>
            <a:gdLst/>
            <a:ahLst/>
            <a:cxnLst/>
            <a:pathLst>
              <a:path w="204" h="224">
                <a:moveTo>
                  <a:pt x="0" y="0"/>
                </a:moveTo>
                <a:lnTo>
                  <a:pt x="204" y="0"/>
                </a:lnTo>
                <a:lnTo>
                  <a:pt x="204" y="4"/>
                </a:lnTo>
                <a:lnTo>
                  <a:pt x="0" y="4"/>
                </a:lnTo>
                <a:close/>
              </a:path>
            </a:pathLst>
          </a:custGeom>
          <a:solidFill>
            <a:srgbClr val="08A6F6"/>
          </a:solidFill>
        </p:spPr>
        <p:txBody>
          <a:bodyPr/>
          <a:lstStyle/>
          <a:p/>
        </p:txBody>
      </p:sp>
      <p:sp>
        <p:nvSpPr>
          <p:cNvPr id="62" name="文本框 35"/>
          <p:cNvSpPr>
            <a:spLocks noGrp="1"/>
          </p:cNvSpPr>
          <p:nvPr/>
        </p:nvSpPr>
        <p:spPr>
          <a:xfrm>
            <a:off x="7600950" y="1190625"/>
            <a:ext cx="16383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第 12 个月</a:t>
            </a:r>
            <a:r>
              <a:rPr sz="1125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endParaRPr sz="1125" b="1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文本框 36"/>
          <p:cNvSpPr>
            <a:spLocks noGrp="1"/>
          </p:cNvSpPr>
          <p:nvPr/>
        </p:nvSpPr>
        <p:spPr>
          <a:xfrm>
            <a:off x="7600950" y="1400175"/>
            <a:ext cx="163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Level 2 闸门</a:t>
            </a:r>
            <a:endParaRPr sz="15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文本框 37"/>
          <p:cNvSpPr>
            <a:spLocks noGrp="1"/>
          </p:cNvSpPr>
          <p:nvPr/>
        </p:nvSpPr>
        <p:spPr>
          <a:xfrm>
            <a:off x="7600950" y="1704975"/>
            <a:ext cx="163830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12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约 100 例配对；AUROC 验证；双轨迹首个结果；首个付费项目</a:t>
            </a:r>
            <a:endParaRPr sz="112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文本框 38"/>
          <p:cNvSpPr>
            <a:spLocks noGrp="1"/>
          </p:cNvSpPr>
          <p:nvPr/>
        </p:nvSpPr>
        <p:spPr>
          <a:xfrm>
            <a:off x="7600950" y="2550128"/>
            <a:ext cx="16383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  <a:buNone/>
            </a:pPr>
            <a:r>
              <a:rPr lang="zh-CN" altLang="en-US" sz="1125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闸门：</a:t>
            </a:r>
            <a:r>
              <a:rPr sz="1125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25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altLang="en-US" sz="1125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1125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商业验证</a:t>
            </a:r>
            <a:endParaRPr sz="1125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14" name="图片 3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48800" y="2000250"/>
            <a:ext cx="209550" cy="171450"/>
          </a:xfrm>
          <a:prstGeom prst="rect">
            <a:avLst/>
          </a:prstGeom>
        </p:spPr>
      </p:pic>
      <p:sp>
        <p:nvSpPr>
          <p:cNvPr id="67" name="矩形 40"/>
          <p:cNvSpPr>
            <a:spLocks noGrp="1"/>
          </p:cNvSpPr>
          <p:nvPr/>
        </p:nvSpPr>
        <p:spPr>
          <a:xfrm>
            <a:off x="9753600" y="1019175"/>
            <a:ext cx="1943100" cy="2133600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68" name="文本框 41"/>
          <p:cNvSpPr>
            <a:spLocks noGrp="1"/>
          </p:cNvSpPr>
          <p:nvPr/>
        </p:nvSpPr>
        <p:spPr>
          <a:xfrm>
            <a:off x="9906000" y="1152525"/>
            <a:ext cx="16383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下一轮</a:t>
            </a:r>
            <a:r>
              <a:rPr sz="1125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endParaRPr sz="1125" b="1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9" name="文本框 42"/>
          <p:cNvSpPr>
            <a:spLocks noGrp="1"/>
          </p:cNvSpPr>
          <p:nvPr/>
        </p:nvSpPr>
        <p:spPr>
          <a:xfrm>
            <a:off x="9906000" y="1362075"/>
            <a:ext cx="163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临床证据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文本框 43"/>
          <p:cNvSpPr>
            <a:spLocks noGrp="1"/>
          </p:cNvSpPr>
          <p:nvPr/>
        </p:nvSpPr>
        <p:spPr>
          <a:xfrm>
            <a:off x="9906000" y="1666875"/>
            <a:ext cx="163830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12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多中心前瞻性评分；AIVC v1 发布；2–3 个付费项目</a:t>
            </a:r>
            <a:endParaRPr sz="1125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文本框 44"/>
          <p:cNvSpPr>
            <a:spLocks noGrp="1"/>
          </p:cNvSpPr>
          <p:nvPr/>
        </p:nvSpPr>
        <p:spPr>
          <a:xfrm>
            <a:off x="9906000" y="2247900"/>
            <a:ext cx="16383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125" b="1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A 轮融资目标</a:t>
            </a:r>
            <a:endParaRPr sz="1125" b="1">
              <a:solidFill>
                <a:srgbClr val="08A6F6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40000"/>
              </a:lnSpc>
              <a:buNone/>
            </a:pPr>
            <a:r>
              <a:rPr sz="1125" b="1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125" b="1">
              <a:solidFill>
                <a:srgbClr val="08A6F6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2" name="矩形 45"/>
          <p:cNvSpPr>
            <a:spLocks noGrp="1"/>
          </p:cNvSpPr>
          <p:nvPr/>
        </p:nvSpPr>
        <p:spPr>
          <a:xfrm>
            <a:off x="533400" y="3343275"/>
            <a:ext cx="6257925" cy="2895600"/>
          </a:xfrm>
          <a:prstGeom prst="rect">
            <a:avLst/>
          </a:prstGeom>
          <a:solidFill>
            <a:srgbClr val="F5F5F5"/>
          </a:solidFill>
        </p:spPr>
        <p:txBody>
          <a:bodyPr/>
          <a:lstStyle/>
          <a:p/>
        </p:txBody>
      </p:sp>
      <p:sp>
        <p:nvSpPr>
          <p:cNvPr id="73" name="文本框 46"/>
          <p:cNvSpPr>
            <a:spLocks noGrp="1"/>
          </p:cNvSpPr>
          <p:nvPr/>
        </p:nvSpPr>
        <p:spPr>
          <a:xfrm>
            <a:off x="742950" y="3514725"/>
            <a:ext cx="58388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两道闸门的验收标准</a:t>
            </a:r>
            <a:r>
              <a:rPr sz="1425" b="1">
                <a:solidFill>
                  <a:srgbClr val="061F32"/>
                </a:solidFill>
                <a:latin typeface="微软雅黑" charset="0"/>
                <a:ea typeface="微软雅黑" charset="0"/>
                <a:cs typeface="微软雅黑" charset="0"/>
              </a:rPr>
              <a:t/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4" name="文本框 47"/>
          <p:cNvSpPr>
            <a:spLocks noGrp="1"/>
          </p:cNvSpPr>
          <p:nvPr/>
        </p:nvSpPr>
        <p:spPr>
          <a:xfrm>
            <a:off x="742950" y="3829050"/>
            <a:ext cx="5838825" cy="62861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① 第 6 个月 Level 1：重复性、周转时间、失败率、培养偏差模型达到阈值；未达标即触发准备金规则。</a:t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Arial" panose="020B0604020202020204" pitchFamily="34" charset="0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endParaRPr sz="1200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5" name="文本框 48"/>
          <p:cNvSpPr>
            <a:spLocks noGrp="1"/>
          </p:cNvSpPr>
          <p:nvPr/>
        </p:nvSpPr>
        <p:spPr>
          <a:xfrm>
            <a:off x="742950" y="4457700"/>
            <a:ext cx="6048417" cy="883696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② 第 12 个月 Level 2：回顾性药物响应 AUROC ≥0.70（目标）；双轨迹校准给出首个可评分结果。</a:t>
            </a:r>
            <a:r>
              <a:rPr lang="zh-CN" altLang="en-US"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endParaRPr sz="12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6" name="文本框 49"/>
          <p:cNvSpPr>
            <a:spLocks noGrp="1"/>
          </p:cNvSpPr>
          <p:nvPr/>
        </p:nvSpPr>
        <p:spPr>
          <a:xfrm>
            <a:off x="742950" y="5086376"/>
            <a:ext cx="5838825" cy="788394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③ 时间节点按卓悦博士的执行计划；病例数与 AUROC 目标待团队会议确认。</a:t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endParaRPr sz="1200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7" name="矩形 50"/>
          <p:cNvSpPr>
            <a:spLocks noGrp="1"/>
          </p:cNvSpPr>
          <p:nvPr/>
        </p:nvSpPr>
        <p:spPr>
          <a:xfrm>
            <a:off x="7019925" y="3343275"/>
            <a:ext cx="4638675" cy="2895600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78" name="文本框 51"/>
          <p:cNvSpPr>
            <a:spLocks noGrp="1"/>
          </p:cNvSpPr>
          <p:nvPr/>
        </p:nvSpPr>
        <p:spPr>
          <a:xfrm>
            <a:off x="7229475" y="3514725"/>
            <a:ext cx="42195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验收三指标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9" name="文本框 52"/>
          <p:cNvSpPr>
            <a:spLocks noGrp="1"/>
          </p:cNvSpPr>
          <p:nvPr/>
        </p:nvSpPr>
        <p:spPr>
          <a:xfrm>
            <a:off x="7229475" y="3829050"/>
            <a:ext cx="4219575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科学：</a:t>
            </a:r>
            <a:r>
              <a:rPr sz="12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实验体系复现率</a:t>
            </a:r>
            <a:endParaRPr sz="1200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0" name="文本框 53"/>
          <p:cNvSpPr>
            <a:spLocks noGrp="1"/>
          </p:cNvSpPr>
          <p:nvPr/>
        </p:nvSpPr>
        <p:spPr>
          <a:xfrm>
            <a:off x="7229475" y="4457700"/>
            <a:ext cx="4219575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科学：预测与临床结局一致性</a:t>
            </a:r>
            <a:r>
              <a:rPr lang="zh-CN" altLang="en-US"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endParaRPr sz="1200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1" name="文本框 54"/>
          <p:cNvSpPr>
            <a:spLocks noGrp="1"/>
          </p:cNvSpPr>
          <p:nvPr/>
        </p:nvSpPr>
        <p:spPr>
          <a:xfrm>
            <a:off x="7229475" y="5086350"/>
            <a:ext cx="4219575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商业：</a:t>
            </a:r>
            <a:r>
              <a:rPr sz="12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客户付费意向与落地项目数量</a:t>
            </a:r>
            <a:r>
              <a:rPr sz="12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/>
            </a:r>
            <a:endParaRPr sz="1200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2" name="文本框 55"/>
          <p:cNvSpPr>
            <a:spLocks noGrp="1"/>
          </p:cNvSpPr>
          <p:nvPr/>
        </p:nvSpPr>
        <p:spPr>
          <a:xfrm>
            <a:off x="533400" y="6381750"/>
            <a:ext cx="2667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Source: 卓悦博士《AIVC 第一年执行计划》甘特图</a:t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3" name="文本框 56"/>
          <p:cNvSpPr>
            <a:spLocks noGrp="1"/>
          </p:cNvSpPr>
          <p:nvPr/>
        </p:nvSpPr>
        <p:spPr>
          <a:xfrm>
            <a:off x="11201400" y="63817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06 / 08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" name="矩形 11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</p:spPr>
        <p:txBody>
          <a:bodyPr/>
          <a:lstStyle/>
          <a:p/>
        </p:txBody>
      </p:sp>
      <p:sp>
        <p:nvSpPr>
          <p:cNvPr id="141" name="文本框 115"/>
          <p:cNvSpPr>
            <a:spLocks noGrp="1"/>
          </p:cNvSpPr>
          <p:nvPr/>
        </p:nvSpPr>
        <p:spPr>
          <a:xfrm>
            <a:off x="4429125" y="2981325"/>
            <a:ext cx="283845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交汇</a:t>
            </a:r>
            <a:endParaRPr sz="34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2" name="文本框 116"/>
          <p:cNvSpPr>
            <a:spLocks noGrp="1"/>
          </p:cNvSpPr>
          <p:nvPr/>
        </p:nvSpPr>
        <p:spPr>
          <a:xfrm>
            <a:off x="4429125" y="3648075"/>
            <a:ext cx="28384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spc="22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THE UPSIDE</a:t>
            </a:r>
            <a:endParaRPr sz="1500" spc="225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3" name="文本框 117"/>
          <p:cNvSpPr>
            <a:spLocks noGrp="1"/>
          </p:cNvSpPr>
          <p:nvPr/>
        </p:nvSpPr>
        <p:spPr>
          <a:xfrm>
            <a:off x="685800" y="1943100"/>
            <a:ext cx="3057525" cy="2971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9500" b="1">
                <a:solidFill>
                  <a:srgbClr val="FFFFFF">
                    <a:alpha val="12000"/>
                  </a:srgbClr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9500" b="1">
              <a:solidFill>
                <a:srgbClr val="FFFFFF">
                  <a:alpha val="12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5" name="矩形 119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46" name="文本框 120"/>
          <p:cNvSpPr>
            <a:spLocks noGrp="1"/>
          </p:cNvSpPr>
          <p:nvPr/>
        </p:nvSpPr>
        <p:spPr>
          <a:xfrm>
            <a:off x="533400" y="419100"/>
            <a:ext cx="111252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成本结构：每一笔投入都对应一个可验收的结果</a:t>
            </a:r>
            <a:endParaRPr sz="24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7" name="矩形 121"/>
          <p:cNvSpPr>
            <a:spLocks noGrp="1"/>
          </p:cNvSpPr>
          <p:nvPr/>
        </p:nvSpPr>
        <p:spPr>
          <a:xfrm>
            <a:off x="533400" y="8953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graphicFrame>
        <p:nvGraphicFramePr>
          <p:cNvPr id="161" name="表格 122"/>
          <p:cNvGraphicFramePr/>
          <p:nvPr/>
        </p:nvGraphicFramePr>
        <p:xfrm>
          <a:off x="533400" y="1019175"/>
          <a:ext cx="11125200" cy="3390903"/>
        </p:xfrm>
        <a:graphic>
          <a:graphicData uri="http://schemas.openxmlformats.org/drawingml/2006/table">
            <a:tbl>
              <a:tblPr/>
              <a:tblGrid>
                <a:gridCol w="1464184"/>
                <a:gridCol w="2837309"/>
                <a:gridCol w="2909579"/>
                <a:gridCol w="3914128"/>
              </a:tblGrid>
              <a:tr h="301668"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投入</a:t>
                      </a:r>
                      <a:endParaRPr sz="11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预算（万元）</a:t>
                      </a:r>
                      <a:endParaRPr sz="11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换来的结果</a:t>
                      </a:r>
                      <a:endParaRPr sz="11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对应里程碑</a:t>
                      </a:r>
                      <a:endParaRPr sz="11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</a:tr>
              <a:tr h="483051"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061F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配对队列 150 例</a:t>
                      </a:r>
                      <a:endParaRPr sz="1050" b="1">
                        <a:solidFill>
                          <a:srgbClr val="061F3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4454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475</a:t>
                      </a:r>
                      <a:endParaRPr sz="1050">
                        <a:solidFill>
                          <a:srgbClr val="44546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100 例成功配对的患者–PDO 队列</a:t>
                      </a:r>
                      <a:endParaRPr sz="1050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6 个月 ≥30 例；第 12 个月约 100 例</a:t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050" b="0" i="0" u="none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050" b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050" b="0" i="0" u="none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3980"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061F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深度读出 60 例</a:t>
                      </a:r>
                      <a:endParaRPr sz="1050" b="1">
                        <a:solidFill>
                          <a:srgbClr val="061F3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4454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690</a:t>
                      </a:r>
                      <a:endParaRPr sz="1050">
                        <a:solidFill>
                          <a:srgbClr val="44546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AIVC 训练数据：扰动、单细胞、蛋白 / 代谢、空间组学</a:t>
                      </a:r>
                      <a:endParaRPr sz="1050" b="1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6 个月流程跑通；第 12 个月完成 60 例</a:t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050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83051"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061F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回顾性验证</a:t>
                      </a:r>
                      <a:endParaRPr sz="1050" b="1">
                        <a:solidFill>
                          <a:srgbClr val="061F3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240</a:t>
                      </a:r>
                      <a:endParaRPr sz="1050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 对纵向配对出双轨迹校准首个结果；30 例药敏，合计约 40 例 AUROC</a:t>
                      </a:r>
                      <a:endParaRPr sz="1050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9 个月首次评估；第 12 个月出结果</a:t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lang="zh-CN" altLang="en-US" sz="1050" b="0" i="0" u="none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lang="zh-CN" altLang="en-US" sz="1050" b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050" b="0" i="0" u="none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3051"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061F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团队 14→26 人</a:t>
                      </a:r>
                      <a:endParaRPr sz="1050" b="1">
                        <a:solidFill>
                          <a:srgbClr val="061F3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915</a:t>
                      </a:r>
                      <a:endParaRPr sz="1050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实验、生信 / AI、临床协调、BD 全链路</a:t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050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6 个月前完成关键岗位招聘</a:t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Arial" panose="020B0604020202020204" pitchFamily="34" charset="0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050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83051"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061F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 / 实验室 / 算力</a:t>
                      </a:r>
                      <a:endParaRPr sz="1050" b="1">
                        <a:solidFill>
                          <a:srgbClr val="061F3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975</a:t>
                      </a:r>
                      <a:endParaRPr sz="1050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通量与深度读出能力；算力按王博测算</a:t>
                      </a:r>
                      <a:endParaRPr sz="1050" b="1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3 个月就位</a:t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050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3051"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061F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医院 / 合规 / IP / BD</a:t>
                      </a:r>
                      <a:endParaRPr sz="1050" b="1">
                        <a:solidFill>
                          <a:srgbClr val="061F3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710</a:t>
                      </a:r>
                      <a:endParaRPr sz="1050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入组通量、合规与 IP；含运营与不可预见费</a:t>
                      </a:r>
                      <a:endParaRPr sz="1050" b="1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12 个月首个付费项目</a:t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050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49" name="矩形 123"/>
          <p:cNvSpPr>
            <a:spLocks noGrp="1"/>
          </p:cNvSpPr>
          <p:nvPr/>
        </p:nvSpPr>
        <p:spPr>
          <a:xfrm>
            <a:off x="533400" y="4543425"/>
            <a:ext cx="5467350" cy="1695450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150" name="文本框 124"/>
          <p:cNvSpPr>
            <a:spLocks noGrp="1"/>
          </p:cNvSpPr>
          <p:nvPr/>
        </p:nvSpPr>
        <p:spPr>
          <a:xfrm>
            <a:off x="723900" y="5000625"/>
            <a:ext cx="50863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关键指标（初稿）</a:t>
            </a:r>
            <a:endParaRPr sz="1275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1" name="文本框 125"/>
          <p:cNvSpPr>
            <a:spLocks noGrp="1"/>
          </p:cNvSpPr>
          <p:nvPr/>
        </p:nvSpPr>
        <p:spPr>
          <a:xfrm>
            <a:off x="723900" y="5257800"/>
            <a:ext cx="50863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Plan A 约 4010 万，月均约 334 万；单例湿实验直接成本约 2.9 万元，深度读出另计约 10.9 万元 / 例。</a:t>
            </a:r>
            <a:r>
              <a:rPr sz="1200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/>
            </a:r>
            <a:r>
              <a: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endParaRPr sz="12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2" name="矩形 126"/>
          <p:cNvSpPr>
            <a:spLocks noGrp="1"/>
          </p:cNvSpPr>
          <p:nvPr/>
        </p:nvSpPr>
        <p:spPr>
          <a:xfrm>
            <a:off x="6191250" y="4543425"/>
            <a:ext cx="5467350" cy="1695450"/>
          </a:xfrm>
          <a:prstGeom prst="rect">
            <a:avLst/>
          </a:prstGeom>
          <a:ln w="19050">
            <a:solidFill>
              <a:srgbClr val="061F32"/>
            </a:solidFill>
            <a:prstDash val="solid"/>
          </a:ln>
        </p:spPr>
        <p:txBody>
          <a:bodyPr/>
          <a:lstStyle/>
          <a:p/>
        </p:txBody>
      </p:sp>
      <p:sp>
        <p:nvSpPr>
          <p:cNvPr id="153" name="文本框 127"/>
          <p:cNvSpPr>
            <a:spLocks noGrp="1"/>
          </p:cNvSpPr>
          <p:nvPr/>
        </p:nvSpPr>
        <p:spPr>
          <a:xfrm>
            <a:off x="6381750" y="5000625"/>
            <a:ext cx="50863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单位经济是下一轮要兑现的指标</a:t>
            </a:r>
            <a:r>
              <a:rPr lang="zh-CN" altLang="en-US" sz="12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endParaRPr sz="12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4" name="文本框 128"/>
          <p:cNvSpPr>
            <a:spLocks noGrp="1"/>
          </p:cNvSpPr>
          <p:nvPr/>
        </p:nvSpPr>
        <p:spPr>
          <a:xfrm>
            <a:off x="6381750" y="5257800"/>
            <a:ext cx="5086350" cy="764164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45000"/>
              </a:lnSpc>
              <a:buNone/>
            </a:pPr>
            <a:r>
              <a:rPr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随着 SOP 标准化、建模成功率提高、读出面板按「只保留能改善预测的检测」收窄，单例成本应逐步下降。全部金额待团队会议确认。</a:t>
            </a:r>
            <a:r>
              <a:rPr sz="1200">
                <a:solidFill>
                  <a:srgbClr val="44546A"/>
                </a:solidFill>
                <a:latin typeface="微软雅黑" charset="0"/>
                <a:ea typeface="微软雅黑" charset="0"/>
                <a:cs typeface="微软雅黑" charset="0"/>
              </a:rPr>
              <a:t/>
            </a:r>
            <a:r>
              <a:rPr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endParaRPr sz="1200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5" name="文本框 129"/>
          <p:cNvSpPr>
            <a:spLocks noGrp="1"/>
          </p:cNvSpPr>
          <p:nvPr/>
        </p:nvSpPr>
        <p:spPr>
          <a:xfrm>
            <a:off x="533400" y="6381750"/>
            <a:ext cx="40767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Source: 卓悦博士执行计划与预算模拟；王中杰博士算力测算；本稿推算</a:t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6" name="文本框 130"/>
          <p:cNvSpPr>
            <a:spLocks noGrp="1"/>
          </p:cNvSpPr>
          <p:nvPr/>
        </p:nvSpPr>
        <p:spPr>
          <a:xfrm>
            <a:off x="11201400" y="63817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05 / 08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" name="矩形 13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59" name="文本框 133"/>
          <p:cNvSpPr>
            <a:spLocks noGrp="1"/>
          </p:cNvSpPr>
          <p:nvPr/>
        </p:nvSpPr>
        <p:spPr>
          <a:xfrm>
            <a:off x="533400" y="419100"/>
            <a:ext cx="111252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商业模式：先卖研发答案，再卖预测服务，最后卖平台</a:t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endParaRPr sz="24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0" name="矩形 134"/>
          <p:cNvSpPr>
            <a:spLocks noGrp="1"/>
          </p:cNvSpPr>
          <p:nvPr/>
        </p:nvSpPr>
        <p:spPr>
          <a:xfrm>
            <a:off x="533400" y="8953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161" name="矩形 135"/>
          <p:cNvSpPr>
            <a:spLocks noGrp="1"/>
          </p:cNvSpPr>
          <p:nvPr/>
        </p:nvSpPr>
        <p:spPr>
          <a:xfrm>
            <a:off x="533400" y="1019175"/>
            <a:ext cx="3419475" cy="16878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162" name="文本框 136"/>
          <p:cNvSpPr>
            <a:spLocks noGrp="1"/>
          </p:cNvSpPr>
          <p:nvPr/>
        </p:nvSpPr>
        <p:spPr>
          <a:xfrm>
            <a:off x="742950" y="1190625"/>
            <a:ext cx="3000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 spc="15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近期｜本轮</a:t>
            </a:r>
            <a:endParaRPr sz="1125" b="1" spc="150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3" name="文本框 137"/>
          <p:cNvSpPr>
            <a:spLocks noGrp="1"/>
          </p:cNvSpPr>
          <p:nvPr/>
        </p:nvSpPr>
        <p:spPr>
          <a:xfrm>
            <a:off x="742950" y="1419225"/>
            <a:ext cx="300037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研究项目收费</a:t>
            </a:r>
            <a:endParaRPr sz="17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4" name="文本框 138"/>
          <p:cNvSpPr>
            <a:spLocks noGrp="1"/>
          </p:cNvSpPr>
          <p:nvPr/>
        </p:nvSpPr>
        <p:spPr>
          <a:xfrm>
            <a:off x="742950" y="1781175"/>
            <a:ext cx="3000375" cy="828675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围绕药企明确的研发问题，交付候选排序、机制解释和验证结果；客户买的是研发答案，不是单次类器官培养。</a:t>
            </a:r>
            <a:r>
              <a:rPr lang="zh-CN" altLang="en-US"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endParaRPr sz="1100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07" name="图片 13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48125" y="1914525"/>
            <a:ext cx="247650" cy="209550"/>
          </a:xfrm>
          <a:prstGeom prst="rect">
            <a:avLst/>
          </a:prstGeom>
        </p:spPr>
      </p:pic>
      <p:sp>
        <p:nvSpPr>
          <p:cNvPr id="166" name="矩形 140"/>
          <p:cNvSpPr>
            <a:spLocks noGrp="1"/>
          </p:cNvSpPr>
          <p:nvPr/>
        </p:nvSpPr>
        <p:spPr>
          <a:xfrm>
            <a:off x="4391025" y="1019175"/>
            <a:ext cx="3409950" cy="1687863"/>
          </a:xfrm>
          <a:prstGeom prst="rect">
            <a:avLst/>
          </a:prstGeom>
          <a:solidFill>
            <a:srgbClr val="001965"/>
          </a:solidFill>
        </p:spPr>
        <p:txBody>
          <a:bodyPr/>
          <a:lstStyle/>
          <a:p/>
        </p:txBody>
      </p:sp>
      <p:sp>
        <p:nvSpPr>
          <p:cNvPr id="167" name="文本框 141"/>
          <p:cNvSpPr>
            <a:spLocks noGrp="1"/>
          </p:cNvSpPr>
          <p:nvPr/>
        </p:nvSpPr>
        <p:spPr>
          <a:xfrm>
            <a:off x="4600575" y="1190625"/>
            <a:ext cx="2990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 spc="15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中期｜下一轮</a:t>
            </a:r>
            <a:endParaRPr sz="1125" b="1" spc="150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8" name="文本框 142"/>
          <p:cNvSpPr>
            <a:spLocks noGrp="1"/>
          </p:cNvSpPr>
          <p:nvPr/>
        </p:nvSpPr>
        <p:spPr>
          <a:xfrm>
            <a:off x="4600575" y="1419225"/>
            <a:ext cx="29908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按例预测 + 队列共建</a:t>
            </a: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endParaRPr sz="17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9" name="文本框 143"/>
          <p:cNvSpPr>
            <a:spLocks noGrp="1"/>
          </p:cNvSpPr>
          <p:nvPr/>
        </p:nvSpPr>
        <p:spPr>
          <a:xfrm>
            <a:off x="4600575" y="1781175"/>
            <a:ext cx="2990850" cy="828646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标准化患者预测报告按例收费；与药企、医院共建队列与联合验证，首付款加里程碑付款。</a:t>
            </a:r>
            <a:r>
              <a:rPr lang="zh-CN" altLang="en-US"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endParaRPr sz="1100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12" name="图片 14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96225" y="1914525"/>
            <a:ext cx="247650" cy="209550"/>
          </a:xfrm>
          <a:prstGeom prst="rect">
            <a:avLst/>
          </a:prstGeom>
        </p:spPr>
      </p:pic>
      <p:sp>
        <p:nvSpPr>
          <p:cNvPr id="171" name="矩形 145"/>
          <p:cNvSpPr>
            <a:spLocks noGrp="1"/>
          </p:cNvSpPr>
          <p:nvPr/>
        </p:nvSpPr>
        <p:spPr>
          <a:xfrm>
            <a:off x="8239125" y="1019175"/>
            <a:ext cx="3419475" cy="1687863"/>
          </a:xfrm>
          <a:prstGeom prst="rect">
            <a:avLst/>
          </a:prstGeom>
          <a:solidFill>
            <a:srgbClr val="08A6F6"/>
          </a:solidFill>
        </p:spPr>
        <p:txBody>
          <a:bodyPr/>
          <a:lstStyle/>
          <a:p/>
        </p:txBody>
      </p:sp>
      <p:sp>
        <p:nvSpPr>
          <p:cNvPr id="172" name="文本框 146"/>
          <p:cNvSpPr>
            <a:spLocks noGrp="1"/>
          </p:cNvSpPr>
          <p:nvPr/>
        </p:nvSpPr>
        <p:spPr>
          <a:xfrm>
            <a:off x="8448675" y="1190625"/>
            <a:ext cx="3000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 spc="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远期</a:t>
            </a:r>
            <a:endParaRPr sz="1125" b="1" spc="150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3" name="文本框 147"/>
          <p:cNvSpPr>
            <a:spLocks noGrp="1"/>
          </p:cNvSpPr>
          <p:nvPr/>
        </p:nvSpPr>
        <p:spPr>
          <a:xfrm>
            <a:off x="8448675" y="1419225"/>
            <a:ext cx="300037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2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平台许可 + 决策支持</a:t>
            </a:r>
            <a:r>
              <a:rPr sz="172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72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endParaRPr sz="172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4" name="文本框 148"/>
          <p:cNvSpPr>
            <a:spLocks noGrp="1"/>
          </p:cNvSpPr>
          <p:nvPr/>
        </p:nvSpPr>
        <p:spPr>
          <a:xfrm>
            <a:off x="8448675" y="1781175"/>
            <a:ext cx="3000375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10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向合格伙伴输出平台授权与数据服务；完成前瞻性验证后，把治疗预测嵌入临床决策路径。</a:t>
            </a:r>
            <a:r>
              <a:rPr sz="1100">
                <a:solidFill>
                  <a:srgbClr val="061F32"/>
                </a:solidFill>
                <a:latin typeface="微软雅黑"/>
                <a:ea typeface="微软雅黑"/>
                <a:cs typeface="Arial" panose="020B0604020202020204" pitchFamily="34" charset="0"/>
              </a:rPr>
              <a:t/>
            </a:r>
            <a:r>
              <a:rPr sz="110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endParaRPr sz="1100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5" name="文本框 150"/>
          <p:cNvSpPr>
            <a:spLocks noGrp="1"/>
          </p:cNvSpPr>
          <p:nvPr/>
        </p:nvSpPr>
        <p:spPr>
          <a:xfrm>
            <a:off x="4610119" y="2840188"/>
            <a:ext cx="2997143" cy="400323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7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三类合作伙伴，三种</a:t>
            </a:r>
            <a:r>
              <a:rPr sz="1700" b="1">
                <a:solidFill>
                  <a:srgbClr val="061F32"/>
                </a:solidFill>
                <a:latin typeface="微软雅黑" charset="0"/>
                <a:ea typeface="微软雅黑" charset="0"/>
                <a:cs typeface="微软雅黑" charset="0"/>
              </a:rPr>
              <a:t>合作模式</a:t>
            </a:r>
            <a:endParaRPr sz="170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6" name="矩形 152"/>
          <p:cNvSpPr>
            <a:spLocks noGrp="1"/>
          </p:cNvSpPr>
          <p:nvPr/>
        </p:nvSpPr>
        <p:spPr>
          <a:xfrm>
            <a:off x="533400" y="4962578"/>
            <a:ext cx="5467350" cy="1276297"/>
          </a:xfrm>
          <a:prstGeom prst="rect">
            <a:avLst/>
          </a:prstGeom>
          <a:ln w="19050">
            <a:solidFill>
              <a:srgbClr val="061F32"/>
            </a:solidFill>
            <a:prstDash val="solid"/>
          </a:ln>
        </p:spPr>
        <p:txBody>
          <a:bodyPr/>
          <a:lstStyle/>
          <a:p/>
        </p:txBody>
      </p:sp>
      <p:sp>
        <p:nvSpPr>
          <p:cNvPr id="177" name="文本框 153"/>
          <p:cNvSpPr>
            <a:spLocks noGrp="1"/>
          </p:cNvSpPr>
          <p:nvPr/>
        </p:nvSpPr>
        <p:spPr>
          <a:xfrm>
            <a:off x="636394" y="5030752"/>
            <a:ext cx="5048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为什么客户不自己建？</a:t>
            </a:r>
            <a:endParaRPr sz="135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8" name="文本框 154"/>
          <p:cNvSpPr>
            <a:spLocks noGrp="1"/>
          </p:cNvSpPr>
          <p:nvPr/>
        </p:nvSpPr>
        <p:spPr>
          <a:xfrm>
            <a:off x="636366" y="5308647"/>
            <a:ext cx="5156200" cy="1073151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44546A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核心壁垒</a:t>
            </a:r>
            <a:r>
              <a:rPr lang="zh-CN" altLang="en-US" sz="1200">
                <a:solidFill>
                  <a:srgbClr val="44546A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由</a:t>
            </a:r>
            <a:r>
              <a:rPr sz="1200">
                <a:solidFill>
                  <a:srgbClr val="44546A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患者-PDO </a:t>
            </a:r>
            <a:r>
              <a:rPr lang="zh-CN" altLang="en-US" sz="1200">
                <a:solidFill>
                  <a:srgbClr val="44546A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纵向</a:t>
            </a:r>
            <a:r>
              <a:rPr sz="1200">
                <a:solidFill>
                  <a:srgbClr val="44546A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配对队列、培养偏差校正</a:t>
            </a:r>
            <a:r>
              <a:rPr lang="zh-CN" altLang="en-US" sz="1200">
                <a:solidFill>
                  <a:srgbClr val="44546A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体系</a:t>
            </a:r>
            <a:r>
              <a:rPr sz="1200">
                <a:solidFill>
                  <a:srgbClr val="44546A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和跨项目模型复用</a:t>
            </a:r>
            <a:r>
              <a:rPr lang="zh-CN" altLang="en-US" sz="1200">
                <a:solidFill>
                  <a:srgbClr val="44546A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能力共同构成</a:t>
            </a:r>
            <a:r>
              <a:rPr sz="1200">
                <a:solidFill>
                  <a:srgbClr val="44546A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200">
              <a:solidFill>
                <a:srgbClr val="44546A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44546A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数据越厚，</a:t>
            </a:r>
            <a:r>
              <a:rPr lang="zh-CN" altLang="en-US" sz="1200">
                <a:solidFill>
                  <a:srgbClr val="44546A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我们的</a:t>
            </a:r>
            <a:r>
              <a:rPr sz="1200">
                <a:solidFill>
                  <a:srgbClr val="44546A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边际交付成本</a:t>
            </a:r>
            <a:r>
              <a:rPr lang="zh-CN" altLang="en-US" sz="1200">
                <a:solidFill>
                  <a:srgbClr val="44546A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就</a:t>
            </a:r>
            <a:r>
              <a:rPr sz="1200">
                <a:solidFill>
                  <a:srgbClr val="44546A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越低</a:t>
            </a:r>
            <a:r>
              <a:rPr lang="zh-CN" altLang="en-US" sz="1200">
                <a:solidFill>
                  <a:srgbClr val="44546A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，客户自建的投入门槛则会不断拉大。</a:t>
            </a:r>
            <a:endParaRPr sz="1200">
              <a:solidFill>
                <a:srgbClr val="44546A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9" name="矩形 155"/>
          <p:cNvSpPr>
            <a:spLocks noGrp="1"/>
          </p:cNvSpPr>
          <p:nvPr/>
        </p:nvSpPr>
        <p:spPr>
          <a:xfrm>
            <a:off x="6191250" y="4962578"/>
            <a:ext cx="5467350" cy="1276297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180" name="文本框 157"/>
          <p:cNvSpPr>
            <a:spLocks noGrp="1"/>
          </p:cNvSpPr>
          <p:nvPr/>
        </p:nvSpPr>
        <p:spPr>
          <a:xfrm>
            <a:off x="6407150" y="4962578"/>
            <a:ext cx="5048250" cy="1263597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lvl="0" algn="l" defTabSz="914400">
              <a:lnSpc>
                <a:spcPct val="150000"/>
              </a:lnSpc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Calibri"/>
                <a:cs typeface="Calibri"/>
              </a:defRPr>
            </a:pPr>
            <a:r>
              <a:rPr sz="1725" b="1" i="0" u="none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平台效应</a:t>
            </a:r>
            <a:r>
              <a:rPr sz="1725" b="1">
                <a:solidFill>
                  <a:srgbClr val="FFFFFF">
                    <a:alpha val="100000"/>
                  </a:srgbClr>
                </a:solidFill>
                <a:latin typeface="微软雅黑" charset="0"/>
                <a:ea typeface="微软雅黑" charset="0"/>
                <a:cs typeface="微软雅黑" charset="0"/>
              </a:rPr>
              <a:t>自首批数据开始</a:t>
            </a:r>
            <a:r>
              <a:rPr lang="zh-CN" altLang="en-US" sz="1725" b="1">
                <a:solidFill>
                  <a:srgbClr val="FFFFFF">
                    <a:alpha val="100000"/>
                  </a:srgbClr>
                </a:solidFill>
                <a:latin typeface="微软雅黑" charset="0"/>
                <a:ea typeface="微软雅黑" charset="0"/>
                <a:cs typeface="微软雅黑" charset="0"/>
              </a:rPr>
              <a:t>形成</a:t>
            </a:r>
            <a:endParaRPr lang="zh-CN" altLang="en-US" sz="1725" b="1">
              <a:solidFill>
                <a:srgbClr val="FFFFFF">
                  <a:alpha val="100000"/>
                </a:srgbClr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lvl="0" algn="l" defTabSz="914400">
              <a:lnSpc>
                <a:spcPct val="150000"/>
              </a:lnSpc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Calibri"/>
                <a:cs typeface="Calibri"/>
              </a:defRPr>
            </a:pPr>
            <a:endParaRPr sz="600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marL="0" lvl="0" algn="l" defTabSz="914400">
              <a:lnSpc>
                <a:spcPct val="150000"/>
              </a:lnSpc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所有合作项目共</a:t>
            </a:r>
            <a:r>
              <a:rPr lang="zh-CN" altLang="en-US" sz="12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用</a:t>
            </a:r>
            <a:r>
              <a:rPr sz="12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统一</a:t>
            </a:r>
            <a:r>
              <a:rPr lang="zh-CN" altLang="en-US" sz="12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的</a:t>
            </a:r>
            <a:r>
              <a:rPr sz="12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数据</a:t>
            </a:r>
            <a:r>
              <a:rPr lang="zh-CN" altLang="en-US" sz="12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标准与</a:t>
            </a:r>
            <a:r>
              <a:rPr sz="12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模型</a:t>
            </a:r>
            <a:r>
              <a:rPr lang="zh-CN" altLang="en-US" sz="12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架构；</a:t>
            </a:r>
            <a:r>
              <a:rPr sz="12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项目交付与模型</a:t>
            </a:r>
            <a:r>
              <a:rPr lang="zh-CN" altLang="en-US" sz="12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迭代处在同一条</a:t>
            </a:r>
            <a:r>
              <a:rPr sz="12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生产链</a:t>
            </a:r>
            <a:r>
              <a:rPr lang="zh-CN" altLang="en-US" sz="12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路</a:t>
            </a:r>
            <a:r>
              <a:rPr sz="12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lang="zh-CN" altLang="en-US" sz="12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业务服务收入</a:t>
            </a:r>
            <a:r>
              <a:rPr sz="12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lang="zh-CN" altLang="en-US" sz="12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模型资产</a:t>
            </a:r>
            <a:r>
              <a:rPr sz="12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沉淀同</a:t>
            </a:r>
            <a:r>
              <a:rPr lang="zh-CN" altLang="en-US" sz="12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步完成</a:t>
            </a:r>
            <a:r>
              <a:rPr sz="12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200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1" name="文本框 158"/>
          <p:cNvSpPr>
            <a:spLocks noGrp="1"/>
          </p:cNvSpPr>
          <p:nvPr/>
        </p:nvSpPr>
        <p:spPr>
          <a:xfrm>
            <a:off x="533400" y="6381750"/>
            <a:ext cx="17811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Source: AIVC BP v13 §3.2</a:t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2" name="文本框 159"/>
          <p:cNvSpPr>
            <a:spLocks noGrp="1"/>
          </p:cNvSpPr>
          <p:nvPr/>
        </p:nvSpPr>
        <p:spPr>
          <a:xfrm>
            <a:off x="11201400" y="63817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02 / 08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3" name="矩形 182"/>
          <p:cNvSpPr>
            <a:spLocks noGrp="1"/>
          </p:cNvSpPr>
          <p:nvPr/>
        </p:nvSpPr>
        <p:spPr>
          <a:xfrm>
            <a:off x="578939" y="3240502"/>
            <a:ext cx="3370761" cy="1550951"/>
          </a:xfrm>
          <a:prstGeom prst="rect">
            <a:avLst/>
          </a:prstGeom>
          <a:ln w="12700">
            <a:solidFill>
              <a:srgbClr val="E7E6E6"/>
            </a:solidFill>
            <a:prstDash val="solid"/>
          </a:ln>
        </p:spPr>
        <p:txBody>
          <a:bodyPr/>
          <a:lstStyle/>
          <a:p/>
        </p:txBody>
      </p:sp>
      <p:sp>
        <p:nvSpPr>
          <p:cNvPr id="184" name="矩形 183"/>
          <p:cNvSpPr>
            <a:spLocks noGrp="1"/>
          </p:cNvSpPr>
          <p:nvPr/>
        </p:nvSpPr>
        <p:spPr>
          <a:xfrm>
            <a:off x="4390990" y="3240534"/>
            <a:ext cx="3419510" cy="1550891"/>
          </a:xfrm>
          <a:prstGeom prst="rect">
            <a:avLst/>
          </a:prstGeom>
          <a:ln w="12700">
            <a:solidFill>
              <a:srgbClr val="E7E6E6"/>
            </a:solidFill>
            <a:prstDash val="solid"/>
          </a:ln>
        </p:spPr>
        <p:txBody>
          <a:bodyPr/>
          <a:lstStyle/>
          <a:p/>
        </p:txBody>
      </p:sp>
      <p:sp>
        <p:nvSpPr>
          <p:cNvPr id="185" name="矩形 184"/>
          <p:cNvSpPr>
            <a:spLocks noGrp="1"/>
          </p:cNvSpPr>
          <p:nvPr/>
        </p:nvSpPr>
        <p:spPr>
          <a:xfrm>
            <a:off x="8239152" y="3240534"/>
            <a:ext cx="3419448" cy="1550891"/>
          </a:xfrm>
          <a:prstGeom prst="rect">
            <a:avLst/>
          </a:prstGeom>
          <a:ln w="12700">
            <a:solidFill>
              <a:srgbClr val="E7E6E6"/>
            </a:solidFill>
            <a:prstDash val="solid"/>
          </a:ln>
        </p:spPr>
        <p:txBody>
          <a:bodyPr/>
          <a:lstStyle/>
          <a:p/>
        </p:txBody>
      </p:sp>
      <p:sp>
        <p:nvSpPr>
          <p:cNvPr id="186" name="矩形 185"/>
          <p:cNvSpPr>
            <a:spLocks noGrp="1"/>
          </p:cNvSpPr>
          <p:nvPr/>
        </p:nvSpPr>
        <p:spPr>
          <a:xfrm>
            <a:off x="749300" y="3318115"/>
            <a:ext cx="2997200" cy="17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4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制药与生物技术企业 </a:t>
            </a:r>
            <a:r>
              <a:rPr lang="zh-CN" altLang="en-US" sz="14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-</a:t>
            </a:r>
            <a:r>
              <a:rPr lang="zh-CN" altLang="en-US" sz="1400" b="1">
                <a:solidFill>
                  <a:srgbClr val="44546A">
                    <a:alpha val="100000"/>
                  </a:srgbClr>
                </a:solidFill>
              </a:rPr>
              <a:t> </a:t>
            </a:r>
            <a:r>
              <a:rPr sz="1400" b="1">
                <a:solidFill>
                  <a:srgbClr val="08A6F6">
                    <a:alpha val="100000"/>
                  </a:srgbClr>
                </a:solidFill>
                <a:sym typeface="+mn-ea"/>
              </a:rPr>
              <a:t>转化研发</a:t>
            </a:r>
            <a:endParaRPr lang="zh-CN" altLang="en-US" sz="1400" b="1">
              <a:solidFill>
                <a:srgbClr val="08A6F6">
                  <a:alpha val="100000"/>
                </a:srgbClr>
              </a:solidFill>
              <a:sym typeface="+mn-ea"/>
            </a:endParaRPr>
          </a:p>
        </p:txBody>
      </p:sp>
      <p:sp>
        <p:nvSpPr>
          <p:cNvPr id="188" name="矩形 187"/>
          <p:cNvSpPr>
            <a:spLocks noGrp="1"/>
          </p:cNvSpPr>
          <p:nvPr/>
        </p:nvSpPr>
        <p:spPr>
          <a:xfrm>
            <a:off x="749300" y="3733970"/>
            <a:ext cx="29972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altLang="en-US"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覆盖</a:t>
            </a:r>
            <a:r>
              <a:rPr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CRO</a:t>
            </a:r>
            <a:r>
              <a:rPr lang="zh-CN" altLang="en-US"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CGT</a:t>
            </a:r>
            <a:r>
              <a:rPr lang="zh-CN" altLang="en-US"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企业；输出</a:t>
            </a:r>
            <a:r>
              <a:rPr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候选排序、耐药机制与联合</a:t>
            </a:r>
            <a:r>
              <a:rPr lang="zh-CN" altLang="en-US"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用药</a:t>
            </a:r>
            <a:r>
              <a:rPr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方案，</a:t>
            </a:r>
            <a:r>
              <a:rPr lang="zh-CN" altLang="en-US"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助力优化</a:t>
            </a:r>
            <a:r>
              <a:rPr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试验设计</a:t>
            </a:r>
            <a:r>
              <a:rPr lang="zh-CN" altLang="en-US"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并提供</a:t>
            </a:r>
            <a:r>
              <a:rPr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机制证据</a:t>
            </a:r>
            <a:endParaRPr sz="12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9" name="矩形 188"/>
          <p:cNvSpPr>
            <a:spLocks noGrp="1"/>
          </p:cNvSpPr>
          <p:nvPr/>
        </p:nvSpPr>
        <p:spPr>
          <a:xfrm>
            <a:off x="749304" y="4391850"/>
            <a:ext cx="2997200" cy="152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初始合作：联合开发研究</a:t>
            </a:r>
            <a:endParaRPr sz="1200" b="1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0" name="矩形 189"/>
          <p:cNvSpPr>
            <a:spLocks noGrp="1"/>
          </p:cNvSpPr>
          <p:nvPr/>
        </p:nvSpPr>
        <p:spPr>
          <a:xfrm>
            <a:off x="4389813" y="3318115"/>
            <a:ext cx="3627813" cy="33923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4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肿瘤中心 · </a:t>
            </a:r>
            <a:r>
              <a:rPr lang="zh-CN" altLang="en-US" sz="14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临床</a:t>
            </a:r>
            <a:r>
              <a:rPr sz="14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研究者 </a:t>
            </a:r>
            <a:r>
              <a:rPr lang="zh-CN" altLang="en-US" sz="14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-</a:t>
            </a:r>
            <a:r>
              <a:rPr lang="zh-CN" altLang="en-US" sz="1400" b="1">
                <a:solidFill>
                  <a:srgbClr val="44546A">
                    <a:alpha val="100000"/>
                  </a:srgbClr>
                </a:solidFill>
              </a:rPr>
              <a:t> </a:t>
            </a:r>
            <a:r>
              <a:rPr sz="1400" b="1">
                <a:solidFill>
                  <a:srgbClr val="08A6F6">
                    <a:alpha val="100000"/>
                  </a:srgbClr>
                </a:solidFill>
                <a:sym typeface="+mn-ea"/>
              </a:rPr>
              <a:t>前瞻性决策研究</a:t>
            </a:r>
            <a:endParaRPr lang="zh-CN" altLang="en-US" sz="1400" b="1">
              <a:solidFill>
                <a:srgbClr val="08A6F6">
                  <a:alpha val="100000"/>
                </a:srgbClr>
              </a:solidFill>
              <a:sym typeface="+mn-ea"/>
            </a:endParaRPr>
          </a:p>
        </p:txBody>
      </p:sp>
      <p:sp>
        <p:nvSpPr>
          <p:cNvPr id="192" name="矩形 191"/>
          <p:cNvSpPr>
            <a:spLocks noGrp="1"/>
          </p:cNvSpPr>
          <p:nvPr/>
        </p:nvSpPr>
        <p:spPr>
          <a:xfrm>
            <a:off x="4389813" y="3733970"/>
            <a:ext cx="3060662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在标准诊疗路径之外完成药效预判，</a:t>
            </a:r>
            <a:r>
              <a:rPr lang="zh-CN" altLang="en-US"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为现有临床信息补充增量</a:t>
            </a:r>
            <a:r>
              <a:rPr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价值</a:t>
            </a:r>
            <a:endParaRPr sz="12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3" name="矩形 192"/>
          <p:cNvSpPr>
            <a:spLocks noGrp="1"/>
          </p:cNvSpPr>
          <p:nvPr/>
        </p:nvSpPr>
        <p:spPr>
          <a:xfrm>
            <a:off x="4389813" y="4391828"/>
            <a:ext cx="3060662" cy="152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初始合作：前瞻性临床研究</a:t>
            </a:r>
            <a:endParaRPr sz="1200" b="1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4" name="矩形 193"/>
          <p:cNvSpPr>
            <a:spLocks noGrp="1"/>
          </p:cNvSpPr>
          <p:nvPr/>
        </p:nvSpPr>
        <p:spPr>
          <a:xfrm>
            <a:off x="8458200" y="3318115"/>
            <a:ext cx="3200419" cy="33921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4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类器官平台与实验室 </a:t>
            </a:r>
            <a:r>
              <a:rPr lang="zh-CN" altLang="en-US" sz="14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- </a:t>
            </a:r>
            <a:r>
              <a:rPr sz="1400" b="1">
                <a:solidFill>
                  <a:srgbClr val="08A6F6">
                    <a:alpha val="100000"/>
                  </a:srgbClr>
                </a:solidFill>
                <a:sym typeface="+mn-ea"/>
              </a:rPr>
              <a:t>分析与预测层</a:t>
            </a:r>
            <a:endParaRPr lang="zh-CN" altLang="en-US" sz="1400" b="1">
              <a:solidFill>
                <a:srgbClr val="08A6F6">
                  <a:alpha val="100000"/>
                </a:srgbClr>
              </a:solidFill>
              <a:sym typeface="+mn-ea"/>
            </a:endParaRPr>
          </a:p>
        </p:txBody>
      </p:sp>
      <p:sp>
        <p:nvSpPr>
          <p:cNvPr id="196" name="矩形 195"/>
          <p:cNvSpPr>
            <a:spLocks noGrp="1"/>
          </p:cNvSpPr>
          <p:nvPr/>
        </p:nvSpPr>
        <p:spPr>
          <a:xfrm>
            <a:off x="8458200" y="3733970"/>
            <a:ext cx="29972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提供成熟检测</a:t>
            </a:r>
            <a:r>
              <a:rPr lang="zh-CN" altLang="en-US"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模型、</a:t>
            </a:r>
            <a:r>
              <a:rPr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标准化</a:t>
            </a:r>
            <a:r>
              <a:rPr lang="zh-CN" altLang="en-US"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解读工具、</a:t>
            </a:r>
            <a:r>
              <a:rPr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纵向</a:t>
            </a:r>
            <a:r>
              <a:rPr lang="zh-CN" altLang="en-US"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偏差</a:t>
            </a:r>
            <a:r>
              <a:rPr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校</a:t>
            </a:r>
            <a:r>
              <a:rPr lang="zh-CN" altLang="en-US"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正模块，输出</a:t>
            </a:r>
            <a:r>
              <a:rPr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面向临床的</a:t>
            </a:r>
            <a:r>
              <a:rPr lang="zh-CN" altLang="en-US"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分析</a:t>
            </a:r>
            <a:r>
              <a:rPr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报告</a:t>
            </a:r>
            <a:endParaRPr sz="12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7" name="矩形 196"/>
          <p:cNvSpPr>
            <a:spLocks noGrp="1"/>
          </p:cNvSpPr>
          <p:nvPr/>
        </p:nvSpPr>
        <p:spPr>
          <a:xfrm>
            <a:off x="8458200" y="4391828"/>
            <a:ext cx="2997200" cy="152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初始合作：平台</a:t>
            </a: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模块</a:t>
            </a:r>
            <a:r>
              <a:rPr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集成</a:t>
            </a:r>
            <a:endParaRPr sz="1200" b="1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9" name="矩形 16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00" name="文本框 162"/>
          <p:cNvSpPr>
            <a:spLocks noGrp="1"/>
          </p:cNvSpPr>
          <p:nvPr/>
        </p:nvSpPr>
        <p:spPr>
          <a:xfrm>
            <a:off x="685800" y="495300"/>
            <a:ext cx="10820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225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本轮融资</a:t>
            </a:r>
            <a:r>
              <a:rPr sz="1200" b="1" spc="225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 · THE ASK</a:t>
            </a:r>
            <a:endParaRPr sz="1200" b="1" spc="225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1" name="文本框 163"/>
          <p:cNvSpPr>
            <a:spLocks noGrp="1"/>
          </p:cNvSpPr>
          <p:nvPr/>
        </p:nvSpPr>
        <p:spPr>
          <a:xfrm>
            <a:off x="685800" y="742950"/>
            <a:ext cx="3933825" cy="1209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  <a:buNone/>
            </a:pPr>
            <a:r>
              <a:rPr sz="7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¥5000 </a:t>
            </a:r>
            <a:r>
              <a: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万元</a:t>
            </a:r>
            <a:endParaRPr sz="3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2" name="文本框 164"/>
          <p:cNvSpPr>
            <a:spLocks noGrp="1"/>
          </p:cNvSpPr>
          <p:nvPr/>
        </p:nvSpPr>
        <p:spPr>
          <a:xfrm>
            <a:off x="4962525" y="1362075"/>
            <a:ext cx="1323975" cy="590550"/>
          </a:xfrm>
          <a:prstGeom prst="rect">
            <a:avLst/>
          </a:prstGeom>
        </p:spPr>
        <p:txBody>
          <a:bodyPr wrap="none" lIns="0" tIns="0" rIns="0" bIns="128588"/>
          <a:lstStyle/>
          <a:p>
            <a:pPr>
              <a:lnSpc>
                <a:spcPct val="150000"/>
              </a:lnSpc>
              <a:buNone/>
            </a:pPr>
            <a:r>
              <a:rPr sz="18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覆盖</a:t>
            </a:r>
            <a:r>
              <a:rPr lang="zh-CN" altLang="en-US" sz="18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运营周期</a:t>
            </a:r>
            <a:r>
              <a:rPr sz="18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 12 </a:t>
            </a:r>
            <a:r>
              <a:rPr sz="18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个月</a:t>
            </a:r>
            <a:endParaRPr sz="1800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3" name="文本框 165"/>
          <p:cNvSpPr>
            <a:spLocks noGrp="1"/>
          </p:cNvSpPr>
          <p:nvPr/>
        </p:nvSpPr>
        <p:spPr>
          <a:xfrm>
            <a:off x="676222" y="2009775"/>
            <a:ext cx="10820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八成用于拿到第 12 个月的证据，两成留作 Plan B 准备金；融资期内不计收入（保守口径）</a:t>
            </a:r>
            <a:r>
              <a:rPr lang="zh-CN" altLang="en-US"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275" b="1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4" name="文本框 166"/>
          <p:cNvSpPr>
            <a:spLocks noGrp="1"/>
          </p:cNvSpPr>
          <p:nvPr/>
        </p:nvSpPr>
        <p:spPr>
          <a:xfrm>
            <a:off x="685800" y="2667000"/>
            <a:ext cx="10820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资金用途（初稿，金额待团队确认）</a:t>
            </a:r>
            <a:endParaRPr sz="1275" b="1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5" name="矩形 167"/>
          <p:cNvSpPr>
            <a:spLocks noGrp="1"/>
          </p:cNvSpPr>
          <p:nvPr/>
        </p:nvSpPr>
        <p:spPr>
          <a:xfrm>
            <a:off x="685800" y="2962275"/>
            <a:ext cx="2999232" cy="381000"/>
          </a:xfrm>
          <a:prstGeom prst="rect">
            <a:avLst/>
          </a:prstGeom>
          <a:solidFill>
            <a:srgbClr val="08A6F6"/>
          </a:solidFill>
        </p:spPr>
        <p:txBody>
          <a:bodyPr/>
          <a:lstStyle/>
          <a:p/>
        </p:txBody>
      </p:sp>
      <p:sp>
        <p:nvSpPr>
          <p:cNvPr id="206" name="文本框 168"/>
          <p:cNvSpPr>
            <a:spLocks noGrp="1"/>
          </p:cNvSpPr>
          <p:nvPr/>
        </p:nvSpPr>
        <p:spPr>
          <a:xfrm>
            <a:off x="795528" y="3057525"/>
            <a:ext cx="2852927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A 核心数据</a:t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 28%</a:t>
            </a:r>
            <a:endParaRPr sz="12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7" name="矩形 169"/>
          <p:cNvSpPr>
            <a:spLocks noGrp="1"/>
          </p:cNvSpPr>
          <p:nvPr/>
        </p:nvSpPr>
        <p:spPr>
          <a:xfrm>
            <a:off x="3721608" y="2962275"/>
            <a:ext cx="4069080" cy="381000"/>
          </a:xfrm>
          <a:prstGeom prst="rect">
            <a:avLst/>
          </a:prstGeom>
          <a:solidFill>
            <a:srgbClr val="99BDED"/>
          </a:solidFill>
        </p:spPr>
        <p:txBody>
          <a:bodyPr/>
          <a:lstStyle/>
          <a:p/>
        </p:txBody>
      </p:sp>
      <p:sp>
        <p:nvSpPr>
          <p:cNvPr id="208" name="文本框 170"/>
          <p:cNvSpPr>
            <a:spLocks noGrp="1"/>
          </p:cNvSpPr>
          <p:nvPr/>
        </p:nvSpPr>
        <p:spPr>
          <a:xfrm>
            <a:off x="3831336" y="3057525"/>
            <a:ext cx="3922776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B 能力建设</a:t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 38%</a:t>
            </a:r>
            <a:endParaRPr sz="12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9" name="矩形 171"/>
          <p:cNvSpPr>
            <a:spLocks noGrp="1"/>
          </p:cNvSpPr>
          <p:nvPr/>
        </p:nvSpPr>
        <p:spPr>
          <a:xfrm>
            <a:off x="7827264" y="2962275"/>
            <a:ext cx="1499616" cy="381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10" name="文本框 172"/>
          <p:cNvSpPr>
            <a:spLocks noGrp="1"/>
          </p:cNvSpPr>
          <p:nvPr/>
        </p:nvSpPr>
        <p:spPr>
          <a:xfrm>
            <a:off x="7936992" y="3057525"/>
            <a:ext cx="1353312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C 商业合规等</a:t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 14%</a:t>
            </a:r>
            <a:endParaRPr sz="12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1" name="矩形 173"/>
          <p:cNvSpPr>
            <a:spLocks noGrp="1"/>
          </p:cNvSpPr>
          <p:nvPr/>
        </p:nvSpPr>
        <p:spPr>
          <a:xfrm>
            <a:off x="9363456" y="2962275"/>
            <a:ext cx="2139696" cy="381000"/>
          </a:xfrm>
          <a:prstGeom prst="rect">
            <a:avLst/>
          </a:prstGeom>
          <a:solidFill>
            <a:srgbClr val="44546A"/>
          </a:solidFill>
        </p:spPr>
        <p:txBody>
          <a:bodyPr/>
          <a:lstStyle/>
          <a:p/>
        </p:txBody>
      </p:sp>
      <p:sp>
        <p:nvSpPr>
          <p:cNvPr id="212" name="文本框 174"/>
          <p:cNvSpPr>
            <a:spLocks noGrp="1"/>
          </p:cNvSpPr>
          <p:nvPr/>
        </p:nvSpPr>
        <p:spPr>
          <a:xfrm>
            <a:off x="9473184" y="3076575"/>
            <a:ext cx="1993391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Plan B 准备金</a:t>
            </a:r>
            <a:r>
              <a:rPr sz="10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20%</a:t>
            </a:r>
            <a:endParaRPr sz="105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5" name="文本框 177"/>
          <p:cNvSpPr>
            <a:spLocks noGrp="1"/>
          </p:cNvSpPr>
          <p:nvPr/>
        </p:nvSpPr>
        <p:spPr>
          <a:xfrm>
            <a:off x="685800" y="3800475"/>
            <a:ext cx="10820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资金换来什么</a:t>
            </a:r>
            <a:r>
              <a:rPr sz="1275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endParaRPr sz="1275" b="1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6" name="任意多边形 178"/>
          <p:cNvSpPr>
            <a:spLocks noGrp="1"/>
          </p:cNvSpPr>
          <p:nvPr/>
        </p:nvSpPr>
        <p:spPr>
          <a:xfrm>
            <a:off x="685800" y="4114800"/>
            <a:ext cx="2590800" cy="962025"/>
          </a:xfrm>
          <a:custGeom>
            <a:avLst/>
            <a:gdLst/>
            <a:ahLst/>
            <a:cxnLst/>
            <a:pathLst>
              <a:path w="272" h="101">
                <a:moveTo>
                  <a:pt x="0" y="0"/>
                </a:moveTo>
                <a:lnTo>
                  <a:pt x="272" y="0"/>
                </a:lnTo>
                <a:lnTo>
                  <a:pt x="272" y="3"/>
                </a:lnTo>
                <a:lnTo>
                  <a:pt x="0" y="3"/>
                </a:lnTo>
                <a:close/>
              </a:path>
            </a:pathLst>
          </a:custGeom>
          <a:solidFill>
            <a:srgbClr val="08A6F6"/>
          </a:solidFill>
        </p:spPr>
        <p:txBody>
          <a:bodyPr/>
          <a:lstStyle/>
          <a:p/>
        </p:txBody>
      </p:sp>
      <p:sp>
        <p:nvSpPr>
          <p:cNvPr id="217" name="文本框 179"/>
          <p:cNvSpPr>
            <a:spLocks noGrp="1"/>
          </p:cNvSpPr>
          <p:nvPr/>
        </p:nvSpPr>
        <p:spPr>
          <a:xfrm>
            <a:off x="685800" y="4257675"/>
            <a:ext cx="25908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A 核心数据｜约 1410 万</a:t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425" b="1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8" name="文本框 180"/>
          <p:cNvSpPr>
            <a:spLocks noGrp="1"/>
          </p:cNvSpPr>
          <p:nvPr/>
        </p:nvSpPr>
        <p:spPr>
          <a:xfrm>
            <a:off x="685800" y="4533900"/>
            <a:ext cx="2590800" cy="70568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150 例入组、60 例深度读出、30 对回顾性纵向配对、30 例回顾性验证</a:t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 charset="0"/>
                <a:ea typeface="微软雅黑" charset="0"/>
                <a:cs typeface="微软雅黑" charset="0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100">
              <a:solidFill>
                <a:srgbClr val="99BDED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9" name="任意多边形 181"/>
          <p:cNvSpPr>
            <a:spLocks noGrp="1"/>
          </p:cNvSpPr>
          <p:nvPr/>
        </p:nvSpPr>
        <p:spPr>
          <a:xfrm>
            <a:off x="3429000" y="4114800"/>
            <a:ext cx="2590800" cy="962025"/>
          </a:xfrm>
          <a:custGeom>
            <a:avLst/>
            <a:gdLst/>
            <a:ahLst/>
            <a:cxnLst/>
            <a:pathLst>
              <a:path w="272" h="101">
                <a:moveTo>
                  <a:pt x="0" y="0"/>
                </a:moveTo>
                <a:lnTo>
                  <a:pt x="272" y="0"/>
                </a:lnTo>
                <a:lnTo>
                  <a:pt x="272" y="3"/>
                </a:lnTo>
                <a:lnTo>
                  <a:pt x="0" y="3"/>
                </a:lnTo>
                <a:close/>
              </a:path>
            </a:pathLst>
          </a:custGeom>
          <a:solidFill>
            <a:srgbClr val="08A6F6"/>
          </a:solidFill>
        </p:spPr>
        <p:txBody>
          <a:bodyPr/>
          <a:lstStyle/>
          <a:p/>
        </p:txBody>
      </p:sp>
      <p:sp>
        <p:nvSpPr>
          <p:cNvPr id="220" name="文本框 182"/>
          <p:cNvSpPr>
            <a:spLocks noGrp="1"/>
          </p:cNvSpPr>
          <p:nvPr/>
        </p:nvSpPr>
        <p:spPr>
          <a:xfrm>
            <a:off x="3429000" y="4257675"/>
            <a:ext cx="25908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B 能力建设｜约 1890 万</a:t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425" b="1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1" name="文本框 183"/>
          <p:cNvSpPr>
            <a:spLocks noGrp="1"/>
          </p:cNvSpPr>
          <p:nvPr/>
        </p:nvSpPr>
        <p:spPr>
          <a:xfrm>
            <a:off x="3429000" y="4533900"/>
            <a:ext cx="2590800" cy="70566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团队 14 → 约 26 人；设备约 650 万、实验室约 500 m²；算力按王博测算</a:t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100">
              <a:solidFill>
                <a:srgbClr val="99BDED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2" name="任意多边形 184"/>
          <p:cNvSpPr>
            <a:spLocks noGrp="1"/>
          </p:cNvSpPr>
          <p:nvPr/>
        </p:nvSpPr>
        <p:spPr>
          <a:xfrm>
            <a:off x="6172200" y="4114800"/>
            <a:ext cx="2590800" cy="962025"/>
          </a:xfrm>
          <a:custGeom>
            <a:avLst/>
            <a:gdLst/>
            <a:ahLst/>
            <a:cxnLst/>
            <a:pathLst>
              <a:path w="272" h="101">
                <a:moveTo>
                  <a:pt x="0" y="0"/>
                </a:moveTo>
                <a:lnTo>
                  <a:pt x="272" y="0"/>
                </a:lnTo>
                <a:lnTo>
                  <a:pt x="272" y="3"/>
                </a:lnTo>
                <a:lnTo>
                  <a:pt x="0" y="3"/>
                </a:lnTo>
                <a:close/>
              </a:path>
            </a:pathLst>
          </a:custGeom>
          <a:solidFill>
            <a:srgbClr val="08A6F6"/>
          </a:solidFill>
        </p:spPr>
        <p:txBody>
          <a:bodyPr/>
          <a:lstStyle/>
          <a:p/>
        </p:txBody>
      </p:sp>
      <p:sp>
        <p:nvSpPr>
          <p:cNvPr id="223" name="文本框 185"/>
          <p:cNvSpPr>
            <a:spLocks noGrp="1"/>
          </p:cNvSpPr>
          <p:nvPr/>
        </p:nvSpPr>
        <p:spPr>
          <a:xfrm>
            <a:off x="6172200" y="4257675"/>
            <a:ext cx="25908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C 商业合规等｜约 710 万</a:t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425" b="1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4" name="文本框 186"/>
          <p:cNvSpPr>
            <a:spLocks noGrp="1"/>
          </p:cNvSpPr>
          <p:nvPr/>
        </p:nvSpPr>
        <p:spPr>
          <a:xfrm>
            <a:off x="6172200" y="4533900"/>
            <a:ext cx="2590800" cy="70568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4 家合作医院、遗传资源与数据合规、8 件专利、BD 试点、运营；含不可预见费约 190 万</a:t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100">
              <a:solidFill>
                <a:srgbClr val="99BDED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5" name="任意多边形 187"/>
          <p:cNvSpPr>
            <a:spLocks noGrp="1"/>
          </p:cNvSpPr>
          <p:nvPr/>
        </p:nvSpPr>
        <p:spPr>
          <a:xfrm>
            <a:off x="8915400" y="4114800"/>
            <a:ext cx="2590800" cy="962025"/>
          </a:xfrm>
          <a:custGeom>
            <a:avLst/>
            <a:gdLst/>
            <a:ahLst/>
            <a:cxnLst/>
            <a:pathLst>
              <a:path w="272" h="101">
                <a:moveTo>
                  <a:pt x="0" y="0"/>
                </a:moveTo>
                <a:lnTo>
                  <a:pt x="272" y="0"/>
                </a:lnTo>
                <a:lnTo>
                  <a:pt x="272" y="3"/>
                </a:lnTo>
                <a:lnTo>
                  <a:pt x="0" y="3"/>
                </a:lnTo>
                <a:close/>
              </a:path>
            </a:pathLst>
          </a:custGeom>
          <a:solidFill>
            <a:srgbClr val="08A6F6"/>
          </a:solidFill>
        </p:spPr>
        <p:txBody>
          <a:bodyPr/>
          <a:lstStyle/>
          <a:p/>
        </p:txBody>
      </p:sp>
      <p:sp>
        <p:nvSpPr>
          <p:cNvPr id="226" name="文本框 188"/>
          <p:cNvSpPr>
            <a:spLocks noGrp="1"/>
          </p:cNvSpPr>
          <p:nvPr/>
        </p:nvSpPr>
        <p:spPr>
          <a:xfrm>
            <a:off x="8915400" y="4257675"/>
            <a:ext cx="25908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Plan B 准备金｜约 990 万</a:t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425" b="1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7" name="文本框 189"/>
          <p:cNvSpPr>
            <a:spLocks noGrp="1"/>
          </p:cNvSpPr>
          <p:nvPr/>
        </p:nvSpPr>
        <p:spPr>
          <a:xfrm>
            <a:off x="8915400" y="4533900"/>
            <a:ext cx="2590800" cy="82267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独立账户；闸门未过或融资受阻时，经董事会批准才能动用</a:t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100">
              <a:solidFill>
                <a:srgbClr val="99BDED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8" name="文本框 190"/>
          <p:cNvSpPr>
            <a:spLocks noGrp="1"/>
          </p:cNvSpPr>
          <p:nvPr/>
        </p:nvSpPr>
        <p:spPr>
          <a:xfrm>
            <a:off x="676184" y="5649115"/>
            <a:ext cx="771616" cy="286277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收缩顺序：</a:t>
            </a:r>
            <a:endParaRPr sz="1400" b="1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9" name="文本框 191"/>
          <p:cNvSpPr>
            <a:spLocks noGrp="1"/>
          </p:cNvSpPr>
          <p:nvPr/>
        </p:nvSpPr>
        <p:spPr>
          <a:xfrm>
            <a:off x="1562100" y="5649115"/>
            <a:ext cx="14573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先砍 C 商业与运营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71" name="图片 19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3725" y="5677690"/>
            <a:ext cx="209550" cy="152400"/>
          </a:xfrm>
          <a:prstGeom prst="rect">
            <a:avLst/>
          </a:prstGeom>
        </p:spPr>
      </p:pic>
      <p:sp>
        <p:nvSpPr>
          <p:cNvPr id="231" name="文本框 193"/>
          <p:cNvSpPr>
            <a:spLocks noGrp="1"/>
          </p:cNvSpPr>
          <p:nvPr/>
        </p:nvSpPr>
        <p:spPr>
          <a:xfrm>
            <a:off x="3457575" y="5649115"/>
            <a:ext cx="1619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再砍 B 能力建设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73" name="图片 19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91125" y="5677690"/>
            <a:ext cx="209550" cy="152400"/>
          </a:xfrm>
          <a:prstGeom prst="rect">
            <a:avLst/>
          </a:prstGeom>
        </p:spPr>
      </p:pic>
      <p:sp>
        <p:nvSpPr>
          <p:cNvPr id="233" name="文本框 195"/>
          <p:cNvSpPr>
            <a:spLocks noGrp="1"/>
          </p:cNvSpPr>
          <p:nvPr/>
        </p:nvSpPr>
        <p:spPr>
          <a:xfrm>
            <a:off x="5514975" y="5649115"/>
            <a:ext cx="19431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最后才动 A 核心数据</a:t>
            </a:r>
            <a:r>
              <a:rPr sz="1400" b="1">
                <a:solidFill>
                  <a:srgbClr val="08A6F6"/>
                </a:solidFill>
                <a:latin typeface="微软雅黑"/>
                <a:ea typeface="微软雅黑"/>
                <a:cs typeface="Arial" panose="020B0604020202020204" pitchFamily="34" charset="0"/>
              </a:rPr>
              <a:t/>
            </a:r>
            <a:r>
              <a:rPr sz="14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4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/>
            </a:r>
            <a:endParaRPr sz="1400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5" name="任意多边形 197"/>
          <p:cNvSpPr>
            <a:spLocks noGrp="1"/>
          </p:cNvSpPr>
          <p:nvPr/>
        </p:nvSpPr>
        <p:spPr>
          <a:xfrm>
            <a:off x="685800" y="6162675"/>
            <a:ext cx="10820400" cy="323850"/>
          </a:xfrm>
          <a:custGeom>
            <a:avLst/>
            <a:gdLst/>
            <a:ahLst/>
            <a:cxnLst/>
            <a:pathLst>
              <a:path w="1136" h="34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44546A"/>
          </a:solidFill>
        </p:spPr>
        <p:txBody>
          <a:bodyPr/>
          <a:lstStyle/>
          <a:p/>
        </p:txBody>
      </p:sp>
      <p:sp>
        <p:nvSpPr>
          <p:cNvPr id="236" name="文本框 198"/>
          <p:cNvSpPr>
            <a:spLocks noGrp="1"/>
          </p:cNvSpPr>
          <p:nvPr/>
        </p:nvSpPr>
        <p:spPr>
          <a:xfrm>
            <a:off x="685800" y="6305550"/>
            <a:ext cx="54959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钱先投给决定第 12 个月证据的地方：配对队列、深度读出、双轨迹校准首个结果。</a:t>
            </a:r>
            <a:r>
              <a:rPr lang="zh-CN" altLang="en-US" sz="11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endParaRPr sz="1100" b="1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7" name="文本框 199"/>
          <p:cNvSpPr>
            <a:spLocks noGrp="1"/>
          </p:cNvSpPr>
          <p:nvPr/>
        </p:nvSpPr>
        <p:spPr>
          <a:xfrm>
            <a:off x="11049000" y="63150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04 / 08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7375</Words>
  <Application>WPS Office WWO_wpscloud_20260902094840-997daf6cd0</Application>
  <PresentationFormat>Converted Presentation</PresentationFormat>
  <Paragraphs>640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汉仪旗黑KW 55S</vt:lpstr>
      <vt:lpstr>Calibri</vt:lpstr>
      <vt:lpstr>微软雅黑</vt:lpstr>
      <vt:lpstr>Calibri</vt:lpstr>
      <vt:lpstr>微软雅黑</vt:lpstr>
      <vt:lpstr>汉仪书宋二KW</vt:lpstr>
      <vt:lpstr>Kingsoft Confetti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dcterms:created xsi:type="dcterms:W3CDTF">2026-09-14T21:32:23Z</dcterms:created>
  <dcterms:modified xsi:type="dcterms:W3CDTF">2026-09-14T21:32:23Z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21C91B9422BFD48899299F6A1ACD7A80_42</vt:lpwstr>
  </property>
  <property fmtid="{D5CDD505-2E9C-101B-9397-08002B2CF9AE}" pid="3" name="KSOProductBuildVer">
    <vt:lpwstr>2052-12.9.0.28579</vt:lpwstr>
  </property>
</Properties>
</file>