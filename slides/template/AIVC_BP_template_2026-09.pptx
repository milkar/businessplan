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3.svg" ContentType="image/svg+xml"/>
  <Override PartName="/ppt/media/image2.svg" ContentType="image/svg+xml"/>
  <Override PartName="/ppt/media/image3.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技术依据：虚拟实现路径提出 Patient-specific longitudinal virtual organoid，以同一患者体内轨迹与体外 PDO 平行实验系统进行纵向校准；AIVC_BUSINESS_PLAN_ZH_SELF_CONTAINED_EXPORT 明确首个场景应由样本可获得、类器官可靠、决策窗口适配和结局可评分决定，且不代表特定瘤种已经完成筛选。</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技术依据：虚拟实现路径第 7 页提出 Level 1 Digital Organoid、Level 2 Longitudinal Digital Twin、Level 3 Predictive Virtual Organoid 的分阶段路径；模型训练需先学习细胞状态，再学习干预后的状态转移。</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技术依据：虚拟实现路径第 4-6 页提出将 RNA、Protein、Metabolite、Morphology、Functional phenotype 等多模态数据压缩到 Z(t)，并学习不同初始状态在不同干预下进入的新状态。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技术依据：AIVC_BUSINESS_PLAN_ZH_SELF_CONTAINED_EXPORT 强调每一轮先评分再更新；基础模型评测支持把扰动实验作为观测证据，而不是假定模型已经具备可靠因果模拟能力。</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技术依据：田博卓博方案将核心资产定义为患者-PDO 纵向配对轨迹、扰动响应图谱、培养偏差校正和前瞻验证闭环。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外部事实核对：Tahoe Therapeutics 2025-08-11 宣布 3000 万美元 A 轮，总融资 4200 万美元，Forbes 报道估值 1.2 亿美元；Arc Institute 2026-02-24 宣布入选 TED Audacious Project 2025 cohort，年度资助池 10.3 亿美元；CZI 2025 年披露将科学 AI 算力扩至 10,000 GPUs；英灵殿科技官网/公开报道披露三个月累计融资近 5000 万美元；投资界 2026 年报道深度细胞近亿元种子轮。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panose="020B0604020202020204"/>
        <a:buChar char="•"/>
        <a:defRPr sz="3200" kern="1200">
          <a:solidFill>
            <a:schemeClr val="tx1"/>
          </a:solidFill>
          <a:latin typeface="+mn-lt"/>
          <a:ea typeface="+mn-lt"/>
          <a:cs typeface="+mn-lt"/>
        </a:defRPr>
      </a:lvl1pPr>
      <a:lvl2pPr marL="742950" indent="-285750" algn="l" defTabSz="914400">
        <a:spcBef>
          <a:spcPct val="20000"/>
        </a:spcBef>
        <a:buFont typeface="Arial" panose="020B0604020202020204"/>
        <a:buChar char="–"/>
        <a:defRPr sz="2800" kern="1200">
          <a:solidFill>
            <a:schemeClr val="tx1"/>
          </a:solidFill>
          <a:latin typeface="+mn-lt"/>
          <a:ea typeface="+mn-lt"/>
          <a:cs typeface="+mn-lt"/>
        </a:defRPr>
      </a:lvl2pPr>
      <a:lvl3pPr marL="1143000" indent="-228600" algn="l" defTabSz="914400">
        <a:spcBef>
          <a:spcPct val="20000"/>
        </a:spcBef>
        <a:buFont typeface="Arial" panose="020B0604020202020204"/>
        <a:buChar char="•"/>
        <a:defRPr sz="2400" kern="1200">
          <a:solidFill>
            <a:schemeClr val="tx1"/>
          </a:solidFill>
          <a:latin typeface="+mn-lt"/>
          <a:ea typeface="+mn-lt"/>
          <a:cs typeface="+mn-lt"/>
        </a:defRPr>
      </a:lvl3pPr>
      <a:lvl4pPr marL="1600200" indent="-228600" algn="l" defTabSz="914400">
        <a:spcBef>
          <a:spcPct val="20000"/>
        </a:spcBef>
        <a:buFont typeface="Arial" panose="020B0604020202020204"/>
        <a:buChar char="–"/>
        <a:defRPr sz="2000" kern="1200">
          <a:solidFill>
            <a:schemeClr val="tx1"/>
          </a:solidFill>
          <a:latin typeface="+mn-lt"/>
          <a:ea typeface="+mn-lt"/>
          <a:cs typeface="+mn-lt"/>
        </a:defRPr>
      </a:lvl4pPr>
      <a:lvl5pPr marL="2057400" indent="-228600" algn="l" defTabSz="914400">
        <a:spcBef>
          <a:spcPct val="20000"/>
        </a:spcBef>
        <a:buFont typeface="Arial" panose="020B0604020202020204"/>
        <a:buChar char="»"/>
        <a:defRPr sz="2000" kern="1200">
          <a:solidFill>
            <a:schemeClr val="tx1"/>
          </a:solidFill>
          <a:latin typeface="+mn-lt"/>
          <a:ea typeface="+mn-lt"/>
          <a:cs typeface="+mn-lt"/>
        </a:defRPr>
      </a:lvl5pPr>
      <a:lvl6pPr marL="2514600" indent="-228600" algn="l" defTabSz="914400">
        <a:spcBef>
          <a:spcPct val="20000"/>
        </a:spcBef>
        <a:buFont typeface="Arial" panose="020B0604020202020204"/>
        <a:buChar char="•"/>
        <a:defRPr sz="2000" kern="1200">
          <a:solidFill>
            <a:schemeClr val="tx1"/>
          </a:solidFill>
          <a:latin typeface="+mn-lt"/>
          <a:ea typeface="+mn-lt"/>
          <a:cs typeface="+mn-lt"/>
        </a:defRPr>
      </a:lvl6pPr>
      <a:lvl7pPr marL="2971800" indent="-228600" algn="l" defTabSz="914400">
        <a:spcBef>
          <a:spcPct val="20000"/>
        </a:spcBef>
        <a:buFont typeface="Arial" panose="020B0604020202020204"/>
        <a:buChar char="•"/>
        <a:defRPr sz="2000" kern="1200">
          <a:solidFill>
            <a:schemeClr val="tx1"/>
          </a:solidFill>
          <a:latin typeface="+mn-lt"/>
          <a:ea typeface="+mn-lt"/>
          <a:cs typeface="+mn-lt"/>
        </a:defRPr>
      </a:lvl7pPr>
      <a:lvl8pPr marL="3429000" indent="-228600" algn="l" defTabSz="914400">
        <a:spcBef>
          <a:spcPct val="20000"/>
        </a:spcBef>
        <a:buFont typeface="Arial" panose="020B0604020202020204"/>
        <a:buChar char="•"/>
        <a:defRPr sz="2000" kern="1200">
          <a:solidFill>
            <a:schemeClr val="tx1"/>
          </a:solidFill>
          <a:latin typeface="+mn-lt"/>
          <a:ea typeface="+mn-lt"/>
          <a:cs typeface="+mn-lt"/>
        </a:defRPr>
      </a:lvl8pPr>
      <a:lvl9pPr marL="3886200" indent="-228600" algn="l" defTabSz="914400">
        <a:spcBef>
          <a:spcPct val="20000"/>
        </a:spcBef>
        <a:buFont typeface="Arial" panose="020B0604020202020204"/>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3.sv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xml"/><Relationship Id="rId7" Type="http://schemas.openxmlformats.org/officeDocument/2006/relationships/image" Target="../media/image9.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 Id="rId3" Type="http://schemas.openxmlformats.org/officeDocument/2006/relationships/image" Target="../media/image1.png"/><Relationship Id="rId2" Type="http://schemas.openxmlformats.org/officeDocument/2006/relationships/image" Target="../media/image5.sv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0.sv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12.svg"/><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13.sv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061F32"/>
          </a:solidFill>
        </p:spPr>
        <p:txBody>
          <a:bodyPr/>
          <a:lstStyle/>
          <a:p/>
        </p:txBody>
      </p:sp>
      <p:pic>
        <p:nvPicPr>
          <p:cNvPr id="15" name="图片 2"/>
          <p:cNvPicPr>
            <a:picLocks noChangeAspect="1"/>
          </p:cNvPicPr>
          <p:nvPr/>
        </p:nvPicPr>
        <p:blipFill>
          <a:blip r:embed="rId1">
            <a:alphaModFix amt="16000"/>
            <a:extLst>
              <a:ext uri="{96DAC541-7B7A-43D3-8B79-37D633B846F1}">
                <asvg:svgBlip xmlns:asvg="http://schemas.microsoft.com/office/drawing/2016/SVG/main" r:embed="rId2"/>
              </a:ext>
            </a:extLst>
          </a:blip>
          <a:stretch>
            <a:fillRect/>
          </a:stretch>
        </p:blipFill>
        <p:spPr>
          <a:xfrm>
            <a:off x="7810500" y="0"/>
            <a:ext cx="4381500" cy="6858000"/>
          </a:xfrm>
          <a:prstGeom prst="rect">
            <a:avLst/>
          </a:prstGeom>
        </p:spPr>
      </p:pic>
      <p:sp>
        <p:nvSpPr>
          <p:cNvPr id="4" name="文本框 3"/>
          <p:cNvSpPr>
            <a:spLocks noGrp="1"/>
          </p:cNvSpPr>
          <p:nvPr/>
        </p:nvSpPr>
        <p:spPr>
          <a:xfrm>
            <a:off x="685800" y="838200"/>
            <a:ext cx="10820400" cy="190500"/>
          </a:xfrm>
          <a:prstGeom prst="rect">
            <a:avLst/>
          </a:prstGeom>
        </p:spPr>
        <p:txBody>
          <a:bodyPr wrap="none" lIns="0" tIns="0" rIns="0" bIns="0"/>
          <a:lstStyle/>
          <a:p>
            <a:pPr>
              <a:lnSpc>
                <a:spcPct val="100000"/>
              </a:lnSpc>
              <a:buNone/>
            </a:pPr>
            <a:r>
              <a:rPr sz="1200" b="1" spc="300">
                <a:solidFill>
                  <a:srgbClr val="08A6F6"/>
                </a:solidFill>
                <a:latin typeface="微软雅黑"/>
                <a:ea typeface="微软雅黑"/>
                <a:cs typeface="微软雅黑"/>
              </a:rPr>
              <a:t>AIVC · </a:t>
            </a:r>
            <a:r>
              <a:rPr sz="1200" b="1" spc="300">
                <a:solidFill>
                  <a:srgbClr val="08A6F6"/>
                </a:solidFill>
                <a:latin typeface="微软雅黑"/>
                <a:ea typeface="微软雅黑"/>
                <a:cs typeface="微软雅黑"/>
              </a:rPr>
              <a:t>融资商业计划书</a:t>
            </a:r>
            <a:endParaRPr sz="1200" b="1" spc="300">
              <a:solidFill>
                <a:srgbClr val="08A6F6"/>
              </a:solidFill>
              <a:latin typeface="微软雅黑"/>
              <a:ea typeface="微软雅黑"/>
              <a:cs typeface="微软雅黑"/>
            </a:endParaRPr>
          </a:p>
        </p:txBody>
      </p:sp>
      <p:sp>
        <p:nvSpPr>
          <p:cNvPr id="5" name="矩形 4"/>
          <p:cNvSpPr>
            <a:spLocks noGrp="1"/>
          </p:cNvSpPr>
          <p:nvPr/>
        </p:nvSpPr>
        <p:spPr>
          <a:xfrm>
            <a:off x="685800" y="1200150"/>
            <a:ext cx="609600" cy="28575"/>
          </a:xfrm>
          <a:prstGeom prst="rect">
            <a:avLst/>
          </a:prstGeom>
          <a:solidFill>
            <a:srgbClr val="08A6F6"/>
          </a:solidFill>
        </p:spPr>
        <p:txBody>
          <a:bodyPr/>
          <a:lstStyle/>
          <a:p/>
        </p:txBody>
      </p:sp>
      <p:sp>
        <p:nvSpPr>
          <p:cNvPr id="6" name="文本框 5"/>
          <p:cNvSpPr>
            <a:spLocks noGrp="1"/>
          </p:cNvSpPr>
          <p:nvPr/>
        </p:nvSpPr>
        <p:spPr>
          <a:xfrm>
            <a:off x="685800" y="1552575"/>
            <a:ext cx="10820400" cy="2505075"/>
          </a:xfrm>
          <a:prstGeom prst="rect">
            <a:avLst/>
          </a:prstGeom>
        </p:spPr>
        <p:txBody>
          <a:bodyPr wrap="none" lIns="0" tIns="0" rIns="0" bIns="0"/>
          <a:lstStyle/>
          <a:p>
            <a:pPr algn="l">
              <a:lnSpc>
                <a:spcPct val="130000"/>
              </a:lnSpc>
              <a:buNone/>
            </a:pPr>
            <a:r>
              <a:rPr sz="4200" b="1">
                <a:solidFill>
                  <a:srgbClr val="FFFFFF"/>
                </a:solidFill>
                <a:latin typeface="微软雅黑"/>
                <a:ea typeface="微软雅黑"/>
                <a:cs typeface="微软雅黑"/>
              </a:rPr>
              <a:t>构建因果生物世界模型——</a:t>
            </a:r>
            <a:endParaRPr sz="4200" b="1">
              <a:solidFill>
                <a:srgbClr val="FFFFFF"/>
              </a:solidFill>
              <a:latin typeface="微软雅黑"/>
              <a:ea typeface="微软雅黑"/>
              <a:cs typeface="微软雅黑"/>
            </a:endParaRPr>
          </a:p>
          <a:p>
            <a:pPr algn="l">
              <a:lnSpc>
                <a:spcPct val="130000"/>
              </a:lnSpc>
              <a:buNone/>
            </a:pPr>
            <a:r>
              <a:rPr sz="4200" b="1">
                <a:solidFill>
                  <a:srgbClr val="FFFFFF"/>
                </a:solidFill>
                <a:latin typeface="微软雅黑"/>
                <a:ea typeface="微软雅黑"/>
                <a:cs typeface="微软雅黑"/>
              </a:rPr>
              <a:t>让生命系统像物理系统一样</a:t>
            </a:r>
            <a:endParaRPr sz="4200" b="1">
              <a:solidFill>
                <a:srgbClr val="FFFFFF"/>
              </a:solidFill>
              <a:latin typeface="微软雅黑"/>
              <a:ea typeface="微软雅黑"/>
              <a:cs typeface="微软雅黑"/>
            </a:endParaRPr>
          </a:p>
          <a:p>
            <a:pPr algn="l">
              <a:lnSpc>
                <a:spcPct val="130000"/>
              </a:lnSpc>
              <a:buNone/>
            </a:pPr>
            <a:r>
              <a:rPr sz="4200" b="1">
                <a:solidFill>
                  <a:srgbClr val="FFFFFF"/>
                </a:solidFill>
                <a:latin typeface="微软雅黑"/>
                <a:ea typeface="微软雅黑"/>
                <a:cs typeface="微软雅黑"/>
              </a:rPr>
              <a:t>可以被因果地模拟、预测和设计</a:t>
            </a:r>
            <a:endParaRPr sz="4200" b="1">
              <a:solidFill>
                <a:srgbClr val="FFFFFF"/>
              </a:solidFill>
              <a:latin typeface="微软雅黑"/>
              <a:ea typeface="微软雅黑"/>
              <a:cs typeface="微软雅黑"/>
            </a:endParaRPr>
          </a:p>
          <a:p>
            <a:pPr algn="l">
              <a:lnSpc>
                <a:spcPct val="130000"/>
              </a:lnSpc>
              <a:buNone/>
            </a:pPr>
            <a:endParaRPr sz="4200" b="1">
              <a:solidFill>
                <a:srgbClr val="FFFFFF"/>
              </a:solidFill>
              <a:latin typeface="微软雅黑"/>
              <a:ea typeface="微软雅黑"/>
              <a:cs typeface="微软雅黑"/>
            </a:endParaRPr>
          </a:p>
        </p:txBody>
      </p:sp>
      <p:sp>
        <p:nvSpPr>
          <p:cNvPr id="7" name="文本框 6"/>
          <p:cNvSpPr>
            <a:spLocks noGrp="1"/>
          </p:cNvSpPr>
          <p:nvPr/>
        </p:nvSpPr>
        <p:spPr>
          <a:xfrm>
            <a:off x="685800" y="4313555"/>
            <a:ext cx="5457190" cy="457200"/>
          </a:xfrm>
          <a:prstGeom prst="rect">
            <a:avLst/>
          </a:prstGeom>
        </p:spPr>
        <p:txBody>
          <a:bodyPr wrap="none" lIns="0" tIns="0" rIns="0" bIns="0"/>
          <a:lstStyle/>
          <a:p>
            <a:pPr algn="l">
              <a:lnSpc>
                <a:spcPct val="150000"/>
              </a:lnSpc>
              <a:buNone/>
            </a:pPr>
            <a:r>
              <a:rPr sz="1650">
                <a:solidFill>
                  <a:srgbClr val="99BDED"/>
                </a:solidFill>
                <a:latin typeface="微软雅黑"/>
                <a:ea typeface="微软雅黑"/>
                <a:cs typeface="微软雅黑"/>
              </a:rPr>
              <a:t>把患者来源肿瘤类器官训练成可预测治疗响应与复发演化的患者特异性虚拟类器官</a:t>
            </a:r>
            <a:endParaRPr sz="1650">
              <a:solidFill>
                <a:srgbClr val="99BDED"/>
              </a:solidFill>
              <a:latin typeface="微软雅黑"/>
              <a:ea typeface="微软雅黑"/>
              <a:cs typeface="微软雅黑"/>
            </a:endParaRPr>
          </a:p>
        </p:txBody>
      </p:sp>
      <p:sp>
        <p:nvSpPr>
          <p:cNvPr id="8" name="文本框 7"/>
          <p:cNvSpPr>
            <a:spLocks noGrp="1"/>
          </p:cNvSpPr>
          <p:nvPr/>
        </p:nvSpPr>
        <p:spPr>
          <a:xfrm>
            <a:off x="685800" y="5829300"/>
            <a:ext cx="1190625" cy="190500"/>
          </a:xfrm>
          <a:prstGeom prst="rect">
            <a:avLst/>
          </a:prstGeom>
        </p:spPr>
        <p:txBody>
          <a:bodyPr wrap="none" lIns="0" tIns="0" rIns="0" bIns="0"/>
          <a:lstStyle/>
          <a:p>
            <a:pPr>
              <a:lnSpc>
                <a:spcPct val="100000"/>
              </a:lnSpc>
              <a:buNone/>
            </a:pPr>
            <a:r>
              <a:rPr sz="1200" b="1">
                <a:solidFill>
                  <a:srgbClr val="FFFFFF"/>
                </a:solidFill>
                <a:latin typeface="微软雅黑"/>
                <a:ea typeface="微软雅黑"/>
                <a:cs typeface="微软雅黑"/>
              </a:rPr>
              <a:t>AIVC </a:t>
            </a:r>
            <a:r>
              <a:rPr sz="1200" b="1">
                <a:solidFill>
                  <a:srgbClr val="FFFFFF"/>
                </a:solidFill>
                <a:latin typeface="微软雅黑"/>
                <a:ea typeface="微软雅黑"/>
                <a:cs typeface="微软雅黑"/>
              </a:rPr>
              <a:t>虚拟类器官</a:t>
            </a:r>
            <a:endParaRPr sz="1200" b="1">
              <a:solidFill>
                <a:srgbClr val="FFFFFF"/>
              </a:solidFill>
              <a:latin typeface="微软雅黑"/>
              <a:ea typeface="微软雅黑"/>
              <a:cs typeface="微软雅黑"/>
            </a:endParaRPr>
          </a:p>
        </p:txBody>
      </p:sp>
      <p:sp>
        <p:nvSpPr>
          <p:cNvPr id="9" name="矩形 8"/>
          <p:cNvSpPr>
            <a:spLocks noGrp="1"/>
          </p:cNvSpPr>
          <p:nvPr/>
        </p:nvSpPr>
        <p:spPr>
          <a:xfrm>
            <a:off x="2143125" y="5848350"/>
            <a:ext cx="9525" cy="152400"/>
          </a:xfrm>
          <a:prstGeom prst="rect">
            <a:avLst/>
          </a:prstGeom>
          <a:solidFill>
            <a:srgbClr val="44546A"/>
          </a:solidFill>
        </p:spPr>
        <p:txBody>
          <a:bodyPr/>
          <a:lstStyle/>
          <a:p/>
        </p:txBody>
      </p:sp>
      <p:sp>
        <p:nvSpPr>
          <p:cNvPr id="10" name="文本框 9"/>
          <p:cNvSpPr>
            <a:spLocks noGrp="1"/>
          </p:cNvSpPr>
          <p:nvPr/>
        </p:nvSpPr>
        <p:spPr>
          <a:xfrm>
            <a:off x="2419350" y="5829300"/>
            <a:ext cx="1819275" cy="190500"/>
          </a:xfrm>
          <a:prstGeom prst="rect">
            <a:avLst/>
          </a:prstGeom>
        </p:spPr>
        <p:txBody>
          <a:bodyPr wrap="none" lIns="0" tIns="0" rIns="0" bIns="0"/>
          <a:lstStyle/>
          <a:p>
            <a:pPr>
              <a:lnSpc>
                <a:spcPct val="100000"/>
              </a:lnSpc>
              <a:buNone/>
            </a:pPr>
            <a:r>
              <a:rPr sz="1200">
                <a:solidFill>
                  <a:srgbClr val="99BDED"/>
                </a:solidFill>
                <a:latin typeface="微软雅黑"/>
                <a:ea typeface="微软雅黑"/>
                <a:cs typeface="微软雅黑"/>
              </a:rPr>
              <a:t>本轮融资</a:t>
            </a:r>
            <a:r>
              <a:rPr sz="1200">
                <a:solidFill>
                  <a:srgbClr val="99BDED"/>
                </a:solidFill>
                <a:latin typeface="微软雅黑"/>
                <a:ea typeface="微软雅黑"/>
                <a:cs typeface="微软雅黑"/>
              </a:rPr>
              <a:t> 5000 </a:t>
            </a:r>
            <a:r>
              <a:rPr sz="1200">
                <a:solidFill>
                  <a:srgbClr val="99BDED"/>
                </a:solidFill>
                <a:latin typeface="微软雅黑"/>
                <a:ea typeface="微软雅黑"/>
                <a:cs typeface="微软雅黑"/>
              </a:rPr>
              <a:t>万元人民币</a:t>
            </a:r>
            <a:endParaRPr sz="1200">
              <a:solidFill>
                <a:srgbClr val="99BDED"/>
              </a:solidFill>
              <a:latin typeface="微软雅黑"/>
              <a:ea typeface="微软雅黑"/>
              <a:cs typeface="微软雅黑"/>
            </a:endParaRPr>
          </a:p>
        </p:txBody>
      </p:sp>
      <p:sp>
        <p:nvSpPr>
          <p:cNvPr id="11" name="矩形 10"/>
          <p:cNvSpPr>
            <a:spLocks noGrp="1"/>
          </p:cNvSpPr>
          <p:nvPr/>
        </p:nvSpPr>
        <p:spPr>
          <a:xfrm>
            <a:off x="4505325" y="5848350"/>
            <a:ext cx="9525" cy="152400"/>
          </a:xfrm>
          <a:prstGeom prst="rect">
            <a:avLst/>
          </a:prstGeom>
          <a:solidFill>
            <a:srgbClr val="44546A"/>
          </a:solidFill>
        </p:spPr>
        <p:txBody>
          <a:bodyPr/>
          <a:lstStyle/>
          <a:p/>
        </p:txBody>
      </p:sp>
      <p:sp>
        <p:nvSpPr>
          <p:cNvPr id="12" name="文本框 11"/>
          <p:cNvSpPr>
            <a:spLocks noGrp="1"/>
          </p:cNvSpPr>
          <p:nvPr/>
        </p:nvSpPr>
        <p:spPr>
          <a:xfrm>
            <a:off x="4781550" y="5829300"/>
            <a:ext cx="895350" cy="190500"/>
          </a:xfrm>
          <a:prstGeom prst="rect">
            <a:avLst/>
          </a:prstGeom>
        </p:spPr>
        <p:txBody>
          <a:bodyPr wrap="none" lIns="0" tIns="0" rIns="0" bIns="0"/>
          <a:lstStyle/>
          <a:p>
            <a:pPr>
              <a:lnSpc>
                <a:spcPct val="100000"/>
              </a:lnSpc>
              <a:buNone/>
            </a:pPr>
            <a:r>
              <a:rPr sz="1200">
                <a:solidFill>
                  <a:srgbClr val="99BDED">
                    <a:alpha val="100000"/>
                  </a:srgbClr>
                </a:solidFill>
                <a:latin typeface="微软雅黑"/>
                <a:ea typeface="微软雅黑"/>
                <a:cs typeface="微软雅黑"/>
              </a:rPr>
              <a:t>2026 </a:t>
            </a:r>
            <a:r>
              <a:rPr sz="1200">
                <a:solidFill>
                  <a:srgbClr val="99BDED">
                    <a:alpha val="100000"/>
                  </a:srgbClr>
                </a:solidFill>
                <a:latin typeface="微软雅黑"/>
                <a:ea typeface="微软雅黑"/>
                <a:cs typeface="微软雅黑"/>
              </a:rPr>
              <a:t>年</a:t>
            </a:r>
            <a:r>
              <a:rPr sz="1200">
                <a:solidFill>
                  <a:srgbClr val="99BDED">
                    <a:alpha val="100000"/>
                  </a:srgbClr>
                </a:solidFill>
                <a:latin typeface="微软雅黑"/>
                <a:ea typeface="微软雅黑"/>
                <a:cs typeface="微软雅黑"/>
              </a:rPr>
              <a:t> 9 </a:t>
            </a:r>
            <a:r>
              <a:rPr sz="1200">
                <a:solidFill>
                  <a:srgbClr val="99BDED">
                    <a:alpha val="100000"/>
                  </a:srgbClr>
                </a:solidFill>
                <a:latin typeface="微软雅黑"/>
                <a:ea typeface="微软雅黑"/>
                <a:cs typeface="微软雅黑"/>
              </a:rPr>
              <a:t>月</a:t>
            </a:r>
            <a:endParaRPr sz="1200">
              <a:solidFill>
                <a:srgbClr val="99BDED">
                  <a:alpha val="100000"/>
                </a:srgbClr>
              </a:solidFill>
              <a:latin typeface="微软雅黑"/>
              <a:ea typeface="微软雅黑"/>
              <a:cs typeface="微软雅黑"/>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9" name="矩形 201"/>
          <p:cNvSpPr>
            <a:spLocks noGrp="1"/>
          </p:cNvSpPr>
          <p:nvPr/>
        </p:nvSpPr>
        <p:spPr>
          <a:xfrm>
            <a:off x="0" y="0"/>
            <a:ext cx="12192000" cy="6858000"/>
          </a:xfrm>
          <a:prstGeom prst="rect">
            <a:avLst/>
          </a:prstGeom>
          <a:solidFill>
            <a:srgbClr val="FFFFFF"/>
          </a:solidFill>
        </p:spPr>
        <p:txBody>
          <a:bodyPr/>
          <a:lstStyle/>
          <a:p/>
        </p:txBody>
      </p:sp>
      <p:sp>
        <p:nvSpPr>
          <p:cNvPr id="240" name="文本框 202"/>
          <p:cNvSpPr>
            <a:spLocks noGrp="1"/>
          </p:cNvSpPr>
          <p:nvPr/>
        </p:nvSpPr>
        <p:spPr>
          <a:xfrm>
            <a:off x="533400" y="419100"/>
            <a:ext cx="11125200" cy="342900"/>
          </a:xfrm>
          <a:prstGeom prst="rect">
            <a:avLst/>
          </a:prstGeom>
        </p:spPr>
        <p:txBody>
          <a:bodyPr wrap="none" lIns="0" tIns="0" rIns="0" bIns="0"/>
          <a:lstStyle/>
          <a:p>
            <a:pPr>
              <a:lnSpc>
                <a:spcPct val="100000"/>
              </a:lnSpc>
              <a:buNone/>
            </a:pPr>
            <a:r>
              <a:rPr sz="2250" b="1">
                <a:solidFill>
                  <a:srgbClr val="061F32"/>
                </a:solidFill>
                <a:latin typeface="微软雅黑"/>
                <a:ea typeface="微软雅黑"/>
                <a:cs typeface="微软雅黑"/>
              </a:rPr>
              <a:t>目录</a:t>
            </a:r>
            <a:endParaRPr sz="2250" b="1">
              <a:solidFill>
                <a:srgbClr val="061F32"/>
              </a:solidFill>
              <a:latin typeface="微软雅黑"/>
              <a:ea typeface="微软雅黑"/>
              <a:cs typeface="微软雅黑"/>
            </a:endParaRPr>
          </a:p>
        </p:txBody>
      </p:sp>
      <p:sp>
        <p:nvSpPr>
          <p:cNvPr id="241" name="矩形 203"/>
          <p:cNvSpPr>
            <a:spLocks noGrp="1"/>
          </p:cNvSpPr>
          <p:nvPr/>
        </p:nvSpPr>
        <p:spPr>
          <a:xfrm>
            <a:off x="533400" y="857250"/>
            <a:ext cx="11125200" cy="9525"/>
          </a:xfrm>
          <a:prstGeom prst="rect">
            <a:avLst/>
          </a:prstGeom>
          <a:solidFill>
            <a:srgbClr val="061F32"/>
          </a:solidFill>
        </p:spPr>
        <p:txBody>
          <a:bodyPr/>
          <a:lstStyle/>
          <a:p/>
        </p:txBody>
      </p:sp>
      <p:sp>
        <p:nvSpPr>
          <p:cNvPr id="242" name="任意多边形 204"/>
          <p:cNvSpPr>
            <a:spLocks noGrp="1"/>
          </p:cNvSpPr>
          <p:nvPr/>
        </p:nvSpPr>
        <p:spPr>
          <a:xfrm>
            <a:off x="533400" y="1095375"/>
            <a:ext cx="5448300" cy="2466975"/>
          </a:xfrm>
          <a:custGeom>
            <a:avLst/>
            <a:gdLst/>
            <a:ahLst/>
            <a:cxnLst/>
            <a:pathLst>
              <a:path w="572" h="259">
                <a:moveTo>
                  <a:pt x="0" y="0"/>
                </a:moveTo>
                <a:lnTo>
                  <a:pt x="572" y="0"/>
                </a:lnTo>
                <a:lnTo>
                  <a:pt x="572" y="3"/>
                </a:lnTo>
                <a:lnTo>
                  <a:pt x="0" y="3"/>
                </a:lnTo>
                <a:close/>
              </a:path>
            </a:pathLst>
          </a:custGeom>
          <a:solidFill>
            <a:srgbClr val="061F32"/>
          </a:solidFill>
        </p:spPr>
        <p:txBody>
          <a:bodyPr/>
          <a:lstStyle/>
          <a:p/>
        </p:txBody>
      </p:sp>
      <p:sp>
        <p:nvSpPr>
          <p:cNvPr id="243" name="文本框 205"/>
          <p:cNvSpPr>
            <a:spLocks noGrp="1"/>
          </p:cNvSpPr>
          <p:nvPr/>
        </p:nvSpPr>
        <p:spPr>
          <a:xfrm>
            <a:off x="533400" y="1314450"/>
            <a:ext cx="5448300" cy="504825"/>
          </a:xfrm>
          <a:prstGeom prst="rect">
            <a:avLst/>
          </a:prstGeom>
        </p:spPr>
        <p:txBody>
          <a:bodyPr wrap="none" lIns="0" tIns="0" rIns="0" bIns="0"/>
          <a:lstStyle/>
          <a:p>
            <a:pPr>
              <a:lnSpc>
                <a:spcPct val="100000"/>
              </a:lnSpc>
              <a:buNone/>
            </a:pPr>
            <a:r>
              <a:rPr sz="3300" b="1">
                <a:solidFill>
                  <a:srgbClr val="99BDED"/>
                </a:solidFill>
                <a:latin typeface="微软雅黑"/>
                <a:ea typeface="微软雅黑"/>
                <a:cs typeface="微软雅黑"/>
              </a:rPr>
              <a:t>01</a:t>
            </a:r>
            <a:endParaRPr sz="3300" b="1">
              <a:solidFill>
                <a:srgbClr val="99BDED"/>
              </a:solidFill>
              <a:latin typeface="微软雅黑"/>
              <a:ea typeface="微软雅黑"/>
              <a:cs typeface="微软雅黑"/>
            </a:endParaRPr>
          </a:p>
        </p:txBody>
      </p:sp>
      <p:sp>
        <p:nvSpPr>
          <p:cNvPr id="244" name="文本框 206"/>
          <p:cNvSpPr>
            <a:spLocks noGrp="1"/>
          </p:cNvSpPr>
          <p:nvPr/>
        </p:nvSpPr>
        <p:spPr>
          <a:xfrm>
            <a:off x="533400" y="1895475"/>
            <a:ext cx="5448300" cy="304800"/>
          </a:xfrm>
          <a:prstGeom prst="rect">
            <a:avLst/>
          </a:prstGeom>
        </p:spPr>
        <p:txBody>
          <a:bodyPr wrap="none" lIns="0" tIns="0" rIns="0" bIns="0"/>
          <a:lstStyle/>
          <a:p>
            <a:pPr>
              <a:lnSpc>
                <a:spcPct val="100000"/>
              </a:lnSpc>
              <a:buNone/>
            </a:pPr>
            <a:r>
              <a:rPr sz="1950" b="1">
                <a:solidFill>
                  <a:srgbClr val="061F32"/>
                </a:solidFill>
                <a:latin typeface="微软雅黑"/>
                <a:ea typeface="微软雅黑"/>
                <a:cs typeface="微软雅黑"/>
              </a:rPr>
              <a:t>问题与时机</a:t>
            </a:r>
            <a:endParaRPr sz="1950" b="1">
              <a:solidFill>
                <a:srgbClr val="061F32"/>
              </a:solidFill>
              <a:latin typeface="微软雅黑"/>
              <a:ea typeface="微软雅黑"/>
              <a:cs typeface="微软雅黑"/>
            </a:endParaRPr>
          </a:p>
        </p:txBody>
      </p:sp>
      <p:sp>
        <p:nvSpPr>
          <p:cNvPr id="245" name="文本框 207"/>
          <p:cNvSpPr>
            <a:spLocks noGrp="1"/>
          </p:cNvSpPr>
          <p:nvPr/>
        </p:nvSpPr>
        <p:spPr>
          <a:xfrm>
            <a:off x="533400" y="2314575"/>
            <a:ext cx="5448300" cy="590550"/>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药物研发的「试错」正变得不可承受；四个技术条件在同一时间窗口成熟，但浪潮的共同短板是缺真实数据</a:t>
            </a:r>
            <a:endParaRPr sz="1275">
              <a:solidFill>
                <a:srgbClr val="44546A"/>
              </a:solidFill>
              <a:latin typeface="微软雅黑"/>
              <a:ea typeface="微软雅黑"/>
              <a:cs typeface="微软雅黑"/>
            </a:endParaRPr>
          </a:p>
        </p:txBody>
      </p:sp>
      <p:sp>
        <p:nvSpPr>
          <p:cNvPr id="246" name="任意多边形 208"/>
          <p:cNvSpPr>
            <a:spLocks noGrp="1"/>
          </p:cNvSpPr>
          <p:nvPr/>
        </p:nvSpPr>
        <p:spPr>
          <a:xfrm>
            <a:off x="6210300" y="1095375"/>
            <a:ext cx="5448300" cy="2466975"/>
          </a:xfrm>
          <a:custGeom>
            <a:avLst/>
            <a:gdLst/>
            <a:ahLst/>
            <a:cxnLst/>
            <a:pathLst>
              <a:path w="572" h="259">
                <a:moveTo>
                  <a:pt x="0" y="0"/>
                </a:moveTo>
                <a:lnTo>
                  <a:pt x="572" y="0"/>
                </a:lnTo>
                <a:lnTo>
                  <a:pt x="572" y="3"/>
                </a:lnTo>
                <a:lnTo>
                  <a:pt x="0" y="3"/>
                </a:lnTo>
                <a:close/>
              </a:path>
            </a:pathLst>
          </a:custGeom>
          <a:solidFill>
            <a:srgbClr val="061F32"/>
          </a:solidFill>
        </p:spPr>
        <p:txBody>
          <a:bodyPr/>
          <a:lstStyle/>
          <a:p/>
        </p:txBody>
      </p:sp>
      <p:sp>
        <p:nvSpPr>
          <p:cNvPr id="247" name="文本框 209"/>
          <p:cNvSpPr>
            <a:spLocks noGrp="1"/>
          </p:cNvSpPr>
          <p:nvPr/>
        </p:nvSpPr>
        <p:spPr>
          <a:xfrm>
            <a:off x="6210300" y="1314450"/>
            <a:ext cx="5448300" cy="504825"/>
          </a:xfrm>
          <a:prstGeom prst="rect">
            <a:avLst/>
          </a:prstGeom>
        </p:spPr>
        <p:txBody>
          <a:bodyPr wrap="none" lIns="0" tIns="0" rIns="0" bIns="0"/>
          <a:lstStyle/>
          <a:p>
            <a:pPr>
              <a:lnSpc>
                <a:spcPct val="100000"/>
              </a:lnSpc>
              <a:buNone/>
            </a:pPr>
            <a:r>
              <a:rPr sz="3300" b="1">
                <a:solidFill>
                  <a:srgbClr val="99BDED"/>
                </a:solidFill>
                <a:latin typeface="微软雅黑"/>
                <a:ea typeface="微软雅黑"/>
                <a:cs typeface="微软雅黑"/>
              </a:rPr>
              <a:t>02</a:t>
            </a:r>
            <a:endParaRPr sz="3300" b="1">
              <a:solidFill>
                <a:srgbClr val="99BDED"/>
              </a:solidFill>
              <a:latin typeface="微软雅黑"/>
              <a:ea typeface="微软雅黑"/>
              <a:cs typeface="微软雅黑"/>
            </a:endParaRPr>
          </a:p>
        </p:txBody>
      </p:sp>
      <p:sp>
        <p:nvSpPr>
          <p:cNvPr id="248" name="文本框 210"/>
          <p:cNvSpPr>
            <a:spLocks noGrp="1"/>
          </p:cNvSpPr>
          <p:nvPr/>
        </p:nvSpPr>
        <p:spPr>
          <a:xfrm>
            <a:off x="6210300" y="1895475"/>
            <a:ext cx="5448300" cy="304800"/>
          </a:xfrm>
          <a:prstGeom prst="rect">
            <a:avLst/>
          </a:prstGeom>
        </p:spPr>
        <p:txBody>
          <a:bodyPr wrap="none" lIns="0" tIns="0" rIns="0" bIns="0"/>
          <a:lstStyle/>
          <a:p>
            <a:pPr>
              <a:lnSpc>
                <a:spcPct val="100000"/>
              </a:lnSpc>
              <a:buNone/>
            </a:pPr>
            <a:r>
              <a:rPr sz="1950" b="1">
                <a:solidFill>
                  <a:srgbClr val="061F32"/>
                </a:solidFill>
                <a:latin typeface="微软雅黑"/>
                <a:ea typeface="微软雅黑"/>
                <a:cs typeface="微软雅黑"/>
              </a:rPr>
              <a:t>数据飞轮</a:t>
            </a:r>
            <a:endParaRPr sz="1950" b="1">
              <a:solidFill>
                <a:srgbClr val="061F32"/>
              </a:solidFill>
              <a:latin typeface="微软雅黑"/>
              <a:ea typeface="微软雅黑"/>
              <a:cs typeface="微软雅黑"/>
            </a:endParaRPr>
          </a:p>
        </p:txBody>
      </p:sp>
      <p:sp>
        <p:nvSpPr>
          <p:cNvPr id="249" name="文本框 211"/>
          <p:cNvSpPr>
            <a:spLocks noGrp="1"/>
          </p:cNvSpPr>
          <p:nvPr/>
        </p:nvSpPr>
        <p:spPr>
          <a:xfrm>
            <a:off x="6210300" y="2314575"/>
            <a:ext cx="5448300" cy="590550"/>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患者与类器官两条时间轨迹互相校准；自监督学习细胞状态，扰动实验学习干预后的新状态；前瞻评分后再回灌</a:t>
            </a:r>
            <a:endParaRPr sz="1275">
              <a:solidFill>
                <a:srgbClr val="44546A"/>
              </a:solidFill>
              <a:latin typeface="微软雅黑"/>
              <a:ea typeface="微软雅黑"/>
              <a:cs typeface="微软雅黑"/>
            </a:endParaRPr>
          </a:p>
        </p:txBody>
      </p:sp>
      <p:sp>
        <p:nvSpPr>
          <p:cNvPr id="250" name="任意多边形 212"/>
          <p:cNvSpPr>
            <a:spLocks noGrp="1"/>
          </p:cNvSpPr>
          <p:nvPr/>
        </p:nvSpPr>
        <p:spPr>
          <a:xfrm>
            <a:off x="533400" y="3762375"/>
            <a:ext cx="5448300" cy="2466975"/>
          </a:xfrm>
          <a:custGeom>
            <a:avLst/>
            <a:gdLst/>
            <a:ahLst/>
            <a:cxnLst/>
            <a:pathLst>
              <a:path w="572" h="259">
                <a:moveTo>
                  <a:pt x="0" y="0"/>
                </a:moveTo>
                <a:lnTo>
                  <a:pt x="572" y="0"/>
                </a:lnTo>
                <a:lnTo>
                  <a:pt x="572" y="3"/>
                </a:lnTo>
                <a:lnTo>
                  <a:pt x="0" y="3"/>
                </a:lnTo>
                <a:close/>
              </a:path>
            </a:pathLst>
          </a:custGeom>
          <a:solidFill>
            <a:srgbClr val="061F32"/>
          </a:solidFill>
        </p:spPr>
        <p:txBody>
          <a:bodyPr/>
          <a:lstStyle/>
          <a:p/>
        </p:txBody>
      </p:sp>
      <p:sp>
        <p:nvSpPr>
          <p:cNvPr id="251" name="文本框 213"/>
          <p:cNvSpPr>
            <a:spLocks noGrp="1"/>
          </p:cNvSpPr>
          <p:nvPr/>
        </p:nvSpPr>
        <p:spPr>
          <a:xfrm>
            <a:off x="533400" y="3981450"/>
            <a:ext cx="5448300" cy="504825"/>
          </a:xfrm>
          <a:prstGeom prst="rect">
            <a:avLst/>
          </a:prstGeom>
        </p:spPr>
        <p:txBody>
          <a:bodyPr wrap="none" lIns="0" tIns="0" rIns="0" bIns="0"/>
          <a:lstStyle/>
          <a:p>
            <a:pPr>
              <a:lnSpc>
                <a:spcPct val="100000"/>
              </a:lnSpc>
              <a:buNone/>
            </a:pPr>
            <a:r>
              <a:rPr sz="3300" b="1">
                <a:solidFill>
                  <a:srgbClr val="99BDED"/>
                </a:solidFill>
                <a:latin typeface="微软雅黑"/>
                <a:ea typeface="微软雅黑"/>
                <a:cs typeface="微软雅黑"/>
              </a:rPr>
              <a:t>03</a:t>
            </a:r>
            <a:endParaRPr sz="3300" b="1">
              <a:solidFill>
                <a:srgbClr val="99BDED"/>
              </a:solidFill>
              <a:latin typeface="微软雅黑"/>
              <a:ea typeface="微软雅黑"/>
              <a:cs typeface="微软雅黑"/>
            </a:endParaRPr>
          </a:p>
        </p:txBody>
      </p:sp>
      <p:sp>
        <p:nvSpPr>
          <p:cNvPr id="252" name="文本框 214"/>
          <p:cNvSpPr>
            <a:spLocks noGrp="1"/>
          </p:cNvSpPr>
          <p:nvPr/>
        </p:nvSpPr>
        <p:spPr>
          <a:xfrm>
            <a:off x="533400" y="4562475"/>
            <a:ext cx="5448300" cy="304800"/>
          </a:xfrm>
          <a:prstGeom prst="rect">
            <a:avLst/>
          </a:prstGeom>
        </p:spPr>
        <p:txBody>
          <a:bodyPr wrap="none" lIns="0" tIns="0" rIns="0" bIns="0"/>
          <a:lstStyle/>
          <a:p>
            <a:pPr>
              <a:lnSpc>
                <a:spcPct val="100000"/>
              </a:lnSpc>
              <a:buNone/>
            </a:pPr>
            <a:r>
              <a:rPr sz="1950" b="1">
                <a:solidFill>
                  <a:srgbClr val="061F32"/>
                </a:solidFill>
                <a:latin typeface="微软雅黑"/>
                <a:ea typeface="微软雅黑"/>
                <a:cs typeface="微软雅黑"/>
              </a:rPr>
              <a:t>为什么是我们</a:t>
            </a:r>
            <a:endParaRPr sz="1950" b="1">
              <a:solidFill>
                <a:srgbClr val="061F32"/>
              </a:solidFill>
              <a:latin typeface="微软雅黑"/>
              <a:ea typeface="微软雅黑"/>
              <a:cs typeface="微软雅黑"/>
            </a:endParaRPr>
          </a:p>
        </p:txBody>
      </p:sp>
      <p:sp>
        <p:nvSpPr>
          <p:cNvPr id="253" name="文本框 215"/>
          <p:cNvSpPr>
            <a:spLocks noGrp="1"/>
          </p:cNvSpPr>
          <p:nvPr/>
        </p:nvSpPr>
        <p:spPr>
          <a:xfrm>
            <a:off x="533400" y="4981575"/>
            <a:ext cx="5448300" cy="590550"/>
          </a:xfrm>
          <a:prstGeom prst="rect">
            <a:avLst/>
          </a:prstGeom>
        </p:spPr>
        <p:txBody>
          <a:bodyPr wrap="square" lIns="0" tIns="0" rIns="0" bIns="0">
            <a:normAutofit/>
          </a:bodyPr>
          <a:lstStyle/>
          <a:p>
            <a:pPr>
              <a:lnSpc>
                <a:spcPct val="150000"/>
              </a:lnSpc>
              <a:buNone/>
            </a:pPr>
            <a:r>
              <a:rPr sz="1275">
                <a:solidFill>
                  <a:srgbClr val="44546A">
                    <a:alpha val="100000"/>
                  </a:srgbClr>
                </a:solidFill>
                <a:latin typeface="微软雅黑"/>
                <a:ea typeface="微软雅黑"/>
                <a:cs typeface="微软雅黑"/>
              </a:rPr>
              <a:t>科学、数据、AI 模型与运营形成内部闭环；我们的差异化来自患者-PDO 纵向配对、培养偏差校正和前瞻验证</a:t>
            </a:r>
            <a:endParaRPr sz="1275">
              <a:solidFill>
                <a:srgbClr val="44546A">
                  <a:alpha val="100000"/>
                </a:srgbClr>
              </a:solidFill>
              <a:latin typeface="微软雅黑"/>
              <a:ea typeface="微软雅黑"/>
              <a:cs typeface="微软雅黑"/>
            </a:endParaRPr>
          </a:p>
        </p:txBody>
      </p:sp>
      <p:sp>
        <p:nvSpPr>
          <p:cNvPr id="254" name="任意多边形 216"/>
          <p:cNvSpPr>
            <a:spLocks noGrp="1"/>
          </p:cNvSpPr>
          <p:nvPr/>
        </p:nvSpPr>
        <p:spPr>
          <a:xfrm>
            <a:off x="6210300" y="3762375"/>
            <a:ext cx="5448300" cy="2466975"/>
          </a:xfrm>
          <a:custGeom>
            <a:avLst/>
            <a:gdLst/>
            <a:ahLst/>
            <a:cxnLst/>
            <a:pathLst>
              <a:path w="572" h="259">
                <a:moveTo>
                  <a:pt x="0" y="0"/>
                </a:moveTo>
                <a:lnTo>
                  <a:pt x="572" y="0"/>
                </a:lnTo>
                <a:lnTo>
                  <a:pt x="572" y="3"/>
                </a:lnTo>
                <a:lnTo>
                  <a:pt x="0" y="3"/>
                </a:lnTo>
                <a:close/>
              </a:path>
            </a:pathLst>
          </a:custGeom>
          <a:solidFill>
            <a:srgbClr val="061F32"/>
          </a:solidFill>
        </p:spPr>
        <p:txBody>
          <a:bodyPr/>
          <a:lstStyle/>
          <a:p/>
        </p:txBody>
      </p:sp>
      <p:sp>
        <p:nvSpPr>
          <p:cNvPr id="255" name="文本框 217"/>
          <p:cNvSpPr>
            <a:spLocks noGrp="1"/>
          </p:cNvSpPr>
          <p:nvPr/>
        </p:nvSpPr>
        <p:spPr>
          <a:xfrm>
            <a:off x="6210300" y="3981450"/>
            <a:ext cx="5448300" cy="504825"/>
          </a:xfrm>
          <a:prstGeom prst="rect">
            <a:avLst/>
          </a:prstGeom>
        </p:spPr>
        <p:txBody>
          <a:bodyPr wrap="none" lIns="0" tIns="0" rIns="0" bIns="0"/>
          <a:lstStyle/>
          <a:p>
            <a:pPr>
              <a:lnSpc>
                <a:spcPct val="100000"/>
              </a:lnSpc>
              <a:buNone/>
            </a:pPr>
            <a:r>
              <a:rPr sz="3300" b="1">
                <a:solidFill>
                  <a:srgbClr val="99BDED"/>
                </a:solidFill>
                <a:latin typeface="微软雅黑"/>
                <a:ea typeface="微软雅黑"/>
                <a:cs typeface="微软雅黑"/>
              </a:rPr>
              <a:t>04</a:t>
            </a:r>
            <a:endParaRPr sz="3300" b="1">
              <a:solidFill>
                <a:srgbClr val="99BDED"/>
              </a:solidFill>
              <a:latin typeface="微软雅黑"/>
              <a:ea typeface="微软雅黑"/>
              <a:cs typeface="微软雅黑"/>
            </a:endParaRPr>
          </a:p>
        </p:txBody>
      </p:sp>
      <p:sp>
        <p:nvSpPr>
          <p:cNvPr id="256" name="文本框 218"/>
          <p:cNvSpPr>
            <a:spLocks noGrp="1"/>
          </p:cNvSpPr>
          <p:nvPr/>
        </p:nvSpPr>
        <p:spPr>
          <a:xfrm>
            <a:off x="6210300" y="4562475"/>
            <a:ext cx="5448300" cy="304800"/>
          </a:xfrm>
          <a:prstGeom prst="rect">
            <a:avLst/>
          </a:prstGeom>
        </p:spPr>
        <p:txBody>
          <a:bodyPr wrap="none" lIns="0" tIns="0" rIns="0" bIns="0"/>
          <a:lstStyle/>
          <a:p>
            <a:pPr>
              <a:lnSpc>
                <a:spcPct val="100000"/>
              </a:lnSpc>
              <a:buNone/>
            </a:pPr>
            <a:r>
              <a:rPr sz="1950" b="1">
                <a:solidFill>
                  <a:srgbClr val="061F32"/>
                </a:solidFill>
                <a:latin typeface="微软雅黑"/>
                <a:ea typeface="微软雅黑"/>
                <a:cs typeface="微软雅黑"/>
              </a:rPr>
              <a:t>商业与融资</a:t>
            </a:r>
            <a:endParaRPr sz="1950" b="1">
              <a:solidFill>
                <a:srgbClr val="061F32"/>
              </a:solidFill>
              <a:latin typeface="微软雅黑"/>
              <a:ea typeface="微软雅黑"/>
              <a:cs typeface="微软雅黑"/>
            </a:endParaRPr>
          </a:p>
        </p:txBody>
      </p:sp>
      <p:sp>
        <p:nvSpPr>
          <p:cNvPr id="257" name="文本框 219"/>
          <p:cNvSpPr>
            <a:spLocks noGrp="1"/>
          </p:cNvSpPr>
          <p:nvPr/>
        </p:nvSpPr>
        <p:spPr>
          <a:xfrm>
            <a:off x="6210300" y="4981575"/>
            <a:ext cx="5448300" cy="590550"/>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赛道被全球资本验证；三级递进商业模式；</a:t>
            </a:r>
            <a:r>
              <a:rPr sz="1275">
                <a:solidFill>
                  <a:srgbClr val="44546A"/>
                </a:solidFill>
                <a:latin typeface="微软雅黑"/>
                <a:ea typeface="微软雅黑"/>
                <a:cs typeface="微软雅黑"/>
              </a:rPr>
              <a:t>5000 </a:t>
            </a:r>
            <a:r>
              <a:rPr sz="1275">
                <a:solidFill>
                  <a:srgbClr val="44546A"/>
                </a:solidFill>
                <a:latin typeface="微软雅黑"/>
                <a:ea typeface="微软雅黑"/>
                <a:cs typeface="微软雅黑"/>
              </a:rPr>
              <a:t>万元</a:t>
            </a:r>
            <a:r>
              <a:rPr sz="1275">
                <a:solidFill>
                  <a:srgbClr val="44546A"/>
                </a:solidFill>
                <a:latin typeface="微软雅黑"/>
                <a:ea typeface="微软雅黑"/>
                <a:cs typeface="微软雅黑"/>
              </a:rPr>
              <a:t> / 24 </a:t>
            </a:r>
            <a:r>
              <a:rPr sz="1275">
                <a:solidFill>
                  <a:srgbClr val="44546A"/>
                </a:solidFill>
                <a:latin typeface="微软雅黑"/>
                <a:ea typeface="微软雅黑"/>
                <a:cs typeface="微软雅黑"/>
              </a:rPr>
              <a:t>个月的里程碑与验收指标</a:t>
            </a:r>
            <a:endParaRPr sz="1275">
              <a:solidFill>
                <a:srgbClr val="44546A"/>
              </a:solidFill>
              <a:latin typeface="微软雅黑"/>
              <a:ea typeface="微软雅黑"/>
              <a:cs typeface="微软雅黑"/>
            </a:endParaRPr>
          </a:p>
        </p:txBody>
      </p:sp>
      <p:sp>
        <p:nvSpPr>
          <p:cNvPr id="258" name="文本框 220"/>
          <p:cNvSpPr>
            <a:spLocks noGrp="1"/>
          </p:cNvSpPr>
          <p:nvPr/>
        </p:nvSpPr>
        <p:spPr>
          <a:xfrm>
            <a:off x="533400" y="6343650"/>
            <a:ext cx="2066925"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AIVC </a:t>
            </a:r>
            <a:r>
              <a:rPr sz="1050">
                <a:solidFill>
                  <a:srgbClr val="808080"/>
                </a:solidFill>
                <a:latin typeface="微软雅黑"/>
                <a:ea typeface="微软雅黑"/>
                <a:cs typeface="微软雅黑"/>
              </a:rPr>
              <a:t>虚拟类器官</a:t>
            </a:r>
            <a:r>
              <a:rPr sz="1050">
                <a:solidFill>
                  <a:srgbClr val="808080"/>
                </a:solidFill>
                <a:latin typeface="微软雅黑"/>
                <a:ea typeface="微软雅黑"/>
                <a:cs typeface="微软雅黑"/>
              </a:rPr>
              <a:t> · </a:t>
            </a:r>
            <a:r>
              <a:rPr sz="1050">
                <a:solidFill>
                  <a:srgbClr val="808080"/>
                </a:solidFill>
                <a:latin typeface="微软雅黑"/>
                <a:ea typeface="微软雅黑"/>
                <a:cs typeface="微软雅黑"/>
              </a:rPr>
              <a:t>融资商业计划书</a:t>
            </a:r>
            <a:endParaRPr sz="1050">
              <a:solidFill>
                <a:srgbClr val="808080"/>
              </a:solidFill>
              <a:latin typeface="微软雅黑"/>
              <a:ea typeface="微软雅黑"/>
              <a:cs typeface="微软雅黑"/>
            </a:endParaRPr>
          </a:p>
        </p:txBody>
      </p:sp>
      <p:sp>
        <p:nvSpPr>
          <p:cNvPr id="259" name="文本框 221"/>
          <p:cNvSpPr>
            <a:spLocks noGrp="1"/>
          </p:cNvSpPr>
          <p:nvPr/>
        </p:nvSpPr>
        <p:spPr>
          <a:xfrm>
            <a:off x="11201400" y="6343650"/>
            <a:ext cx="4572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02 / 18</a:t>
            </a:r>
            <a:endParaRPr sz="1050">
              <a:solidFill>
                <a:srgbClr val="808080"/>
              </a:solidFill>
              <a:latin typeface="微软雅黑"/>
              <a:ea typeface="微软雅黑"/>
              <a:cs typeface="微软雅黑"/>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1" name="矩形 223"/>
          <p:cNvSpPr>
            <a:spLocks noGrp="1"/>
          </p:cNvSpPr>
          <p:nvPr/>
        </p:nvSpPr>
        <p:spPr>
          <a:xfrm>
            <a:off x="0" y="0"/>
            <a:ext cx="12192000" cy="6858000"/>
          </a:xfrm>
          <a:prstGeom prst="rect">
            <a:avLst/>
          </a:prstGeom>
          <a:solidFill>
            <a:srgbClr val="062032"/>
          </a:solidFill>
        </p:spPr>
        <p:txBody>
          <a:bodyPr/>
          <a:lstStyle/>
          <a:p/>
        </p:txBody>
      </p:sp>
      <p:sp>
        <p:nvSpPr>
          <p:cNvPr id="262" name="文本框 224"/>
          <p:cNvSpPr>
            <a:spLocks noGrp="1"/>
          </p:cNvSpPr>
          <p:nvPr/>
        </p:nvSpPr>
        <p:spPr>
          <a:xfrm>
            <a:off x="4429125" y="2981325"/>
            <a:ext cx="3219450" cy="533400"/>
          </a:xfrm>
          <a:prstGeom prst="rect">
            <a:avLst/>
          </a:prstGeom>
        </p:spPr>
        <p:txBody>
          <a:bodyPr wrap="none" lIns="0" tIns="0" rIns="0" bIns="0"/>
          <a:lstStyle/>
          <a:p>
            <a:pPr>
              <a:lnSpc>
                <a:spcPct val="100000"/>
              </a:lnSpc>
              <a:buNone/>
            </a:pPr>
            <a:r>
              <a:rPr sz="3450" b="1">
                <a:solidFill>
                  <a:srgbClr val="FFFFFF"/>
                </a:solidFill>
                <a:latin typeface="微软雅黑"/>
                <a:ea typeface="微软雅黑"/>
                <a:cs typeface="微软雅黑"/>
              </a:rPr>
              <a:t>问题与时机</a:t>
            </a:r>
            <a:endParaRPr sz="3450" b="1">
              <a:solidFill>
                <a:srgbClr val="FFFFFF"/>
              </a:solidFill>
              <a:latin typeface="微软雅黑"/>
              <a:ea typeface="微软雅黑"/>
              <a:cs typeface="微软雅黑"/>
            </a:endParaRPr>
          </a:p>
        </p:txBody>
      </p:sp>
      <p:sp>
        <p:nvSpPr>
          <p:cNvPr id="263" name="文本框 225"/>
          <p:cNvSpPr>
            <a:spLocks noGrp="1"/>
          </p:cNvSpPr>
          <p:nvPr/>
        </p:nvSpPr>
        <p:spPr>
          <a:xfrm>
            <a:off x="4429125" y="3648075"/>
            <a:ext cx="3219450" cy="228600"/>
          </a:xfrm>
          <a:prstGeom prst="rect">
            <a:avLst/>
          </a:prstGeom>
        </p:spPr>
        <p:txBody>
          <a:bodyPr wrap="none" lIns="0" tIns="0" rIns="0" bIns="0"/>
          <a:lstStyle/>
          <a:p>
            <a:pPr>
              <a:lnSpc>
                <a:spcPct val="100000"/>
              </a:lnSpc>
              <a:buNone/>
            </a:pPr>
            <a:r>
              <a:rPr sz="1500" spc="225">
                <a:solidFill>
                  <a:srgbClr val="99BDED"/>
                </a:solidFill>
                <a:latin typeface="微软雅黑"/>
                <a:ea typeface="微软雅黑"/>
                <a:cs typeface="微软雅黑"/>
              </a:rPr>
              <a:t>THE PROBLEM &amp; WHY NOW</a:t>
            </a:r>
            <a:endParaRPr sz="1500" spc="225">
              <a:solidFill>
                <a:srgbClr val="99BDED"/>
              </a:solidFill>
              <a:latin typeface="微软雅黑"/>
              <a:ea typeface="微软雅黑"/>
              <a:cs typeface="微软雅黑"/>
            </a:endParaRPr>
          </a:p>
        </p:txBody>
      </p:sp>
      <p:sp>
        <p:nvSpPr>
          <p:cNvPr id="264" name="文本框 226"/>
          <p:cNvSpPr>
            <a:spLocks noGrp="1"/>
          </p:cNvSpPr>
          <p:nvPr/>
        </p:nvSpPr>
        <p:spPr>
          <a:xfrm>
            <a:off x="685800" y="1943100"/>
            <a:ext cx="3057525" cy="2971800"/>
          </a:xfrm>
          <a:prstGeom prst="rect">
            <a:avLst/>
          </a:prstGeom>
        </p:spPr>
        <p:txBody>
          <a:bodyPr wrap="none" lIns="0" tIns="0" rIns="0" bIns="0"/>
          <a:lstStyle/>
          <a:p>
            <a:pPr>
              <a:lnSpc>
                <a:spcPct val="100000"/>
              </a:lnSpc>
              <a:buNone/>
            </a:pPr>
            <a:r>
              <a:rPr sz="19500" b="1">
                <a:solidFill>
                  <a:srgbClr val="FFFFFF">
                    <a:alpha val="12000"/>
                  </a:srgbClr>
                </a:solidFill>
                <a:latin typeface="微软雅黑"/>
                <a:ea typeface="微软雅黑"/>
                <a:cs typeface="微软雅黑"/>
              </a:rPr>
              <a:t>01</a:t>
            </a:r>
            <a:endParaRPr sz="19500" b="1">
              <a:solidFill>
                <a:srgbClr val="FFFFFF">
                  <a:alpha val="12000"/>
                </a:srgbClr>
              </a:solidFill>
              <a:latin typeface="微软雅黑"/>
              <a:ea typeface="微软雅黑"/>
              <a:cs typeface="微软雅黑"/>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 name="矩形 228"/>
          <p:cNvSpPr>
            <a:spLocks noGrp="1"/>
          </p:cNvSpPr>
          <p:nvPr/>
        </p:nvSpPr>
        <p:spPr>
          <a:xfrm>
            <a:off x="0" y="0"/>
            <a:ext cx="12192000" cy="6858000"/>
          </a:xfrm>
          <a:prstGeom prst="rect">
            <a:avLst/>
          </a:prstGeom>
          <a:solidFill>
            <a:srgbClr val="FFFFFF"/>
          </a:solidFill>
        </p:spPr>
        <p:txBody>
          <a:bodyPr/>
          <a:lstStyle/>
          <a:p/>
        </p:txBody>
      </p:sp>
      <p:sp>
        <p:nvSpPr>
          <p:cNvPr id="267" name="文本框 229"/>
          <p:cNvSpPr>
            <a:spLocks noGrp="1"/>
          </p:cNvSpPr>
          <p:nvPr/>
        </p:nvSpPr>
        <p:spPr>
          <a:xfrm>
            <a:off x="533400" y="419100"/>
            <a:ext cx="11125200" cy="381000"/>
          </a:xfrm>
          <a:prstGeom prst="rect">
            <a:avLst/>
          </a:prstGeom>
        </p:spPr>
        <p:txBody>
          <a:bodyPr wrap="none" lIns="0" tIns="0" rIns="0" bIns="0"/>
          <a:lstStyle/>
          <a:p>
            <a:pPr>
              <a:lnSpc>
                <a:spcPct val="100000"/>
              </a:lnSpc>
              <a:buNone/>
            </a:pPr>
            <a:r>
              <a:rPr sz="2475" b="1">
                <a:solidFill>
                  <a:srgbClr val="061F32"/>
                </a:solidFill>
                <a:latin typeface="微软雅黑"/>
                <a:ea typeface="微软雅黑"/>
                <a:cs typeface="微软雅黑"/>
              </a:rPr>
              <a:t>痛点：药物研发的「试错」正在变得不可承受</a:t>
            </a:r>
            <a:endParaRPr sz="2475" b="1">
              <a:solidFill>
                <a:srgbClr val="061F32"/>
              </a:solidFill>
              <a:latin typeface="微软雅黑"/>
              <a:ea typeface="微软雅黑"/>
              <a:cs typeface="微软雅黑"/>
            </a:endParaRPr>
          </a:p>
        </p:txBody>
      </p:sp>
      <p:sp>
        <p:nvSpPr>
          <p:cNvPr id="268" name="矩形 230"/>
          <p:cNvSpPr>
            <a:spLocks noGrp="1"/>
          </p:cNvSpPr>
          <p:nvPr/>
        </p:nvSpPr>
        <p:spPr>
          <a:xfrm>
            <a:off x="533400" y="895350"/>
            <a:ext cx="11125200" cy="9525"/>
          </a:xfrm>
          <a:prstGeom prst="rect">
            <a:avLst/>
          </a:prstGeom>
          <a:solidFill>
            <a:srgbClr val="061F32"/>
          </a:solidFill>
        </p:spPr>
        <p:txBody>
          <a:bodyPr/>
          <a:lstStyle/>
          <a:p/>
        </p:txBody>
      </p:sp>
      <p:sp>
        <p:nvSpPr>
          <p:cNvPr id="269" name="任意多边形 231"/>
          <p:cNvSpPr>
            <a:spLocks noGrp="1"/>
          </p:cNvSpPr>
          <p:nvPr/>
        </p:nvSpPr>
        <p:spPr>
          <a:xfrm>
            <a:off x="533400" y="1019175"/>
            <a:ext cx="3543300" cy="1809750"/>
          </a:xfrm>
          <a:custGeom>
            <a:avLst/>
            <a:gdLst/>
            <a:ahLst/>
            <a:cxnLst/>
            <a:pathLst>
              <a:path w="372" h="190">
                <a:moveTo>
                  <a:pt x="0" y="0"/>
                </a:moveTo>
                <a:lnTo>
                  <a:pt x="4" y="0"/>
                </a:lnTo>
                <a:lnTo>
                  <a:pt x="4" y="190"/>
                </a:lnTo>
                <a:lnTo>
                  <a:pt x="0" y="190"/>
                </a:lnTo>
                <a:close/>
              </a:path>
            </a:pathLst>
          </a:custGeom>
          <a:solidFill>
            <a:srgbClr val="061F32"/>
          </a:solidFill>
        </p:spPr>
        <p:txBody>
          <a:bodyPr/>
          <a:lstStyle/>
          <a:p/>
        </p:txBody>
      </p:sp>
      <p:sp>
        <p:nvSpPr>
          <p:cNvPr id="270" name="文本框 232"/>
          <p:cNvSpPr>
            <a:spLocks noGrp="1"/>
          </p:cNvSpPr>
          <p:nvPr/>
        </p:nvSpPr>
        <p:spPr>
          <a:xfrm>
            <a:off x="800100" y="1190625"/>
            <a:ext cx="3238500" cy="1009650"/>
          </a:xfrm>
          <a:prstGeom prst="rect">
            <a:avLst/>
          </a:prstGeom>
        </p:spPr>
        <p:txBody>
          <a:bodyPr wrap="none" lIns="0" tIns="0" rIns="0" bIns="0"/>
          <a:lstStyle/>
          <a:p>
            <a:pPr>
              <a:lnSpc>
                <a:spcPct val="100000"/>
              </a:lnSpc>
              <a:buNone/>
            </a:pPr>
            <a:r>
              <a:rPr sz="6600" b="1">
                <a:solidFill>
                  <a:srgbClr val="061F32"/>
                </a:solidFill>
                <a:latin typeface="微软雅黑"/>
                <a:ea typeface="微软雅黑"/>
                <a:cs typeface="微软雅黑"/>
              </a:rPr>
              <a:t>10</a:t>
            </a:r>
            <a:r>
              <a:rPr sz="3000" b="1">
                <a:solidFill>
                  <a:srgbClr val="08A6F6"/>
                </a:solidFill>
                <a:latin typeface="微软雅黑"/>
                <a:ea typeface="微软雅黑"/>
                <a:cs typeface="微软雅黑"/>
              </a:rPr>
              <a:t>+ </a:t>
            </a:r>
            <a:r>
              <a:rPr sz="3000" b="1">
                <a:solidFill>
                  <a:srgbClr val="08A6F6"/>
                </a:solidFill>
                <a:latin typeface="微软雅黑"/>
                <a:ea typeface="微软雅黑"/>
                <a:cs typeface="微软雅黑"/>
              </a:rPr>
              <a:t>年</a:t>
            </a:r>
            <a:endParaRPr sz="3000" b="1">
              <a:solidFill>
                <a:srgbClr val="08A6F6"/>
              </a:solidFill>
              <a:latin typeface="微软雅黑"/>
              <a:ea typeface="微软雅黑"/>
              <a:cs typeface="微软雅黑"/>
            </a:endParaRPr>
          </a:p>
        </p:txBody>
      </p:sp>
      <p:sp>
        <p:nvSpPr>
          <p:cNvPr id="271" name="文本框 233"/>
          <p:cNvSpPr>
            <a:spLocks noGrp="1"/>
          </p:cNvSpPr>
          <p:nvPr/>
        </p:nvSpPr>
        <p:spPr>
          <a:xfrm>
            <a:off x="800100" y="2333625"/>
            <a:ext cx="3238500" cy="323850"/>
          </a:xfrm>
          <a:prstGeom prst="rect">
            <a:avLst/>
          </a:prstGeom>
        </p:spPr>
        <p:txBody>
          <a:bodyPr wrap="none" lIns="0" tIns="0" rIns="0" bIns="0"/>
          <a:lstStyle/>
          <a:p>
            <a:pPr>
              <a:lnSpc>
                <a:spcPct val="140000"/>
              </a:lnSpc>
              <a:buNone/>
            </a:pPr>
            <a:r>
              <a:rPr sz="1500">
                <a:solidFill>
                  <a:srgbClr val="44546A"/>
                </a:solidFill>
                <a:latin typeface="微软雅黑"/>
                <a:ea typeface="微软雅黑"/>
                <a:cs typeface="微软雅黑"/>
              </a:rPr>
              <a:t>一个创新药从发现到上市的平均耗时</a:t>
            </a:r>
            <a:endParaRPr sz="1500">
              <a:solidFill>
                <a:srgbClr val="44546A"/>
              </a:solidFill>
              <a:latin typeface="微软雅黑"/>
              <a:ea typeface="微软雅黑"/>
              <a:cs typeface="微软雅黑"/>
            </a:endParaRPr>
          </a:p>
        </p:txBody>
      </p:sp>
      <p:sp>
        <p:nvSpPr>
          <p:cNvPr id="272" name="任意多边形 234"/>
          <p:cNvSpPr>
            <a:spLocks noGrp="1"/>
          </p:cNvSpPr>
          <p:nvPr/>
        </p:nvSpPr>
        <p:spPr>
          <a:xfrm>
            <a:off x="4343400" y="1019175"/>
            <a:ext cx="3543300" cy="1809750"/>
          </a:xfrm>
          <a:custGeom>
            <a:avLst/>
            <a:gdLst/>
            <a:ahLst/>
            <a:cxnLst/>
            <a:pathLst>
              <a:path w="372" h="190">
                <a:moveTo>
                  <a:pt x="0" y="0"/>
                </a:moveTo>
                <a:lnTo>
                  <a:pt x="4" y="0"/>
                </a:lnTo>
                <a:lnTo>
                  <a:pt x="4" y="190"/>
                </a:lnTo>
                <a:lnTo>
                  <a:pt x="0" y="190"/>
                </a:lnTo>
                <a:close/>
              </a:path>
            </a:pathLst>
          </a:custGeom>
          <a:solidFill>
            <a:srgbClr val="061F32"/>
          </a:solidFill>
        </p:spPr>
        <p:txBody>
          <a:bodyPr/>
          <a:lstStyle/>
          <a:p/>
        </p:txBody>
      </p:sp>
      <p:sp>
        <p:nvSpPr>
          <p:cNvPr id="273" name="文本框 235"/>
          <p:cNvSpPr>
            <a:spLocks noGrp="1"/>
          </p:cNvSpPr>
          <p:nvPr/>
        </p:nvSpPr>
        <p:spPr>
          <a:xfrm>
            <a:off x="4610100" y="1190625"/>
            <a:ext cx="3238500" cy="1009650"/>
          </a:xfrm>
          <a:prstGeom prst="rect">
            <a:avLst/>
          </a:prstGeom>
        </p:spPr>
        <p:txBody>
          <a:bodyPr wrap="none" lIns="0" tIns="0" rIns="0" bIns="0"/>
          <a:lstStyle/>
          <a:p>
            <a:pPr>
              <a:lnSpc>
                <a:spcPct val="100000"/>
              </a:lnSpc>
              <a:buNone/>
            </a:pPr>
            <a:r>
              <a:rPr sz="6600" b="1">
                <a:solidFill>
                  <a:srgbClr val="061F32"/>
                </a:solidFill>
                <a:latin typeface="微软雅黑"/>
                <a:ea typeface="微软雅黑"/>
                <a:cs typeface="微软雅黑"/>
              </a:rPr>
              <a:t>$20</a:t>
            </a:r>
            <a:r>
              <a:rPr sz="3000" b="1">
                <a:solidFill>
                  <a:srgbClr val="08A6F6"/>
                </a:solidFill>
                <a:latin typeface="微软雅黑"/>
                <a:ea typeface="微软雅黑"/>
                <a:cs typeface="微软雅黑"/>
              </a:rPr>
              <a:t> </a:t>
            </a:r>
            <a:r>
              <a:rPr sz="3000" b="1">
                <a:solidFill>
                  <a:srgbClr val="08A6F6"/>
                </a:solidFill>
                <a:latin typeface="微软雅黑"/>
                <a:ea typeface="微软雅黑"/>
                <a:cs typeface="微软雅黑"/>
              </a:rPr>
              <a:t>亿</a:t>
            </a:r>
            <a:r>
              <a:rPr sz="3000" b="1">
                <a:solidFill>
                  <a:srgbClr val="08A6F6"/>
                </a:solidFill>
                <a:latin typeface="微软雅黑"/>
                <a:ea typeface="微软雅黑"/>
                <a:cs typeface="微软雅黑"/>
              </a:rPr>
              <a:t>+</a:t>
            </a:r>
            <a:endParaRPr sz="3000" b="1">
              <a:solidFill>
                <a:srgbClr val="08A6F6"/>
              </a:solidFill>
              <a:latin typeface="微软雅黑"/>
              <a:ea typeface="微软雅黑"/>
              <a:cs typeface="微软雅黑"/>
            </a:endParaRPr>
          </a:p>
        </p:txBody>
      </p:sp>
      <p:sp>
        <p:nvSpPr>
          <p:cNvPr id="274" name="文本框 236"/>
          <p:cNvSpPr>
            <a:spLocks noGrp="1"/>
          </p:cNvSpPr>
          <p:nvPr/>
        </p:nvSpPr>
        <p:spPr>
          <a:xfrm>
            <a:off x="4610100" y="2333625"/>
            <a:ext cx="3238500" cy="323850"/>
          </a:xfrm>
          <a:prstGeom prst="rect">
            <a:avLst/>
          </a:prstGeom>
        </p:spPr>
        <p:txBody>
          <a:bodyPr wrap="none" lIns="0" tIns="0" rIns="0" bIns="0"/>
          <a:lstStyle/>
          <a:p>
            <a:pPr>
              <a:lnSpc>
                <a:spcPct val="140000"/>
              </a:lnSpc>
              <a:buNone/>
            </a:pPr>
            <a:r>
              <a:rPr sz="1500">
                <a:solidFill>
                  <a:srgbClr val="44546A"/>
                </a:solidFill>
                <a:latin typeface="微软雅黑"/>
                <a:ea typeface="微软雅黑"/>
                <a:cs typeface="微软雅黑"/>
              </a:rPr>
              <a:t>平均研发花费（美元），且仍在上升</a:t>
            </a:r>
            <a:endParaRPr sz="1500">
              <a:solidFill>
                <a:srgbClr val="44546A"/>
              </a:solidFill>
              <a:latin typeface="微软雅黑"/>
              <a:ea typeface="微软雅黑"/>
              <a:cs typeface="微软雅黑"/>
            </a:endParaRPr>
          </a:p>
        </p:txBody>
      </p:sp>
      <p:sp>
        <p:nvSpPr>
          <p:cNvPr id="275" name="任意多边形 237"/>
          <p:cNvSpPr>
            <a:spLocks noGrp="1"/>
          </p:cNvSpPr>
          <p:nvPr/>
        </p:nvSpPr>
        <p:spPr>
          <a:xfrm>
            <a:off x="8153400" y="1019175"/>
            <a:ext cx="3543300" cy="1809750"/>
          </a:xfrm>
          <a:custGeom>
            <a:avLst/>
            <a:gdLst/>
            <a:ahLst/>
            <a:cxnLst/>
            <a:pathLst>
              <a:path w="372" h="190">
                <a:moveTo>
                  <a:pt x="0" y="0"/>
                </a:moveTo>
                <a:lnTo>
                  <a:pt x="4" y="0"/>
                </a:lnTo>
                <a:lnTo>
                  <a:pt x="4" y="190"/>
                </a:lnTo>
                <a:lnTo>
                  <a:pt x="0" y="190"/>
                </a:lnTo>
                <a:close/>
              </a:path>
            </a:pathLst>
          </a:custGeom>
          <a:solidFill>
            <a:srgbClr val="5A0E13"/>
          </a:solidFill>
        </p:spPr>
        <p:txBody>
          <a:bodyPr/>
          <a:lstStyle/>
          <a:p/>
        </p:txBody>
      </p:sp>
      <p:sp>
        <p:nvSpPr>
          <p:cNvPr id="276" name="文本框 238"/>
          <p:cNvSpPr>
            <a:spLocks noGrp="1"/>
          </p:cNvSpPr>
          <p:nvPr/>
        </p:nvSpPr>
        <p:spPr>
          <a:xfrm>
            <a:off x="8420100" y="1028700"/>
            <a:ext cx="3238500" cy="1009650"/>
          </a:xfrm>
          <a:prstGeom prst="rect">
            <a:avLst/>
          </a:prstGeom>
        </p:spPr>
        <p:txBody>
          <a:bodyPr wrap="none" lIns="0" tIns="0" rIns="0" bIns="0"/>
          <a:lstStyle/>
          <a:p>
            <a:pPr>
              <a:lnSpc>
                <a:spcPct val="100000"/>
              </a:lnSpc>
              <a:buNone/>
            </a:pPr>
            <a:r>
              <a:rPr sz="6600" b="1">
                <a:solidFill>
                  <a:srgbClr val="5A0E13"/>
                </a:solidFill>
                <a:latin typeface="微软雅黑"/>
                <a:ea typeface="微软雅黑"/>
                <a:cs typeface="微软雅黑"/>
              </a:rPr>
              <a:t>后期</a:t>
            </a:r>
            <a:endParaRPr sz="6600" b="1">
              <a:solidFill>
                <a:srgbClr val="5A0E13"/>
              </a:solidFill>
              <a:latin typeface="微软雅黑"/>
              <a:ea typeface="微软雅黑"/>
              <a:cs typeface="微软雅黑"/>
            </a:endParaRPr>
          </a:p>
        </p:txBody>
      </p:sp>
      <p:sp>
        <p:nvSpPr>
          <p:cNvPr id="277" name="文本框 239"/>
          <p:cNvSpPr>
            <a:spLocks noGrp="1"/>
          </p:cNvSpPr>
          <p:nvPr/>
        </p:nvSpPr>
        <p:spPr>
          <a:xfrm>
            <a:off x="8420100" y="2171700"/>
            <a:ext cx="3238500" cy="647700"/>
          </a:xfrm>
          <a:prstGeom prst="rect">
            <a:avLst/>
          </a:prstGeom>
        </p:spPr>
        <p:txBody>
          <a:bodyPr wrap="square" lIns="0" tIns="0" rIns="0" bIns="0">
            <a:normAutofit/>
          </a:bodyPr>
          <a:lstStyle/>
          <a:p>
            <a:pPr>
              <a:lnSpc>
                <a:spcPct val="140000"/>
              </a:lnSpc>
              <a:buNone/>
            </a:pPr>
            <a:r>
              <a:rPr sz="1500">
                <a:solidFill>
                  <a:srgbClr val="44546A"/>
                </a:solidFill>
                <a:latin typeface="微软雅黑"/>
                <a:ea typeface="微软雅黑"/>
                <a:cs typeface="微软雅黑"/>
              </a:rPr>
              <a:t>失败主要发生在临床后期——代价最高的阶段</a:t>
            </a:r>
            <a:endParaRPr sz="1500">
              <a:solidFill>
                <a:srgbClr val="44546A"/>
              </a:solidFill>
              <a:latin typeface="微软雅黑"/>
              <a:ea typeface="微软雅黑"/>
              <a:cs typeface="微软雅黑"/>
            </a:endParaRPr>
          </a:p>
        </p:txBody>
      </p:sp>
      <p:sp>
        <p:nvSpPr>
          <p:cNvPr id="278" name="矩形 240"/>
          <p:cNvSpPr>
            <a:spLocks noGrp="1"/>
          </p:cNvSpPr>
          <p:nvPr/>
        </p:nvSpPr>
        <p:spPr>
          <a:xfrm>
            <a:off x="533400" y="3038475"/>
            <a:ext cx="11125200" cy="1257300"/>
          </a:xfrm>
          <a:prstGeom prst="rect">
            <a:avLst/>
          </a:prstGeom>
          <a:solidFill>
            <a:srgbClr val="F5F5F5"/>
          </a:solidFill>
        </p:spPr>
        <p:txBody>
          <a:bodyPr/>
          <a:lstStyle/>
          <a:p/>
        </p:txBody>
      </p:sp>
      <p:sp>
        <p:nvSpPr>
          <p:cNvPr id="279" name="文本框 241"/>
          <p:cNvSpPr>
            <a:spLocks noGrp="1"/>
          </p:cNvSpPr>
          <p:nvPr/>
        </p:nvSpPr>
        <p:spPr>
          <a:xfrm>
            <a:off x="800100" y="3248025"/>
            <a:ext cx="10591800" cy="209550"/>
          </a:xfrm>
          <a:prstGeom prst="rect">
            <a:avLst/>
          </a:prstGeom>
        </p:spPr>
        <p:txBody>
          <a:bodyPr wrap="none" lIns="0" tIns="0" rIns="0" bIns="0"/>
          <a:lstStyle/>
          <a:p>
            <a:pPr>
              <a:lnSpc>
                <a:spcPct val="100000"/>
              </a:lnSpc>
              <a:buNone/>
            </a:pPr>
            <a:r>
              <a:rPr sz="1350">
                <a:solidFill>
                  <a:srgbClr val="44546A"/>
                </a:solidFill>
                <a:latin typeface="微软雅黑"/>
                <a:ea typeface="微软雅黑"/>
                <a:cs typeface="微软雅黑"/>
              </a:rPr>
              <a:t>为什么失败在后期才暴露？因为早期模型预测不了患者之间的差异，更追不上肿瘤随时间的演化：</a:t>
            </a:r>
            <a:endParaRPr sz="1350">
              <a:solidFill>
                <a:srgbClr val="44546A"/>
              </a:solidFill>
              <a:latin typeface="微软雅黑"/>
              <a:ea typeface="微软雅黑"/>
              <a:cs typeface="微软雅黑"/>
            </a:endParaRPr>
          </a:p>
        </p:txBody>
      </p:sp>
      <p:sp>
        <p:nvSpPr>
          <p:cNvPr id="280" name="矩形 242"/>
          <p:cNvSpPr>
            <a:spLocks noGrp="1"/>
          </p:cNvSpPr>
          <p:nvPr/>
        </p:nvSpPr>
        <p:spPr>
          <a:xfrm>
            <a:off x="800100" y="3590925"/>
            <a:ext cx="2952750" cy="495300"/>
          </a:xfrm>
          <a:prstGeom prst="rect">
            <a:avLst/>
          </a:prstGeom>
          <a:solidFill>
            <a:srgbClr val="FFFFFF"/>
          </a:solidFill>
          <a:ln w="12700">
            <a:solidFill>
              <a:srgbClr val="E7E6E6"/>
            </a:solidFill>
            <a:prstDash val="solid"/>
          </a:ln>
        </p:spPr>
        <p:txBody>
          <a:bodyPr/>
          <a:lstStyle/>
          <a:p/>
        </p:txBody>
      </p:sp>
      <p:sp>
        <p:nvSpPr>
          <p:cNvPr id="281" name="文本框 243"/>
          <p:cNvSpPr>
            <a:spLocks noGrp="1"/>
          </p:cNvSpPr>
          <p:nvPr/>
        </p:nvSpPr>
        <p:spPr>
          <a:xfrm>
            <a:off x="971550" y="3724275"/>
            <a:ext cx="2609850" cy="228600"/>
          </a:xfrm>
          <a:prstGeom prst="rect">
            <a:avLst/>
          </a:prstGeom>
        </p:spPr>
        <p:txBody>
          <a:bodyPr wrap="none" lIns="0" tIns="0" rIns="0" bIns="0"/>
          <a:lstStyle/>
          <a:p>
            <a:pPr>
              <a:lnSpc>
                <a:spcPct val="100000"/>
              </a:lnSpc>
              <a:buNone/>
            </a:pPr>
            <a:r>
              <a:rPr sz="1500" b="1">
                <a:solidFill>
                  <a:srgbClr val="061F32"/>
                </a:solidFill>
                <a:latin typeface="微软雅黑"/>
                <a:ea typeface="微软雅黑"/>
                <a:cs typeface="微软雅黑"/>
              </a:rPr>
              <a:t>细胞模型：体外有效</a:t>
            </a:r>
            <a:endParaRPr sz="1500" b="1">
              <a:solidFill>
                <a:srgbClr val="061F32"/>
              </a:solidFill>
              <a:latin typeface="微软雅黑"/>
              <a:ea typeface="微软雅黑"/>
              <a:cs typeface="微软雅黑"/>
            </a:endParaRPr>
          </a:p>
        </p:txBody>
      </p:sp>
      <p:pic>
        <p:nvPicPr>
          <p:cNvPr id="311" name="图片 24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905250" y="3743325"/>
            <a:ext cx="266700" cy="190500"/>
          </a:xfrm>
          <a:prstGeom prst="rect">
            <a:avLst/>
          </a:prstGeom>
        </p:spPr>
      </p:pic>
      <p:sp>
        <p:nvSpPr>
          <p:cNvPr id="283" name="矩形 245"/>
          <p:cNvSpPr>
            <a:spLocks noGrp="1"/>
          </p:cNvSpPr>
          <p:nvPr/>
        </p:nvSpPr>
        <p:spPr>
          <a:xfrm>
            <a:off x="4324350" y="3590925"/>
            <a:ext cx="2952750" cy="495300"/>
          </a:xfrm>
          <a:prstGeom prst="rect">
            <a:avLst/>
          </a:prstGeom>
          <a:solidFill>
            <a:srgbClr val="FFFFFF"/>
          </a:solidFill>
          <a:ln w="12700">
            <a:solidFill>
              <a:srgbClr val="E7E6E6"/>
            </a:solidFill>
            <a:prstDash val="solid"/>
          </a:ln>
        </p:spPr>
        <p:txBody>
          <a:bodyPr/>
          <a:lstStyle/>
          <a:p/>
        </p:txBody>
      </p:sp>
      <p:sp>
        <p:nvSpPr>
          <p:cNvPr id="284" name="文本框 246"/>
          <p:cNvSpPr>
            <a:spLocks noGrp="1"/>
          </p:cNvSpPr>
          <p:nvPr/>
        </p:nvSpPr>
        <p:spPr>
          <a:xfrm>
            <a:off x="4495800" y="3724275"/>
            <a:ext cx="2609850" cy="228600"/>
          </a:xfrm>
          <a:prstGeom prst="rect">
            <a:avLst/>
          </a:prstGeom>
        </p:spPr>
        <p:txBody>
          <a:bodyPr wrap="none" lIns="0" tIns="0" rIns="0" bIns="0"/>
          <a:lstStyle/>
          <a:p>
            <a:pPr>
              <a:lnSpc>
                <a:spcPct val="100000"/>
              </a:lnSpc>
              <a:buNone/>
            </a:pPr>
            <a:r>
              <a:rPr sz="1500" b="1">
                <a:solidFill>
                  <a:srgbClr val="061F32"/>
                </a:solidFill>
                <a:latin typeface="微软雅黑"/>
                <a:ea typeface="微软雅黑"/>
                <a:cs typeface="微软雅黑"/>
              </a:rPr>
              <a:t>动物模型：动物有效</a:t>
            </a:r>
            <a:endParaRPr sz="1500" b="1">
              <a:solidFill>
                <a:srgbClr val="061F32"/>
              </a:solidFill>
              <a:latin typeface="微软雅黑"/>
              <a:ea typeface="微软雅黑"/>
              <a:cs typeface="微软雅黑"/>
            </a:endParaRPr>
          </a:p>
        </p:txBody>
      </p:sp>
      <p:pic>
        <p:nvPicPr>
          <p:cNvPr id="314" name="图片 24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29500" y="3743325"/>
            <a:ext cx="266700" cy="190500"/>
          </a:xfrm>
          <a:prstGeom prst="rect">
            <a:avLst/>
          </a:prstGeom>
        </p:spPr>
      </p:pic>
      <p:sp>
        <p:nvSpPr>
          <p:cNvPr id="286" name="矩形 248"/>
          <p:cNvSpPr>
            <a:spLocks noGrp="1"/>
          </p:cNvSpPr>
          <p:nvPr/>
        </p:nvSpPr>
        <p:spPr>
          <a:xfrm>
            <a:off x="7848600" y="3590925"/>
            <a:ext cx="3543300" cy="495300"/>
          </a:xfrm>
          <a:prstGeom prst="rect">
            <a:avLst/>
          </a:prstGeom>
          <a:solidFill>
            <a:srgbClr val="FFFFFF"/>
          </a:solidFill>
          <a:ln w="19050">
            <a:solidFill>
              <a:srgbClr val="5A0E13"/>
            </a:solidFill>
            <a:prstDash val="solid"/>
          </a:ln>
        </p:spPr>
        <p:txBody>
          <a:bodyPr/>
          <a:lstStyle/>
          <a:p/>
        </p:txBody>
      </p:sp>
      <p:sp>
        <p:nvSpPr>
          <p:cNvPr id="287" name="文本框 249"/>
          <p:cNvSpPr>
            <a:spLocks noGrp="1"/>
          </p:cNvSpPr>
          <p:nvPr/>
        </p:nvSpPr>
        <p:spPr>
          <a:xfrm>
            <a:off x="8020050" y="3724275"/>
            <a:ext cx="3200400" cy="228600"/>
          </a:xfrm>
          <a:prstGeom prst="rect">
            <a:avLst/>
          </a:prstGeom>
        </p:spPr>
        <p:txBody>
          <a:bodyPr wrap="none" lIns="0" tIns="0" rIns="0" bIns="0"/>
          <a:lstStyle/>
          <a:p>
            <a:pPr>
              <a:lnSpc>
                <a:spcPct val="100000"/>
              </a:lnSpc>
              <a:buNone/>
            </a:pPr>
            <a:r>
              <a:rPr sz="1500" b="1">
                <a:solidFill>
                  <a:srgbClr val="5A0E13"/>
                </a:solidFill>
                <a:latin typeface="微软雅黑"/>
                <a:ea typeface="微软雅黑"/>
                <a:cs typeface="微软雅黑"/>
              </a:rPr>
              <a:t>患者身上：无效甚至有害</a:t>
            </a:r>
            <a:endParaRPr sz="1500" b="1">
              <a:solidFill>
                <a:srgbClr val="5A0E13"/>
              </a:solidFill>
              <a:latin typeface="微软雅黑"/>
              <a:ea typeface="微软雅黑"/>
              <a:cs typeface="微软雅黑"/>
            </a:endParaRPr>
          </a:p>
        </p:txBody>
      </p:sp>
      <p:sp>
        <p:nvSpPr>
          <p:cNvPr id="288" name="矩形 250"/>
          <p:cNvSpPr>
            <a:spLocks noGrp="1"/>
          </p:cNvSpPr>
          <p:nvPr/>
        </p:nvSpPr>
        <p:spPr>
          <a:xfrm>
            <a:off x="533400" y="4505325"/>
            <a:ext cx="11125200" cy="1733550"/>
          </a:xfrm>
          <a:prstGeom prst="rect">
            <a:avLst/>
          </a:prstGeom>
          <a:solidFill>
            <a:srgbClr val="061F32"/>
          </a:solidFill>
        </p:spPr>
        <p:txBody>
          <a:bodyPr/>
          <a:lstStyle/>
          <a:p/>
        </p:txBody>
      </p:sp>
      <p:sp>
        <p:nvSpPr>
          <p:cNvPr id="289" name="文本框 251"/>
          <p:cNvSpPr>
            <a:spLocks noGrp="1"/>
          </p:cNvSpPr>
          <p:nvPr/>
        </p:nvSpPr>
        <p:spPr>
          <a:xfrm>
            <a:off x="800100" y="4867275"/>
            <a:ext cx="10591800" cy="209550"/>
          </a:xfrm>
          <a:prstGeom prst="rect">
            <a:avLst/>
          </a:prstGeom>
        </p:spPr>
        <p:txBody>
          <a:bodyPr wrap="none" lIns="0" tIns="0" rIns="0" bIns="0"/>
          <a:lstStyle/>
          <a:p>
            <a:pPr>
              <a:lnSpc>
                <a:spcPct val="100000"/>
              </a:lnSpc>
              <a:buNone/>
            </a:pPr>
            <a:r>
              <a:rPr sz="1350" b="1" spc="150">
                <a:solidFill>
                  <a:srgbClr val="08A6F6"/>
                </a:solidFill>
                <a:latin typeface="微软雅黑"/>
                <a:ea typeface="微软雅黑"/>
                <a:cs typeface="微软雅黑"/>
              </a:rPr>
              <a:t>根本矛盾</a:t>
            </a:r>
            <a:endParaRPr sz="1350" b="1" spc="150">
              <a:solidFill>
                <a:srgbClr val="08A6F6"/>
              </a:solidFill>
              <a:latin typeface="微软雅黑"/>
              <a:ea typeface="微软雅黑"/>
              <a:cs typeface="微软雅黑"/>
            </a:endParaRPr>
          </a:p>
        </p:txBody>
      </p:sp>
      <p:sp>
        <p:nvSpPr>
          <p:cNvPr id="290" name="文本框 252"/>
          <p:cNvSpPr>
            <a:spLocks noGrp="1"/>
          </p:cNvSpPr>
          <p:nvPr/>
        </p:nvSpPr>
        <p:spPr>
          <a:xfrm>
            <a:off x="800100" y="5153025"/>
            <a:ext cx="10591800" cy="723900"/>
          </a:xfrm>
          <a:prstGeom prst="rect">
            <a:avLst/>
          </a:prstGeom>
        </p:spPr>
        <p:txBody>
          <a:bodyPr wrap="square" lIns="0" tIns="0" rIns="0" bIns="0">
            <a:normAutofit/>
          </a:bodyPr>
          <a:lstStyle/>
          <a:p>
            <a:pPr>
              <a:lnSpc>
                <a:spcPct val="150000"/>
              </a:lnSpc>
              <a:buNone/>
            </a:pPr>
            <a:r>
              <a:rPr sz="1575">
                <a:solidFill>
                  <a:srgbClr val="FFFFFF"/>
                </a:solidFill>
                <a:latin typeface="微软雅黑"/>
                <a:ea typeface="微软雅黑"/>
                <a:cs typeface="微软雅黑"/>
              </a:rPr>
              <a:t>生命系统的复杂程度远超实验手段的覆盖能力——候选药物太多、患者差异太大、生命状态随时间持续变化，真实实验永远做不过来；而耐药与复发，要等到患者治疗失败后才被看见。试错范式走到尽头，必须换一条路。</a:t>
            </a:r>
            <a:endParaRPr sz="1575">
              <a:solidFill>
                <a:srgbClr val="FFFFFF"/>
              </a:solidFill>
              <a:latin typeface="微软雅黑"/>
              <a:ea typeface="微软雅黑"/>
              <a:cs typeface="微软雅黑"/>
            </a:endParaRPr>
          </a:p>
        </p:txBody>
      </p:sp>
      <p:sp>
        <p:nvSpPr>
          <p:cNvPr id="291" name="文本框 253"/>
          <p:cNvSpPr>
            <a:spLocks noGrp="1"/>
          </p:cNvSpPr>
          <p:nvPr/>
        </p:nvSpPr>
        <p:spPr>
          <a:xfrm>
            <a:off x="533400" y="6381750"/>
            <a:ext cx="2828925"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Source: AIVC </a:t>
            </a:r>
            <a:r>
              <a:rPr sz="1050">
                <a:solidFill>
                  <a:srgbClr val="808080"/>
                </a:solidFill>
                <a:latin typeface="微软雅黑"/>
                <a:ea typeface="微软雅黑"/>
                <a:cs typeface="微软雅黑"/>
              </a:rPr>
              <a:t>商业故事</a:t>
            </a:r>
            <a:r>
              <a:rPr sz="1050">
                <a:solidFill>
                  <a:srgbClr val="808080"/>
                </a:solidFill>
                <a:latin typeface="微软雅黑"/>
                <a:ea typeface="微软雅黑"/>
                <a:cs typeface="微软雅黑"/>
              </a:rPr>
              <a:t> BP §2.1</a:t>
            </a:r>
            <a:r>
              <a:rPr sz="1050">
                <a:solidFill>
                  <a:srgbClr val="808080"/>
                </a:solidFill>
                <a:latin typeface="微软雅黑"/>
                <a:ea typeface="微软雅黑"/>
                <a:cs typeface="微软雅黑"/>
              </a:rPr>
              <a:t>；行业公开数据</a:t>
            </a:r>
            <a:endParaRPr sz="1050">
              <a:solidFill>
                <a:srgbClr val="808080"/>
              </a:solidFill>
              <a:latin typeface="微软雅黑"/>
              <a:ea typeface="微软雅黑"/>
              <a:cs typeface="微软雅黑"/>
            </a:endParaRPr>
          </a:p>
        </p:txBody>
      </p:sp>
      <p:sp>
        <p:nvSpPr>
          <p:cNvPr id="292" name="文本框 254"/>
          <p:cNvSpPr>
            <a:spLocks noGrp="1"/>
          </p:cNvSpPr>
          <p:nvPr/>
        </p:nvSpPr>
        <p:spPr>
          <a:xfrm>
            <a:off x="11201400" y="6381750"/>
            <a:ext cx="4572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04 / 18</a:t>
            </a:r>
            <a:endParaRPr sz="1050">
              <a:solidFill>
                <a:srgbClr val="808080"/>
              </a:solidFill>
              <a:latin typeface="微软雅黑"/>
              <a:ea typeface="微软雅黑"/>
              <a:cs typeface="微软雅黑"/>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4" name="矩形 256"/>
          <p:cNvSpPr>
            <a:spLocks noGrp="1"/>
          </p:cNvSpPr>
          <p:nvPr/>
        </p:nvSpPr>
        <p:spPr>
          <a:xfrm>
            <a:off x="0" y="0"/>
            <a:ext cx="12192000" cy="6858000"/>
          </a:xfrm>
          <a:prstGeom prst="rect">
            <a:avLst/>
          </a:prstGeom>
          <a:solidFill>
            <a:srgbClr val="FFFFFF"/>
          </a:solidFill>
        </p:spPr>
        <p:txBody>
          <a:bodyPr/>
          <a:lstStyle/>
          <a:p/>
        </p:txBody>
      </p:sp>
      <p:sp>
        <p:nvSpPr>
          <p:cNvPr id="295" name="文本框 257"/>
          <p:cNvSpPr>
            <a:spLocks noGrp="1"/>
          </p:cNvSpPr>
          <p:nvPr/>
        </p:nvSpPr>
        <p:spPr>
          <a:xfrm>
            <a:off x="533400" y="419100"/>
            <a:ext cx="11125200" cy="381000"/>
          </a:xfrm>
          <a:prstGeom prst="rect">
            <a:avLst/>
          </a:prstGeom>
        </p:spPr>
        <p:txBody>
          <a:bodyPr wrap="none" lIns="0" tIns="0" rIns="0" bIns="0"/>
          <a:lstStyle/>
          <a:p>
            <a:pPr>
              <a:lnSpc>
                <a:spcPct val="100000"/>
              </a:lnSpc>
              <a:buNone/>
            </a:pPr>
            <a:r>
              <a:rPr sz="2475" b="1">
                <a:solidFill>
                  <a:srgbClr val="061F32"/>
                </a:solidFill>
                <a:latin typeface="微软雅黑"/>
                <a:ea typeface="微软雅黑"/>
                <a:cs typeface="微软雅黑"/>
              </a:rPr>
              <a:t>临床痛点：治疗选择缺少及时、患者特异性的功能证据</a:t>
            </a:r>
            <a:endParaRPr sz="2475" b="1">
              <a:solidFill>
                <a:srgbClr val="061F32"/>
              </a:solidFill>
              <a:latin typeface="微软雅黑"/>
              <a:ea typeface="微软雅黑"/>
              <a:cs typeface="微软雅黑"/>
            </a:endParaRPr>
          </a:p>
        </p:txBody>
      </p:sp>
      <p:sp>
        <p:nvSpPr>
          <p:cNvPr id="296" name="矩形 258"/>
          <p:cNvSpPr>
            <a:spLocks noGrp="1"/>
          </p:cNvSpPr>
          <p:nvPr/>
        </p:nvSpPr>
        <p:spPr>
          <a:xfrm>
            <a:off x="533400" y="895350"/>
            <a:ext cx="11125200" cy="9525"/>
          </a:xfrm>
          <a:prstGeom prst="rect">
            <a:avLst/>
          </a:prstGeom>
          <a:solidFill>
            <a:srgbClr val="061F32"/>
          </a:solidFill>
        </p:spPr>
        <p:txBody>
          <a:bodyPr/>
          <a:lstStyle/>
          <a:p/>
        </p:txBody>
      </p:sp>
      <p:sp>
        <p:nvSpPr>
          <p:cNvPr id="297" name="矩形 259"/>
          <p:cNvSpPr>
            <a:spLocks noGrp="1"/>
          </p:cNvSpPr>
          <p:nvPr/>
        </p:nvSpPr>
        <p:spPr>
          <a:xfrm>
            <a:off x="533400" y="1019175"/>
            <a:ext cx="4000500" cy="4305300"/>
          </a:xfrm>
          <a:prstGeom prst="rect">
            <a:avLst/>
          </a:prstGeom>
          <a:solidFill>
            <a:srgbClr val="FFFFFF"/>
          </a:solidFill>
          <a:ln w="12700">
            <a:solidFill>
              <a:srgbClr val="E7E6E6"/>
            </a:solidFill>
            <a:prstDash val="solid"/>
          </a:ln>
        </p:spPr>
        <p:txBody>
          <a:bodyPr/>
          <a:lstStyle/>
          <a:p/>
        </p:txBody>
      </p:sp>
      <p:pic>
        <p:nvPicPr>
          <p:cNvPr id="322" name="图片 260"/>
          <p:cNvPicPr>
            <a:picLocks noChangeAspect="1"/>
          </p:cNvPicPr>
          <p:nvPr/>
        </p:nvPicPr>
        <p:blipFill>
          <a:blip r:embed="rId1"/>
          <a:srcRect t="8263" b="8263"/>
          <a:stretch>
            <a:fillRect/>
          </a:stretch>
        </p:blipFill>
        <p:spPr>
          <a:xfrm>
            <a:off x="590550" y="1076325"/>
            <a:ext cx="3867150" cy="4191000"/>
          </a:xfrm>
          <a:prstGeom prst="rect">
            <a:avLst/>
          </a:prstGeom>
        </p:spPr>
      </p:pic>
      <p:sp>
        <p:nvSpPr>
          <p:cNvPr id="299" name="文本框 261"/>
          <p:cNvSpPr>
            <a:spLocks noGrp="1"/>
          </p:cNvSpPr>
          <p:nvPr/>
        </p:nvSpPr>
        <p:spPr>
          <a:xfrm>
            <a:off x="533400" y="5419725"/>
            <a:ext cx="4000500" cy="704850"/>
          </a:xfrm>
          <a:prstGeom prst="rect">
            <a:avLst/>
          </a:prstGeom>
        </p:spPr>
        <p:txBody>
          <a:bodyPr wrap="square" lIns="0" tIns="0" rIns="0" bIns="0">
            <a:normAutofit/>
          </a:bodyPr>
          <a:lstStyle/>
          <a:p>
            <a:pPr>
              <a:lnSpc>
                <a:spcPct val="145000"/>
              </a:lnSpc>
              <a:buNone/>
            </a:pPr>
            <a:r>
              <a:rPr sz="1050">
                <a:solidFill>
                  <a:srgbClr val="808080"/>
                </a:solidFill>
                <a:latin typeface="微软雅黑"/>
                <a:ea typeface="微软雅黑"/>
                <a:cs typeface="微软雅黑"/>
              </a:rPr>
              <a:t>证据：</a:t>
            </a:r>
            <a:r>
              <a:rPr sz="1050">
                <a:solidFill>
                  <a:srgbClr val="808080"/>
                </a:solidFill>
                <a:latin typeface="微软雅黑"/>
                <a:ea typeface="微软雅黑"/>
                <a:cs typeface="微软雅黑"/>
              </a:rPr>
              <a:t>Peng et al., </a:t>
            </a:r>
            <a:r>
              <a:rPr sz="1050" b="1">
                <a:solidFill>
                  <a:srgbClr val="44546A"/>
                </a:solidFill>
                <a:latin typeface="微软雅黑"/>
                <a:ea typeface="微软雅黑"/>
                <a:cs typeface="微软雅黑"/>
              </a:rPr>
              <a:t>Cell Stem Cell 2025</a:t>
            </a:r>
            <a:r>
              <a:rPr sz="1050">
                <a:solidFill>
                  <a:srgbClr val="808080"/>
                </a:solidFill>
                <a:latin typeface="微软雅黑"/>
                <a:ea typeface="微软雅黑"/>
                <a:cs typeface="微软雅黑"/>
              </a:rPr>
              <a:t>——患者来源脑肿瘤类器官（</a:t>
            </a:r>
            <a:r>
              <a:rPr sz="1050">
                <a:solidFill>
                  <a:srgbClr val="808080"/>
                </a:solidFill>
                <a:latin typeface="微软雅黑"/>
                <a:ea typeface="微软雅黑"/>
                <a:cs typeface="微软雅黑"/>
              </a:rPr>
              <a:t>IPTO</a:t>
            </a:r>
            <a:r>
              <a:rPr sz="1050">
                <a:solidFill>
                  <a:srgbClr val="808080"/>
                </a:solidFill>
                <a:latin typeface="微软雅黑"/>
                <a:ea typeface="微软雅黑"/>
                <a:cs typeface="微软雅黑"/>
              </a:rPr>
              <a:t>）高保真保留肿瘤生态系统，并在前瞻性临床研究中预测患者治疗响应</a:t>
            </a:r>
            <a:endParaRPr sz="1050">
              <a:solidFill>
                <a:srgbClr val="808080"/>
              </a:solidFill>
              <a:latin typeface="微软雅黑"/>
              <a:ea typeface="微软雅黑"/>
              <a:cs typeface="微软雅黑"/>
            </a:endParaRPr>
          </a:p>
        </p:txBody>
      </p:sp>
      <p:sp>
        <p:nvSpPr>
          <p:cNvPr id="300" name="文本框 262"/>
          <p:cNvSpPr>
            <a:spLocks noGrp="1"/>
          </p:cNvSpPr>
          <p:nvPr/>
        </p:nvSpPr>
        <p:spPr>
          <a:xfrm>
            <a:off x="4838700" y="1019175"/>
            <a:ext cx="6819900" cy="1015352"/>
          </a:xfrm>
          <a:prstGeom prst="rect">
            <a:avLst/>
          </a:prstGeom>
        </p:spPr>
        <p:txBody>
          <a:bodyPr wrap="square" lIns="0" tIns="0" rIns="0" bIns="0">
            <a:normAutofit fontScale="77019"/>
          </a:bodyPr>
          <a:lstStyle/>
          <a:p>
            <a:pPr>
              <a:lnSpc>
                <a:spcPct val="150000"/>
              </a:lnSpc>
              <a:buNone/>
            </a:pPr>
            <a:r>
              <a:rPr sz="1575">
                <a:solidFill>
                  <a:srgbClr val="44546A"/>
                </a:solidFill>
                <a:latin typeface="微软雅黑"/>
                <a:ea typeface="微软雅黑"/>
                <a:cs typeface="微软雅黑"/>
              </a:rPr>
              <a:t>即便进入临床，治疗决策仍缺少</a:t>
            </a:r>
            <a:r>
              <a:rPr lang="zh-CN" altLang="en-US" sz="1575">
                <a:solidFill>
                  <a:srgbClr val="44546A"/>
                </a:solidFill>
                <a:latin typeface="微软雅黑"/>
                <a:ea typeface="微软雅黑"/>
                <a:cs typeface="微软雅黑"/>
              </a:rPr>
              <a:t>对应这名患者，对应病程当下节点的</a:t>
            </a:r>
            <a:r>
              <a:rPr sz="1575">
                <a:solidFill>
                  <a:srgbClr val="44546A"/>
                </a:solidFill>
                <a:latin typeface="微软雅黑"/>
                <a:ea typeface="微软雅黑"/>
                <a:cs typeface="微软雅黑"/>
              </a:rPr>
              <a:t>功能证据。</a:t>
            </a:r>
            <a:r>
              <a:rPr lang="zh-CN" altLang="en-US" sz="1575">
                <a:solidFill>
                  <a:srgbClr val="44546A"/>
                </a:solidFill>
                <a:latin typeface="微软雅黑"/>
                <a:ea typeface="微软雅黑"/>
                <a:cs typeface="微软雅黑"/>
              </a:rPr>
              <a:t>常规单次</a:t>
            </a:r>
            <a:r>
              <a:rPr sz="1575">
                <a:solidFill>
                  <a:srgbClr val="44546A"/>
                </a:solidFill>
                <a:latin typeface="微软雅黑"/>
                <a:ea typeface="微软雅黑"/>
                <a:cs typeface="微软雅黑"/>
              </a:rPr>
              <a:t>分子检测</a:t>
            </a:r>
            <a:r>
              <a:rPr lang="zh-CN" altLang="en-US" sz="1575">
                <a:solidFill>
                  <a:srgbClr val="44546A"/>
                </a:solidFill>
                <a:latin typeface="微软雅黑"/>
                <a:ea typeface="微软雅黑"/>
                <a:cs typeface="微软雅黑"/>
              </a:rPr>
              <a:t>只能提供采样时点的</a:t>
            </a:r>
            <a:r>
              <a:rPr sz="1575">
                <a:solidFill>
                  <a:srgbClr val="44546A"/>
                </a:solidFill>
                <a:latin typeface="微软雅黑"/>
                <a:ea typeface="微软雅黑"/>
                <a:cs typeface="微软雅黑"/>
              </a:rPr>
              <a:t>静态</a:t>
            </a:r>
            <a:r>
              <a:rPr lang="zh-CN" altLang="en-US" sz="1575">
                <a:solidFill>
                  <a:srgbClr val="44546A"/>
                </a:solidFill>
                <a:latin typeface="微软雅黑"/>
                <a:ea typeface="微软雅黑"/>
                <a:cs typeface="微软雅黑"/>
              </a:rPr>
              <a:t>信息</a:t>
            </a:r>
            <a:r>
              <a:rPr sz="1575">
                <a:solidFill>
                  <a:srgbClr val="44546A"/>
                </a:solidFill>
                <a:latin typeface="微软雅黑"/>
                <a:ea typeface="微软雅黑"/>
                <a:cs typeface="微软雅黑"/>
              </a:rPr>
              <a:t>，影像与</a:t>
            </a:r>
            <a:r>
              <a:rPr lang="zh-CN" altLang="en-US" sz="1575">
                <a:solidFill>
                  <a:srgbClr val="44546A"/>
                </a:solidFill>
                <a:latin typeface="微软雅黑"/>
                <a:ea typeface="微软雅黑"/>
                <a:cs typeface="微软雅黑"/>
              </a:rPr>
              <a:t>临床</a:t>
            </a:r>
            <a:r>
              <a:rPr sz="1575">
                <a:solidFill>
                  <a:srgbClr val="44546A"/>
                </a:solidFill>
                <a:latin typeface="微软雅黑"/>
                <a:ea typeface="微软雅黑"/>
                <a:cs typeface="微软雅黑"/>
              </a:rPr>
              <a:t>结局反馈滞后，常规类器官药筛很少进入纵向校准。三个缺口指向同一件事：把患者特异性的功能实验</a:t>
            </a:r>
            <a:r>
              <a:rPr lang="zh-CN" altLang="en-US" sz="1575">
                <a:solidFill>
                  <a:srgbClr val="44546A"/>
                </a:solidFill>
                <a:latin typeface="微软雅黑"/>
                <a:ea typeface="微软雅黑"/>
                <a:cs typeface="微软雅黑"/>
              </a:rPr>
              <a:t>转化成</a:t>
            </a:r>
            <a:r>
              <a:rPr sz="1575">
                <a:solidFill>
                  <a:srgbClr val="44546A"/>
                </a:solidFill>
                <a:latin typeface="微软雅黑"/>
                <a:ea typeface="微软雅黑"/>
                <a:cs typeface="微软雅黑"/>
              </a:rPr>
              <a:t>可交付、可</a:t>
            </a:r>
            <a:r>
              <a:rPr lang="zh-CN" altLang="en-US" sz="1575">
                <a:solidFill>
                  <a:srgbClr val="44546A"/>
                </a:solidFill>
                <a:latin typeface="微软雅黑"/>
                <a:ea typeface="微软雅黑"/>
                <a:cs typeface="微软雅黑"/>
              </a:rPr>
              <a:t>量化</a:t>
            </a:r>
            <a:r>
              <a:rPr sz="1575">
                <a:solidFill>
                  <a:srgbClr val="44546A"/>
                </a:solidFill>
                <a:latin typeface="微软雅黑"/>
                <a:ea typeface="微软雅黑"/>
                <a:cs typeface="微软雅黑"/>
              </a:rPr>
              <a:t>评分、可</a:t>
            </a:r>
            <a:r>
              <a:rPr lang="zh-CN" altLang="en-US" sz="1575">
                <a:solidFill>
                  <a:srgbClr val="44546A"/>
                </a:solidFill>
                <a:latin typeface="微软雅黑"/>
                <a:ea typeface="微软雅黑"/>
                <a:cs typeface="微软雅黑"/>
              </a:rPr>
              <a:t>持续</a:t>
            </a:r>
            <a:r>
              <a:rPr sz="1575">
                <a:solidFill>
                  <a:srgbClr val="44546A"/>
                </a:solidFill>
                <a:latin typeface="微软雅黑"/>
                <a:ea typeface="微软雅黑"/>
                <a:cs typeface="微软雅黑"/>
              </a:rPr>
              <a:t>更新的</a:t>
            </a:r>
            <a:r>
              <a:rPr lang="zh-CN" altLang="en-US" sz="1575">
                <a:solidFill>
                  <a:srgbClr val="44546A"/>
                </a:solidFill>
                <a:latin typeface="微软雅黑"/>
                <a:ea typeface="微软雅黑"/>
                <a:cs typeface="微软雅黑"/>
              </a:rPr>
              <a:t>动态</a:t>
            </a:r>
            <a:r>
              <a:rPr sz="1575">
                <a:solidFill>
                  <a:srgbClr val="44546A"/>
                </a:solidFill>
                <a:latin typeface="微软雅黑"/>
                <a:ea typeface="微软雅黑"/>
                <a:cs typeface="微软雅黑"/>
              </a:rPr>
              <a:t>预测</a:t>
            </a:r>
            <a:r>
              <a:rPr lang="zh-CN" altLang="en-US" sz="1575">
                <a:solidFill>
                  <a:srgbClr val="44546A"/>
                </a:solidFill>
                <a:latin typeface="微软雅黑"/>
                <a:ea typeface="微软雅黑"/>
                <a:cs typeface="微软雅黑"/>
              </a:rPr>
              <a:t>体系</a:t>
            </a:r>
            <a:r>
              <a:rPr sz="1575">
                <a:solidFill>
                  <a:srgbClr val="44546A"/>
                </a:solidFill>
                <a:latin typeface="微软雅黑"/>
                <a:ea typeface="微软雅黑"/>
                <a:cs typeface="微软雅黑"/>
              </a:rPr>
              <a:t>。</a:t>
            </a:r>
            <a:endParaRPr sz="1575">
              <a:solidFill>
                <a:srgbClr val="44546A"/>
              </a:solidFill>
              <a:latin typeface="微软雅黑"/>
              <a:ea typeface="微软雅黑"/>
              <a:cs typeface="微软雅黑"/>
            </a:endParaRPr>
          </a:p>
        </p:txBody>
      </p:sp>
      <p:sp>
        <p:nvSpPr>
          <p:cNvPr id="301" name="任意多边形 263"/>
          <p:cNvSpPr>
            <a:spLocks noGrp="1"/>
          </p:cNvSpPr>
          <p:nvPr/>
        </p:nvSpPr>
        <p:spPr>
          <a:xfrm>
            <a:off x="4838733" y="2495371"/>
            <a:ext cx="2171700" cy="2049303"/>
          </a:xfrm>
          <a:custGeom>
            <a:avLst/>
            <a:gdLst/>
            <a:ahLst/>
            <a:cxnLst/>
            <a:pathLst>
              <a:path w="228" h="395">
                <a:moveTo>
                  <a:pt x="0" y="0"/>
                </a:moveTo>
                <a:lnTo>
                  <a:pt x="228" y="0"/>
                </a:lnTo>
                <a:lnTo>
                  <a:pt x="228" y="3"/>
                </a:lnTo>
                <a:lnTo>
                  <a:pt x="0" y="3"/>
                </a:lnTo>
                <a:close/>
              </a:path>
            </a:pathLst>
          </a:custGeom>
          <a:solidFill>
            <a:srgbClr val="061F32"/>
          </a:solidFill>
        </p:spPr>
        <p:txBody>
          <a:bodyPr/>
          <a:lstStyle/>
          <a:p/>
        </p:txBody>
      </p:sp>
      <p:sp>
        <p:nvSpPr>
          <p:cNvPr id="302" name="文本框 264"/>
          <p:cNvSpPr>
            <a:spLocks noGrp="1"/>
          </p:cNvSpPr>
          <p:nvPr/>
        </p:nvSpPr>
        <p:spPr>
          <a:xfrm>
            <a:off x="4838700" y="2604706"/>
            <a:ext cx="2171700" cy="342900"/>
          </a:xfrm>
          <a:prstGeom prst="rect">
            <a:avLst/>
          </a:prstGeom>
        </p:spPr>
        <p:txBody>
          <a:bodyPr wrap="none" lIns="0" tIns="0" rIns="0" bIns="0"/>
          <a:lstStyle/>
          <a:p>
            <a:pPr>
              <a:lnSpc>
                <a:spcPct val="100000"/>
              </a:lnSpc>
              <a:buNone/>
            </a:pPr>
            <a:r>
              <a:rPr sz="2250" b="1">
                <a:solidFill>
                  <a:srgbClr val="99BDED"/>
                </a:solidFill>
                <a:latin typeface="微软雅黑"/>
                <a:ea typeface="微软雅黑"/>
                <a:cs typeface="微软雅黑"/>
              </a:rPr>
              <a:t>1</a:t>
            </a:r>
            <a:endParaRPr sz="2250" b="1">
              <a:solidFill>
                <a:srgbClr val="99BDED"/>
              </a:solidFill>
              <a:latin typeface="微软雅黑"/>
              <a:ea typeface="微软雅黑"/>
              <a:cs typeface="微软雅黑"/>
            </a:endParaRPr>
          </a:p>
        </p:txBody>
      </p:sp>
      <p:sp>
        <p:nvSpPr>
          <p:cNvPr id="303" name="文本框 265"/>
          <p:cNvSpPr>
            <a:spLocks noGrp="1"/>
          </p:cNvSpPr>
          <p:nvPr/>
        </p:nvSpPr>
        <p:spPr>
          <a:xfrm>
            <a:off x="4838700" y="3004756"/>
            <a:ext cx="2171700" cy="247650"/>
          </a:xfrm>
          <a:prstGeom prst="rect">
            <a:avLst/>
          </a:prstGeom>
        </p:spPr>
        <p:txBody>
          <a:bodyPr wrap="none" lIns="0" tIns="0" rIns="0" bIns="0"/>
          <a:lstStyle/>
          <a:p>
            <a:pPr>
              <a:lnSpc>
                <a:spcPct val="100000"/>
              </a:lnSpc>
              <a:buNone/>
            </a:pPr>
            <a:r>
              <a:rPr sz="1575" b="1">
                <a:solidFill>
                  <a:srgbClr val="061F32"/>
                </a:solidFill>
                <a:latin typeface="微软雅黑"/>
                <a:ea typeface="微软雅黑"/>
                <a:cs typeface="微软雅黑"/>
              </a:rPr>
              <a:t>分子图谱不完整</a:t>
            </a:r>
            <a:endParaRPr sz="1575" b="1">
              <a:solidFill>
                <a:srgbClr val="061F32"/>
              </a:solidFill>
              <a:latin typeface="微软雅黑"/>
              <a:ea typeface="微软雅黑"/>
              <a:cs typeface="微软雅黑"/>
            </a:endParaRPr>
          </a:p>
        </p:txBody>
      </p:sp>
      <p:sp>
        <p:nvSpPr>
          <p:cNvPr id="304" name="文本框 266"/>
          <p:cNvSpPr>
            <a:spLocks noGrp="1"/>
          </p:cNvSpPr>
          <p:nvPr/>
        </p:nvSpPr>
        <p:spPr>
          <a:xfrm>
            <a:off x="4838700" y="3328606"/>
            <a:ext cx="2171700" cy="590550"/>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基因组能提示脆弱性，但疗效还取决于细胞状态、生态与治疗史</a:t>
            </a:r>
            <a:endParaRPr sz="1275">
              <a:solidFill>
                <a:srgbClr val="44546A"/>
              </a:solidFill>
              <a:latin typeface="微软雅黑"/>
              <a:ea typeface="微软雅黑"/>
              <a:cs typeface="微软雅黑"/>
            </a:endParaRPr>
          </a:p>
        </p:txBody>
      </p:sp>
      <p:sp>
        <p:nvSpPr>
          <p:cNvPr id="305" name="任意多边形 267"/>
          <p:cNvSpPr>
            <a:spLocks noGrp="1"/>
          </p:cNvSpPr>
          <p:nvPr/>
        </p:nvSpPr>
        <p:spPr>
          <a:xfrm>
            <a:off x="7162800" y="2495371"/>
            <a:ext cx="2171700" cy="1751594"/>
          </a:xfrm>
          <a:custGeom>
            <a:avLst/>
            <a:gdLst/>
            <a:ahLst/>
            <a:cxnLst/>
            <a:pathLst>
              <a:path w="228" h="395">
                <a:moveTo>
                  <a:pt x="0" y="0"/>
                </a:moveTo>
                <a:lnTo>
                  <a:pt x="228" y="0"/>
                </a:lnTo>
                <a:lnTo>
                  <a:pt x="228" y="3"/>
                </a:lnTo>
                <a:lnTo>
                  <a:pt x="0" y="3"/>
                </a:lnTo>
                <a:close/>
              </a:path>
            </a:pathLst>
          </a:custGeom>
          <a:solidFill>
            <a:srgbClr val="061F32"/>
          </a:solidFill>
        </p:spPr>
        <p:txBody>
          <a:bodyPr/>
          <a:lstStyle/>
          <a:p/>
        </p:txBody>
      </p:sp>
      <p:sp>
        <p:nvSpPr>
          <p:cNvPr id="306" name="文本框 268"/>
          <p:cNvSpPr>
            <a:spLocks noGrp="1"/>
          </p:cNvSpPr>
          <p:nvPr/>
        </p:nvSpPr>
        <p:spPr>
          <a:xfrm>
            <a:off x="7162800" y="2604706"/>
            <a:ext cx="2171700" cy="342900"/>
          </a:xfrm>
          <a:prstGeom prst="rect">
            <a:avLst/>
          </a:prstGeom>
        </p:spPr>
        <p:txBody>
          <a:bodyPr wrap="none" lIns="0" tIns="0" rIns="0" bIns="0"/>
          <a:lstStyle/>
          <a:p>
            <a:pPr>
              <a:lnSpc>
                <a:spcPct val="100000"/>
              </a:lnSpc>
              <a:buNone/>
            </a:pPr>
            <a:r>
              <a:rPr sz="2250" b="1">
                <a:solidFill>
                  <a:srgbClr val="99BDED"/>
                </a:solidFill>
                <a:latin typeface="微软雅黑"/>
                <a:ea typeface="微软雅黑"/>
                <a:cs typeface="微软雅黑"/>
              </a:rPr>
              <a:t>2</a:t>
            </a:r>
            <a:endParaRPr sz="2250" b="1">
              <a:solidFill>
                <a:srgbClr val="99BDED"/>
              </a:solidFill>
              <a:latin typeface="微软雅黑"/>
              <a:ea typeface="微软雅黑"/>
              <a:cs typeface="微软雅黑"/>
            </a:endParaRPr>
          </a:p>
        </p:txBody>
      </p:sp>
      <p:sp>
        <p:nvSpPr>
          <p:cNvPr id="307" name="文本框 269"/>
          <p:cNvSpPr>
            <a:spLocks noGrp="1"/>
          </p:cNvSpPr>
          <p:nvPr/>
        </p:nvSpPr>
        <p:spPr>
          <a:xfrm>
            <a:off x="7162800" y="3004756"/>
            <a:ext cx="2171700" cy="247650"/>
          </a:xfrm>
          <a:prstGeom prst="rect">
            <a:avLst/>
          </a:prstGeom>
        </p:spPr>
        <p:txBody>
          <a:bodyPr wrap="none" lIns="0" tIns="0" rIns="0" bIns="0"/>
          <a:lstStyle/>
          <a:p>
            <a:pPr>
              <a:lnSpc>
                <a:spcPct val="100000"/>
              </a:lnSpc>
              <a:buNone/>
            </a:pPr>
            <a:r>
              <a:rPr sz="1575" b="1">
                <a:solidFill>
                  <a:srgbClr val="061F32"/>
                </a:solidFill>
                <a:latin typeface="微软雅黑"/>
                <a:ea typeface="微软雅黑"/>
                <a:cs typeface="微软雅黑"/>
              </a:rPr>
              <a:t>反馈滞后</a:t>
            </a:r>
            <a:endParaRPr sz="1575" b="1">
              <a:solidFill>
                <a:srgbClr val="061F32"/>
              </a:solidFill>
              <a:latin typeface="微软雅黑"/>
              <a:ea typeface="微软雅黑"/>
              <a:cs typeface="微软雅黑"/>
            </a:endParaRPr>
          </a:p>
        </p:txBody>
      </p:sp>
      <p:sp>
        <p:nvSpPr>
          <p:cNvPr id="308" name="文本框 270"/>
          <p:cNvSpPr>
            <a:spLocks noGrp="1"/>
          </p:cNvSpPr>
          <p:nvPr/>
        </p:nvSpPr>
        <p:spPr>
          <a:xfrm>
            <a:off x="7162800" y="3328606"/>
            <a:ext cx="2171700" cy="876300"/>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影像与结局只在治疗失败后说明发生了什么，耐药总是后知后觉</a:t>
            </a:r>
            <a:endParaRPr sz="1275">
              <a:solidFill>
                <a:srgbClr val="44546A"/>
              </a:solidFill>
              <a:latin typeface="微软雅黑"/>
              <a:ea typeface="微软雅黑"/>
              <a:cs typeface="微软雅黑"/>
            </a:endParaRPr>
          </a:p>
        </p:txBody>
      </p:sp>
      <p:sp>
        <p:nvSpPr>
          <p:cNvPr id="309" name="任意多边形 271"/>
          <p:cNvSpPr>
            <a:spLocks noGrp="1"/>
          </p:cNvSpPr>
          <p:nvPr/>
        </p:nvSpPr>
        <p:spPr>
          <a:xfrm>
            <a:off x="9486900" y="2495371"/>
            <a:ext cx="2171700" cy="1877853"/>
          </a:xfrm>
          <a:custGeom>
            <a:avLst/>
            <a:gdLst/>
            <a:ahLst/>
            <a:cxnLst/>
            <a:pathLst>
              <a:path w="228" h="395">
                <a:moveTo>
                  <a:pt x="0" y="0"/>
                </a:moveTo>
                <a:lnTo>
                  <a:pt x="228" y="0"/>
                </a:lnTo>
                <a:lnTo>
                  <a:pt x="228" y="3"/>
                </a:lnTo>
                <a:lnTo>
                  <a:pt x="0" y="3"/>
                </a:lnTo>
                <a:close/>
              </a:path>
            </a:pathLst>
          </a:custGeom>
          <a:solidFill>
            <a:srgbClr val="08A6F6"/>
          </a:solidFill>
        </p:spPr>
        <p:txBody>
          <a:bodyPr/>
          <a:lstStyle/>
          <a:p/>
        </p:txBody>
      </p:sp>
      <p:sp>
        <p:nvSpPr>
          <p:cNvPr id="310" name="文本框 272"/>
          <p:cNvSpPr>
            <a:spLocks noGrp="1"/>
          </p:cNvSpPr>
          <p:nvPr/>
        </p:nvSpPr>
        <p:spPr>
          <a:xfrm>
            <a:off x="9486900" y="2604706"/>
            <a:ext cx="2171700" cy="342900"/>
          </a:xfrm>
          <a:prstGeom prst="rect">
            <a:avLst/>
          </a:prstGeom>
        </p:spPr>
        <p:txBody>
          <a:bodyPr wrap="none" lIns="0" tIns="0" rIns="0" bIns="0"/>
          <a:lstStyle/>
          <a:p>
            <a:pPr>
              <a:lnSpc>
                <a:spcPct val="100000"/>
              </a:lnSpc>
              <a:buNone/>
            </a:pPr>
            <a:r>
              <a:rPr sz="2250" b="1">
                <a:solidFill>
                  <a:srgbClr val="08A6F6"/>
                </a:solidFill>
                <a:latin typeface="微软雅黑"/>
                <a:ea typeface="微软雅黑"/>
                <a:cs typeface="微软雅黑"/>
              </a:rPr>
              <a:t>3</a:t>
            </a:r>
            <a:endParaRPr sz="2250" b="1">
              <a:solidFill>
                <a:srgbClr val="08A6F6"/>
              </a:solidFill>
              <a:latin typeface="微软雅黑"/>
              <a:ea typeface="微软雅黑"/>
              <a:cs typeface="微软雅黑"/>
            </a:endParaRPr>
          </a:p>
        </p:txBody>
      </p:sp>
      <p:sp>
        <p:nvSpPr>
          <p:cNvPr id="311" name="文本框 273"/>
          <p:cNvSpPr>
            <a:spLocks noGrp="1"/>
          </p:cNvSpPr>
          <p:nvPr/>
        </p:nvSpPr>
        <p:spPr>
          <a:xfrm>
            <a:off x="9486900" y="3004756"/>
            <a:ext cx="2171700" cy="247650"/>
          </a:xfrm>
          <a:prstGeom prst="rect">
            <a:avLst/>
          </a:prstGeom>
        </p:spPr>
        <p:txBody>
          <a:bodyPr wrap="none" lIns="0" tIns="0" rIns="0" bIns="0"/>
          <a:lstStyle/>
          <a:p>
            <a:pPr>
              <a:lnSpc>
                <a:spcPct val="100000"/>
              </a:lnSpc>
              <a:buNone/>
            </a:pPr>
            <a:r>
              <a:rPr sz="1575" b="1">
                <a:solidFill>
                  <a:srgbClr val="061F32"/>
                </a:solidFill>
                <a:latin typeface="微软雅黑"/>
                <a:ea typeface="微软雅黑"/>
                <a:cs typeface="微软雅黑"/>
              </a:rPr>
              <a:t>工具割裂</a:t>
            </a:r>
            <a:endParaRPr sz="1575" b="1">
              <a:solidFill>
                <a:srgbClr val="061F32"/>
              </a:solidFill>
              <a:latin typeface="微软雅黑"/>
              <a:ea typeface="微软雅黑"/>
              <a:cs typeface="微软雅黑"/>
            </a:endParaRPr>
          </a:p>
        </p:txBody>
      </p:sp>
      <p:sp>
        <p:nvSpPr>
          <p:cNvPr id="312" name="文本框 274"/>
          <p:cNvSpPr>
            <a:spLocks noGrp="1"/>
          </p:cNvSpPr>
          <p:nvPr/>
        </p:nvSpPr>
        <p:spPr>
          <a:xfrm>
            <a:off x="9486900" y="3328606"/>
            <a:ext cx="2171700" cy="876300"/>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类器官药筛止于「敏感性」，很少转化为纵向校准的患者预测</a:t>
            </a:r>
            <a:endParaRPr sz="1275">
              <a:solidFill>
                <a:srgbClr val="44546A"/>
              </a:solidFill>
              <a:latin typeface="微软雅黑"/>
              <a:ea typeface="微软雅黑"/>
              <a:cs typeface="微软雅黑"/>
            </a:endParaRPr>
          </a:p>
        </p:txBody>
      </p:sp>
      <p:sp>
        <p:nvSpPr>
          <p:cNvPr id="313" name="任意多边形 275"/>
          <p:cNvSpPr>
            <a:spLocks noGrp="1"/>
          </p:cNvSpPr>
          <p:nvPr/>
        </p:nvSpPr>
        <p:spPr>
          <a:xfrm>
            <a:off x="4838733" y="4747971"/>
            <a:ext cx="6858000" cy="944432"/>
          </a:xfrm>
          <a:custGeom>
            <a:avLst/>
            <a:gdLst/>
            <a:ahLst/>
            <a:cxnLst/>
            <a:pathLst>
              <a:path w="720" h="44">
                <a:moveTo>
                  <a:pt x="0" y="0"/>
                </a:moveTo>
                <a:lnTo>
                  <a:pt x="4" y="0"/>
                </a:lnTo>
                <a:lnTo>
                  <a:pt x="4" y="44"/>
                </a:lnTo>
                <a:lnTo>
                  <a:pt x="0" y="44"/>
                </a:lnTo>
                <a:close/>
              </a:path>
            </a:pathLst>
          </a:custGeom>
          <a:solidFill>
            <a:srgbClr val="08A6F6"/>
          </a:solidFill>
        </p:spPr>
        <p:txBody>
          <a:bodyPr/>
          <a:lstStyle/>
          <a:p/>
        </p:txBody>
      </p:sp>
      <p:sp>
        <p:nvSpPr>
          <p:cNvPr id="314" name="文本框 276"/>
          <p:cNvSpPr>
            <a:spLocks noGrp="1"/>
          </p:cNvSpPr>
          <p:nvPr/>
        </p:nvSpPr>
        <p:spPr>
          <a:xfrm>
            <a:off x="4962576" y="4663076"/>
            <a:ext cx="6610350" cy="342900"/>
          </a:xfrm>
          <a:prstGeom prst="rect">
            <a:avLst/>
          </a:prstGeom>
        </p:spPr>
        <p:txBody>
          <a:bodyPr wrap="none" lIns="0" tIns="0" rIns="0" bIns="0"/>
          <a:lstStyle/>
          <a:p>
            <a:pPr>
              <a:lnSpc>
                <a:spcPct val="150000"/>
              </a:lnSpc>
              <a:buNone/>
            </a:pPr>
            <a:r>
              <a:rPr sz="1500" b="1">
                <a:solidFill>
                  <a:srgbClr val="061F32">
                    <a:alpha val="100000"/>
                  </a:srgbClr>
                </a:solidFill>
                <a:latin typeface="微软雅黑"/>
                <a:ea typeface="微软雅黑"/>
                <a:cs typeface="微软雅黑"/>
              </a:rPr>
              <a:t>方向：</a:t>
            </a:r>
            <a:endParaRPr sz="1500" b="1">
              <a:solidFill>
                <a:srgbClr val="061F32">
                  <a:alpha val="100000"/>
                </a:srgbClr>
              </a:solidFill>
              <a:latin typeface="微软雅黑"/>
              <a:ea typeface="微软雅黑"/>
              <a:cs typeface="微软雅黑"/>
            </a:endParaRPr>
          </a:p>
          <a:p>
            <a:pPr>
              <a:lnSpc>
                <a:spcPct val="150000"/>
              </a:lnSpc>
              <a:buNone/>
            </a:pPr>
            <a:r>
              <a:rPr sz="1500" b="1">
                <a:solidFill>
                  <a:srgbClr val="061F32">
                    <a:alpha val="100000"/>
                  </a:srgbClr>
                </a:solidFill>
                <a:latin typeface="微软雅黑"/>
                <a:ea typeface="微软雅黑"/>
                <a:cs typeface="微软雅黑"/>
              </a:rPr>
              <a:t>在</a:t>
            </a:r>
            <a:r>
              <a:rPr lang="zh-CN" altLang="en-US" sz="1500" b="1">
                <a:solidFill>
                  <a:srgbClr val="061F32">
                    <a:alpha val="100000"/>
                  </a:srgbClr>
                </a:solidFill>
                <a:latin typeface="微软雅黑"/>
                <a:ea typeface="微软雅黑"/>
                <a:cs typeface="微软雅黑"/>
              </a:rPr>
              <a:t>临床</a:t>
            </a:r>
            <a:r>
              <a:rPr sz="1500" b="1">
                <a:solidFill>
                  <a:srgbClr val="061F32">
                    <a:alpha val="100000"/>
                  </a:srgbClr>
                </a:solidFill>
                <a:latin typeface="微软雅黑"/>
                <a:ea typeface="微软雅黑"/>
                <a:cs typeface="微软雅黑"/>
              </a:rPr>
              <a:t>决策窗口</a:t>
            </a:r>
            <a:r>
              <a:rPr lang="zh-CN" altLang="en-US" sz="1500" b="1">
                <a:solidFill>
                  <a:srgbClr val="061F32">
                    <a:alpha val="100000"/>
                  </a:srgbClr>
                </a:solidFill>
                <a:latin typeface="微软雅黑"/>
                <a:ea typeface="微软雅黑"/>
                <a:cs typeface="微软雅黑"/>
              </a:rPr>
              <a:t>期输出</a:t>
            </a:r>
            <a:r>
              <a:rPr sz="1500" b="1">
                <a:solidFill>
                  <a:srgbClr val="061F32">
                    <a:alpha val="100000"/>
                  </a:srgbClr>
                </a:solidFill>
                <a:latin typeface="微软雅黑"/>
                <a:ea typeface="微软雅黑"/>
                <a:cs typeface="微软雅黑"/>
              </a:rPr>
              <a:t>患者特异性预测</a:t>
            </a:r>
            <a:r>
              <a:rPr lang="zh-CN" altLang="en-US" sz="1500" b="1">
                <a:solidFill>
                  <a:srgbClr val="061F32">
                    <a:alpha val="100000"/>
                  </a:srgbClr>
                </a:solidFill>
                <a:latin typeface="微软雅黑"/>
                <a:ea typeface="微软雅黑"/>
                <a:cs typeface="微软雅黑"/>
              </a:rPr>
              <a:t>结果</a:t>
            </a:r>
            <a:r>
              <a:rPr sz="1500" b="1">
                <a:solidFill>
                  <a:srgbClr val="061F32">
                    <a:alpha val="100000"/>
                  </a:srgbClr>
                </a:solidFill>
                <a:latin typeface="微软雅黑"/>
                <a:ea typeface="微软雅黑"/>
                <a:cs typeface="微软雅黑"/>
              </a:rPr>
              <a:t>，</a:t>
            </a:r>
            <a:endParaRPr sz="1500" b="1">
              <a:solidFill>
                <a:srgbClr val="061F32">
                  <a:alpha val="100000"/>
                </a:srgbClr>
              </a:solidFill>
              <a:latin typeface="微软雅黑"/>
              <a:ea typeface="微软雅黑"/>
              <a:cs typeface="微软雅黑"/>
            </a:endParaRPr>
          </a:p>
          <a:p>
            <a:pPr>
              <a:lnSpc>
                <a:spcPct val="150000"/>
              </a:lnSpc>
              <a:buNone/>
            </a:pPr>
            <a:r>
              <a:rPr lang="zh-CN" altLang="en-US" sz="1500" b="1">
                <a:solidFill>
                  <a:srgbClr val="061F32">
                    <a:alpha val="100000"/>
                  </a:srgbClr>
                </a:solidFill>
                <a:latin typeface="微软雅黑"/>
                <a:ea typeface="微软雅黑"/>
                <a:cs typeface="微软雅黑"/>
              </a:rPr>
              <a:t>依托</a:t>
            </a:r>
            <a:r>
              <a:rPr sz="1500" b="1">
                <a:solidFill>
                  <a:srgbClr val="061F32">
                    <a:alpha val="100000"/>
                  </a:srgbClr>
                </a:solidFill>
                <a:latin typeface="微软雅黑"/>
                <a:ea typeface="微软雅黑"/>
                <a:cs typeface="微软雅黑"/>
              </a:rPr>
              <a:t>真实</a:t>
            </a:r>
            <a:r>
              <a:rPr lang="zh-CN" altLang="en-US" sz="1500" b="1">
                <a:solidFill>
                  <a:srgbClr val="061F32">
                    <a:alpha val="100000"/>
                  </a:srgbClr>
                </a:solidFill>
                <a:latin typeface="微软雅黑"/>
                <a:ea typeface="微软雅黑"/>
                <a:cs typeface="微软雅黑"/>
              </a:rPr>
              <a:t>临床</a:t>
            </a:r>
            <a:r>
              <a:rPr sz="1500" b="1">
                <a:solidFill>
                  <a:srgbClr val="061F32">
                    <a:alpha val="100000"/>
                  </a:srgbClr>
                </a:solidFill>
                <a:latin typeface="微软雅黑"/>
                <a:ea typeface="微软雅黑"/>
                <a:cs typeface="微软雅黑"/>
              </a:rPr>
              <a:t>结局</a:t>
            </a:r>
            <a:r>
              <a:rPr lang="zh-CN" altLang="en-US" sz="1500" b="1">
                <a:solidFill>
                  <a:srgbClr val="061F32">
                    <a:alpha val="100000"/>
                  </a:srgbClr>
                </a:solidFill>
                <a:latin typeface="微软雅黑"/>
                <a:ea typeface="微软雅黑"/>
                <a:cs typeface="微软雅黑"/>
              </a:rPr>
              <a:t>对模型</a:t>
            </a:r>
            <a:r>
              <a:rPr sz="1500" b="1">
                <a:solidFill>
                  <a:srgbClr val="061F32">
                    <a:alpha val="100000"/>
                  </a:srgbClr>
                </a:solidFill>
                <a:latin typeface="微软雅黑"/>
                <a:ea typeface="微软雅黑"/>
                <a:cs typeface="微软雅黑"/>
              </a:rPr>
              <a:t>持续校准</a:t>
            </a:r>
            <a:r>
              <a:rPr lang="zh-CN" altLang="en-US" sz="1500" b="1">
                <a:solidFill>
                  <a:srgbClr val="061F32">
                    <a:alpha val="100000"/>
                  </a:srgbClr>
                </a:solidFill>
                <a:latin typeface="微软雅黑"/>
                <a:ea typeface="微软雅黑"/>
                <a:cs typeface="微软雅黑"/>
              </a:rPr>
              <a:t>迭代</a:t>
            </a:r>
            <a:r>
              <a:rPr sz="1500" b="1">
                <a:solidFill>
                  <a:srgbClr val="061F32">
                    <a:alpha val="100000"/>
                  </a:srgbClr>
                </a:solidFill>
                <a:latin typeface="微软雅黑"/>
                <a:ea typeface="微软雅黑"/>
                <a:cs typeface="微软雅黑"/>
              </a:rPr>
              <a:t>。
</a:t>
            </a:r>
            <a:endParaRPr sz="1500" b="1">
              <a:solidFill>
                <a:srgbClr val="061F32">
                  <a:alpha val="100000"/>
                </a:srgbClr>
              </a:solidFill>
              <a:latin typeface="微软雅黑"/>
              <a:ea typeface="微软雅黑"/>
              <a:cs typeface="微软雅黑"/>
            </a:endParaRPr>
          </a:p>
          <a:p>
            <a:pPr>
              <a:lnSpc>
                <a:spcPct val="150000"/>
              </a:lnSpc>
              <a:buNone/>
            </a:pPr>
            <a:endParaRPr sz="1500" b="1">
              <a:solidFill>
                <a:srgbClr val="061F32">
                  <a:alpha val="100000"/>
                </a:srgbClr>
              </a:solidFill>
              <a:latin typeface="微软雅黑"/>
              <a:ea typeface="微软雅黑"/>
              <a:cs typeface="微软雅黑"/>
            </a:endParaRPr>
          </a:p>
        </p:txBody>
      </p:sp>
      <p:sp>
        <p:nvSpPr>
          <p:cNvPr id="315" name="文本框 277"/>
          <p:cNvSpPr>
            <a:spLocks noGrp="1"/>
          </p:cNvSpPr>
          <p:nvPr/>
        </p:nvSpPr>
        <p:spPr>
          <a:xfrm>
            <a:off x="533400" y="6381750"/>
            <a:ext cx="4886325"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Source: AIVC </a:t>
            </a:r>
            <a:r>
              <a:rPr sz="1050">
                <a:solidFill>
                  <a:srgbClr val="808080"/>
                </a:solidFill>
                <a:latin typeface="微软雅黑"/>
                <a:ea typeface="微软雅黑"/>
                <a:cs typeface="微软雅黑"/>
              </a:rPr>
              <a:t>商业故事</a:t>
            </a:r>
            <a:r>
              <a:rPr sz="1050">
                <a:solidFill>
                  <a:srgbClr val="808080"/>
                </a:solidFill>
                <a:latin typeface="微软雅黑"/>
                <a:ea typeface="微软雅黑"/>
                <a:cs typeface="微软雅黑"/>
              </a:rPr>
              <a:t> BP §2.2</a:t>
            </a:r>
            <a:r>
              <a:rPr sz="1050">
                <a:solidFill>
                  <a:srgbClr val="808080"/>
                </a:solidFill>
                <a:latin typeface="微软雅黑"/>
                <a:ea typeface="微软雅黑"/>
                <a:cs typeface="微软雅黑"/>
              </a:rPr>
              <a:t>；</a:t>
            </a:r>
            <a:r>
              <a:rPr sz="1050">
                <a:solidFill>
                  <a:srgbClr val="808080"/>
                </a:solidFill>
                <a:latin typeface="微软雅黑"/>
                <a:ea typeface="微软雅黑"/>
                <a:cs typeface="微软雅黑"/>
              </a:rPr>
              <a:t>Peng et al., Cell Stem Cell 32, 652–669 (2025)</a:t>
            </a:r>
            <a:endParaRPr sz="1050">
              <a:solidFill>
                <a:srgbClr val="808080"/>
              </a:solidFill>
              <a:latin typeface="微软雅黑"/>
              <a:ea typeface="微软雅黑"/>
              <a:cs typeface="微软雅黑"/>
            </a:endParaRPr>
          </a:p>
        </p:txBody>
      </p:sp>
      <p:sp>
        <p:nvSpPr>
          <p:cNvPr id="316" name="文本框 278"/>
          <p:cNvSpPr>
            <a:spLocks noGrp="1"/>
          </p:cNvSpPr>
          <p:nvPr/>
        </p:nvSpPr>
        <p:spPr>
          <a:xfrm>
            <a:off x="11201400" y="6381750"/>
            <a:ext cx="4572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05 / 18</a:t>
            </a:r>
            <a:endParaRPr sz="1050">
              <a:solidFill>
                <a:srgbClr val="808080"/>
              </a:solidFill>
              <a:latin typeface="微软雅黑"/>
              <a:ea typeface="微软雅黑"/>
              <a:cs typeface="微软雅黑"/>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8" name="矩形 280"/>
          <p:cNvSpPr>
            <a:spLocks noGrp="1"/>
          </p:cNvSpPr>
          <p:nvPr/>
        </p:nvSpPr>
        <p:spPr>
          <a:xfrm>
            <a:off x="0" y="0"/>
            <a:ext cx="12192000" cy="6858000"/>
          </a:xfrm>
          <a:prstGeom prst="rect">
            <a:avLst/>
          </a:prstGeom>
          <a:solidFill>
            <a:srgbClr val="FFFFFF"/>
          </a:solidFill>
        </p:spPr>
        <p:txBody>
          <a:bodyPr/>
          <a:lstStyle/>
          <a:p/>
        </p:txBody>
      </p:sp>
      <p:sp>
        <p:nvSpPr>
          <p:cNvPr id="319" name="文本框 281"/>
          <p:cNvSpPr>
            <a:spLocks noGrp="1"/>
          </p:cNvSpPr>
          <p:nvPr/>
        </p:nvSpPr>
        <p:spPr>
          <a:xfrm>
            <a:off x="533400" y="419100"/>
            <a:ext cx="11125200" cy="381000"/>
          </a:xfrm>
          <a:prstGeom prst="rect">
            <a:avLst/>
          </a:prstGeom>
        </p:spPr>
        <p:txBody>
          <a:bodyPr wrap="none" lIns="0" tIns="0" rIns="0" bIns="0"/>
          <a:lstStyle/>
          <a:p>
            <a:pPr>
              <a:lnSpc>
                <a:spcPct val="100000"/>
              </a:lnSpc>
              <a:buNone/>
            </a:pPr>
            <a:r>
              <a:rPr sz="2475" b="1">
                <a:solidFill>
                  <a:srgbClr val="061F32"/>
                </a:solidFill>
                <a:latin typeface="微软雅黑"/>
                <a:ea typeface="微软雅黑"/>
                <a:cs typeface="微软雅黑"/>
              </a:rPr>
              <a:t>首个适应症由流程匹配度决定，而</a:t>
            </a:r>
            <a:r>
              <a:rPr lang="zh-CN" altLang="en-US" sz="2475" b="1">
                <a:solidFill>
                  <a:srgbClr val="061F32"/>
                </a:solidFill>
                <a:latin typeface="微软雅黑"/>
                <a:ea typeface="微软雅黑"/>
                <a:cs typeface="微软雅黑"/>
              </a:rPr>
              <a:t>非仅考量</a:t>
            </a:r>
            <a:r>
              <a:rPr sz="2475" b="1">
                <a:solidFill>
                  <a:srgbClr val="061F32"/>
                </a:solidFill>
                <a:latin typeface="微软雅黑"/>
                <a:ea typeface="微软雅黑"/>
                <a:cs typeface="微软雅黑"/>
              </a:rPr>
              <a:t>患病规模</a:t>
            </a:r>
            <a:endParaRPr sz="2475" b="1">
              <a:solidFill>
                <a:srgbClr val="061F32"/>
              </a:solidFill>
              <a:latin typeface="微软雅黑"/>
              <a:ea typeface="微软雅黑"/>
              <a:cs typeface="微软雅黑"/>
            </a:endParaRPr>
          </a:p>
        </p:txBody>
      </p:sp>
      <p:sp>
        <p:nvSpPr>
          <p:cNvPr id="320" name="矩形 282"/>
          <p:cNvSpPr>
            <a:spLocks noGrp="1"/>
          </p:cNvSpPr>
          <p:nvPr/>
        </p:nvSpPr>
        <p:spPr>
          <a:xfrm>
            <a:off x="533400" y="895350"/>
            <a:ext cx="11125200" cy="9525"/>
          </a:xfrm>
          <a:prstGeom prst="rect">
            <a:avLst/>
          </a:prstGeom>
          <a:solidFill>
            <a:srgbClr val="061F32"/>
          </a:solidFill>
        </p:spPr>
        <p:txBody>
          <a:bodyPr/>
          <a:lstStyle/>
          <a:p/>
        </p:txBody>
      </p:sp>
      <p:sp>
        <p:nvSpPr>
          <p:cNvPr id="321" name="文本框 283"/>
          <p:cNvSpPr>
            <a:spLocks noGrp="1"/>
          </p:cNvSpPr>
          <p:nvPr/>
        </p:nvSpPr>
        <p:spPr>
          <a:xfrm>
            <a:off x="533400" y="1019175"/>
            <a:ext cx="6572250" cy="228600"/>
          </a:xfrm>
          <a:prstGeom prst="rect">
            <a:avLst/>
          </a:prstGeom>
        </p:spPr>
        <p:txBody>
          <a:bodyPr wrap="none" lIns="0" tIns="0" rIns="0" bIns="0"/>
          <a:lstStyle/>
          <a:p>
            <a:pPr>
              <a:lnSpc>
                <a:spcPct val="100000"/>
              </a:lnSpc>
              <a:buNone/>
            </a:pPr>
            <a:r>
              <a:rPr sz="1500" b="1">
                <a:solidFill>
                  <a:srgbClr val="061F32"/>
                </a:solidFill>
                <a:latin typeface="微软雅黑"/>
                <a:ea typeface="微软雅黑"/>
                <a:cs typeface="微软雅黑"/>
              </a:rPr>
              <a:t>四条运营标准筛选首个适应症，并把流程跑成可复制标准</a:t>
            </a:r>
            <a:endParaRPr sz="1500" b="1">
              <a:solidFill>
                <a:srgbClr val="061F32"/>
              </a:solidFill>
              <a:latin typeface="微软雅黑"/>
              <a:ea typeface="微软雅黑"/>
              <a:cs typeface="微软雅黑"/>
            </a:endParaRPr>
          </a:p>
        </p:txBody>
      </p:sp>
      <p:sp>
        <p:nvSpPr>
          <p:cNvPr id="322" name="任意多边形 284"/>
          <p:cNvSpPr>
            <a:spLocks noGrp="1"/>
          </p:cNvSpPr>
          <p:nvPr/>
        </p:nvSpPr>
        <p:spPr>
          <a:xfrm>
            <a:off x="533400" y="1381125"/>
            <a:ext cx="3219450" cy="2390775"/>
          </a:xfrm>
          <a:custGeom>
            <a:avLst/>
            <a:gdLst/>
            <a:ahLst/>
            <a:cxnLst/>
            <a:pathLst>
              <a:path w="338" h="251">
                <a:moveTo>
                  <a:pt x="0" y="0"/>
                </a:moveTo>
                <a:lnTo>
                  <a:pt x="338" y="0"/>
                </a:lnTo>
                <a:lnTo>
                  <a:pt x="338" y="3"/>
                </a:lnTo>
                <a:lnTo>
                  <a:pt x="0" y="3"/>
                </a:lnTo>
                <a:close/>
              </a:path>
            </a:pathLst>
          </a:custGeom>
          <a:solidFill>
            <a:srgbClr val="061F32"/>
          </a:solidFill>
        </p:spPr>
        <p:txBody>
          <a:bodyPr/>
          <a:lstStyle/>
          <a:p/>
        </p:txBody>
      </p:sp>
      <p:sp>
        <p:nvSpPr>
          <p:cNvPr id="323" name="文本框 285"/>
          <p:cNvSpPr>
            <a:spLocks noGrp="1"/>
          </p:cNvSpPr>
          <p:nvPr/>
        </p:nvSpPr>
        <p:spPr>
          <a:xfrm>
            <a:off x="723900" y="1581150"/>
            <a:ext cx="2838450" cy="257175"/>
          </a:xfrm>
          <a:prstGeom prst="rect">
            <a:avLst/>
          </a:prstGeom>
        </p:spPr>
        <p:txBody>
          <a:bodyPr wrap="none" lIns="0" tIns="0" rIns="0" bIns="0"/>
          <a:lstStyle/>
          <a:p>
            <a:pPr>
              <a:lnSpc>
                <a:spcPct val="100000"/>
              </a:lnSpc>
              <a:buNone/>
            </a:pPr>
            <a:r>
              <a:rPr sz="1650" b="1">
                <a:solidFill>
                  <a:srgbClr val="061F32"/>
                </a:solidFill>
                <a:latin typeface="微软雅黑"/>
                <a:ea typeface="微软雅黑"/>
                <a:cs typeface="微软雅黑"/>
              </a:rPr>
              <a:t>可获得临床样本</a:t>
            </a:r>
            <a:endParaRPr sz="1650" b="1">
              <a:solidFill>
                <a:srgbClr val="061F32"/>
              </a:solidFill>
              <a:latin typeface="微软雅黑"/>
              <a:ea typeface="微软雅黑"/>
              <a:cs typeface="微软雅黑"/>
            </a:endParaRPr>
          </a:p>
        </p:txBody>
      </p:sp>
      <p:sp>
        <p:nvSpPr>
          <p:cNvPr id="324" name="文本框 286"/>
          <p:cNvSpPr>
            <a:spLocks noGrp="1"/>
          </p:cNvSpPr>
          <p:nvPr/>
        </p:nvSpPr>
        <p:spPr>
          <a:xfrm>
            <a:off x="723900" y="1933575"/>
            <a:ext cx="2838450" cy="876300"/>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连续组织与液体活检，在临床和伦理上均可实施</a:t>
            </a:r>
            <a:endParaRPr sz="1275">
              <a:solidFill>
                <a:srgbClr val="44546A"/>
              </a:solidFill>
              <a:latin typeface="微软雅黑"/>
              <a:ea typeface="微软雅黑"/>
              <a:cs typeface="微软雅黑"/>
            </a:endParaRPr>
          </a:p>
        </p:txBody>
      </p:sp>
      <p:sp>
        <p:nvSpPr>
          <p:cNvPr id="325" name="任意多边形 287"/>
          <p:cNvSpPr>
            <a:spLocks noGrp="1"/>
          </p:cNvSpPr>
          <p:nvPr/>
        </p:nvSpPr>
        <p:spPr>
          <a:xfrm>
            <a:off x="3886200" y="1381125"/>
            <a:ext cx="3219450" cy="2390775"/>
          </a:xfrm>
          <a:custGeom>
            <a:avLst/>
            <a:gdLst/>
            <a:ahLst/>
            <a:cxnLst/>
            <a:pathLst>
              <a:path w="338" h="251">
                <a:moveTo>
                  <a:pt x="0" y="0"/>
                </a:moveTo>
                <a:lnTo>
                  <a:pt x="338" y="0"/>
                </a:lnTo>
                <a:lnTo>
                  <a:pt x="338" y="3"/>
                </a:lnTo>
                <a:lnTo>
                  <a:pt x="0" y="3"/>
                </a:lnTo>
                <a:close/>
              </a:path>
            </a:pathLst>
          </a:custGeom>
          <a:solidFill>
            <a:srgbClr val="061F32"/>
          </a:solidFill>
        </p:spPr>
        <p:txBody>
          <a:bodyPr/>
          <a:lstStyle/>
          <a:p/>
        </p:txBody>
      </p:sp>
      <p:sp>
        <p:nvSpPr>
          <p:cNvPr id="326" name="文本框 288"/>
          <p:cNvSpPr>
            <a:spLocks noGrp="1"/>
          </p:cNvSpPr>
          <p:nvPr/>
        </p:nvSpPr>
        <p:spPr>
          <a:xfrm>
            <a:off x="4076700" y="1581150"/>
            <a:ext cx="2838450" cy="257175"/>
          </a:xfrm>
          <a:prstGeom prst="rect">
            <a:avLst/>
          </a:prstGeom>
        </p:spPr>
        <p:txBody>
          <a:bodyPr wrap="none" lIns="0" tIns="0" rIns="0" bIns="0"/>
          <a:lstStyle/>
          <a:p>
            <a:pPr>
              <a:lnSpc>
                <a:spcPct val="100000"/>
              </a:lnSpc>
              <a:buNone/>
            </a:pPr>
            <a:r>
              <a:rPr sz="1650" b="1">
                <a:solidFill>
                  <a:srgbClr val="061F32"/>
                </a:solidFill>
                <a:latin typeface="微软雅黑"/>
                <a:ea typeface="微软雅黑"/>
                <a:cs typeface="微软雅黑"/>
              </a:rPr>
              <a:t>类器官体系可靠</a:t>
            </a:r>
            <a:endParaRPr sz="1650" b="1">
              <a:solidFill>
                <a:srgbClr val="061F32"/>
              </a:solidFill>
              <a:latin typeface="微软雅黑"/>
              <a:ea typeface="微软雅黑"/>
              <a:cs typeface="微软雅黑"/>
            </a:endParaRPr>
          </a:p>
        </p:txBody>
      </p:sp>
      <p:sp>
        <p:nvSpPr>
          <p:cNvPr id="327" name="文本框 289"/>
          <p:cNvSpPr>
            <a:spLocks noGrp="1"/>
          </p:cNvSpPr>
          <p:nvPr/>
        </p:nvSpPr>
        <p:spPr>
          <a:xfrm>
            <a:off x="4076700" y="1933575"/>
            <a:ext cx="2838450" cy="876300"/>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建库成功率、周期与检测重复性达到运营阈值</a:t>
            </a:r>
            <a:endParaRPr sz="1275">
              <a:solidFill>
                <a:srgbClr val="44546A"/>
              </a:solidFill>
              <a:latin typeface="微软雅黑"/>
              <a:ea typeface="微软雅黑"/>
              <a:cs typeface="微软雅黑"/>
            </a:endParaRPr>
          </a:p>
        </p:txBody>
      </p:sp>
      <p:sp>
        <p:nvSpPr>
          <p:cNvPr id="328" name="任意多边形 290"/>
          <p:cNvSpPr>
            <a:spLocks noGrp="1"/>
          </p:cNvSpPr>
          <p:nvPr/>
        </p:nvSpPr>
        <p:spPr>
          <a:xfrm>
            <a:off x="533400" y="3876675"/>
            <a:ext cx="3219450" cy="2390775"/>
          </a:xfrm>
          <a:custGeom>
            <a:avLst/>
            <a:gdLst/>
            <a:ahLst/>
            <a:cxnLst/>
            <a:pathLst>
              <a:path w="338" h="251">
                <a:moveTo>
                  <a:pt x="0" y="0"/>
                </a:moveTo>
                <a:lnTo>
                  <a:pt x="338" y="0"/>
                </a:lnTo>
                <a:lnTo>
                  <a:pt x="338" y="3"/>
                </a:lnTo>
                <a:lnTo>
                  <a:pt x="0" y="3"/>
                </a:lnTo>
                <a:close/>
              </a:path>
            </a:pathLst>
          </a:custGeom>
          <a:solidFill>
            <a:srgbClr val="061F32"/>
          </a:solidFill>
        </p:spPr>
        <p:txBody>
          <a:bodyPr/>
          <a:lstStyle/>
          <a:p/>
        </p:txBody>
      </p:sp>
      <p:sp>
        <p:nvSpPr>
          <p:cNvPr id="329" name="文本框 291"/>
          <p:cNvSpPr>
            <a:spLocks noGrp="1"/>
          </p:cNvSpPr>
          <p:nvPr/>
        </p:nvSpPr>
        <p:spPr>
          <a:xfrm>
            <a:off x="723900" y="4076700"/>
            <a:ext cx="2838450" cy="257175"/>
          </a:xfrm>
          <a:prstGeom prst="rect">
            <a:avLst/>
          </a:prstGeom>
        </p:spPr>
        <p:txBody>
          <a:bodyPr wrap="none" lIns="0" tIns="0" rIns="0" bIns="0"/>
          <a:lstStyle/>
          <a:p>
            <a:pPr>
              <a:lnSpc>
                <a:spcPct val="100000"/>
              </a:lnSpc>
              <a:buNone/>
            </a:pPr>
            <a:r>
              <a:rPr sz="1650" b="1">
                <a:solidFill>
                  <a:srgbClr val="061F32"/>
                </a:solidFill>
                <a:latin typeface="微软雅黑"/>
                <a:ea typeface="微软雅黑"/>
                <a:cs typeface="微软雅黑"/>
              </a:rPr>
              <a:t>决策窗口适配</a:t>
            </a:r>
            <a:endParaRPr sz="1650" b="1">
              <a:solidFill>
                <a:srgbClr val="061F32"/>
              </a:solidFill>
              <a:latin typeface="微软雅黑"/>
              <a:ea typeface="微软雅黑"/>
              <a:cs typeface="微软雅黑"/>
            </a:endParaRPr>
          </a:p>
        </p:txBody>
      </p:sp>
      <p:sp>
        <p:nvSpPr>
          <p:cNvPr id="330" name="文本框 292"/>
          <p:cNvSpPr>
            <a:spLocks noGrp="1"/>
          </p:cNvSpPr>
          <p:nvPr/>
        </p:nvSpPr>
        <p:spPr>
          <a:xfrm>
            <a:off x="723900" y="4429125"/>
            <a:ext cx="2838450" cy="876300"/>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结果可在治疗</a:t>
            </a:r>
            <a:r>
              <a:rPr lang="zh-CN" altLang="en-US" sz="1275">
                <a:solidFill>
                  <a:srgbClr val="44546A"/>
                </a:solidFill>
                <a:latin typeface="微软雅黑"/>
                <a:ea typeface="微软雅黑"/>
                <a:cs typeface="微软雅黑"/>
              </a:rPr>
              <a:t>方案</a:t>
            </a:r>
            <a:r>
              <a:rPr sz="1275">
                <a:solidFill>
                  <a:srgbClr val="44546A"/>
                </a:solidFill>
                <a:latin typeface="微软雅黑"/>
                <a:ea typeface="微软雅黑"/>
                <a:cs typeface="微软雅黑"/>
              </a:rPr>
              <a:t>选择或预设换药节点之前交付</a:t>
            </a:r>
            <a:endParaRPr sz="1275">
              <a:solidFill>
                <a:srgbClr val="44546A"/>
              </a:solidFill>
              <a:latin typeface="微软雅黑"/>
              <a:ea typeface="微软雅黑"/>
              <a:cs typeface="微软雅黑"/>
            </a:endParaRPr>
          </a:p>
        </p:txBody>
      </p:sp>
      <p:sp>
        <p:nvSpPr>
          <p:cNvPr id="331" name="任意多边形 293"/>
          <p:cNvSpPr>
            <a:spLocks noGrp="1"/>
          </p:cNvSpPr>
          <p:nvPr/>
        </p:nvSpPr>
        <p:spPr>
          <a:xfrm>
            <a:off x="3886200" y="3876675"/>
            <a:ext cx="3219450" cy="2390775"/>
          </a:xfrm>
          <a:custGeom>
            <a:avLst/>
            <a:gdLst/>
            <a:ahLst/>
            <a:cxnLst/>
            <a:pathLst>
              <a:path w="338" h="251">
                <a:moveTo>
                  <a:pt x="0" y="0"/>
                </a:moveTo>
                <a:lnTo>
                  <a:pt x="338" y="0"/>
                </a:lnTo>
                <a:lnTo>
                  <a:pt x="338" y="3"/>
                </a:lnTo>
                <a:lnTo>
                  <a:pt x="0" y="3"/>
                </a:lnTo>
                <a:close/>
              </a:path>
            </a:pathLst>
          </a:custGeom>
          <a:solidFill>
            <a:srgbClr val="061F32"/>
          </a:solidFill>
        </p:spPr>
        <p:txBody>
          <a:bodyPr/>
          <a:lstStyle/>
          <a:p/>
        </p:txBody>
      </p:sp>
      <p:sp>
        <p:nvSpPr>
          <p:cNvPr id="332" name="文本框 294"/>
          <p:cNvSpPr>
            <a:spLocks noGrp="1"/>
          </p:cNvSpPr>
          <p:nvPr/>
        </p:nvSpPr>
        <p:spPr>
          <a:xfrm>
            <a:off x="4076700" y="4076700"/>
            <a:ext cx="2838450" cy="257175"/>
          </a:xfrm>
          <a:prstGeom prst="rect">
            <a:avLst/>
          </a:prstGeom>
        </p:spPr>
        <p:txBody>
          <a:bodyPr wrap="none" lIns="0" tIns="0" rIns="0" bIns="0"/>
          <a:lstStyle/>
          <a:p>
            <a:pPr>
              <a:lnSpc>
                <a:spcPct val="100000"/>
              </a:lnSpc>
              <a:buNone/>
            </a:pPr>
            <a:r>
              <a:rPr sz="1650" b="1">
                <a:solidFill>
                  <a:srgbClr val="061F32"/>
                </a:solidFill>
                <a:latin typeface="微软雅黑"/>
                <a:ea typeface="微软雅黑"/>
                <a:cs typeface="微软雅黑"/>
              </a:rPr>
              <a:t>结局可评分</a:t>
            </a:r>
            <a:endParaRPr sz="1650" b="1">
              <a:solidFill>
                <a:srgbClr val="061F32"/>
              </a:solidFill>
              <a:latin typeface="微软雅黑"/>
              <a:ea typeface="微软雅黑"/>
              <a:cs typeface="微软雅黑"/>
            </a:endParaRPr>
          </a:p>
        </p:txBody>
      </p:sp>
      <p:sp>
        <p:nvSpPr>
          <p:cNvPr id="333" name="文本框 295"/>
          <p:cNvSpPr>
            <a:spLocks noGrp="1"/>
          </p:cNvSpPr>
          <p:nvPr/>
        </p:nvSpPr>
        <p:spPr>
          <a:xfrm>
            <a:off x="4076700" y="4429125"/>
            <a:ext cx="2838450" cy="765930"/>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治疗与随访能形成</a:t>
            </a:r>
            <a:r>
              <a:rPr lang="zh-CN" altLang="en-US" sz="1275">
                <a:solidFill>
                  <a:srgbClr val="44546A"/>
                </a:solidFill>
                <a:latin typeface="微软雅黑"/>
                <a:ea typeface="微软雅黑"/>
                <a:cs typeface="微软雅黑"/>
              </a:rPr>
              <a:t>清晰可量化的终点指标，用于评估</a:t>
            </a:r>
            <a:r>
              <a:rPr sz="1275">
                <a:solidFill>
                  <a:srgbClr val="44546A"/>
                </a:solidFill>
                <a:latin typeface="微软雅黑"/>
                <a:ea typeface="微软雅黑"/>
                <a:cs typeface="微软雅黑"/>
              </a:rPr>
              <a:t>响应、耐药与</a:t>
            </a:r>
            <a:r>
              <a:rPr lang="zh-CN" altLang="en-US" sz="1275">
                <a:solidFill>
                  <a:srgbClr val="44546A"/>
                </a:solidFill>
                <a:latin typeface="微软雅黑"/>
                <a:ea typeface="微软雅黑"/>
                <a:cs typeface="微软雅黑"/>
              </a:rPr>
              <a:t>疾病</a:t>
            </a:r>
            <a:r>
              <a:rPr sz="1275">
                <a:solidFill>
                  <a:srgbClr val="44546A"/>
                </a:solidFill>
                <a:latin typeface="微软雅黑"/>
                <a:ea typeface="微软雅黑"/>
                <a:cs typeface="微软雅黑"/>
              </a:rPr>
              <a:t>进展</a:t>
            </a:r>
            <a:endParaRPr sz="1275">
              <a:solidFill>
                <a:srgbClr val="44546A"/>
              </a:solidFill>
              <a:latin typeface="微软雅黑"/>
              <a:ea typeface="微软雅黑"/>
              <a:cs typeface="微软雅黑"/>
            </a:endParaRPr>
          </a:p>
        </p:txBody>
      </p:sp>
      <p:sp>
        <p:nvSpPr>
          <p:cNvPr id="334" name="矩形 296"/>
          <p:cNvSpPr>
            <a:spLocks noGrp="1"/>
          </p:cNvSpPr>
          <p:nvPr/>
        </p:nvSpPr>
        <p:spPr>
          <a:xfrm>
            <a:off x="7372350" y="1019175"/>
            <a:ext cx="4286250" cy="5219700"/>
          </a:xfrm>
          <a:prstGeom prst="rect">
            <a:avLst/>
          </a:prstGeom>
          <a:solidFill>
            <a:srgbClr val="061F32"/>
          </a:solidFill>
        </p:spPr>
        <p:txBody>
          <a:bodyPr/>
          <a:lstStyle/>
          <a:p/>
        </p:txBody>
      </p:sp>
      <p:sp>
        <p:nvSpPr>
          <p:cNvPr id="335" name="文本框 297"/>
          <p:cNvSpPr>
            <a:spLocks noGrp="1"/>
          </p:cNvSpPr>
          <p:nvPr/>
        </p:nvSpPr>
        <p:spPr>
          <a:xfrm>
            <a:off x="7639050" y="1266825"/>
            <a:ext cx="3752850" cy="257175"/>
          </a:xfrm>
          <a:prstGeom prst="rect">
            <a:avLst/>
          </a:prstGeom>
        </p:spPr>
        <p:txBody>
          <a:bodyPr wrap="none" lIns="0" tIns="0" rIns="0" bIns="0"/>
          <a:lstStyle/>
          <a:p>
            <a:pPr>
              <a:lnSpc>
                <a:spcPct val="100000"/>
              </a:lnSpc>
              <a:buNone/>
            </a:pPr>
            <a:r>
              <a:rPr sz="1650" b="1">
                <a:solidFill>
                  <a:srgbClr val="FFFFFF"/>
                </a:solidFill>
                <a:latin typeface="微软雅黑"/>
                <a:ea typeface="微软雅黑"/>
                <a:cs typeface="微软雅黑"/>
              </a:rPr>
              <a:t>优先候选：复发性脑肿瘤具备高匹配度</a:t>
            </a:r>
            <a:endParaRPr sz="1650" b="1">
              <a:solidFill>
                <a:srgbClr val="FFFFFF"/>
              </a:solidFill>
              <a:latin typeface="微软雅黑"/>
              <a:ea typeface="微软雅黑"/>
              <a:cs typeface="微软雅黑"/>
            </a:endParaRPr>
          </a:p>
        </p:txBody>
      </p:sp>
      <p:sp>
        <p:nvSpPr>
          <p:cNvPr id="336" name="文本框 298"/>
          <p:cNvSpPr>
            <a:spLocks noGrp="1"/>
          </p:cNvSpPr>
          <p:nvPr/>
        </p:nvSpPr>
        <p:spPr>
          <a:xfrm>
            <a:off x="7639050" y="1676400"/>
            <a:ext cx="3752850" cy="285750"/>
          </a:xfrm>
          <a:prstGeom prst="rect">
            <a:avLst/>
          </a:prstGeom>
        </p:spPr>
        <p:txBody>
          <a:bodyPr wrap="none" lIns="0" tIns="0" rIns="0" bIns="0"/>
          <a:lstStyle/>
          <a:p>
            <a:pPr>
              <a:lnSpc>
                <a:spcPct val="145000"/>
              </a:lnSpc>
              <a:buNone/>
            </a:pPr>
            <a:r>
              <a:rPr sz="1275">
                <a:solidFill>
                  <a:srgbClr val="99BDED"/>
                </a:solidFill>
                <a:latin typeface="微软雅黑"/>
                <a:ea typeface="微软雅黑"/>
                <a:cs typeface="微软雅黑"/>
              </a:rPr>
              <a:t>样本：术后组织与脑脊液液体活检具备连续获取条件</a:t>
            </a:r>
            <a:endParaRPr sz="1275">
              <a:solidFill>
                <a:srgbClr val="99BDED"/>
              </a:solidFill>
              <a:latin typeface="微软雅黑"/>
              <a:ea typeface="微软雅黑"/>
              <a:cs typeface="微软雅黑"/>
            </a:endParaRPr>
          </a:p>
        </p:txBody>
      </p:sp>
      <p:sp>
        <p:nvSpPr>
          <p:cNvPr id="337" name="文本框 299"/>
          <p:cNvSpPr>
            <a:spLocks noGrp="1"/>
          </p:cNvSpPr>
          <p:nvPr/>
        </p:nvSpPr>
        <p:spPr>
          <a:xfrm>
            <a:off x="7639050" y="2057400"/>
            <a:ext cx="3752850" cy="285750"/>
          </a:xfrm>
          <a:prstGeom prst="rect">
            <a:avLst/>
          </a:prstGeom>
        </p:spPr>
        <p:txBody>
          <a:bodyPr wrap="none" lIns="0" tIns="0" rIns="0" bIns="0"/>
          <a:lstStyle/>
          <a:p>
            <a:pPr>
              <a:lnSpc>
                <a:spcPct val="145000"/>
              </a:lnSpc>
              <a:buNone/>
            </a:pPr>
            <a:r>
              <a:rPr sz="1275">
                <a:solidFill>
                  <a:srgbClr val="99BDED"/>
                </a:solidFill>
                <a:latin typeface="微软雅黑"/>
                <a:ea typeface="微软雅黑"/>
                <a:cs typeface="微软雅黑"/>
              </a:rPr>
              <a:t>类器官：IPTO 体系已有前瞻研究基础</a:t>
            </a:r>
            <a:endParaRPr sz="1275">
              <a:solidFill>
                <a:srgbClr val="99BDED"/>
              </a:solidFill>
              <a:latin typeface="微软雅黑"/>
              <a:ea typeface="微软雅黑"/>
              <a:cs typeface="微软雅黑"/>
            </a:endParaRPr>
          </a:p>
        </p:txBody>
      </p:sp>
      <p:sp>
        <p:nvSpPr>
          <p:cNvPr id="338" name="文本框 300"/>
          <p:cNvSpPr>
            <a:spLocks noGrp="1"/>
          </p:cNvSpPr>
          <p:nvPr/>
        </p:nvSpPr>
        <p:spPr>
          <a:xfrm>
            <a:off x="7639050" y="2438400"/>
            <a:ext cx="3752850" cy="285750"/>
          </a:xfrm>
          <a:prstGeom prst="rect">
            <a:avLst/>
          </a:prstGeom>
        </p:spPr>
        <p:txBody>
          <a:bodyPr wrap="none" lIns="0" tIns="0" rIns="0" bIns="0"/>
          <a:lstStyle/>
          <a:p>
            <a:pPr>
              <a:lnSpc>
                <a:spcPct val="145000"/>
              </a:lnSpc>
              <a:buNone/>
            </a:pPr>
            <a:r>
              <a:rPr sz="1275">
                <a:solidFill>
                  <a:srgbClr val="99BDED"/>
                </a:solidFill>
                <a:latin typeface="微软雅黑"/>
                <a:ea typeface="微软雅黑"/>
                <a:cs typeface="微软雅黑"/>
              </a:rPr>
              <a:t>窗口与结局：换药节点明确，PFS / OS 可作为评分终点</a:t>
            </a:r>
            <a:endParaRPr sz="1275">
              <a:solidFill>
                <a:srgbClr val="99BDED"/>
              </a:solidFill>
              <a:latin typeface="微软雅黑"/>
              <a:ea typeface="微软雅黑"/>
              <a:cs typeface="微软雅黑"/>
            </a:endParaRPr>
          </a:p>
        </p:txBody>
      </p:sp>
      <p:sp>
        <p:nvSpPr>
          <p:cNvPr id="339" name="矩形 301"/>
          <p:cNvSpPr>
            <a:spLocks noGrp="1"/>
          </p:cNvSpPr>
          <p:nvPr/>
        </p:nvSpPr>
        <p:spPr>
          <a:xfrm>
            <a:off x="7639050" y="2914650"/>
            <a:ext cx="3752850" cy="9525"/>
          </a:xfrm>
          <a:prstGeom prst="rect">
            <a:avLst/>
          </a:prstGeom>
          <a:solidFill>
            <a:srgbClr val="44546A"/>
          </a:solidFill>
        </p:spPr>
        <p:txBody>
          <a:bodyPr/>
          <a:lstStyle/>
          <a:p/>
        </p:txBody>
      </p:sp>
      <p:sp>
        <p:nvSpPr>
          <p:cNvPr id="340" name="文本框 302"/>
          <p:cNvSpPr>
            <a:spLocks noGrp="1"/>
          </p:cNvSpPr>
          <p:nvPr/>
        </p:nvSpPr>
        <p:spPr>
          <a:xfrm>
            <a:off x="7639050" y="3114675"/>
            <a:ext cx="2940562" cy="149059"/>
          </a:xfrm>
          <a:prstGeom prst="rect">
            <a:avLst/>
          </a:prstGeom>
        </p:spPr>
        <p:txBody>
          <a:bodyPr wrap="none" lIns="0" tIns="0" rIns="0" bIns="0"/>
          <a:lstStyle/>
          <a:p>
            <a:pPr>
              <a:lnSpc>
                <a:spcPct val="100000"/>
              </a:lnSpc>
              <a:buNone/>
            </a:pPr>
            <a:r>
              <a:rPr sz="1500" b="1">
                <a:solidFill>
                  <a:srgbClr val="08A6F6"/>
                </a:solidFill>
                <a:latin typeface="微软雅黑"/>
                <a:ea typeface="微软雅黑"/>
                <a:cs typeface="微软雅黑"/>
              </a:rPr>
              <a:t>外部证据支持先做验证</a:t>
            </a:r>
            <a:endParaRPr sz="1500" b="1">
              <a:solidFill>
                <a:srgbClr val="08A6F6"/>
              </a:solidFill>
              <a:latin typeface="微软雅黑"/>
              <a:ea typeface="微软雅黑"/>
              <a:cs typeface="微软雅黑"/>
            </a:endParaRPr>
          </a:p>
        </p:txBody>
      </p:sp>
      <p:sp>
        <p:nvSpPr>
          <p:cNvPr id="341" name="文本框 303"/>
          <p:cNvSpPr>
            <a:spLocks noGrp="1"/>
          </p:cNvSpPr>
          <p:nvPr/>
        </p:nvSpPr>
        <p:spPr>
          <a:xfrm>
            <a:off x="7639050" y="3457575"/>
            <a:ext cx="3752850" cy="609600"/>
          </a:xfrm>
          <a:prstGeom prst="rect">
            <a:avLst/>
          </a:prstGeom>
        </p:spPr>
        <p:txBody>
          <a:bodyPr wrap="square" lIns="0" tIns="0" rIns="0" bIns="0">
            <a:normAutofit fontScale="67468"/>
          </a:bodyPr>
          <a:lstStyle/>
          <a:p>
            <a:pPr>
              <a:lnSpc>
                <a:spcPct val="155000"/>
              </a:lnSpc>
              <a:buNone/>
            </a:pPr>
            <a:r>
              <a:rPr sz="1275">
                <a:solidFill>
                  <a:srgbClr val="FFFFFF"/>
                </a:solidFill>
                <a:latin typeface="微软雅黑"/>
                <a:ea typeface="微软雅黑"/>
                <a:cs typeface="微软雅黑"/>
              </a:rPr>
              <a:t>Peng et al., Cell Stem Cell 2025 显示：IPTO 可保留肿瘤生态系统，并在前瞻性研究中预测患者治疗响应（PFS / OS，p=0.034 / 0.033）。</a:t>
            </a:r>
            <a:endParaRPr sz="1275">
              <a:solidFill>
                <a:srgbClr val="FFFFFF"/>
              </a:solidFill>
              <a:latin typeface="微软雅黑"/>
              <a:ea typeface="微软雅黑"/>
              <a:cs typeface="微软雅黑"/>
            </a:endParaRPr>
          </a:p>
        </p:txBody>
      </p:sp>
      <p:sp>
        <p:nvSpPr>
          <p:cNvPr id="342" name="文本框 304"/>
          <p:cNvSpPr>
            <a:spLocks noGrp="1"/>
          </p:cNvSpPr>
          <p:nvPr/>
        </p:nvSpPr>
        <p:spPr>
          <a:xfrm>
            <a:off x="7639035" y="4534206"/>
            <a:ext cx="3752850" cy="304800"/>
          </a:xfrm>
          <a:prstGeom prst="rect">
            <a:avLst/>
          </a:prstGeom>
        </p:spPr>
        <p:txBody>
          <a:bodyPr wrap="none" lIns="0" tIns="0" rIns="0" bIns="0"/>
          <a:lstStyle/>
          <a:p>
            <a:pPr>
              <a:lnSpc>
                <a:spcPct val="155000"/>
              </a:lnSpc>
              <a:buNone/>
            </a:pPr>
            <a:r>
              <a:rPr sz="1275" b="1">
                <a:solidFill>
                  <a:srgbClr val="FFFFFF"/>
                </a:solidFill>
                <a:latin typeface="微软雅黑"/>
                <a:ea typeface="微软雅黑"/>
                <a:cs typeface="微软雅黑"/>
              </a:rPr>
              <a:t>先完成可行性筛选，</a:t>
            </a:r>
            <a:endParaRPr sz="1275" b="1">
              <a:solidFill>
                <a:srgbClr val="FFFFFF"/>
              </a:solidFill>
              <a:latin typeface="微软雅黑"/>
              <a:ea typeface="微软雅黑"/>
              <a:cs typeface="微软雅黑"/>
            </a:endParaRPr>
          </a:p>
          <a:p>
            <a:pPr>
              <a:lnSpc>
                <a:spcPct val="155000"/>
              </a:lnSpc>
              <a:buNone/>
            </a:pPr>
            <a:r>
              <a:rPr sz="1275" b="1">
                <a:solidFill>
                  <a:srgbClr val="FFFFFF"/>
                </a:solidFill>
                <a:latin typeface="微软雅黑"/>
                <a:ea typeface="微软雅黑"/>
                <a:cs typeface="微软雅黑"/>
              </a:rPr>
              <a:t>再在匹配度最高的场景建立标准流程</a:t>
            </a:r>
            <a:r>
              <a:rPr lang="zh-CN" altLang="en-US" sz="1275" b="1">
                <a:solidFill>
                  <a:srgbClr val="FFFFFF"/>
                </a:solidFill>
                <a:latin typeface="微软雅黑"/>
                <a:ea typeface="微软雅黑"/>
                <a:cs typeface="微软雅黑"/>
              </a:rPr>
              <a:t>，后续向外拓展</a:t>
            </a:r>
            <a:r>
              <a:rPr sz="1275" b="1">
                <a:solidFill>
                  <a:srgbClr val="FFFFFF"/>
                </a:solidFill>
                <a:latin typeface="微软雅黑"/>
                <a:ea typeface="微软雅黑"/>
                <a:cs typeface="微软雅黑"/>
              </a:rPr>
              <a:t>。</a:t>
            </a:r>
            <a:endParaRPr sz="1275" b="1">
              <a:solidFill>
                <a:srgbClr val="FFFFFF"/>
              </a:solidFill>
              <a:latin typeface="微软雅黑"/>
              <a:ea typeface="微软雅黑"/>
              <a:cs typeface="微软雅黑"/>
            </a:endParaRPr>
          </a:p>
        </p:txBody>
      </p:sp>
      <p:sp>
        <p:nvSpPr>
          <p:cNvPr id="343" name="文本框 305"/>
          <p:cNvSpPr>
            <a:spLocks noGrp="1"/>
          </p:cNvSpPr>
          <p:nvPr/>
        </p:nvSpPr>
        <p:spPr>
          <a:xfrm>
            <a:off x="533400" y="6381750"/>
            <a:ext cx="1781175"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Source: AIVC 商业故事 BP §2.2；Peng et al., Cell Stem Cell 32, 652–669 (2025)</a:t>
            </a:r>
            <a:endParaRPr sz="1050">
              <a:solidFill>
                <a:srgbClr val="808080"/>
              </a:solidFill>
              <a:latin typeface="微软雅黑"/>
              <a:ea typeface="微软雅黑"/>
              <a:cs typeface="微软雅黑"/>
            </a:endParaRPr>
          </a:p>
        </p:txBody>
      </p:sp>
      <p:sp>
        <p:nvSpPr>
          <p:cNvPr id="344" name="文本框 306"/>
          <p:cNvSpPr>
            <a:spLocks noGrp="1"/>
          </p:cNvSpPr>
          <p:nvPr/>
        </p:nvSpPr>
        <p:spPr>
          <a:xfrm>
            <a:off x="11201400" y="6381750"/>
            <a:ext cx="4572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06 / 18</a:t>
            </a:r>
            <a:endParaRPr sz="1050">
              <a:solidFill>
                <a:srgbClr val="808080"/>
              </a:solidFill>
              <a:latin typeface="微软雅黑"/>
              <a:ea typeface="微软雅黑"/>
              <a:cs typeface="微软雅黑"/>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6" name="矩形 280"/>
          <p:cNvSpPr>
            <a:spLocks noGrp="1"/>
          </p:cNvSpPr>
          <p:nvPr/>
        </p:nvSpPr>
        <p:spPr>
          <a:xfrm>
            <a:off x="0" y="0"/>
            <a:ext cx="12192000" cy="6858000"/>
          </a:xfrm>
          <a:prstGeom prst="rect">
            <a:avLst/>
          </a:prstGeom>
          <a:solidFill>
            <a:srgbClr val="FFFFFF"/>
          </a:solidFill>
        </p:spPr>
        <p:txBody>
          <a:bodyPr/>
          <a:lstStyle/>
          <a:p/>
        </p:txBody>
      </p:sp>
      <p:sp>
        <p:nvSpPr>
          <p:cNvPr id="347" name="文本框 281"/>
          <p:cNvSpPr>
            <a:spLocks noGrp="1"/>
          </p:cNvSpPr>
          <p:nvPr/>
        </p:nvSpPr>
        <p:spPr>
          <a:xfrm>
            <a:off x="533400" y="419100"/>
            <a:ext cx="11125200" cy="381000"/>
          </a:xfrm>
          <a:prstGeom prst="rect">
            <a:avLst/>
          </a:prstGeom>
        </p:spPr>
        <p:txBody>
          <a:bodyPr wrap="none" lIns="0" tIns="0" rIns="0" bIns="0"/>
          <a:lstStyle/>
          <a:p>
            <a:pPr>
              <a:lnSpc>
                <a:spcPct val="100000"/>
              </a:lnSpc>
              <a:buNone/>
            </a:pPr>
            <a:r>
              <a:rPr sz="2475" b="1">
                <a:solidFill>
                  <a:srgbClr val="061F32"/>
                </a:solidFill>
                <a:latin typeface="微软雅黑"/>
                <a:ea typeface="微软雅黑"/>
                <a:cs typeface="微软雅黑"/>
              </a:rPr>
              <a:t>四</a:t>
            </a:r>
            <a:r>
              <a:rPr lang="zh-CN" altLang="en-US" sz="2475" b="1">
                <a:solidFill>
                  <a:srgbClr val="061F32"/>
                </a:solidFill>
                <a:latin typeface="微软雅黑"/>
                <a:ea typeface="微软雅黑"/>
                <a:cs typeface="Arial" panose="020B0604020202020204" pitchFamily="34" charset="0"/>
              </a:rPr>
              <a:t>项</a:t>
            </a:r>
            <a:r>
              <a:rPr sz="2475" b="1">
                <a:solidFill>
                  <a:srgbClr val="061F32"/>
                </a:solidFill>
                <a:latin typeface="微软雅黑"/>
                <a:ea typeface="微软雅黑"/>
                <a:cs typeface="微软雅黑"/>
              </a:rPr>
              <a:t>技术条件</a:t>
            </a:r>
            <a:r>
              <a:rPr lang="zh-CN" altLang="en-US" sz="2475" b="1">
                <a:solidFill>
                  <a:srgbClr val="061F32"/>
                </a:solidFill>
                <a:latin typeface="微软雅黑"/>
                <a:ea typeface="微软雅黑"/>
                <a:cs typeface="微软雅黑"/>
              </a:rPr>
              <a:t>同步趋于</a:t>
            </a:r>
            <a:r>
              <a:rPr sz="2475" b="1">
                <a:solidFill>
                  <a:srgbClr val="061F32"/>
                </a:solidFill>
                <a:latin typeface="微软雅黑"/>
                <a:ea typeface="微软雅黑"/>
                <a:cs typeface="微软雅黑"/>
              </a:rPr>
              <a:t>成熟，</a:t>
            </a:r>
            <a:r>
              <a:rPr lang="zh-CN" altLang="en-US" sz="2475" b="1">
                <a:solidFill>
                  <a:srgbClr val="061F32"/>
                </a:solidFill>
                <a:latin typeface="微软雅黑"/>
                <a:ea typeface="微软雅黑"/>
                <a:cs typeface="微软雅黑"/>
              </a:rPr>
              <a:t>行业</a:t>
            </a:r>
            <a:r>
              <a:rPr sz="2475" b="1">
                <a:solidFill>
                  <a:srgbClr val="061F32"/>
                </a:solidFill>
                <a:latin typeface="微软雅黑"/>
                <a:ea typeface="微软雅黑"/>
                <a:cs typeface="微软雅黑"/>
              </a:rPr>
              <a:t>浪潮</a:t>
            </a:r>
            <a:r>
              <a:rPr lang="zh-CN" altLang="en-US" sz="2475" b="1">
                <a:solidFill>
                  <a:srgbClr val="061F32"/>
                </a:solidFill>
                <a:latin typeface="微软雅黑"/>
                <a:ea typeface="微软雅黑"/>
                <a:cs typeface="微软雅黑"/>
              </a:rPr>
              <a:t>存在</a:t>
            </a:r>
            <a:r>
              <a:rPr sz="2475" b="1">
                <a:solidFill>
                  <a:srgbClr val="061F32"/>
                </a:solidFill>
                <a:latin typeface="微软雅黑"/>
                <a:ea typeface="微软雅黑"/>
                <a:cs typeface="微软雅黑"/>
              </a:rPr>
              <a:t>共同短板 </a:t>
            </a:r>
            <a:r>
              <a:rPr lang="zh-CN" altLang="en-US" sz="2475" b="1">
                <a:solidFill>
                  <a:srgbClr val="061F32"/>
                </a:solidFill>
                <a:latin typeface="微软雅黑"/>
                <a:ea typeface="微软雅黑"/>
                <a:cs typeface="微软雅黑"/>
              </a:rPr>
              <a:t>- </a:t>
            </a:r>
            <a:r>
              <a:rPr sz="2475" b="1">
                <a:solidFill>
                  <a:srgbClr val="061F32"/>
                </a:solidFill>
                <a:latin typeface="微软雅黑"/>
                <a:ea typeface="微软雅黑"/>
                <a:cs typeface="微软雅黑"/>
              </a:rPr>
              <a:t>真实</a:t>
            </a:r>
            <a:r>
              <a:rPr lang="zh-CN" altLang="en-US" sz="2475" b="1">
                <a:solidFill>
                  <a:srgbClr val="061F32"/>
                </a:solidFill>
                <a:latin typeface="微软雅黑"/>
                <a:ea typeface="微软雅黑"/>
                <a:cs typeface="微软雅黑"/>
              </a:rPr>
              <a:t>纵向配对</a:t>
            </a:r>
            <a:r>
              <a:rPr sz="2475" b="1">
                <a:solidFill>
                  <a:srgbClr val="061F32"/>
                </a:solidFill>
                <a:latin typeface="微软雅黑"/>
                <a:ea typeface="微软雅黑"/>
                <a:cs typeface="微软雅黑"/>
              </a:rPr>
              <a:t>数据</a:t>
            </a:r>
            <a:r>
              <a:rPr lang="zh-CN" altLang="en-US" sz="2475" b="1">
                <a:solidFill>
                  <a:srgbClr val="061F32"/>
                </a:solidFill>
                <a:latin typeface="微软雅黑"/>
                <a:ea typeface="微软雅黑"/>
                <a:cs typeface="微软雅黑"/>
              </a:rPr>
              <a:t>稀缺</a:t>
            </a:r>
            <a:endParaRPr sz="2475" b="1">
              <a:solidFill>
                <a:srgbClr val="061F32"/>
              </a:solidFill>
              <a:latin typeface="微软雅黑"/>
              <a:ea typeface="微软雅黑"/>
              <a:cs typeface="微软雅黑"/>
            </a:endParaRPr>
          </a:p>
        </p:txBody>
      </p:sp>
      <p:sp>
        <p:nvSpPr>
          <p:cNvPr id="348" name="矩形 282"/>
          <p:cNvSpPr>
            <a:spLocks noGrp="1"/>
          </p:cNvSpPr>
          <p:nvPr/>
        </p:nvSpPr>
        <p:spPr>
          <a:xfrm>
            <a:off x="533400" y="895350"/>
            <a:ext cx="11125200" cy="9525"/>
          </a:xfrm>
          <a:prstGeom prst="rect">
            <a:avLst/>
          </a:prstGeom>
          <a:solidFill>
            <a:srgbClr val="061F32"/>
          </a:solidFill>
        </p:spPr>
        <p:txBody>
          <a:bodyPr/>
          <a:lstStyle/>
          <a:p/>
        </p:txBody>
      </p:sp>
      <p:sp>
        <p:nvSpPr>
          <p:cNvPr id="349" name="文本框 283"/>
          <p:cNvSpPr>
            <a:spLocks noGrp="1"/>
          </p:cNvSpPr>
          <p:nvPr/>
        </p:nvSpPr>
        <p:spPr>
          <a:xfrm>
            <a:off x="533400" y="981075"/>
            <a:ext cx="6572250" cy="228600"/>
          </a:xfrm>
          <a:prstGeom prst="rect">
            <a:avLst/>
          </a:prstGeom>
        </p:spPr>
        <p:txBody>
          <a:bodyPr wrap="none" lIns="0" tIns="0" rIns="0" bIns="0"/>
          <a:lstStyle/>
          <a:p>
            <a:pPr>
              <a:lnSpc>
                <a:spcPct val="100000"/>
              </a:lnSpc>
              <a:buNone/>
            </a:pPr>
            <a:r>
              <a:rPr lang="zh-CN" altLang="en-US" sz="1500" b="1">
                <a:solidFill>
                  <a:srgbClr val="061F32"/>
                </a:solidFill>
                <a:latin typeface="微软雅黑"/>
                <a:ea typeface="微软雅黑"/>
                <a:cs typeface="微软雅黑"/>
              </a:rPr>
              <a:t>为</a:t>
            </a:r>
            <a:r>
              <a:rPr sz="1500" b="1">
                <a:solidFill>
                  <a:srgbClr val="061F32"/>
                </a:solidFill>
                <a:latin typeface="微软雅黑"/>
                <a:ea typeface="微软雅黑"/>
                <a:cs typeface="微软雅黑"/>
              </a:rPr>
              <a:t>患者特异性纵向虚拟类器官</a:t>
            </a:r>
            <a:r>
              <a:rPr lang="zh-CN" altLang="en-US" sz="1500" b="1">
                <a:solidFill>
                  <a:srgbClr val="061F32"/>
                </a:solidFill>
                <a:latin typeface="微软雅黑"/>
                <a:ea typeface="微软雅黑"/>
                <a:cs typeface="微软雅黑"/>
              </a:rPr>
              <a:t>搭建</a:t>
            </a:r>
            <a:r>
              <a:rPr sz="1500" b="1">
                <a:solidFill>
                  <a:srgbClr val="061F32"/>
                </a:solidFill>
                <a:latin typeface="微软雅黑"/>
                <a:ea typeface="微软雅黑"/>
                <a:cs typeface="微软雅黑"/>
              </a:rPr>
              <a:t>工程化基础</a:t>
            </a:r>
            <a:endParaRPr sz="1500" b="1">
              <a:solidFill>
                <a:srgbClr val="061F32"/>
              </a:solidFill>
              <a:latin typeface="微软雅黑"/>
              <a:ea typeface="微软雅黑"/>
              <a:cs typeface="微软雅黑"/>
            </a:endParaRPr>
          </a:p>
        </p:txBody>
      </p:sp>
      <p:sp>
        <p:nvSpPr>
          <p:cNvPr id="350" name="任意多边形 284"/>
          <p:cNvSpPr>
            <a:spLocks noGrp="1"/>
          </p:cNvSpPr>
          <p:nvPr/>
        </p:nvSpPr>
        <p:spPr>
          <a:xfrm>
            <a:off x="533400" y="1381125"/>
            <a:ext cx="3219450" cy="2390775"/>
          </a:xfrm>
          <a:custGeom>
            <a:avLst/>
            <a:gdLst/>
            <a:ahLst/>
            <a:cxnLst/>
            <a:pathLst>
              <a:path w="338" h="251">
                <a:moveTo>
                  <a:pt x="0" y="0"/>
                </a:moveTo>
                <a:lnTo>
                  <a:pt x="338" y="0"/>
                </a:lnTo>
                <a:lnTo>
                  <a:pt x="338" y="3"/>
                </a:lnTo>
                <a:lnTo>
                  <a:pt x="0" y="3"/>
                </a:lnTo>
                <a:close/>
              </a:path>
            </a:pathLst>
          </a:custGeom>
          <a:solidFill>
            <a:srgbClr val="061F32"/>
          </a:solidFill>
        </p:spPr>
        <p:txBody>
          <a:bodyPr/>
          <a:lstStyle/>
          <a:p/>
        </p:txBody>
      </p:sp>
      <p:sp>
        <p:nvSpPr>
          <p:cNvPr id="351" name="文本框 285"/>
          <p:cNvSpPr>
            <a:spLocks noGrp="1"/>
          </p:cNvSpPr>
          <p:nvPr/>
        </p:nvSpPr>
        <p:spPr>
          <a:xfrm>
            <a:off x="723900" y="1581150"/>
            <a:ext cx="2838450" cy="257175"/>
          </a:xfrm>
          <a:prstGeom prst="rect">
            <a:avLst/>
          </a:prstGeom>
        </p:spPr>
        <p:txBody>
          <a:bodyPr wrap="none" lIns="0" tIns="0" rIns="0" bIns="0"/>
          <a:lstStyle/>
          <a:p>
            <a:pPr>
              <a:lnSpc>
                <a:spcPct val="100000"/>
              </a:lnSpc>
              <a:buNone/>
            </a:pPr>
            <a:r>
              <a:rPr sz="1650" b="1">
                <a:solidFill>
                  <a:srgbClr val="061F32"/>
                </a:solidFill>
                <a:latin typeface="微软雅黑"/>
                <a:ea typeface="微软雅黑"/>
                <a:cs typeface="微软雅黑"/>
              </a:rPr>
              <a:t>类器官技术</a:t>
            </a:r>
            <a:endParaRPr sz="1650" b="1">
              <a:solidFill>
                <a:srgbClr val="061F32"/>
              </a:solidFill>
              <a:latin typeface="微软雅黑"/>
              <a:ea typeface="微软雅黑"/>
              <a:cs typeface="微软雅黑"/>
            </a:endParaRPr>
          </a:p>
        </p:txBody>
      </p:sp>
      <p:sp>
        <p:nvSpPr>
          <p:cNvPr id="352" name="文本框 286"/>
          <p:cNvSpPr>
            <a:spLocks noGrp="1"/>
          </p:cNvSpPr>
          <p:nvPr/>
        </p:nvSpPr>
        <p:spPr>
          <a:xfrm>
            <a:off x="723900" y="1933575"/>
            <a:ext cx="2838450" cy="876300"/>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患者来源类器官（IPTO）能高保真保留肿瘤生态系统，个体差异与微环境同时在线，可纵向追踪演化</a:t>
            </a:r>
            <a:endParaRPr sz="1275">
              <a:solidFill>
                <a:srgbClr val="44546A"/>
              </a:solidFill>
              <a:latin typeface="微软雅黑"/>
              <a:ea typeface="微软雅黑"/>
              <a:cs typeface="微软雅黑"/>
            </a:endParaRPr>
          </a:p>
        </p:txBody>
      </p:sp>
      <p:sp>
        <p:nvSpPr>
          <p:cNvPr id="353" name="任意多边形 287"/>
          <p:cNvSpPr>
            <a:spLocks noGrp="1"/>
          </p:cNvSpPr>
          <p:nvPr/>
        </p:nvSpPr>
        <p:spPr>
          <a:xfrm>
            <a:off x="3886200" y="1381125"/>
            <a:ext cx="3219450" cy="2390775"/>
          </a:xfrm>
          <a:custGeom>
            <a:avLst/>
            <a:gdLst/>
            <a:ahLst/>
            <a:cxnLst/>
            <a:pathLst>
              <a:path w="338" h="251">
                <a:moveTo>
                  <a:pt x="0" y="0"/>
                </a:moveTo>
                <a:lnTo>
                  <a:pt x="338" y="0"/>
                </a:lnTo>
                <a:lnTo>
                  <a:pt x="338" y="3"/>
                </a:lnTo>
                <a:lnTo>
                  <a:pt x="0" y="3"/>
                </a:lnTo>
                <a:close/>
              </a:path>
            </a:pathLst>
          </a:custGeom>
          <a:solidFill>
            <a:srgbClr val="061F32"/>
          </a:solidFill>
        </p:spPr>
        <p:txBody>
          <a:bodyPr/>
          <a:lstStyle/>
          <a:p/>
        </p:txBody>
      </p:sp>
      <p:sp>
        <p:nvSpPr>
          <p:cNvPr id="354" name="文本框 288"/>
          <p:cNvSpPr>
            <a:spLocks noGrp="1"/>
          </p:cNvSpPr>
          <p:nvPr/>
        </p:nvSpPr>
        <p:spPr>
          <a:xfrm>
            <a:off x="4076700" y="1581150"/>
            <a:ext cx="2838450" cy="257175"/>
          </a:xfrm>
          <a:prstGeom prst="rect">
            <a:avLst/>
          </a:prstGeom>
        </p:spPr>
        <p:txBody>
          <a:bodyPr wrap="none" lIns="0" tIns="0" rIns="0" bIns="0"/>
          <a:lstStyle/>
          <a:p>
            <a:pPr>
              <a:lnSpc>
                <a:spcPct val="100000"/>
              </a:lnSpc>
              <a:buNone/>
            </a:pPr>
            <a:r>
              <a:rPr sz="1650" b="1">
                <a:solidFill>
                  <a:srgbClr val="061F32"/>
                </a:solidFill>
                <a:latin typeface="微软雅黑"/>
                <a:ea typeface="微软雅黑"/>
                <a:cs typeface="微软雅黑"/>
              </a:rPr>
              <a:t>成像与测量</a:t>
            </a:r>
            <a:endParaRPr sz="1650" b="1">
              <a:solidFill>
                <a:srgbClr val="061F32"/>
              </a:solidFill>
              <a:latin typeface="微软雅黑"/>
              <a:ea typeface="微软雅黑"/>
              <a:cs typeface="微软雅黑"/>
            </a:endParaRPr>
          </a:p>
        </p:txBody>
      </p:sp>
      <p:sp>
        <p:nvSpPr>
          <p:cNvPr id="355" name="文本框 289"/>
          <p:cNvSpPr>
            <a:spLocks noGrp="1"/>
          </p:cNvSpPr>
          <p:nvPr/>
        </p:nvSpPr>
        <p:spPr>
          <a:xfrm>
            <a:off x="4076700" y="1933575"/>
            <a:ext cx="2838450" cy="876300"/>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长时程活细胞成像、高内涵成像、单细胞 / 空间组学，把细胞状态</a:t>
            </a:r>
            <a:r>
              <a:rPr lang="zh-CN" altLang="en-US" sz="1275">
                <a:solidFill>
                  <a:srgbClr val="44546A"/>
                </a:solidFill>
                <a:latin typeface="微软雅黑"/>
                <a:ea typeface="微软雅黑"/>
                <a:cs typeface="微软雅黑"/>
              </a:rPr>
              <a:t>转化</a:t>
            </a:r>
            <a:r>
              <a:rPr sz="1275">
                <a:solidFill>
                  <a:srgbClr val="44546A"/>
                </a:solidFill>
                <a:latin typeface="微软雅黑"/>
                <a:ea typeface="微软雅黑"/>
                <a:cs typeface="微软雅黑"/>
              </a:rPr>
              <a:t>成可计算的多模态数据</a:t>
            </a:r>
            <a:endParaRPr sz="1275">
              <a:solidFill>
                <a:srgbClr val="44546A"/>
              </a:solidFill>
              <a:latin typeface="微软雅黑"/>
              <a:ea typeface="微软雅黑"/>
              <a:cs typeface="微软雅黑"/>
            </a:endParaRPr>
          </a:p>
        </p:txBody>
      </p:sp>
      <p:sp>
        <p:nvSpPr>
          <p:cNvPr id="356" name="任意多边形 290"/>
          <p:cNvSpPr>
            <a:spLocks noGrp="1"/>
          </p:cNvSpPr>
          <p:nvPr/>
        </p:nvSpPr>
        <p:spPr>
          <a:xfrm>
            <a:off x="533400" y="3876675"/>
            <a:ext cx="3219450" cy="2390775"/>
          </a:xfrm>
          <a:custGeom>
            <a:avLst/>
            <a:gdLst/>
            <a:ahLst/>
            <a:cxnLst/>
            <a:pathLst>
              <a:path w="338" h="251">
                <a:moveTo>
                  <a:pt x="0" y="0"/>
                </a:moveTo>
                <a:lnTo>
                  <a:pt x="338" y="0"/>
                </a:lnTo>
                <a:lnTo>
                  <a:pt x="338" y="3"/>
                </a:lnTo>
                <a:lnTo>
                  <a:pt x="0" y="3"/>
                </a:lnTo>
                <a:close/>
              </a:path>
            </a:pathLst>
          </a:custGeom>
          <a:solidFill>
            <a:srgbClr val="061F32"/>
          </a:solidFill>
        </p:spPr>
        <p:txBody>
          <a:bodyPr/>
          <a:lstStyle/>
          <a:p/>
        </p:txBody>
      </p:sp>
      <p:sp>
        <p:nvSpPr>
          <p:cNvPr id="357" name="文本框 291"/>
          <p:cNvSpPr>
            <a:spLocks noGrp="1"/>
          </p:cNvSpPr>
          <p:nvPr/>
        </p:nvSpPr>
        <p:spPr>
          <a:xfrm>
            <a:off x="723900" y="4076700"/>
            <a:ext cx="2838450" cy="257175"/>
          </a:xfrm>
          <a:prstGeom prst="rect">
            <a:avLst/>
          </a:prstGeom>
        </p:spPr>
        <p:txBody>
          <a:bodyPr wrap="none" lIns="0" tIns="0" rIns="0" bIns="0"/>
          <a:lstStyle/>
          <a:p>
            <a:pPr>
              <a:lnSpc>
                <a:spcPct val="100000"/>
              </a:lnSpc>
              <a:buNone/>
            </a:pPr>
            <a:r>
              <a:rPr sz="1650" b="1">
                <a:solidFill>
                  <a:srgbClr val="061F32"/>
                </a:solidFill>
                <a:latin typeface="微软雅黑"/>
                <a:ea typeface="微软雅黑"/>
                <a:cs typeface="微软雅黑"/>
              </a:rPr>
              <a:t>数据与算力</a:t>
            </a:r>
            <a:endParaRPr sz="1650" b="1">
              <a:solidFill>
                <a:srgbClr val="061F32"/>
              </a:solidFill>
              <a:latin typeface="微软雅黑"/>
              <a:ea typeface="微软雅黑"/>
              <a:cs typeface="微软雅黑"/>
            </a:endParaRPr>
          </a:p>
        </p:txBody>
      </p:sp>
      <p:sp>
        <p:nvSpPr>
          <p:cNvPr id="358" name="文本框 292"/>
          <p:cNvSpPr>
            <a:spLocks noGrp="1"/>
          </p:cNvSpPr>
          <p:nvPr/>
        </p:nvSpPr>
        <p:spPr>
          <a:xfrm>
            <a:off x="723900" y="4429125"/>
            <a:ext cx="2838450" cy="876300"/>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多模态数据基础设施成熟，</a:t>
            </a:r>
            <a:r>
              <a:rPr lang="zh-CN" altLang="en-US" sz="1275">
                <a:solidFill>
                  <a:srgbClr val="44546A"/>
                </a:solidFill>
                <a:latin typeface="微软雅黑"/>
                <a:ea typeface="微软雅黑"/>
                <a:cs typeface="微软雅黑"/>
              </a:rPr>
              <a:t>大规模</a:t>
            </a:r>
            <a:r>
              <a:rPr sz="1275">
                <a:solidFill>
                  <a:srgbClr val="44546A"/>
                </a:solidFill>
                <a:latin typeface="微软雅黑"/>
                <a:ea typeface="微软雅黑"/>
                <a:cs typeface="微软雅黑"/>
              </a:rPr>
              <a:t>训练成本</a:t>
            </a:r>
            <a:r>
              <a:rPr lang="zh-CN" altLang="en-US" sz="1275">
                <a:solidFill>
                  <a:srgbClr val="44546A"/>
                </a:solidFill>
                <a:latin typeface="微软雅黑"/>
                <a:ea typeface="微软雅黑"/>
                <a:cs typeface="微软雅黑"/>
              </a:rPr>
              <a:t>显著</a:t>
            </a:r>
            <a:r>
              <a:rPr sz="1275">
                <a:solidFill>
                  <a:srgbClr val="44546A"/>
                </a:solidFill>
                <a:latin typeface="微软雅黑"/>
                <a:ea typeface="微软雅黑"/>
                <a:cs typeface="微软雅黑"/>
              </a:rPr>
              <a:t>下降，基础模型级别</a:t>
            </a:r>
            <a:r>
              <a:rPr lang="zh-CN" altLang="en-US" sz="1275">
                <a:solidFill>
                  <a:srgbClr val="44546A"/>
                </a:solidFill>
                <a:latin typeface="微软雅黑"/>
                <a:ea typeface="微软雅黑"/>
                <a:cs typeface="微软雅黑"/>
              </a:rPr>
              <a:t>的</a:t>
            </a:r>
            <a:r>
              <a:rPr sz="1275">
                <a:solidFill>
                  <a:srgbClr val="44546A"/>
                </a:solidFill>
                <a:latin typeface="微软雅黑"/>
                <a:ea typeface="微软雅黑"/>
                <a:cs typeface="微软雅黑"/>
              </a:rPr>
              <a:t>训练</a:t>
            </a:r>
            <a:r>
              <a:rPr lang="zh-CN" altLang="en-US" sz="1275">
                <a:solidFill>
                  <a:srgbClr val="44546A"/>
                </a:solidFill>
                <a:latin typeface="微软雅黑"/>
                <a:ea typeface="微软雅黑"/>
                <a:cs typeface="微软雅黑"/>
              </a:rPr>
              <a:t>工具具备落地可行性</a:t>
            </a:r>
            <a:endParaRPr sz="1275">
              <a:solidFill>
                <a:srgbClr val="44546A"/>
              </a:solidFill>
              <a:latin typeface="微软雅黑"/>
              <a:ea typeface="微软雅黑"/>
              <a:cs typeface="微软雅黑"/>
            </a:endParaRPr>
          </a:p>
        </p:txBody>
      </p:sp>
      <p:sp>
        <p:nvSpPr>
          <p:cNvPr id="359" name="任意多边形 293"/>
          <p:cNvSpPr>
            <a:spLocks noGrp="1"/>
          </p:cNvSpPr>
          <p:nvPr/>
        </p:nvSpPr>
        <p:spPr>
          <a:xfrm>
            <a:off x="3886200" y="3876675"/>
            <a:ext cx="3219450" cy="2390775"/>
          </a:xfrm>
          <a:custGeom>
            <a:avLst/>
            <a:gdLst/>
            <a:ahLst/>
            <a:cxnLst/>
            <a:pathLst>
              <a:path w="338" h="251">
                <a:moveTo>
                  <a:pt x="0" y="0"/>
                </a:moveTo>
                <a:lnTo>
                  <a:pt x="338" y="0"/>
                </a:lnTo>
                <a:lnTo>
                  <a:pt x="338" y="3"/>
                </a:lnTo>
                <a:lnTo>
                  <a:pt x="0" y="3"/>
                </a:lnTo>
                <a:close/>
              </a:path>
            </a:pathLst>
          </a:custGeom>
          <a:solidFill>
            <a:srgbClr val="061F32"/>
          </a:solidFill>
        </p:spPr>
        <p:txBody>
          <a:bodyPr/>
          <a:lstStyle/>
          <a:p/>
        </p:txBody>
      </p:sp>
      <p:sp>
        <p:nvSpPr>
          <p:cNvPr id="360" name="文本框 294"/>
          <p:cNvSpPr>
            <a:spLocks noGrp="1"/>
          </p:cNvSpPr>
          <p:nvPr/>
        </p:nvSpPr>
        <p:spPr>
          <a:xfrm>
            <a:off x="4076700" y="4076700"/>
            <a:ext cx="2838450" cy="257175"/>
          </a:xfrm>
          <a:prstGeom prst="rect">
            <a:avLst/>
          </a:prstGeom>
        </p:spPr>
        <p:txBody>
          <a:bodyPr wrap="none" lIns="0" tIns="0" rIns="0" bIns="0"/>
          <a:lstStyle/>
          <a:p>
            <a:pPr>
              <a:lnSpc>
                <a:spcPct val="100000"/>
              </a:lnSpc>
              <a:buNone/>
            </a:pPr>
            <a:r>
              <a:rPr sz="1650" b="1">
                <a:solidFill>
                  <a:srgbClr val="061F32"/>
                </a:solidFill>
                <a:latin typeface="微软雅黑"/>
                <a:ea typeface="微软雅黑"/>
                <a:cs typeface="微软雅黑"/>
              </a:rPr>
              <a:t>AI </a:t>
            </a:r>
            <a:r>
              <a:rPr sz="1650" b="1">
                <a:solidFill>
                  <a:srgbClr val="061F32"/>
                </a:solidFill>
                <a:latin typeface="微软雅黑"/>
                <a:ea typeface="微软雅黑"/>
                <a:cs typeface="微软雅黑"/>
              </a:rPr>
              <a:t>方法</a:t>
            </a:r>
            <a:endParaRPr sz="1650" b="1">
              <a:solidFill>
                <a:srgbClr val="061F32"/>
              </a:solidFill>
              <a:latin typeface="微软雅黑"/>
              <a:ea typeface="微软雅黑"/>
              <a:cs typeface="微软雅黑"/>
            </a:endParaRPr>
          </a:p>
        </p:txBody>
      </p:sp>
      <p:sp>
        <p:nvSpPr>
          <p:cNvPr id="361" name="文本框 295"/>
          <p:cNvSpPr>
            <a:spLocks noGrp="1"/>
          </p:cNvSpPr>
          <p:nvPr/>
        </p:nvSpPr>
        <p:spPr>
          <a:xfrm>
            <a:off x="4076700" y="4429125"/>
            <a:ext cx="2838450" cy="1127914"/>
          </a:xfrm>
          <a:prstGeom prst="rect">
            <a:avLst/>
          </a:prstGeom>
        </p:spPr>
        <p:txBody>
          <a:bodyPr wrap="square" lIns="0" tIns="0" rIns="0" bIns="0">
            <a:normAutofit/>
          </a:bodyPr>
          <a:lstStyle/>
          <a:p>
            <a:pPr>
              <a:lnSpc>
                <a:spcPct val="150000"/>
              </a:lnSpc>
              <a:buNone/>
            </a:pPr>
            <a:r>
              <a:rPr sz="1275">
                <a:solidFill>
                  <a:srgbClr val="44546A"/>
                </a:solidFill>
                <a:latin typeface="微软雅黑"/>
                <a:ea typeface="微软雅黑"/>
                <a:cs typeface="微软雅黑"/>
              </a:rPr>
              <a:t>自监督预训练 + 扰动建模，让</a:t>
            </a:r>
            <a:r>
              <a:rPr lang="en-US" altLang="zh-CN" sz="1275">
                <a:solidFill>
                  <a:srgbClr val="44546A"/>
                </a:solidFill>
                <a:latin typeface="微软雅黑"/>
                <a:ea typeface="微软雅黑"/>
                <a:cs typeface="微软雅黑"/>
              </a:rPr>
              <a:t>AI</a:t>
            </a:r>
            <a:r>
              <a:rPr sz="1275">
                <a:solidFill>
                  <a:srgbClr val="44546A"/>
                </a:solidFill>
                <a:latin typeface="微软雅黑"/>
                <a:ea typeface="微软雅黑"/>
                <a:cs typeface="微软雅黑"/>
              </a:rPr>
              <a:t>模型</a:t>
            </a:r>
            <a:r>
              <a:rPr lang="zh-CN" altLang="en-US" sz="1275">
                <a:solidFill>
                  <a:srgbClr val="44546A"/>
                </a:solidFill>
                <a:latin typeface="微软雅黑"/>
                <a:ea typeface="微软雅黑"/>
                <a:cs typeface="微软雅黑"/>
              </a:rPr>
              <a:t>具备</a:t>
            </a:r>
            <a:r>
              <a:rPr sz="1275">
                <a:solidFill>
                  <a:srgbClr val="44546A"/>
                </a:solidFill>
                <a:latin typeface="微软雅黑"/>
                <a:ea typeface="微软雅黑"/>
                <a:cs typeface="微软雅黑"/>
              </a:rPr>
              <a:t>学习“干预后进入什么新状态”</a:t>
            </a:r>
            <a:r>
              <a:rPr lang="zh-CN" altLang="en-US" sz="1275">
                <a:solidFill>
                  <a:srgbClr val="44546A"/>
                </a:solidFill>
                <a:latin typeface="微软雅黑"/>
                <a:ea typeface="微软雅黑"/>
                <a:cs typeface="微软雅黑"/>
              </a:rPr>
              <a:t>的能力</a:t>
            </a:r>
            <a:endParaRPr sz="1275">
              <a:solidFill>
                <a:srgbClr val="44546A"/>
              </a:solidFill>
              <a:latin typeface="微软雅黑"/>
              <a:ea typeface="微软雅黑"/>
              <a:cs typeface="微软雅黑"/>
            </a:endParaRPr>
          </a:p>
        </p:txBody>
      </p:sp>
      <p:sp>
        <p:nvSpPr>
          <p:cNvPr id="362" name="矩形 296"/>
          <p:cNvSpPr>
            <a:spLocks noGrp="1"/>
          </p:cNvSpPr>
          <p:nvPr/>
        </p:nvSpPr>
        <p:spPr>
          <a:xfrm>
            <a:off x="7239000" y="1375859"/>
            <a:ext cx="4286250" cy="4891591"/>
          </a:xfrm>
          <a:prstGeom prst="rect">
            <a:avLst/>
          </a:prstGeom>
          <a:solidFill>
            <a:srgbClr val="061F32"/>
          </a:solidFill>
        </p:spPr>
        <p:txBody>
          <a:bodyPr/>
          <a:lstStyle/>
          <a:p/>
        </p:txBody>
      </p:sp>
      <p:sp>
        <p:nvSpPr>
          <p:cNvPr id="363" name="文本框 297"/>
          <p:cNvSpPr>
            <a:spLocks noGrp="1"/>
          </p:cNvSpPr>
          <p:nvPr/>
        </p:nvSpPr>
        <p:spPr>
          <a:xfrm>
            <a:off x="7562850" y="1920875"/>
            <a:ext cx="3752850" cy="257175"/>
          </a:xfrm>
          <a:prstGeom prst="rect">
            <a:avLst/>
          </a:prstGeom>
        </p:spPr>
        <p:txBody>
          <a:bodyPr wrap="none" lIns="0" tIns="0" rIns="0" bIns="0"/>
          <a:lstStyle/>
          <a:p>
            <a:pPr>
              <a:lnSpc>
                <a:spcPct val="100000"/>
              </a:lnSpc>
              <a:buNone/>
            </a:pPr>
            <a:r>
              <a:rPr sz="1650" b="1">
                <a:solidFill>
                  <a:srgbClr val="FFFFFF"/>
                </a:solidFill>
                <a:latin typeface="微软雅黑"/>
                <a:ea typeface="微软雅黑"/>
                <a:cs typeface="微软雅黑"/>
              </a:rPr>
              <a:t>全球「虚拟细胞</a:t>
            </a:r>
            <a:r>
              <a:rPr sz="1650" b="1">
                <a:solidFill>
                  <a:srgbClr val="FFFFFF"/>
                </a:solidFill>
                <a:latin typeface="微软雅黑"/>
                <a:ea typeface="微软雅黑"/>
                <a:cs typeface="微软雅黑"/>
              </a:rPr>
              <a:t> / AI4S</a:t>
            </a:r>
            <a:r>
              <a:rPr sz="1650" b="1">
                <a:solidFill>
                  <a:srgbClr val="FFFFFF"/>
                </a:solidFill>
                <a:latin typeface="微软雅黑"/>
                <a:ea typeface="微软雅黑"/>
                <a:cs typeface="微软雅黑"/>
              </a:rPr>
              <a:t>」浪潮</a:t>
            </a:r>
            <a:endParaRPr sz="1650" b="1">
              <a:solidFill>
                <a:srgbClr val="FFFFFF"/>
              </a:solidFill>
              <a:latin typeface="微软雅黑"/>
              <a:ea typeface="微软雅黑"/>
              <a:cs typeface="微软雅黑"/>
            </a:endParaRPr>
          </a:p>
        </p:txBody>
      </p:sp>
      <p:sp>
        <p:nvSpPr>
          <p:cNvPr id="364" name="文本框 298"/>
          <p:cNvSpPr>
            <a:spLocks noGrp="1"/>
          </p:cNvSpPr>
          <p:nvPr/>
        </p:nvSpPr>
        <p:spPr>
          <a:xfrm>
            <a:off x="7562850" y="2330450"/>
            <a:ext cx="3752850" cy="285750"/>
          </a:xfrm>
          <a:prstGeom prst="rect">
            <a:avLst/>
          </a:prstGeom>
        </p:spPr>
        <p:txBody>
          <a:bodyPr wrap="none" lIns="0" tIns="0" rIns="0" bIns="0"/>
          <a:lstStyle/>
          <a:p>
            <a:pPr>
              <a:lnSpc>
                <a:spcPct val="145000"/>
              </a:lnSpc>
              <a:buNone/>
            </a:pPr>
            <a:r>
              <a:rPr sz="1275">
                <a:solidFill>
                  <a:srgbClr val="99BDED"/>
                </a:solidFill>
                <a:latin typeface="微软雅黑"/>
                <a:ea typeface="微软雅黑"/>
                <a:cs typeface="微软雅黑"/>
              </a:rPr>
              <a:t>· Arc Institute</a:t>
            </a:r>
            <a:r>
              <a:rPr sz="1275">
                <a:solidFill>
                  <a:srgbClr val="99BDED"/>
                </a:solidFill>
                <a:latin typeface="微软雅黑"/>
                <a:ea typeface="微软雅黑"/>
                <a:cs typeface="微软雅黑"/>
              </a:rPr>
              <a:t>：</a:t>
            </a:r>
            <a:r>
              <a:rPr sz="1275">
                <a:solidFill>
                  <a:srgbClr val="99BDED"/>
                </a:solidFill>
                <a:latin typeface="微软雅黑"/>
                <a:ea typeface="微软雅黑"/>
                <a:cs typeface="微软雅黑"/>
              </a:rPr>
              <a:t>STATE </a:t>
            </a:r>
            <a:r>
              <a:rPr sz="1275">
                <a:solidFill>
                  <a:srgbClr val="99BDED"/>
                </a:solidFill>
                <a:latin typeface="微软雅黑"/>
                <a:ea typeface="微软雅黑"/>
                <a:cs typeface="微软雅黑"/>
              </a:rPr>
              <a:t>虚拟细胞模型</a:t>
            </a:r>
            <a:endParaRPr sz="1275">
              <a:solidFill>
                <a:srgbClr val="99BDED"/>
              </a:solidFill>
              <a:latin typeface="微软雅黑"/>
              <a:ea typeface="微软雅黑"/>
              <a:cs typeface="微软雅黑"/>
            </a:endParaRPr>
          </a:p>
        </p:txBody>
      </p:sp>
      <p:sp>
        <p:nvSpPr>
          <p:cNvPr id="365" name="文本框 299"/>
          <p:cNvSpPr>
            <a:spLocks noGrp="1"/>
          </p:cNvSpPr>
          <p:nvPr/>
        </p:nvSpPr>
        <p:spPr>
          <a:xfrm>
            <a:off x="7562850" y="2711450"/>
            <a:ext cx="3752850" cy="285750"/>
          </a:xfrm>
          <a:prstGeom prst="rect">
            <a:avLst/>
          </a:prstGeom>
        </p:spPr>
        <p:txBody>
          <a:bodyPr wrap="none" lIns="0" tIns="0" rIns="0" bIns="0"/>
          <a:lstStyle/>
          <a:p>
            <a:pPr>
              <a:lnSpc>
                <a:spcPct val="145000"/>
              </a:lnSpc>
              <a:buNone/>
            </a:pPr>
            <a:r>
              <a:rPr sz="1275">
                <a:solidFill>
                  <a:srgbClr val="99BDED"/>
                </a:solidFill>
                <a:latin typeface="微软雅黑"/>
                <a:ea typeface="微软雅黑"/>
                <a:cs typeface="微软雅黑"/>
              </a:rPr>
              <a:t>· CZI</a:t>
            </a:r>
            <a:r>
              <a:rPr sz="1275">
                <a:solidFill>
                  <a:srgbClr val="99BDED"/>
                </a:solidFill>
                <a:latin typeface="微软雅黑"/>
                <a:ea typeface="微软雅黑"/>
                <a:cs typeface="微软雅黑"/>
              </a:rPr>
              <a:t>：通用虚拟细胞平台</a:t>
            </a:r>
            <a:endParaRPr sz="1275">
              <a:solidFill>
                <a:srgbClr val="99BDED"/>
              </a:solidFill>
              <a:latin typeface="微软雅黑"/>
              <a:ea typeface="微软雅黑"/>
              <a:cs typeface="微软雅黑"/>
            </a:endParaRPr>
          </a:p>
        </p:txBody>
      </p:sp>
      <p:sp>
        <p:nvSpPr>
          <p:cNvPr id="366" name="文本框 300"/>
          <p:cNvSpPr>
            <a:spLocks noGrp="1"/>
          </p:cNvSpPr>
          <p:nvPr/>
        </p:nvSpPr>
        <p:spPr>
          <a:xfrm>
            <a:off x="7562850" y="3092450"/>
            <a:ext cx="3752850" cy="285750"/>
          </a:xfrm>
          <a:prstGeom prst="rect">
            <a:avLst/>
          </a:prstGeom>
        </p:spPr>
        <p:txBody>
          <a:bodyPr wrap="none" lIns="0" tIns="0" rIns="0" bIns="0"/>
          <a:lstStyle/>
          <a:p>
            <a:pPr>
              <a:lnSpc>
                <a:spcPct val="145000"/>
              </a:lnSpc>
              <a:buNone/>
            </a:pPr>
            <a:r>
              <a:rPr sz="1275">
                <a:solidFill>
                  <a:srgbClr val="99BDED"/>
                </a:solidFill>
                <a:latin typeface="微软雅黑"/>
                <a:ea typeface="微软雅黑"/>
                <a:cs typeface="微软雅黑"/>
              </a:rPr>
              <a:t>· </a:t>
            </a:r>
            <a:r>
              <a:rPr sz="1275">
                <a:solidFill>
                  <a:srgbClr val="99BDED"/>
                </a:solidFill>
                <a:latin typeface="微软雅黑"/>
                <a:ea typeface="微软雅黑"/>
                <a:cs typeface="微软雅黑"/>
              </a:rPr>
              <a:t>单细胞基础模型密集出现</a:t>
            </a:r>
            <a:endParaRPr sz="1275">
              <a:solidFill>
                <a:srgbClr val="99BDED"/>
              </a:solidFill>
              <a:latin typeface="微软雅黑"/>
              <a:ea typeface="微软雅黑"/>
              <a:cs typeface="微软雅黑"/>
            </a:endParaRPr>
          </a:p>
        </p:txBody>
      </p:sp>
      <p:sp>
        <p:nvSpPr>
          <p:cNvPr id="367" name="矩形 301"/>
          <p:cNvSpPr>
            <a:spLocks noGrp="1"/>
          </p:cNvSpPr>
          <p:nvPr/>
        </p:nvSpPr>
        <p:spPr>
          <a:xfrm>
            <a:off x="7639050" y="2914650"/>
            <a:ext cx="3752850" cy="9525"/>
          </a:xfrm>
          <a:prstGeom prst="rect">
            <a:avLst/>
          </a:prstGeom>
          <a:solidFill>
            <a:srgbClr val="44546A"/>
          </a:solidFill>
        </p:spPr>
        <p:txBody>
          <a:bodyPr/>
          <a:lstStyle/>
          <a:p/>
        </p:txBody>
      </p:sp>
      <p:sp>
        <p:nvSpPr>
          <p:cNvPr id="368" name="文本框 302"/>
          <p:cNvSpPr>
            <a:spLocks noGrp="1"/>
          </p:cNvSpPr>
          <p:nvPr/>
        </p:nvSpPr>
        <p:spPr>
          <a:xfrm>
            <a:off x="7562850" y="3768725"/>
            <a:ext cx="3752850" cy="228600"/>
          </a:xfrm>
          <a:prstGeom prst="rect">
            <a:avLst/>
          </a:prstGeom>
        </p:spPr>
        <p:txBody>
          <a:bodyPr wrap="none" lIns="0" tIns="0" rIns="0" bIns="0"/>
          <a:lstStyle/>
          <a:p>
            <a:pPr>
              <a:lnSpc>
                <a:spcPct val="100000"/>
              </a:lnSpc>
              <a:buNone/>
            </a:pPr>
            <a:r>
              <a:rPr sz="1500" b="1">
                <a:solidFill>
                  <a:srgbClr val="08A6F6"/>
                </a:solidFill>
                <a:latin typeface="微软雅黑"/>
                <a:ea typeface="微软雅黑"/>
                <a:cs typeface="微软雅黑"/>
              </a:rPr>
              <a:t>共同的结构性短板：缺真实数据</a:t>
            </a:r>
            <a:endParaRPr sz="1500" b="1">
              <a:solidFill>
                <a:srgbClr val="08A6F6"/>
              </a:solidFill>
              <a:latin typeface="微软雅黑"/>
              <a:ea typeface="微软雅黑"/>
              <a:cs typeface="微软雅黑"/>
            </a:endParaRPr>
          </a:p>
        </p:txBody>
      </p:sp>
      <p:sp>
        <p:nvSpPr>
          <p:cNvPr id="369" name="文本框 303"/>
          <p:cNvSpPr>
            <a:spLocks noGrp="1"/>
          </p:cNvSpPr>
          <p:nvPr/>
        </p:nvSpPr>
        <p:spPr>
          <a:xfrm>
            <a:off x="7562850" y="4111625"/>
            <a:ext cx="3752850" cy="1079500"/>
          </a:xfrm>
          <a:prstGeom prst="rect">
            <a:avLst/>
          </a:prstGeom>
        </p:spPr>
        <p:txBody>
          <a:bodyPr wrap="square" lIns="0" tIns="0" rIns="0" bIns="0">
            <a:normAutofit fontScale="95206"/>
          </a:bodyPr>
          <a:lstStyle/>
          <a:p>
            <a:pPr marL="0" lvl="0" algn="l" defTabSz="914400">
              <a:lnSpc>
                <a:spcPct val="155000"/>
              </a:lnSpc>
              <a:buNone/>
              <a:defRPr sz="1800">
                <a:solidFill>
                  <a:schemeClr val="tx1">
                    <a:alpha val="100000"/>
                  </a:schemeClr>
                </a:solidFill>
                <a:latin typeface="Calibri"/>
                <a:ea typeface="Calibri"/>
                <a:cs typeface="Calibri"/>
              </a:defRPr>
            </a:pPr>
            <a:r>
              <a:rPr sz="1200" b="0">
                <a:solidFill>
                  <a:srgbClr val="FFFFFF">
                    <a:alpha val="100000"/>
                  </a:srgbClr>
                </a:solidFill>
                <a:latin typeface="微软雅黑"/>
                <a:ea typeface="微软雅黑"/>
                <a:cs typeface="微软雅黑"/>
              </a:rPr>
              <a:t>这一浪潮正在补足扰动数据，但多数项目仍缺少患者特异性纵向轨迹、PDO 平行实验和临床结局闭环。我们的入口在更深的配对数据，而不是单纯更大的公开数据。</a:t>
            </a:r>
            <a:endParaRPr sz="1275">
              <a:solidFill>
                <a:srgbClr val="FFFFFF">
                  <a:alpha val="100000"/>
                </a:srgbClr>
              </a:solidFill>
              <a:latin typeface="微软雅黑"/>
              <a:ea typeface="微软雅黑"/>
              <a:cs typeface="微软雅黑"/>
            </a:endParaRPr>
          </a:p>
        </p:txBody>
      </p:sp>
      <p:sp>
        <p:nvSpPr>
          <p:cNvPr id="370" name="文本框 304"/>
          <p:cNvSpPr>
            <a:spLocks noGrp="1"/>
          </p:cNvSpPr>
          <p:nvPr/>
        </p:nvSpPr>
        <p:spPr>
          <a:xfrm>
            <a:off x="7562850" y="5305425"/>
            <a:ext cx="3752850" cy="304800"/>
          </a:xfrm>
          <a:prstGeom prst="rect">
            <a:avLst/>
          </a:prstGeom>
        </p:spPr>
        <p:txBody>
          <a:bodyPr wrap="none" lIns="0" tIns="0" rIns="0" bIns="0"/>
          <a:lstStyle/>
          <a:p>
            <a:pPr>
              <a:lnSpc>
                <a:spcPct val="155000"/>
              </a:lnSpc>
              <a:buNone/>
            </a:pPr>
            <a:r>
              <a:rPr sz="1275" b="1">
                <a:solidFill>
                  <a:srgbClr val="FFFFFF">
                    <a:alpha val="100000"/>
                  </a:srgbClr>
                </a:solidFill>
                <a:latin typeface="微软雅黑"/>
                <a:ea typeface="微软雅黑"/>
                <a:cs typeface="微软雅黑"/>
              </a:rPr>
              <a:t>患者配对 × 纵向 × 扰动 × 结局评分</a:t>
            </a:r>
            <a:endParaRPr sz="1275" b="1">
              <a:solidFill>
                <a:srgbClr val="FFFFFF">
                  <a:alpha val="100000"/>
                </a:srgbClr>
              </a:solidFill>
              <a:latin typeface="微软雅黑"/>
              <a:ea typeface="微软雅黑"/>
              <a:cs typeface="微软雅黑"/>
            </a:endParaRPr>
          </a:p>
          <a:p>
            <a:pPr>
              <a:lnSpc>
                <a:spcPct val="155000"/>
              </a:lnSpc>
              <a:buNone/>
            </a:pPr>
            <a:r>
              <a:rPr sz="1275" b="1">
                <a:solidFill>
                  <a:srgbClr val="FFFFFF">
                    <a:alpha val="100000"/>
                  </a:srgbClr>
                </a:solidFill>
                <a:latin typeface="微软雅黑"/>
                <a:ea typeface="微软雅黑"/>
                <a:cs typeface="微软雅黑"/>
              </a:rPr>
              <a:t>这类数据缺口，正是我们的入口。</a:t>
            </a:r>
            <a:endParaRPr sz="1275" b="1">
              <a:solidFill>
                <a:srgbClr val="FFFFFF">
                  <a:alpha val="100000"/>
                </a:srgbClr>
              </a:solidFill>
              <a:latin typeface="微软雅黑"/>
              <a:ea typeface="微软雅黑"/>
              <a:cs typeface="微软雅黑"/>
            </a:endParaRPr>
          </a:p>
        </p:txBody>
      </p:sp>
      <p:sp>
        <p:nvSpPr>
          <p:cNvPr id="371" name="文本框 305"/>
          <p:cNvSpPr>
            <a:spLocks noGrp="1"/>
          </p:cNvSpPr>
          <p:nvPr/>
        </p:nvSpPr>
        <p:spPr>
          <a:xfrm>
            <a:off x="533400" y="6381750"/>
            <a:ext cx="1781175"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Source: AIVC </a:t>
            </a:r>
            <a:r>
              <a:rPr sz="1050">
                <a:solidFill>
                  <a:srgbClr val="808080"/>
                </a:solidFill>
                <a:latin typeface="微软雅黑"/>
                <a:ea typeface="微软雅黑"/>
                <a:cs typeface="微软雅黑"/>
              </a:rPr>
              <a:t>商业故事</a:t>
            </a:r>
            <a:r>
              <a:rPr sz="1050">
                <a:solidFill>
                  <a:srgbClr val="808080"/>
                </a:solidFill>
                <a:latin typeface="微软雅黑"/>
                <a:ea typeface="微软雅黑"/>
                <a:cs typeface="微软雅黑"/>
              </a:rPr>
              <a:t> BP §3</a:t>
            </a:r>
            <a:endParaRPr sz="1050">
              <a:solidFill>
                <a:srgbClr val="808080"/>
              </a:solidFill>
              <a:latin typeface="微软雅黑"/>
              <a:ea typeface="微软雅黑"/>
              <a:cs typeface="微软雅黑"/>
            </a:endParaRPr>
          </a:p>
        </p:txBody>
      </p:sp>
      <p:sp>
        <p:nvSpPr>
          <p:cNvPr id="372" name="文本框 306"/>
          <p:cNvSpPr>
            <a:spLocks noGrp="1"/>
          </p:cNvSpPr>
          <p:nvPr/>
        </p:nvSpPr>
        <p:spPr>
          <a:xfrm>
            <a:off x="11201400" y="6381750"/>
            <a:ext cx="4572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07 / 18</a:t>
            </a:r>
            <a:endParaRPr sz="1050">
              <a:solidFill>
                <a:srgbClr val="808080"/>
              </a:solidFill>
              <a:latin typeface="微软雅黑"/>
              <a:ea typeface="微软雅黑"/>
              <a:cs typeface="微软雅黑"/>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4" name="矩形 308"/>
          <p:cNvSpPr>
            <a:spLocks noGrp="1"/>
          </p:cNvSpPr>
          <p:nvPr/>
        </p:nvSpPr>
        <p:spPr>
          <a:xfrm>
            <a:off x="0" y="0"/>
            <a:ext cx="12192000" cy="6858000"/>
          </a:xfrm>
          <a:prstGeom prst="rect">
            <a:avLst/>
          </a:prstGeom>
          <a:solidFill>
            <a:srgbClr val="062032"/>
          </a:solidFill>
        </p:spPr>
        <p:txBody>
          <a:bodyPr/>
          <a:lstStyle/>
          <a:p/>
        </p:txBody>
      </p:sp>
      <p:sp>
        <p:nvSpPr>
          <p:cNvPr id="375" name="文本框 309"/>
          <p:cNvSpPr>
            <a:spLocks noGrp="1"/>
          </p:cNvSpPr>
          <p:nvPr/>
        </p:nvSpPr>
        <p:spPr>
          <a:xfrm>
            <a:off x="4429125" y="2981325"/>
            <a:ext cx="2447925" cy="533400"/>
          </a:xfrm>
          <a:prstGeom prst="rect">
            <a:avLst/>
          </a:prstGeom>
        </p:spPr>
        <p:txBody>
          <a:bodyPr wrap="none" lIns="0" tIns="0" rIns="0" bIns="0"/>
          <a:lstStyle/>
          <a:p>
            <a:pPr>
              <a:lnSpc>
                <a:spcPct val="100000"/>
              </a:lnSpc>
              <a:buNone/>
            </a:pPr>
            <a:r>
              <a:rPr sz="3450" b="1">
                <a:solidFill>
                  <a:srgbClr val="FFFFFF"/>
                </a:solidFill>
                <a:latin typeface="微软雅黑"/>
                <a:ea typeface="微软雅黑"/>
                <a:cs typeface="微软雅黑"/>
              </a:rPr>
              <a:t>数据飞轮</a:t>
            </a:r>
            <a:endParaRPr sz="3450" b="1">
              <a:solidFill>
                <a:srgbClr val="FFFFFF"/>
              </a:solidFill>
              <a:latin typeface="微软雅黑"/>
              <a:ea typeface="微软雅黑"/>
              <a:cs typeface="微软雅黑"/>
            </a:endParaRPr>
          </a:p>
        </p:txBody>
      </p:sp>
      <p:sp>
        <p:nvSpPr>
          <p:cNvPr id="376" name="文本框 310"/>
          <p:cNvSpPr>
            <a:spLocks noGrp="1"/>
          </p:cNvSpPr>
          <p:nvPr/>
        </p:nvSpPr>
        <p:spPr>
          <a:xfrm>
            <a:off x="4429125" y="3648075"/>
            <a:ext cx="2447925" cy="228600"/>
          </a:xfrm>
          <a:prstGeom prst="rect">
            <a:avLst/>
          </a:prstGeom>
        </p:spPr>
        <p:txBody>
          <a:bodyPr wrap="none" lIns="0" tIns="0" rIns="0" bIns="0"/>
          <a:lstStyle/>
          <a:p>
            <a:pPr>
              <a:lnSpc>
                <a:spcPct val="100000"/>
              </a:lnSpc>
              <a:buNone/>
            </a:pPr>
            <a:r>
              <a:rPr sz="1500" spc="225">
                <a:solidFill>
                  <a:srgbClr val="99BDED"/>
                </a:solidFill>
                <a:latin typeface="微软雅黑"/>
                <a:ea typeface="微软雅黑"/>
                <a:cs typeface="微软雅黑"/>
              </a:rPr>
              <a:t>THE DATA FLYWHEEL</a:t>
            </a:r>
            <a:endParaRPr sz="1500" spc="225">
              <a:solidFill>
                <a:srgbClr val="99BDED"/>
              </a:solidFill>
              <a:latin typeface="微软雅黑"/>
              <a:ea typeface="微软雅黑"/>
              <a:cs typeface="微软雅黑"/>
            </a:endParaRPr>
          </a:p>
        </p:txBody>
      </p:sp>
      <p:sp>
        <p:nvSpPr>
          <p:cNvPr id="377" name="文本框 311"/>
          <p:cNvSpPr>
            <a:spLocks noGrp="1"/>
          </p:cNvSpPr>
          <p:nvPr/>
        </p:nvSpPr>
        <p:spPr>
          <a:xfrm>
            <a:off x="685800" y="1943100"/>
            <a:ext cx="3057525" cy="2971800"/>
          </a:xfrm>
          <a:prstGeom prst="rect">
            <a:avLst/>
          </a:prstGeom>
        </p:spPr>
        <p:txBody>
          <a:bodyPr wrap="none" lIns="0" tIns="0" rIns="0" bIns="0"/>
          <a:lstStyle/>
          <a:p>
            <a:pPr>
              <a:lnSpc>
                <a:spcPct val="100000"/>
              </a:lnSpc>
              <a:buNone/>
            </a:pPr>
            <a:r>
              <a:rPr sz="19500" b="1">
                <a:solidFill>
                  <a:srgbClr val="FFFFFF">
                    <a:alpha val="12000"/>
                  </a:srgbClr>
                </a:solidFill>
                <a:latin typeface="微软雅黑"/>
                <a:ea typeface="微软雅黑"/>
                <a:cs typeface="微软雅黑"/>
              </a:rPr>
              <a:t>02</a:t>
            </a:r>
            <a:endParaRPr sz="19500" b="1">
              <a:solidFill>
                <a:srgbClr val="FFFFFF">
                  <a:alpha val="12000"/>
                </a:srgbClr>
              </a:solidFill>
              <a:latin typeface="微软雅黑"/>
              <a:ea typeface="微软雅黑"/>
              <a:cs typeface="微软雅黑"/>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9" name="矩形 313"/>
          <p:cNvSpPr>
            <a:spLocks noGrp="1"/>
          </p:cNvSpPr>
          <p:nvPr/>
        </p:nvSpPr>
        <p:spPr>
          <a:xfrm>
            <a:off x="0" y="0"/>
            <a:ext cx="12192000" cy="6858000"/>
          </a:xfrm>
          <a:prstGeom prst="rect">
            <a:avLst/>
          </a:prstGeom>
          <a:solidFill>
            <a:srgbClr val="FFFFFF"/>
          </a:solidFill>
        </p:spPr>
        <p:txBody>
          <a:bodyPr/>
          <a:lstStyle/>
          <a:p/>
        </p:txBody>
      </p:sp>
      <p:sp>
        <p:nvSpPr>
          <p:cNvPr id="380" name="文本框 314"/>
          <p:cNvSpPr>
            <a:spLocks noGrp="1"/>
          </p:cNvSpPr>
          <p:nvPr/>
        </p:nvSpPr>
        <p:spPr>
          <a:xfrm>
            <a:off x="533400" y="419100"/>
            <a:ext cx="11125200" cy="381000"/>
          </a:xfrm>
          <a:prstGeom prst="rect">
            <a:avLst/>
          </a:prstGeom>
        </p:spPr>
        <p:txBody>
          <a:bodyPr wrap="none" lIns="0" tIns="0" rIns="0" bIns="0"/>
          <a:lstStyle/>
          <a:p>
            <a:pPr>
              <a:lnSpc>
                <a:spcPct val="100000"/>
              </a:lnSpc>
              <a:buNone/>
            </a:pPr>
            <a:r>
              <a:rPr sz="2475" b="1">
                <a:solidFill>
                  <a:srgbClr val="061F32"/>
                </a:solidFill>
                <a:latin typeface="微软雅黑"/>
                <a:ea typeface="微软雅黑"/>
                <a:cs typeface="微软雅黑"/>
              </a:rPr>
              <a:t>数据飞轮：双轨迹纵向校准，前瞻评分后再回灌</a:t>
            </a:r>
            <a:endParaRPr sz="2475" b="1">
              <a:solidFill>
                <a:srgbClr val="061F32"/>
              </a:solidFill>
              <a:latin typeface="微软雅黑"/>
              <a:ea typeface="微软雅黑"/>
              <a:cs typeface="微软雅黑"/>
            </a:endParaRPr>
          </a:p>
        </p:txBody>
      </p:sp>
      <p:sp>
        <p:nvSpPr>
          <p:cNvPr id="381" name="矩形 315"/>
          <p:cNvSpPr>
            <a:spLocks noGrp="1"/>
          </p:cNvSpPr>
          <p:nvPr/>
        </p:nvSpPr>
        <p:spPr>
          <a:xfrm>
            <a:off x="533400" y="895350"/>
            <a:ext cx="11125200" cy="9525"/>
          </a:xfrm>
          <a:prstGeom prst="rect">
            <a:avLst/>
          </a:prstGeom>
          <a:solidFill>
            <a:srgbClr val="061F32"/>
          </a:solidFill>
        </p:spPr>
        <p:txBody>
          <a:bodyPr/>
          <a:lstStyle/>
          <a:p/>
        </p:txBody>
      </p:sp>
      <p:sp>
        <p:nvSpPr>
          <p:cNvPr id="382" name="矩形 316"/>
          <p:cNvSpPr>
            <a:spLocks noGrp="1"/>
          </p:cNvSpPr>
          <p:nvPr/>
        </p:nvSpPr>
        <p:spPr>
          <a:xfrm>
            <a:off x="533400" y="1019175"/>
            <a:ext cx="2762250" cy="990600"/>
          </a:xfrm>
          <a:prstGeom prst="rect">
            <a:avLst/>
          </a:prstGeom>
          <a:solidFill>
            <a:srgbClr val="061F32"/>
          </a:solidFill>
        </p:spPr>
        <p:txBody>
          <a:bodyPr/>
          <a:lstStyle/>
          <a:p/>
        </p:txBody>
      </p:sp>
      <p:sp>
        <p:nvSpPr>
          <p:cNvPr id="383" name="文本框 317"/>
          <p:cNvSpPr>
            <a:spLocks noGrp="1"/>
          </p:cNvSpPr>
          <p:nvPr/>
        </p:nvSpPr>
        <p:spPr>
          <a:xfrm>
            <a:off x="704850" y="1247775"/>
            <a:ext cx="2419350" cy="228600"/>
          </a:xfrm>
          <a:prstGeom prst="rect">
            <a:avLst/>
          </a:prstGeom>
        </p:spPr>
        <p:txBody>
          <a:bodyPr wrap="none" lIns="0" tIns="0" rIns="0" bIns="0"/>
          <a:lstStyle/>
          <a:p>
            <a:pPr>
              <a:lnSpc>
                <a:spcPct val="100000"/>
              </a:lnSpc>
              <a:buNone/>
            </a:pPr>
            <a:r>
              <a:rPr sz="1500" b="1">
                <a:solidFill>
                  <a:srgbClr val="FFFFFF"/>
                </a:solidFill>
                <a:latin typeface="微软雅黑"/>
                <a:ea typeface="微软雅黑"/>
                <a:cs typeface="微软雅黑"/>
              </a:rPr>
              <a:t>① </a:t>
            </a:r>
            <a:r>
              <a:rPr sz="1500" b="1">
                <a:solidFill>
                  <a:srgbClr val="FFFFFF"/>
                </a:solidFill>
                <a:latin typeface="微软雅黑"/>
                <a:ea typeface="微软雅黑"/>
                <a:cs typeface="微软雅黑"/>
              </a:rPr>
              <a:t>验证结果回灌</a:t>
            </a:r>
            <a:endParaRPr sz="1500" b="1">
              <a:solidFill>
                <a:srgbClr val="FFFFFF"/>
              </a:solidFill>
              <a:latin typeface="微软雅黑"/>
              <a:ea typeface="微软雅黑"/>
              <a:cs typeface="微软雅黑"/>
            </a:endParaRPr>
          </a:p>
        </p:txBody>
      </p:sp>
      <p:sp>
        <p:nvSpPr>
          <p:cNvPr id="384" name="文本框 318"/>
          <p:cNvSpPr>
            <a:spLocks noGrp="1"/>
          </p:cNvSpPr>
          <p:nvPr/>
        </p:nvSpPr>
        <p:spPr>
          <a:xfrm>
            <a:off x="704850" y="1533525"/>
            <a:ext cx="2419350" cy="247650"/>
          </a:xfrm>
          <a:prstGeom prst="rect">
            <a:avLst/>
          </a:prstGeom>
        </p:spPr>
        <p:txBody>
          <a:bodyPr wrap="none" lIns="0" tIns="0" rIns="0" bIns="0"/>
          <a:lstStyle/>
          <a:p>
            <a:pPr>
              <a:lnSpc>
                <a:spcPct val="140000"/>
              </a:lnSpc>
              <a:buNone/>
            </a:pPr>
            <a:r>
              <a:rPr sz="1125">
                <a:solidFill>
                  <a:srgbClr val="99BDED"/>
                </a:solidFill>
                <a:latin typeface="微软雅黑"/>
                <a:ea typeface="微软雅黑"/>
                <a:cs typeface="微软雅黑"/>
              </a:rPr>
              <a:t>前瞻评分产出可信监督信号</a:t>
            </a:r>
            <a:endParaRPr sz="1125">
              <a:solidFill>
                <a:srgbClr val="99BDED"/>
              </a:solidFill>
              <a:latin typeface="微软雅黑"/>
              <a:ea typeface="微软雅黑"/>
              <a:cs typeface="微软雅黑"/>
            </a:endParaRPr>
          </a:p>
        </p:txBody>
      </p:sp>
      <p:pic>
        <p:nvPicPr>
          <p:cNvPr id="437" name="图片 31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324225" y="1400175"/>
            <a:ext cx="342900" cy="228600"/>
          </a:xfrm>
          <a:prstGeom prst="rect">
            <a:avLst/>
          </a:prstGeom>
        </p:spPr>
      </p:pic>
      <p:sp>
        <p:nvSpPr>
          <p:cNvPr id="386" name="矩形 320"/>
          <p:cNvSpPr>
            <a:spLocks noGrp="1"/>
          </p:cNvSpPr>
          <p:nvPr/>
        </p:nvSpPr>
        <p:spPr>
          <a:xfrm>
            <a:off x="3762375" y="1019175"/>
            <a:ext cx="2762250" cy="990600"/>
          </a:xfrm>
          <a:prstGeom prst="rect">
            <a:avLst/>
          </a:prstGeom>
          <a:solidFill>
            <a:srgbClr val="FFFFFF"/>
          </a:solidFill>
          <a:ln w="25400">
            <a:solidFill>
              <a:srgbClr val="061F32"/>
            </a:solidFill>
            <a:prstDash val="solid"/>
          </a:ln>
        </p:spPr>
        <p:txBody>
          <a:bodyPr/>
          <a:lstStyle/>
          <a:p/>
        </p:txBody>
      </p:sp>
      <p:sp>
        <p:nvSpPr>
          <p:cNvPr id="387" name="文本框 321"/>
          <p:cNvSpPr>
            <a:spLocks noGrp="1"/>
          </p:cNvSpPr>
          <p:nvPr/>
        </p:nvSpPr>
        <p:spPr>
          <a:xfrm>
            <a:off x="3933825" y="1247775"/>
            <a:ext cx="2419350" cy="228600"/>
          </a:xfrm>
          <a:prstGeom prst="rect">
            <a:avLst/>
          </a:prstGeom>
        </p:spPr>
        <p:txBody>
          <a:bodyPr wrap="none" lIns="0" tIns="0" rIns="0" bIns="0"/>
          <a:lstStyle/>
          <a:p>
            <a:pPr>
              <a:lnSpc>
                <a:spcPct val="100000"/>
              </a:lnSpc>
              <a:buNone/>
            </a:pPr>
            <a:r>
              <a:rPr sz="1500" b="1">
                <a:solidFill>
                  <a:srgbClr val="061F32"/>
                </a:solidFill>
                <a:latin typeface="微软雅黑"/>
                <a:ea typeface="微软雅黑"/>
                <a:cs typeface="微软雅黑"/>
              </a:rPr>
              <a:t>② 模型</a:t>
            </a:r>
            <a:r>
              <a:rPr sz="1500" b="1">
                <a:solidFill>
                  <a:srgbClr val="061F32"/>
                </a:solidFill>
                <a:latin typeface="微软雅黑" charset="0"/>
                <a:ea typeface="微软雅黑" charset="0"/>
                <a:cs typeface="微软雅黑" charset="0"/>
              </a:rPr>
              <a:t>精度迭代提升</a:t>
            </a:r>
            <a:endParaRPr>
              <a:latin typeface="微软雅黑" charset="0"/>
              <a:ea typeface="微软雅黑" charset="0"/>
              <a:cs typeface="微软雅黑" charset="0"/>
            </a:endParaRPr>
          </a:p>
        </p:txBody>
      </p:sp>
      <p:sp>
        <p:nvSpPr>
          <p:cNvPr id="388" name="文本框 322"/>
          <p:cNvSpPr>
            <a:spLocks noGrp="1"/>
          </p:cNvSpPr>
          <p:nvPr/>
        </p:nvSpPr>
        <p:spPr>
          <a:xfrm>
            <a:off x="3933825" y="1533525"/>
            <a:ext cx="2419350" cy="247650"/>
          </a:xfrm>
          <a:prstGeom prst="rect">
            <a:avLst/>
          </a:prstGeom>
        </p:spPr>
        <p:txBody>
          <a:bodyPr wrap="none" lIns="0" tIns="0" rIns="0" bIns="0"/>
          <a:lstStyle/>
          <a:p>
            <a:pPr>
              <a:lnSpc>
                <a:spcPct val="140000"/>
              </a:lnSpc>
              <a:buNone/>
            </a:pPr>
            <a:r>
              <a:rPr sz="1125">
                <a:solidFill>
                  <a:srgbClr val="44546A"/>
                </a:solidFill>
                <a:latin typeface="微软雅黑"/>
                <a:ea typeface="微软雅黑"/>
                <a:cs typeface="微软雅黑"/>
              </a:rPr>
              <a:t>每一轮回灌，预测误差持续收敛</a:t>
            </a:r>
            <a:endParaRPr sz="1125">
              <a:solidFill>
                <a:srgbClr val="44546A"/>
              </a:solidFill>
              <a:latin typeface="微软雅黑"/>
              <a:ea typeface="微软雅黑"/>
              <a:cs typeface="微软雅黑"/>
            </a:endParaRPr>
          </a:p>
        </p:txBody>
      </p:sp>
      <p:pic>
        <p:nvPicPr>
          <p:cNvPr id="441" name="图片 32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4025" y="2009775"/>
            <a:ext cx="228600" cy="495300"/>
          </a:xfrm>
          <a:prstGeom prst="rect">
            <a:avLst/>
          </a:prstGeom>
        </p:spPr>
      </p:pic>
      <p:pic>
        <p:nvPicPr>
          <p:cNvPr id="442" name="图片 324"/>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5019675" y="2009775"/>
            <a:ext cx="228600" cy="495300"/>
          </a:xfrm>
          <a:prstGeom prst="rect">
            <a:avLst/>
          </a:prstGeom>
        </p:spPr>
      </p:pic>
      <p:sp>
        <p:nvSpPr>
          <p:cNvPr id="391" name="矩形 325"/>
          <p:cNvSpPr>
            <a:spLocks noGrp="1"/>
          </p:cNvSpPr>
          <p:nvPr/>
        </p:nvSpPr>
        <p:spPr>
          <a:xfrm>
            <a:off x="533400" y="2505075"/>
            <a:ext cx="2762250" cy="990600"/>
          </a:xfrm>
          <a:prstGeom prst="rect">
            <a:avLst/>
          </a:prstGeom>
          <a:solidFill>
            <a:srgbClr val="FFFFFF"/>
          </a:solidFill>
          <a:ln w="25400">
            <a:solidFill>
              <a:srgbClr val="08A6F6"/>
            </a:solidFill>
            <a:prstDash val="solid"/>
          </a:ln>
        </p:spPr>
        <p:txBody>
          <a:bodyPr/>
          <a:lstStyle/>
          <a:p/>
        </p:txBody>
      </p:sp>
      <p:sp>
        <p:nvSpPr>
          <p:cNvPr id="392" name="文本框 326"/>
          <p:cNvSpPr>
            <a:spLocks noGrp="1"/>
          </p:cNvSpPr>
          <p:nvPr/>
        </p:nvSpPr>
        <p:spPr>
          <a:xfrm>
            <a:off x="704850" y="2733675"/>
            <a:ext cx="2419350" cy="228600"/>
          </a:xfrm>
          <a:prstGeom prst="rect">
            <a:avLst/>
          </a:prstGeom>
        </p:spPr>
        <p:txBody>
          <a:bodyPr wrap="none" lIns="0" tIns="0" rIns="0" bIns="0"/>
          <a:lstStyle/>
          <a:p>
            <a:pPr>
              <a:lnSpc>
                <a:spcPct val="100000"/>
              </a:lnSpc>
              <a:buNone/>
            </a:pPr>
            <a:r>
              <a:rPr sz="1500" b="1">
                <a:solidFill>
                  <a:srgbClr val="061F32"/>
                </a:solidFill>
                <a:latin typeface="微软雅黑"/>
                <a:ea typeface="微软雅黑"/>
                <a:cs typeface="微软雅黑"/>
              </a:rPr>
              <a:t>④ </a:t>
            </a:r>
            <a:r>
              <a:rPr lang="zh-CN" altLang="en-US" sz="1500" b="1">
                <a:solidFill>
                  <a:srgbClr val="061F32"/>
                </a:solidFill>
                <a:latin typeface="微软雅黑"/>
                <a:ea typeface="微软雅黑"/>
                <a:cs typeface="Arial" panose="020B0604020202020204" pitchFamily="34" charset="0"/>
              </a:rPr>
              <a:t>纵向</a:t>
            </a:r>
            <a:r>
              <a:rPr sz="1500" b="1">
                <a:solidFill>
                  <a:srgbClr val="061F32"/>
                </a:solidFill>
                <a:latin typeface="微软雅黑"/>
                <a:ea typeface="微软雅黑"/>
                <a:cs typeface="微软雅黑"/>
              </a:rPr>
              <a:t>数据</a:t>
            </a:r>
            <a:r>
              <a:rPr lang="zh-CN" altLang="en-US" sz="1500" b="1">
                <a:solidFill>
                  <a:srgbClr val="061F32"/>
                </a:solidFill>
                <a:latin typeface="微软雅黑"/>
                <a:ea typeface="微软雅黑"/>
                <a:cs typeface="微软雅黑"/>
              </a:rPr>
              <a:t>集持续增</a:t>
            </a:r>
            <a:r>
              <a:rPr sz="1500" b="1">
                <a:solidFill>
                  <a:srgbClr val="061F32"/>
                </a:solidFill>
                <a:latin typeface="微软雅黑"/>
                <a:ea typeface="微软雅黑"/>
                <a:cs typeface="微软雅黑"/>
              </a:rPr>
              <a:t>厚</a:t>
            </a:r>
            <a:endParaRPr sz="1500" b="1">
              <a:solidFill>
                <a:srgbClr val="061F32"/>
              </a:solidFill>
              <a:latin typeface="微软雅黑"/>
              <a:ea typeface="微软雅黑"/>
              <a:cs typeface="微软雅黑"/>
            </a:endParaRPr>
          </a:p>
        </p:txBody>
      </p:sp>
      <p:sp>
        <p:nvSpPr>
          <p:cNvPr id="393" name="文本框 327"/>
          <p:cNvSpPr>
            <a:spLocks noGrp="1"/>
          </p:cNvSpPr>
          <p:nvPr/>
        </p:nvSpPr>
        <p:spPr>
          <a:xfrm>
            <a:off x="704850" y="3019425"/>
            <a:ext cx="2419350" cy="247650"/>
          </a:xfrm>
          <a:prstGeom prst="rect">
            <a:avLst/>
          </a:prstGeom>
        </p:spPr>
        <p:txBody>
          <a:bodyPr wrap="none" lIns="0" tIns="0" rIns="0" bIns="0"/>
          <a:lstStyle/>
          <a:p>
            <a:pPr>
              <a:lnSpc>
                <a:spcPct val="140000"/>
              </a:lnSpc>
              <a:buNone/>
            </a:pPr>
            <a:r>
              <a:rPr sz="1125">
                <a:solidFill>
                  <a:srgbClr val="44546A"/>
                </a:solidFill>
                <a:latin typeface="微软雅黑"/>
                <a:ea typeface="微软雅黑"/>
                <a:cs typeface="微软雅黑"/>
              </a:rPr>
              <a:t>项目</a:t>
            </a:r>
            <a:r>
              <a:rPr lang="zh-CN" altLang="en-US" sz="1125">
                <a:solidFill>
                  <a:srgbClr val="44546A"/>
                </a:solidFill>
                <a:latin typeface="微软雅黑"/>
                <a:ea typeface="微软雅黑"/>
                <a:cs typeface="Arial" panose="020B0604020202020204" pitchFamily="34" charset="0"/>
              </a:rPr>
              <a:t>沉淀</a:t>
            </a:r>
            <a:r>
              <a:rPr sz="1125">
                <a:solidFill>
                  <a:srgbClr val="44546A"/>
                </a:solidFill>
                <a:latin typeface="微软雅黑"/>
                <a:ea typeface="微软雅黑"/>
                <a:cs typeface="微软雅黑"/>
              </a:rPr>
              <a:t>更多纵向扰动配对数据</a:t>
            </a:r>
            <a:endParaRPr sz="1125">
              <a:solidFill>
                <a:srgbClr val="44546A"/>
              </a:solidFill>
              <a:latin typeface="微软雅黑"/>
              <a:ea typeface="微软雅黑"/>
              <a:cs typeface="微软雅黑"/>
            </a:endParaRPr>
          </a:p>
        </p:txBody>
      </p:sp>
      <p:pic>
        <p:nvPicPr>
          <p:cNvPr id="446" name="图片 328"/>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3324225" y="2886075"/>
            <a:ext cx="342900" cy="228600"/>
          </a:xfrm>
          <a:prstGeom prst="rect">
            <a:avLst/>
          </a:prstGeom>
        </p:spPr>
      </p:pic>
      <p:sp>
        <p:nvSpPr>
          <p:cNvPr id="395" name="矩形 329"/>
          <p:cNvSpPr>
            <a:spLocks noGrp="1"/>
          </p:cNvSpPr>
          <p:nvPr/>
        </p:nvSpPr>
        <p:spPr>
          <a:xfrm>
            <a:off x="3762375" y="2505075"/>
            <a:ext cx="2762250" cy="990600"/>
          </a:xfrm>
          <a:prstGeom prst="rect">
            <a:avLst/>
          </a:prstGeom>
          <a:solidFill>
            <a:srgbClr val="FFFFFF"/>
          </a:solidFill>
          <a:ln w="25400">
            <a:solidFill>
              <a:srgbClr val="061F32"/>
            </a:solidFill>
            <a:prstDash val="solid"/>
          </a:ln>
        </p:spPr>
        <p:txBody>
          <a:bodyPr/>
          <a:lstStyle/>
          <a:p/>
        </p:txBody>
      </p:sp>
      <p:sp>
        <p:nvSpPr>
          <p:cNvPr id="396" name="文本框 330"/>
          <p:cNvSpPr>
            <a:spLocks noGrp="1"/>
          </p:cNvSpPr>
          <p:nvPr/>
        </p:nvSpPr>
        <p:spPr>
          <a:xfrm>
            <a:off x="3933825" y="2619375"/>
            <a:ext cx="2419350" cy="228600"/>
          </a:xfrm>
          <a:prstGeom prst="rect">
            <a:avLst/>
          </a:prstGeom>
        </p:spPr>
        <p:txBody>
          <a:bodyPr wrap="none" lIns="0" tIns="0" rIns="0" bIns="0"/>
          <a:lstStyle/>
          <a:p>
            <a:pPr>
              <a:lnSpc>
                <a:spcPct val="100000"/>
              </a:lnSpc>
              <a:buNone/>
            </a:pPr>
            <a:r>
              <a:rPr sz="1500" b="1">
                <a:solidFill>
                  <a:srgbClr val="061F32"/>
                </a:solidFill>
                <a:latin typeface="微软雅黑"/>
                <a:ea typeface="微软雅黑"/>
                <a:cs typeface="微软雅黑"/>
              </a:rPr>
              <a:t>③ </a:t>
            </a:r>
            <a:r>
              <a:rPr sz="1500" b="1">
                <a:solidFill>
                  <a:srgbClr val="061F32"/>
                </a:solidFill>
                <a:latin typeface="微软雅黑"/>
                <a:ea typeface="微软雅黑"/>
                <a:cs typeface="微软雅黑"/>
              </a:rPr>
              <a:t>覆盖更大</a:t>
            </a:r>
            <a:r>
              <a:rPr sz="1500" b="1">
                <a:solidFill>
                  <a:srgbClr val="061F32"/>
                </a:solidFill>
                <a:latin typeface="微软雅黑"/>
                <a:ea typeface="微软雅黑"/>
                <a:cs typeface="微软雅黑"/>
              </a:rPr>
              <a:t> · </a:t>
            </a:r>
            <a:r>
              <a:rPr sz="1500" b="1">
                <a:solidFill>
                  <a:srgbClr val="061F32"/>
                </a:solidFill>
                <a:latin typeface="微软雅黑"/>
                <a:ea typeface="微软雅黑"/>
                <a:cs typeface="微软雅黑"/>
              </a:rPr>
              <a:t>项目更多</a:t>
            </a:r>
            <a:endParaRPr sz="1500" b="1">
              <a:solidFill>
                <a:srgbClr val="061F32"/>
              </a:solidFill>
              <a:latin typeface="微软雅黑"/>
              <a:ea typeface="微软雅黑"/>
              <a:cs typeface="微软雅黑"/>
            </a:endParaRPr>
          </a:p>
        </p:txBody>
      </p:sp>
      <p:sp>
        <p:nvSpPr>
          <p:cNvPr id="397" name="文本框 331"/>
          <p:cNvSpPr>
            <a:spLocks noGrp="1"/>
          </p:cNvSpPr>
          <p:nvPr/>
        </p:nvSpPr>
        <p:spPr>
          <a:xfrm>
            <a:off x="3933825" y="2905125"/>
            <a:ext cx="2419350" cy="485775"/>
          </a:xfrm>
          <a:prstGeom prst="rect">
            <a:avLst/>
          </a:prstGeom>
        </p:spPr>
        <p:txBody>
          <a:bodyPr wrap="square" lIns="0" tIns="0" rIns="0" bIns="0">
            <a:normAutofit/>
          </a:bodyPr>
          <a:lstStyle/>
          <a:p>
            <a:pPr>
              <a:lnSpc>
                <a:spcPct val="140000"/>
              </a:lnSpc>
              <a:buNone/>
            </a:pPr>
            <a:r>
              <a:rPr sz="1125">
                <a:solidFill>
                  <a:srgbClr val="44546A"/>
                </a:solidFill>
                <a:latin typeface="微软雅黑"/>
                <a:ea typeface="微软雅黑"/>
                <a:cs typeface="微软雅黑"/>
              </a:rPr>
              <a:t>能承接的候选空间与客户项目同步扩张</a:t>
            </a:r>
            <a:endParaRPr sz="1125">
              <a:solidFill>
                <a:srgbClr val="44546A"/>
              </a:solidFill>
              <a:latin typeface="微软雅黑"/>
              <a:ea typeface="微软雅黑"/>
              <a:cs typeface="微软雅黑"/>
            </a:endParaRPr>
          </a:p>
        </p:txBody>
      </p:sp>
      <p:sp>
        <p:nvSpPr>
          <p:cNvPr id="398" name="文本框 332"/>
          <p:cNvSpPr>
            <a:spLocks noGrp="1"/>
          </p:cNvSpPr>
          <p:nvPr/>
        </p:nvSpPr>
        <p:spPr>
          <a:xfrm>
            <a:off x="533400" y="3590925"/>
            <a:ext cx="5905500" cy="171450"/>
          </a:xfrm>
          <a:prstGeom prst="rect">
            <a:avLst/>
          </a:prstGeom>
        </p:spPr>
        <p:txBody>
          <a:bodyPr wrap="none" lIns="0" tIns="0" rIns="0" bIns="0"/>
          <a:lstStyle/>
          <a:p>
            <a:pPr>
              <a:lnSpc>
                <a:spcPct val="100000"/>
              </a:lnSpc>
              <a:buNone/>
            </a:pPr>
            <a:r>
              <a:rPr sz="1125">
                <a:solidFill>
                  <a:srgbClr val="808080">
                    <a:alpha val="100000"/>
                  </a:srgbClr>
                </a:solidFill>
                <a:latin typeface="微软雅黑"/>
                <a:ea typeface="微软雅黑"/>
                <a:cs typeface="微软雅黑"/>
              </a:rPr>
              <a:t>回灌闭环：模型更准、项目更多、纵向数据更厚</a:t>
            </a:r>
            <a:endParaRPr sz="1125">
              <a:solidFill>
                <a:srgbClr val="808080">
                  <a:alpha val="100000"/>
                </a:srgbClr>
              </a:solidFill>
              <a:latin typeface="微软雅黑"/>
              <a:ea typeface="微软雅黑"/>
              <a:cs typeface="微软雅黑"/>
            </a:endParaRPr>
          </a:p>
        </p:txBody>
      </p:sp>
      <p:sp>
        <p:nvSpPr>
          <p:cNvPr id="399" name="文本框 333"/>
          <p:cNvSpPr>
            <a:spLocks noGrp="1"/>
          </p:cNvSpPr>
          <p:nvPr/>
        </p:nvSpPr>
        <p:spPr>
          <a:xfrm>
            <a:off x="6743700" y="1019175"/>
            <a:ext cx="4914900" cy="257175"/>
          </a:xfrm>
          <a:prstGeom prst="rect">
            <a:avLst/>
          </a:prstGeom>
        </p:spPr>
        <p:txBody>
          <a:bodyPr wrap="none" lIns="0" tIns="0" rIns="0" bIns="0"/>
          <a:lstStyle/>
          <a:p>
            <a:pPr>
              <a:lnSpc>
                <a:spcPct val="100000"/>
              </a:lnSpc>
              <a:buNone/>
            </a:pPr>
            <a:r>
              <a:rPr sz="1650" b="1">
                <a:solidFill>
                  <a:srgbClr val="061F32">
                    <a:alpha val="100000"/>
                  </a:srgbClr>
                </a:solidFill>
                <a:latin typeface="微软雅黑"/>
                <a:ea typeface="微软雅黑"/>
                <a:cs typeface="微软雅黑"/>
              </a:rPr>
              <a:t>飞轮运行逻辑</a:t>
            </a:r>
            <a:endParaRPr sz="1650" b="1">
              <a:solidFill>
                <a:srgbClr val="061F32">
                  <a:alpha val="100000"/>
                </a:srgbClr>
              </a:solidFill>
              <a:latin typeface="微软雅黑"/>
              <a:ea typeface="微软雅黑"/>
              <a:cs typeface="微软雅黑"/>
            </a:endParaRPr>
          </a:p>
        </p:txBody>
      </p:sp>
      <p:sp>
        <p:nvSpPr>
          <p:cNvPr id="400" name="任意多边形 334"/>
          <p:cNvSpPr>
            <a:spLocks noGrp="1"/>
          </p:cNvSpPr>
          <p:nvPr/>
        </p:nvSpPr>
        <p:spPr>
          <a:xfrm>
            <a:off x="6743700" y="1409700"/>
            <a:ext cx="4943475" cy="514350"/>
          </a:xfrm>
          <a:custGeom>
            <a:avLst/>
            <a:gdLst/>
            <a:ahLst/>
            <a:cxnLst/>
            <a:pathLst>
              <a:path w="519" h="54">
                <a:moveTo>
                  <a:pt x="0" y="0"/>
                </a:moveTo>
                <a:lnTo>
                  <a:pt x="3" y="0"/>
                </a:lnTo>
                <a:lnTo>
                  <a:pt x="3" y="54"/>
                </a:lnTo>
                <a:lnTo>
                  <a:pt x="0" y="54"/>
                </a:lnTo>
                <a:close/>
              </a:path>
            </a:pathLst>
          </a:custGeom>
          <a:solidFill>
            <a:srgbClr val="99BDED"/>
          </a:solidFill>
        </p:spPr>
        <p:txBody>
          <a:bodyPr/>
          <a:lstStyle/>
          <a:p/>
        </p:txBody>
      </p:sp>
      <p:sp>
        <p:nvSpPr>
          <p:cNvPr id="401" name="文本框 335"/>
          <p:cNvSpPr>
            <a:spLocks noGrp="1"/>
          </p:cNvSpPr>
          <p:nvPr/>
        </p:nvSpPr>
        <p:spPr>
          <a:xfrm>
            <a:off x="6924675" y="1409700"/>
            <a:ext cx="4733925" cy="209550"/>
          </a:xfrm>
          <a:prstGeom prst="rect">
            <a:avLst/>
          </a:prstGeom>
        </p:spPr>
        <p:txBody>
          <a:bodyPr wrap="none" lIns="0" tIns="0" rIns="0" bIns="0"/>
          <a:lstStyle/>
          <a:p>
            <a:pPr>
              <a:lnSpc>
                <a:spcPct val="100000"/>
              </a:lnSpc>
              <a:buNone/>
            </a:pPr>
            <a:r>
              <a:rPr sz="1350" b="1">
                <a:solidFill>
                  <a:srgbClr val="061F32"/>
                </a:solidFill>
                <a:latin typeface="微软雅黑"/>
                <a:ea typeface="微软雅黑"/>
                <a:cs typeface="微软雅黑"/>
              </a:rPr>
              <a:t>海量无标注数据</a:t>
            </a:r>
            <a:r>
              <a:rPr sz="1350" b="1">
                <a:solidFill>
                  <a:srgbClr val="061F32"/>
                </a:solidFill>
                <a:latin typeface="微软雅黑"/>
                <a:ea typeface="微软雅黑"/>
                <a:cs typeface="微软雅黑"/>
              </a:rPr>
              <a:t> · </a:t>
            </a:r>
            <a:r>
              <a:rPr sz="1350" b="1">
                <a:solidFill>
                  <a:srgbClr val="061F32"/>
                </a:solidFill>
                <a:latin typeface="微软雅黑"/>
                <a:ea typeface="微软雅黑"/>
                <a:cs typeface="微软雅黑"/>
              </a:rPr>
              <a:t>自监督预训练</a:t>
            </a:r>
            <a:endParaRPr sz="1350" b="1">
              <a:solidFill>
                <a:srgbClr val="061F32"/>
              </a:solidFill>
              <a:latin typeface="微软雅黑"/>
              <a:ea typeface="微软雅黑"/>
              <a:cs typeface="微软雅黑"/>
            </a:endParaRPr>
          </a:p>
        </p:txBody>
      </p:sp>
      <p:sp>
        <p:nvSpPr>
          <p:cNvPr id="402" name="文本框 336"/>
          <p:cNvSpPr>
            <a:spLocks noGrp="1"/>
          </p:cNvSpPr>
          <p:nvPr/>
        </p:nvSpPr>
        <p:spPr>
          <a:xfrm>
            <a:off x="6924675" y="1657350"/>
            <a:ext cx="5097877" cy="266700"/>
          </a:xfrm>
          <a:prstGeom prst="rect">
            <a:avLst/>
          </a:prstGeom>
        </p:spPr>
        <p:txBody>
          <a:bodyPr wrap="none" lIns="0" tIns="0" rIns="0" bIns="0"/>
          <a:lstStyle/>
          <a:p>
            <a:pPr>
              <a:lnSpc>
                <a:spcPct val="145000"/>
              </a:lnSpc>
              <a:buNone/>
            </a:pPr>
            <a:r>
              <a:rPr sz="1200">
                <a:solidFill>
                  <a:srgbClr val="44546A"/>
                </a:solidFill>
                <a:latin typeface="微软雅黑"/>
                <a:ea typeface="微软雅黑"/>
                <a:cs typeface="微软雅黑"/>
              </a:rPr>
              <a:t>让模型先学会「细胞状态长什么样」——</a:t>
            </a:r>
            <a:r>
              <a:rPr lang="zh-CN" altLang="en-US" sz="1200">
                <a:solidFill>
                  <a:srgbClr val="44546A"/>
                </a:solidFill>
                <a:latin typeface="微软雅黑"/>
                <a:ea typeface="微软雅黑"/>
                <a:cs typeface="微软雅黑"/>
              </a:rPr>
              <a:t>成本低，体</a:t>
            </a:r>
            <a:r>
              <a:rPr sz="1200">
                <a:solidFill>
                  <a:srgbClr val="44546A"/>
                </a:solidFill>
                <a:latin typeface="微软雅黑"/>
                <a:ea typeface="微软雅黑"/>
                <a:cs typeface="微软雅黑"/>
              </a:rPr>
              <a:t>量大、</a:t>
            </a:r>
            <a:r>
              <a:rPr lang="zh-CN" altLang="en-US" sz="1200">
                <a:solidFill>
                  <a:srgbClr val="44546A"/>
                </a:solidFill>
                <a:latin typeface="微软雅黑"/>
                <a:ea typeface="微软雅黑"/>
                <a:cs typeface="微软雅黑"/>
              </a:rPr>
              <a:t>缓解</a:t>
            </a:r>
            <a:r>
              <a:rPr sz="1200">
                <a:solidFill>
                  <a:srgbClr val="44546A"/>
                </a:solidFill>
                <a:latin typeface="微软雅黑"/>
                <a:ea typeface="微软雅黑"/>
                <a:cs typeface="微软雅黑"/>
              </a:rPr>
              <a:t>数据</a:t>
            </a:r>
            <a:r>
              <a:rPr lang="zh-CN" altLang="en-US" sz="1200">
                <a:solidFill>
                  <a:srgbClr val="44546A"/>
                </a:solidFill>
                <a:latin typeface="微软雅黑"/>
                <a:ea typeface="微软雅黑"/>
                <a:cs typeface="微软雅黑"/>
              </a:rPr>
              <a:t>短缺</a:t>
            </a:r>
            <a:endParaRPr sz="1200">
              <a:solidFill>
                <a:srgbClr val="44546A"/>
              </a:solidFill>
              <a:latin typeface="微软雅黑"/>
              <a:ea typeface="微软雅黑"/>
              <a:cs typeface="微软雅黑"/>
            </a:endParaRPr>
          </a:p>
        </p:txBody>
      </p:sp>
      <p:sp>
        <p:nvSpPr>
          <p:cNvPr id="403" name="任意多边形 337"/>
          <p:cNvSpPr>
            <a:spLocks noGrp="1"/>
          </p:cNvSpPr>
          <p:nvPr/>
        </p:nvSpPr>
        <p:spPr>
          <a:xfrm>
            <a:off x="6743700" y="2057400"/>
            <a:ext cx="4943475" cy="514350"/>
          </a:xfrm>
          <a:custGeom>
            <a:avLst/>
            <a:gdLst/>
            <a:ahLst/>
            <a:cxnLst/>
            <a:pathLst>
              <a:path w="519" h="54">
                <a:moveTo>
                  <a:pt x="0" y="0"/>
                </a:moveTo>
                <a:lnTo>
                  <a:pt x="3" y="0"/>
                </a:lnTo>
                <a:lnTo>
                  <a:pt x="3" y="54"/>
                </a:lnTo>
                <a:lnTo>
                  <a:pt x="0" y="54"/>
                </a:lnTo>
                <a:close/>
              </a:path>
            </a:pathLst>
          </a:custGeom>
          <a:solidFill>
            <a:srgbClr val="99BDED"/>
          </a:solidFill>
        </p:spPr>
        <p:txBody>
          <a:bodyPr/>
          <a:lstStyle/>
          <a:p/>
        </p:txBody>
      </p:sp>
      <p:sp>
        <p:nvSpPr>
          <p:cNvPr id="404" name="文本框 338"/>
          <p:cNvSpPr>
            <a:spLocks noGrp="1"/>
          </p:cNvSpPr>
          <p:nvPr/>
        </p:nvSpPr>
        <p:spPr>
          <a:xfrm>
            <a:off x="6924675" y="2057400"/>
            <a:ext cx="4733925" cy="209550"/>
          </a:xfrm>
          <a:prstGeom prst="rect">
            <a:avLst/>
          </a:prstGeom>
        </p:spPr>
        <p:txBody>
          <a:bodyPr wrap="none" lIns="0" tIns="0" rIns="0" bIns="0"/>
          <a:lstStyle/>
          <a:p>
            <a:pPr>
              <a:lnSpc>
                <a:spcPct val="100000"/>
              </a:lnSpc>
              <a:buNone/>
            </a:pPr>
            <a:r>
              <a:rPr sz="1350" b="1">
                <a:solidFill>
                  <a:srgbClr val="061F32"/>
                </a:solidFill>
                <a:latin typeface="微软雅黑"/>
                <a:ea typeface="微软雅黑"/>
                <a:cs typeface="微软雅黑"/>
              </a:rPr>
              <a:t>患者-PDO 纵向扰动数据 · 状态转移学习</a:t>
            </a:r>
            <a:endParaRPr sz="1350" b="1">
              <a:solidFill>
                <a:srgbClr val="061F32"/>
              </a:solidFill>
              <a:latin typeface="微软雅黑"/>
              <a:ea typeface="微软雅黑"/>
              <a:cs typeface="微软雅黑"/>
            </a:endParaRPr>
          </a:p>
        </p:txBody>
      </p:sp>
      <p:sp>
        <p:nvSpPr>
          <p:cNvPr id="405" name="文本框 339"/>
          <p:cNvSpPr>
            <a:spLocks noGrp="1"/>
          </p:cNvSpPr>
          <p:nvPr/>
        </p:nvSpPr>
        <p:spPr>
          <a:xfrm>
            <a:off x="6924675" y="2305050"/>
            <a:ext cx="5049988" cy="266700"/>
          </a:xfrm>
          <a:prstGeom prst="rect">
            <a:avLst/>
          </a:prstGeom>
        </p:spPr>
        <p:txBody>
          <a:bodyPr wrap="none" lIns="0" tIns="0" rIns="0" bIns="0"/>
          <a:lstStyle/>
          <a:p>
            <a:pPr>
              <a:lnSpc>
                <a:spcPct val="145000"/>
              </a:lnSpc>
              <a:buNone/>
            </a:pPr>
            <a:r>
              <a:rPr sz="1200">
                <a:solidFill>
                  <a:srgbClr val="44546A"/>
                </a:solidFill>
                <a:latin typeface="微软雅黑"/>
                <a:ea typeface="微软雅黑"/>
                <a:cs typeface="微软雅黑"/>
              </a:rPr>
              <a:t>让模型学会「干预 → 新状态」——患者与类器官两条时间轨迹互相校准</a:t>
            </a:r>
            <a:endParaRPr sz="1200">
              <a:solidFill>
                <a:srgbClr val="44546A"/>
              </a:solidFill>
              <a:latin typeface="微软雅黑"/>
              <a:ea typeface="微软雅黑"/>
              <a:cs typeface="微软雅黑"/>
            </a:endParaRPr>
          </a:p>
        </p:txBody>
      </p:sp>
      <p:sp>
        <p:nvSpPr>
          <p:cNvPr id="406" name="任意多边形 340"/>
          <p:cNvSpPr>
            <a:spLocks noGrp="1"/>
          </p:cNvSpPr>
          <p:nvPr/>
        </p:nvSpPr>
        <p:spPr>
          <a:xfrm>
            <a:off x="6743700" y="2705100"/>
            <a:ext cx="4943475" cy="781050"/>
          </a:xfrm>
          <a:custGeom>
            <a:avLst/>
            <a:gdLst/>
            <a:ahLst/>
            <a:cxnLst/>
            <a:pathLst>
              <a:path w="519" h="82">
                <a:moveTo>
                  <a:pt x="0" y="0"/>
                </a:moveTo>
                <a:lnTo>
                  <a:pt x="3" y="0"/>
                </a:lnTo>
                <a:lnTo>
                  <a:pt x="3" y="82"/>
                </a:lnTo>
                <a:lnTo>
                  <a:pt x="0" y="82"/>
                </a:lnTo>
                <a:close/>
              </a:path>
            </a:pathLst>
          </a:custGeom>
          <a:solidFill>
            <a:srgbClr val="08A6F6"/>
          </a:solidFill>
        </p:spPr>
        <p:txBody>
          <a:bodyPr/>
          <a:lstStyle/>
          <a:p/>
        </p:txBody>
      </p:sp>
      <p:sp>
        <p:nvSpPr>
          <p:cNvPr id="407" name="文本框 341"/>
          <p:cNvSpPr>
            <a:spLocks noGrp="1"/>
          </p:cNvSpPr>
          <p:nvPr/>
        </p:nvSpPr>
        <p:spPr>
          <a:xfrm>
            <a:off x="6924675" y="2705100"/>
            <a:ext cx="4733925" cy="209550"/>
          </a:xfrm>
          <a:prstGeom prst="rect">
            <a:avLst/>
          </a:prstGeom>
        </p:spPr>
        <p:txBody>
          <a:bodyPr wrap="none" lIns="0" tIns="0" rIns="0" bIns="0"/>
          <a:lstStyle/>
          <a:p>
            <a:pPr>
              <a:lnSpc>
                <a:spcPct val="100000"/>
              </a:lnSpc>
              <a:buNone/>
            </a:pPr>
            <a:r>
              <a:rPr sz="1350" b="1">
                <a:solidFill>
                  <a:srgbClr val="061F32"/>
                </a:solidFill>
                <a:latin typeface="微软雅黑"/>
                <a:ea typeface="微软雅黑"/>
                <a:cs typeface="微软雅黑"/>
              </a:rPr>
              <a:t>批量预测 → 前瞻验证 → </a:t>
            </a:r>
            <a:r>
              <a:rPr lang="zh-CN" altLang="en-US" sz="1350" b="1">
                <a:solidFill>
                  <a:srgbClr val="061F32"/>
                </a:solidFill>
                <a:latin typeface="微软雅黑"/>
                <a:ea typeface="微软雅黑"/>
                <a:cs typeface="微软雅黑"/>
              </a:rPr>
              <a:t>数据</a:t>
            </a:r>
            <a:r>
              <a:rPr sz="1350" b="1">
                <a:solidFill>
                  <a:srgbClr val="061F32"/>
                </a:solidFill>
                <a:latin typeface="微软雅黑"/>
                <a:ea typeface="微软雅黑"/>
                <a:cs typeface="微软雅黑"/>
              </a:rPr>
              <a:t>回灌</a:t>
            </a:r>
            <a:endParaRPr sz="1350" b="1">
              <a:solidFill>
                <a:srgbClr val="061F32"/>
              </a:solidFill>
              <a:latin typeface="微软雅黑"/>
              <a:ea typeface="微软雅黑"/>
              <a:cs typeface="微软雅黑"/>
            </a:endParaRPr>
          </a:p>
        </p:txBody>
      </p:sp>
      <p:sp>
        <p:nvSpPr>
          <p:cNvPr id="408" name="文本框 342"/>
          <p:cNvSpPr>
            <a:spLocks noGrp="1"/>
          </p:cNvSpPr>
          <p:nvPr/>
        </p:nvSpPr>
        <p:spPr>
          <a:xfrm>
            <a:off x="6924675" y="2952750"/>
            <a:ext cx="4879621" cy="533400"/>
          </a:xfrm>
          <a:prstGeom prst="rect">
            <a:avLst/>
          </a:prstGeom>
        </p:spPr>
        <p:txBody>
          <a:bodyPr wrap="square" lIns="0" tIns="0" rIns="0" bIns="0">
            <a:normAutofit lnSpcReduction="10000"/>
          </a:bodyPr>
          <a:lstStyle/>
          <a:p>
            <a:pPr>
              <a:lnSpc>
                <a:spcPct val="145000"/>
              </a:lnSpc>
              <a:buNone/>
            </a:pPr>
            <a:r>
              <a:rPr sz="1200">
                <a:solidFill>
                  <a:srgbClr val="44546A"/>
                </a:solidFill>
                <a:latin typeface="微软雅黑"/>
                <a:ea typeface="微软雅黑"/>
                <a:cs typeface="微软雅黑"/>
              </a:rPr>
              <a:t>低成本批量筛选候选；在</a:t>
            </a:r>
            <a:r>
              <a:rPr lang="zh-CN" altLang="en-US" sz="1200">
                <a:solidFill>
                  <a:srgbClr val="44546A"/>
                </a:solidFill>
                <a:latin typeface="微软雅黑"/>
                <a:ea typeface="微软雅黑"/>
                <a:cs typeface="微软雅黑"/>
              </a:rPr>
              <a:t>临床</a:t>
            </a:r>
            <a:r>
              <a:rPr sz="1200">
                <a:solidFill>
                  <a:srgbClr val="44546A"/>
                </a:solidFill>
                <a:latin typeface="微软雅黑"/>
                <a:ea typeface="微软雅黑"/>
                <a:cs typeface="微软雅黑"/>
              </a:rPr>
              <a:t>结局</a:t>
            </a:r>
            <a:r>
              <a:rPr lang="zh-CN" altLang="en-US" sz="1200">
                <a:solidFill>
                  <a:srgbClr val="44546A"/>
                </a:solidFill>
                <a:latin typeface="微软雅黑"/>
                <a:ea typeface="微软雅黑"/>
                <a:cs typeface="微软雅黑"/>
              </a:rPr>
              <a:t>尚未显现时输出预测</a:t>
            </a:r>
            <a:r>
              <a:rPr sz="1200">
                <a:solidFill>
                  <a:srgbClr val="44546A"/>
                </a:solidFill>
                <a:latin typeface="微软雅黑"/>
                <a:ea typeface="微软雅黑"/>
                <a:cs typeface="微软雅黑"/>
              </a:rPr>
              <a:t>，</a:t>
            </a:r>
            <a:r>
              <a:rPr lang="zh-CN" altLang="en-US" sz="1200">
                <a:solidFill>
                  <a:srgbClr val="44546A"/>
                </a:solidFill>
                <a:latin typeface="微软雅黑"/>
                <a:ea typeface="微软雅黑"/>
                <a:cs typeface="微软雅黑"/>
              </a:rPr>
              <a:t>以</a:t>
            </a:r>
            <a:r>
              <a:rPr sz="1200">
                <a:solidFill>
                  <a:srgbClr val="44546A"/>
                </a:solidFill>
                <a:latin typeface="微软雅黑"/>
                <a:ea typeface="微软雅黑"/>
                <a:cs typeface="微软雅黑"/>
              </a:rPr>
              <a:t>真实结局</a:t>
            </a:r>
            <a:r>
              <a:rPr lang="zh-CN" altLang="en-US" sz="1200">
                <a:solidFill>
                  <a:srgbClr val="44546A"/>
                </a:solidFill>
                <a:latin typeface="微软雅黑"/>
                <a:ea typeface="微软雅黑"/>
                <a:cs typeface="微软雅黑"/>
              </a:rPr>
              <a:t>完成量化</a:t>
            </a:r>
            <a:r>
              <a:rPr sz="1200">
                <a:solidFill>
                  <a:srgbClr val="44546A"/>
                </a:solidFill>
                <a:latin typeface="微软雅黑"/>
                <a:ea typeface="微软雅黑"/>
                <a:cs typeface="微软雅黑"/>
              </a:rPr>
              <a:t>评分，评分</a:t>
            </a:r>
            <a:r>
              <a:rPr lang="zh-CN" altLang="en-US" sz="1200">
                <a:solidFill>
                  <a:srgbClr val="44546A"/>
                </a:solidFill>
                <a:latin typeface="微软雅黑"/>
                <a:ea typeface="微软雅黑"/>
                <a:cs typeface="微软雅黑"/>
              </a:rPr>
              <a:t>数据回流至</a:t>
            </a:r>
            <a:r>
              <a:rPr sz="1200">
                <a:solidFill>
                  <a:srgbClr val="44546A"/>
                </a:solidFill>
                <a:latin typeface="微软雅黑"/>
                <a:ea typeface="微软雅黑"/>
                <a:cs typeface="微软雅黑"/>
              </a:rPr>
              <a:t>训练集</a:t>
            </a:r>
            <a:endParaRPr sz="1200">
              <a:solidFill>
                <a:srgbClr val="44546A"/>
              </a:solidFill>
              <a:latin typeface="微软雅黑"/>
              <a:ea typeface="微软雅黑"/>
              <a:cs typeface="微软雅黑"/>
            </a:endParaRPr>
          </a:p>
        </p:txBody>
      </p:sp>
      <p:sp>
        <p:nvSpPr>
          <p:cNvPr id="409" name="矩形 343"/>
          <p:cNvSpPr>
            <a:spLocks noGrp="1"/>
          </p:cNvSpPr>
          <p:nvPr/>
        </p:nvSpPr>
        <p:spPr>
          <a:xfrm>
            <a:off x="6743700" y="3619500"/>
            <a:ext cx="5060626" cy="438150"/>
          </a:xfrm>
          <a:prstGeom prst="rect">
            <a:avLst/>
          </a:prstGeom>
          <a:solidFill>
            <a:srgbClr val="061F32"/>
          </a:solidFill>
        </p:spPr>
        <p:txBody>
          <a:bodyPr/>
          <a:lstStyle/>
          <a:p/>
        </p:txBody>
      </p:sp>
      <p:sp>
        <p:nvSpPr>
          <p:cNvPr id="410" name="文本框 344"/>
          <p:cNvSpPr>
            <a:spLocks noGrp="1"/>
          </p:cNvSpPr>
          <p:nvPr/>
        </p:nvSpPr>
        <p:spPr>
          <a:xfrm>
            <a:off x="6896100" y="3733800"/>
            <a:ext cx="4964474" cy="205810"/>
          </a:xfrm>
          <a:prstGeom prst="rect">
            <a:avLst/>
          </a:prstGeom>
        </p:spPr>
        <p:txBody>
          <a:bodyPr wrap="none" lIns="0" tIns="0" rIns="0" bIns="0"/>
          <a:lstStyle/>
          <a:p>
            <a:pPr>
              <a:lnSpc>
                <a:spcPct val="100000"/>
              </a:lnSpc>
              <a:buNone/>
            </a:pPr>
            <a:r>
              <a:rPr sz="1350" b="1">
                <a:solidFill>
                  <a:srgbClr val="08A6F6">
                    <a:alpha val="100000"/>
                  </a:srgbClr>
                </a:solidFill>
                <a:latin typeface="微软雅黑"/>
                <a:ea typeface="微软雅黑"/>
                <a:cs typeface="微软雅黑"/>
              </a:rPr>
              <a:t>持续迭代累积患者级</a:t>
            </a:r>
            <a:r>
              <a:rPr lang="zh-CN" altLang="en-US" sz="1350" b="1">
                <a:solidFill>
                  <a:srgbClr val="08A6F6">
                    <a:alpha val="100000"/>
                  </a:srgbClr>
                </a:solidFill>
                <a:latin typeface="微软雅黑"/>
                <a:ea typeface="微软雅黑"/>
                <a:cs typeface="微软雅黑"/>
              </a:rPr>
              <a:t>纵向</a:t>
            </a:r>
            <a:r>
              <a:rPr sz="1350" b="1">
                <a:solidFill>
                  <a:srgbClr val="08A6F6">
                    <a:alpha val="100000"/>
                  </a:srgbClr>
                </a:solidFill>
                <a:latin typeface="微软雅黑"/>
                <a:ea typeface="微软雅黑"/>
                <a:cs typeface="微软雅黑"/>
              </a:rPr>
              <a:t>数据壁垒，</a:t>
            </a:r>
            <a:r>
              <a:rPr lang="zh-CN" altLang="en-US" sz="1350" b="1">
                <a:solidFill>
                  <a:srgbClr val="08A6F6">
                    <a:alpha val="100000"/>
                  </a:srgbClr>
                </a:solidFill>
                <a:latin typeface="微软雅黑"/>
                <a:ea typeface="微软雅黑"/>
                <a:cs typeface="微软雅黑"/>
              </a:rPr>
              <a:t>构建</a:t>
            </a:r>
            <a:r>
              <a:rPr sz="1350" b="1">
                <a:solidFill>
                  <a:srgbClr val="08A6F6">
                    <a:alpha val="100000"/>
                  </a:srgbClr>
                </a:solidFill>
                <a:latin typeface="微软雅黑"/>
                <a:ea typeface="微软雅黑"/>
                <a:cs typeface="微软雅黑"/>
              </a:rPr>
              <a:t>可</a:t>
            </a:r>
            <a:r>
              <a:rPr lang="zh-CN" altLang="en-US" sz="1350" b="1">
                <a:solidFill>
                  <a:srgbClr val="08A6F6">
                    <a:alpha val="100000"/>
                  </a:srgbClr>
                </a:solidFill>
                <a:latin typeface="微软雅黑"/>
                <a:ea typeface="微软雅黑"/>
                <a:cs typeface="微软雅黑"/>
              </a:rPr>
              <a:t>反复</a:t>
            </a:r>
            <a:r>
              <a:rPr sz="1350" b="1">
                <a:solidFill>
                  <a:srgbClr val="08A6F6">
                    <a:alpha val="100000"/>
                  </a:srgbClr>
                </a:solidFill>
                <a:latin typeface="微软雅黑"/>
                <a:ea typeface="微软雅黑"/>
                <a:cs typeface="微软雅黑"/>
              </a:rPr>
              <a:t>验证的竞争优势。</a:t>
            </a:r>
            <a:endParaRPr sz="1350" b="1">
              <a:solidFill>
                <a:srgbClr val="08A6F6">
                  <a:alpha val="100000"/>
                </a:srgbClr>
              </a:solidFill>
              <a:latin typeface="微软雅黑"/>
              <a:ea typeface="微软雅黑"/>
              <a:cs typeface="微软雅黑"/>
            </a:endParaRPr>
          </a:p>
        </p:txBody>
      </p:sp>
      <p:sp>
        <p:nvSpPr>
          <p:cNvPr id="411" name="文本框 345"/>
          <p:cNvSpPr>
            <a:spLocks noGrp="1"/>
          </p:cNvSpPr>
          <p:nvPr/>
        </p:nvSpPr>
        <p:spPr>
          <a:xfrm>
            <a:off x="533400" y="4619625"/>
            <a:ext cx="11125200" cy="200025"/>
          </a:xfrm>
          <a:prstGeom prst="rect">
            <a:avLst/>
          </a:prstGeom>
        </p:spPr>
        <p:txBody>
          <a:bodyPr wrap="none" lIns="0" tIns="0" rIns="0" bIns="0"/>
          <a:lstStyle/>
          <a:p>
            <a:pPr>
              <a:lnSpc>
                <a:spcPct val="100000"/>
              </a:lnSpc>
              <a:buNone/>
            </a:pPr>
            <a:r>
              <a:rPr sz="1275" b="1">
                <a:solidFill>
                  <a:srgbClr val="44546A"/>
                </a:solidFill>
                <a:latin typeface="微软雅黑"/>
                <a:ea typeface="微软雅黑"/>
                <a:cs typeface="微软雅黑"/>
              </a:rPr>
              <a:t>首个适应症验证后，</a:t>
            </a:r>
            <a:r>
              <a:rPr lang="zh-CN" altLang="en-US" sz="1275" b="1">
                <a:solidFill>
                  <a:srgbClr val="44546A"/>
                </a:solidFill>
                <a:latin typeface="微软雅黑"/>
                <a:ea typeface="微软雅黑"/>
                <a:cs typeface="微软雅黑"/>
              </a:rPr>
              <a:t>依托</a:t>
            </a:r>
            <a:r>
              <a:rPr sz="1275" b="1">
                <a:solidFill>
                  <a:srgbClr val="44546A"/>
                </a:solidFill>
                <a:latin typeface="微软雅黑"/>
                <a:ea typeface="微软雅黑"/>
                <a:cs typeface="微软雅黑"/>
              </a:rPr>
              <a:t>同一引擎逐级向上构建：</a:t>
            </a:r>
            <a:endParaRPr sz="1275" b="1">
              <a:solidFill>
                <a:srgbClr val="44546A"/>
              </a:solidFill>
              <a:latin typeface="微软雅黑"/>
              <a:ea typeface="微软雅黑"/>
              <a:cs typeface="微软雅黑"/>
            </a:endParaRPr>
          </a:p>
        </p:txBody>
      </p:sp>
      <p:sp>
        <p:nvSpPr>
          <p:cNvPr id="412" name="矩形 346"/>
          <p:cNvSpPr>
            <a:spLocks noGrp="1"/>
          </p:cNvSpPr>
          <p:nvPr/>
        </p:nvSpPr>
        <p:spPr>
          <a:xfrm>
            <a:off x="533400" y="5257800"/>
            <a:ext cx="3228975" cy="638175"/>
          </a:xfrm>
          <a:prstGeom prst="rect">
            <a:avLst/>
          </a:prstGeom>
          <a:solidFill>
            <a:srgbClr val="061F32"/>
          </a:solidFill>
        </p:spPr>
        <p:txBody>
          <a:bodyPr/>
          <a:lstStyle/>
          <a:p/>
        </p:txBody>
      </p:sp>
      <p:sp>
        <p:nvSpPr>
          <p:cNvPr id="413" name="文本框 347"/>
          <p:cNvSpPr>
            <a:spLocks noGrp="1"/>
          </p:cNvSpPr>
          <p:nvPr/>
        </p:nvSpPr>
        <p:spPr>
          <a:xfrm>
            <a:off x="650203" y="5372100"/>
            <a:ext cx="2886075" cy="219075"/>
          </a:xfrm>
          <a:prstGeom prst="rect">
            <a:avLst/>
          </a:prstGeom>
        </p:spPr>
        <p:txBody>
          <a:bodyPr wrap="none" lIns="0" tIns="0" rIns="0" bIns="0"/>
          <a:lstStyle/>
          <a:p>
            <a:pPr>
              <a:lnSpc>
                <a:spcPct val="100000"/>
              </a:lnSpc>
              <a:buNone/>
            </a:pPr>
            <a:r>
              <a:rPr sz="1425" b="1">
                <a:solidFill>
                  <a:srgbClr val="FFFFFF"/>
                </a:solidFill>
                <a:latin typeface="微软雅黑"/>
                <a:ea typeface="微软雅黑"/>
                <a:cs typeface="微软雅黑"/>
              </a:rPr>
              <a:t>虚拟类器官 · 现</a:t>
            </a:r>
            <a:r>
              <a:rPr lang="zh-CN" altLang="en-US" sz="1425" b="1">
                <a:solidFill>
                  <a:srgbClr val="FFFFFF"/>
                </a:solidFill>
                <a:latin typeface="微软雅黑"/>
                <a:ea typeface="微软雅黑"/>
                <a:cs typeface="微软雅黑"/>
              </a:rPr>
              <a:t>阶段（</a:t>
            </a:r>
            <a:r>
              <a:rPr lang="en-US" altLang="zh-CN" sz="1425" b="1">
                <a:solidFill>
                  <a:srgbClr val="FFFFFF"/>
                </a:solidFill>
                <a:latin typeface="微软雅黑"/>
                <a:ea typeface="微软雅黑"/>
                <a:cs typeface="微软雅黑"/>
              </a:rPr>
              <a:t>Level 1</a:t>
            </a:r>
            <a:r>
              <a:rPr lang="zh-CN" altLang="en-US" sz="1425" b="1">
                <a:solidFill>
                  <a:srgbClr val="FFFFFF"/>
                </a:solidFill>
                <a:latin typeface="微软雅黑"/>
                <a:ea typeface="微软雅黑"/>
                <a:cs typeface="微软雅黑"/>
              </a:rPr>
              <a:t>）</a:t>
            </a:r>
            <a:endParaRPr sz="1425" b="1">
              <a:solidFill>
                <a:srgbClr val="FFFFFF"/>
              </a:solidFill>
              <a:latin typeface="微软雅黑"/>
              <a:ea typeface="微软雅黑"/>
              <a:cs typeface="微软雅黑"/>
            </a:endParaRPr>
          </a:p>
        </p:txBody>
      </p:sp>
      <p:sp>
        <p:nvSpPr>
          <p:cNvPr id="414" name="文本框 348"/>
          <p:cNvSpPr>
            <a:spLocks noGrp="1"/>
          </p:cNvSpPr>
          <p:nvPr/>
        </p:nvSpPr>
        <p:spPr>
          <a:xfrm>
            <a:off x="650203" y="5619750"/>
            <a:ext cx="2886075" cy="161925"/>
          </a:xfrm>
          <a:prstGeom prst="rect">
            <a:avLst/>
          </a:prstGeom>
        </p:spPr>
        <p:txBody>
          <a:bodyPr wrap="none" lIns="0" tIns="0" rIns="0" bIns="0"/>
          <a:lstStyle/>
          <a:p>
            <a:pPr>
              <a:lnSpc>
                <a:spcPct val="100000"/>
              </a:lnSpc>
              <a:buNone/>
            </a:pPr>
            <a:r>
              <a:rPr sz="1050">
                <a:solidFill>
                  <a:srgbClr val="99BDED"/>
                </a:solidFill>
                <a:latin typeface="微软雅黑"/>
                <a:ea typeface="微软雅黑"/>
                <a:cs typeface="微软雅黑"/>
              </a:rPr>
              <a:t>患者-PDO 配对扰动数据</a:t>
            </a:r>
            <a:r>
              <a:rPr lang="zh-CN" altLang="en-US" sz="1050">
                <a:solidFill>
                  <a:srgbClr val="99BDED"/>
                </a:solidFill>
                <a:latin typeface="微软雅黑"/>
                <a:ea typeface="微软雅黑"/>
                <a:cs typeface="微软雅黑"/>
              </a:rPr>
              <a:t>，实现药物</a:t>
            </a:r>
            <a:r>
              <a:rPr sz="1050">
                <a:solidFill>
                  <a:srgbClr val="99BDED"/>
                </a:solidFill>
                <a:latin typeface="微软雅黑"/>
                <a:ea typeface="微软雅黑"/>
                <a:cs typeface="微软雅黑"/>
              </a:rPr>
              <a:t>响应与复发预测</a:t>
            </a:r>
            <a:endParaRPr sz="1050">
              <a:solidFill>
                <a:srgbClr val="99BDED"/>
              </a:solidFill>
              <a:latin typeface="微软雅黑"/>
              <a:ea typeface="微软雅黑"/>
              <a:cs typeface="微软雅黑"/>
            </a:endParaRPr>
          </a:p>
        </p:txBody>
      </p:sp>
      <p:pic>
        <p:nvPicPr>
          <p:cNvPr id="467" name="图片 349"/>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3876675" y="5495925"/>
            <a:ext cx="247650" cy="171450"/>
          </a:xfrm>
          <a:prstGeom prst="rect">
            <a:avLst/>
          </a:prstGeom>
        </p:spPr>
      </p:pic>
      <p:sp>
        <p:nvSpPr>
          <p:cNvPr id="416" name="矩形 350"/>
          <p:cNvSpPr>
            <a:spLocks noGrp="1"/>
          </p:cNvSpPr>
          <p:nvPr/>
        </p:nvSpPr>
        <p:spPr>
          <a:xfrm>
            <a:off x="4238625" y="5257800"/>
            <a:ext cx="3228975" cy="638175"/>
          </a:xfrm>
          <a:prstGeom prst="rect">
            <a:avLst/>
          </a:prstGeom>
          <a:solidFill>
            <a:srgbClr val="001965"/>
          </a:solidFill>
        </p:spPr>
        <p:txBody>
          <a:bodyPr/>
          <a:lstStyle/>
          <a:p/>
        </p:txBody>
      </p:sp>
      <p:sp>
        <p:nvSpPr>
          <p:cNvPr id="417" name="文本框 351"/>
          <p:cNvSpPr>
            <a:spLocks noGrp="1"/>
          </p:cNvSpPr>
          <p:nvPr/>
        </p:nvSpPr>
        <p:spPr>
          <a:xfrm>
            <a:off x="4410075" y="5372100"/>
            <a:ext cx="2886075" cy="219075"/>
          </a:xfrm>
          <a:prstGeom prst="rect">
            <a:avLst/>
          </a:prstGeom>
        </p:spPr>
        <p:txBody>
          <a:bodyPr wrap="none" lIns="0" tIns="0" rIns="0" bIns="0"/>
          <a:lstStyle/>
          <a:p>
            <a:pPr>
              <a:lnSpc>
                <a:spcPct val="100000"/>
              </a:lnSpc>
              <a:buNone/>
            </a:pPr>
            <a:r>
              <a:rPr sz="1425" b="1">
                <a:solidFill>
                  <a:srgbClr val="FFFFFF"/>
                </a:solidFill>
                <a:latin typeface="微软雅黑"/>
                <a:ea typeface="微软雅黑"/>
                <a:cs typeface="微软雅黑"/>
              </a:rPr>
              <a:t>虚拟组织引擎 · 中期</a:t>
            </a:r>
            <a:r>
              <a:rPr lang="zh-CN" altLang="en-US" sz="1425" b="1">
                <a:solidFill>
                  <a:srgbClr val="FFFFFF"/>
                </a:solidFill>
                <a:latin typeface="微软雅黑"/>
                <a:ea typeface="微软雅黑"/>
                <a:cs typeface="微软雅黑"/>
              </a:rPr>
              <a:t>（</a:t>
            </a:r>
            <a:r>
              <a:rPr lang="en-US" altLang="zh-CN" sz="1425" b="1">
                <a:solidFill>
                  <a:srgbClr val="FFFFFF"/>
                </a:solidFill>
                <a:latin typeface="微软雅黑"/>
                <a:ea typeface="微软雅黑"/>
                <a:cs typeface="微软雅黑"/>
              </a:rPr>
              <a:t>Level 2</a:t>
            </a:r>
            <a:r>
              <a:rPr lang="zh-CN" altLang="en-US" sz="1425" b="1">
                <a:solidFill>
                  <a:srgbClr val="FFFFFF"/>
                </a:solidFill>
                <a:latin typeface="微软雅黑"/>
                <a:ea typeface="微软雅黑"/>
                <a:cs typeface="微软雅黑"/>
              </a:rPr>
              <a:t>）</a:t>
            </a:r>
            <a:endParaRPr sz="1425" b="1">
              <a:solidFill>
                <a:srgbClr val="FFFFFF"/>
              </a:solidFill>
              <a:latin typeface="微软雅黑"/>
              <a:ea typeface="微软雅黑"/>
              <a:cs typeface="微软雅黑"/>
            </a:endParaRPr>
          </a:p>
        </p:txBody>
      </p:sp>
      <p:sp>
        <p:nvSpPr>
          <p:cNvPr id="418" name="文本框 352"/>
          <p:cNvSpPr>
            <a:spLocks noGrp="1"/>
          </p:cNvSpPr>
          <p:nvPr/>
        </p:nvSpPr>
        <p:spPr>
          <a:xfrm>
            <a:off x="4410075" y="5619750"/>
            <a:ext cx="2886075" cy="161925"/>
          </a:xfrm>
          <a:prstGeom prst="rect">
            <a:avLst/>
          </a:prstGeom>
        </p:spPr>
        <p:txBody>
          <a:bodyPr wrap="none" lIns="0" tIns="0" rIns="0" bIns="0"/>
          <a:lstStyle/>
          <a:p>
            <a:pPr>
              <a:lnSpc>
                <a:spcPct val="100000"/>
              </a:lnSpc>
              <a:buNone/>
            </a:pPr>
            <a:r>
              <a:rPr sz="1050">
                <a:solidFill>
                  <a:srgbClr val="99BDED"/>
                </a:solidFill>
                <a:latin typeface="微软雅黑"/>
                <a:ea typeface="微软雅黑"/>
                <a:cs typeface="微软雅黑"/>
              </a:rPr>
              <a:t>跨疾病、多尺度、组合治疗</a:t>
            </a:r>
            <a:endParaRPr sz="1050">
              <a:solidFill>
                <a:srgbClr val="99BDED"/>
              </a:solidFill>
              <a:latin typeface="微软雅黑"/>
              <a:ea typeface="微软雅黑"/>
              <a:cs typeface="微软雅黑"/>
            </a:endParaRPr>
          </a:p>
        </p:txBody>
      </p:sp>
      <p:pic>
        <p:nvPicPr>
          <p:cNvPr id="471" name="图片 353"/>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7581900" y="5495925"/>
            <a:ext cx="247650" cy="171450"/>
          </a:xfrm>
          <a:prstGeom prst="rect">
            <a:avLst/>
          </a:prstGeom>
        </p:spPr>
      </p:pic>
      <p:sp>
        <p:nvSpPr>
          <p:cNvPr id="420" name="矩形 354"/>
          <p:cNvSpPr>
            <a:spLocks noGrp="1"/>
          </p:cNvSpPr>
          <p:nvPr/>
        </p:nvSpPr>
        <p:spPr>
          <a:xfrm>
            <a:off x="7943850" y="5257800"/>
            <a:ext cx="3714750" cy="638175"/>
          </a:xfrm>
          <a:prstGeom prst="rect">
            <a:avLst/>
          </a:prstGeom>
          <a:solidFill>
            <a:srgbClr val="08A6F6"/>
          </a:solidFill>
        </p:spPr>
        <p:txBody>
          <a:bodyPr/>
          <a:lstStyle/>
          <a:p/>
        </p:txBody>
      </p:sp>
      <p:sp>
        <p:nvSpPr>
          <p:cNvPr id="421" name="文本框 355"/>
          <p:cNvSpPr>
            <a:spLocks noGrp="1"/>
          </p:cNvSpPr>
          <p:nvPr/>
        </p:nvSpPr>
        <p:spPr>
          <a:xfrm>
            <a:off x="8115300" y="5372100"/>
            <a:ext cx="3371850" cy="219075"/>
          </a:xfrm>
          <a:prstGeom prst="rect">
            <a:avLst/>
          </a:prstGeom>
        </p:spPr>
        <p:txBody>
          <a:bodyPr wrap="none" lIns="0" tIns="0" rIns="0" bIns="0"/>
          <a:lstStyle/>
          <a:p>
            <a:pPr>
              <a:lnSpc>
                <a:spcPct val="100000"/>
              </a:lnSpc>
              <a:buNone/>
            </a:pPr>
            <a:r>
              <a:rPr sz="1425" b="1">
                <a:solidFill>
                  <a:srgbClr val="061F32"/>
                </a:solidFill>
                <a:latin typeface="微软雅黑"/>
                <a:ea typeface="微软雅黑"/>
                <a:cs typeface="微软雅黑"/>
              </a:rPr>
              <a:t>临床</a:t>
            </a:r>
            <a:r>
              <a:rPr sz="1425" b="1">
                <a:solidFill>
                  <a:srgbClr val="061F32"/>
                </a:solidFill>
                <a:latin typeface="微软雅黑"/>
                <a:ea typeface="微软雅黑"/>
                <a:cs typeface="Arial" panose="020B0604020202020204" pitchFamily="34" charset="0"/>
              </a:rPr>
              <a:t>肿瘤数字孪生</a:t>
            </a:r>
            <a:r>
              <a:rPr sz="1425" b="1">
                <a:solidFill>
                  <a:srgbClr val="061F32"/>
                </a:solidFill>
                <a:latin typeface="微软雅黑"/>
                <a:ea typeface="微软雅黑"/>
                <a:cs typeface="微软雅黑"/>
              </a:rPr>
              <a:t> · 终局</a:t>
            </a:r>
            <a:r>
              <a:rPr lang="zh-CN" altLang="en-US" sz="1425" b="1">
                <a:solidFill>
                  <a:srgbClr val="061F32"/>
                </a:solidFill>
                <a:latin typeface="微软雅黑"/>
                <a:ea typeface="微软雅黑"/>
                <a:cs typeface="微软雅黑"/>
              </a:rPr>
              <a:t>（</a:t>
            </a:r>
            <a:r>
              <a:rPr lang="en-US" altLang="zh-CN" sz="1425" b="1">
                <a:solidFill>
                  <a:srgbClr val="061F32"/>
                </a:solidFill>
                <a:latin typeface="微软雅黑"/>
                <a:ea typeface="微软雅黑"/>
                <a:cs typeface="微软雅黑"/>
              </a:rPr>
              <a:t>Level 3</a:t>
            </a:r>
            <a:r>
              <a:rPr lang="zh-CN" altLang="en-US" sz="1425" b="1">
                <a:solidFill>
                  <a:srgbClr val="061F32"/>
                </a:solidFill>
                <a:latin typeface="微软雅黑"/>
                <a:ea typeface="微软雅黑"/>
                <a:cs typeface="微软雅黑"/>
              </a:rPr>
              <a:t>）</a:t>
            </a:r>
            <a:endParaRPr sz="1425" b="1">
              <a:solidFill>
                <a:srgbClr val="061F32"/>
              </a:solidFill>
              <a:latin typeface="微软雅黑"/>
              <a:ea typeface="微软雅黑"/>
              <a:cs typeface="微软雅黑"/>
            </a:endParaRPr>
          </a:p>
        </p:txBody>
      </p:sp>
      <p:sp>
        <p:nvSpPr>
          <p:cNvPr id="422" name="文本框 356"/>
          <p:cNvSpPr>
            <a:spLocks noGrp="1"/>
          </p:cNvSpPr>
          <p:nvPr/>
        </p:nvSpPr>
        <p:spPr>
          <a:xfrm>
            <a:off x="8115300" y="5619750"/>
            <a:ext cx="3371850" cy="161925"/>
          </a:xfrm>
          <a:prstGeom prst="rect">
            <a:avLst/>
          </a:prstGeom>
        </p:spPr>
        <p:txBody>
          <a:bodyPr wrap="none" lIns="0" tIns="0" rIns="0" bIns="0"/>
          <a:lstStyle/>
          <a:p>
            <a:pPr>
              <a:lnSpc>
                <a:spcPct val="100000"/>
              </a:lnSpc>
              <a:buNone/>
            </a:pPr>
            <a:r>
              <a:rPr sz="1050">
                <a:solidFill>
                  <a:srgbClr val="061F32"/>
                </a:solidFill>
                <a:latin typeface="微软雅黑"/>
                <a:ea typeface="微软雅黑"/>
                <a:cs typeface="微软雅黑"/>
              </a:rPr>
              <a:t>多器官、多尺度、可验证——可模拟、可预测、可设计</a:t>
            </a:r>
            <a:endParaRPr sz="1050">
              <a:solidFill>
                <a:srgbClr val="061F32"/>
              </a:solidFill>
              <a:latin typeface="微软雅黑"/>
              <a:ea typeface="微软雅黑"/>
              <a:cs typeface="微软雅黑"/>
            </a:endParaRPr>
          </a:p>
        </p:txBody>
      </p:sp>
      <p:sp>
        <p:nvSpPr>
          <p:cNvPr id="423" name="文本框 357"/>
          <p:cNvSpPr>
            <a:spLocks noGrp="1"/>
          </p:cNvSpPr>
          <p:nvPr/>
        </p:nvSpPr>
        <p:spPr>
          <a:xfrm>
            <a:off x="533400" y="6381750"/>
            <a:ext cx="22860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Source: AIVC </a:t>
            </a:r>
            <a:r>
              <a:rPr sz="1050">
                <a:solidFill>
                  <a:srgbClr val="808080"/>
                </a:solidFill>
                <a:latin typeface="微软雅黑"/>
                <a:ea typeface="微软雅黑"/>
                <a:cs typeface="微软雅黑"/>
              </a:rPr>
              <a:t>商业故事</a:t>
            </a:r>
            <a:r>
              <a:rPr sz="1050">
                <a:solidFill>
                  <a:srgbClr val="808080"/>
                </a:solidFill>
                <a:latin typeface="微软雅黑"/>
                <a:ea typeface="微软雅黑"/>
                <a:cs typeface="微软雅黑"/>
              </a:rPr>
              <a:t> BP §4.1 / §9.2</a:t>
            </a:r>
            <a:endParaRPr sz="1050">
              <a:solidFill>
                <a:srgbClr val="808080"/>
              </a:solidFill>
              <a:latin typeface="微软雅黑"/>
              <a:ea typeface="微软雅黑"/>
              <a:cs typeface="微软雅黑"/>
            </a:endParaRPr>
          </a:p>
        </p:txBody>
      </p:sp>
      <p:sp>
        <p:nvSpPr>
          <p:cNvPr id="424" name="文本框 358"/>
          <p:cNvSpPr>
            <a:spLocks noGrp="1"/>
          </p:cNvSpPr>
          <p:nvPr/>
        </p:nvSpPr>
        <p:spPr>
          <a:xfrm>
            <a:off x="11201400" y="6381750"/>
            <a:ext cx="4572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09 / 18</a:t>
            </a:r>
            <a:endParaRPr sz="1050">
              <a:solidFill>
                <a:srgbClr val="808080"/>
              </a:solidFill>
              <a:latin typeface="微软雅黑"/>
              <a:ea typeface="微软雅黑"/>
              <a:cs typeface="微软雅黑"/>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360"/>
          <p:cNvSpPr>
            <a:spLocks noGrp="1"/>
          </p:cNvSpPr>
          <p:nvPr/>
        </p:nvSpPr>
        <p:spPr>
          <a:xfrm>
            <a:off x="0" y="0"/>
            <a:ext cx="12192000" cy="6858000"/>
          </a:xfrm>
          <a:prstGeom prst="rect">
            <a:avLst/>
          </a:prstGeom>
          <a:solidFill>
            <a:srgbClr val="FFFFFF"/>
          </a:solidFill>
        </p:spPr>
        <p:txBody>
          <a:bodyPr/>
          <a:lstStyle/>
          <a:p/>
        </p:txBody>
      </p:sp>
      <p:sp>
        <p:nvSpPr>
          <p:cNvPr id="15" name="文本框 361"/>
          <p:cNvSpPr>
            <a:spLocks noGrp="1"/>
          </p:cNvSpPr>
          <p:nvPr/>
        </p:nvSpPr>
        <p:spPr>
          <a:xfrm>
            <a:off x="533400" y="419100"/>
            <a:ext cx="11125200" cy="381000"/>
          </a:xfrm>
          <a:prstGeom prst="rect">
            <a:avLst/>
          </a:prstGeom>
        </p:spPr>
        <p:txBody>
          <a:bodyPr wrap="none" lIns="0" tIns="0" rIns="0" bIns="0"/>
          <a:lstStyle/>
          <a:p>
            <a:pPr>
              <a:lnSpc>
                <a:spcPct val="100000"/>
              </a:lnSpc>
              <a:buNone/>
            </a:pPr>
            <a:r>
              <a:rPr sz="2475" b="1">
                <a:solidFill>
                  <a:srgbClr val="061F32"/>
                </a:solidFill>
                <a:latin typeface="微软雅黑"/>
                <a:ea typeface="微软雅黑"/>
                <a:cs typeface="微软雅黑"/>
              </a:rPr>
              <a:t>两段式训练：先「认识细胞」，再「预测干预」，</a:t>
            </a:r>
            <a:r>
              <a:rPr lang="zh-CN" altLang="en-US" sz="2475" b="1">
                <a:solidFill>
                  <a:srgbClr val="061F32"/>
                </a:solidFill>
                <a:latin typeface="微软雅黑"/>
                <a:ea typeface="微软雅黑"/>
                <a:cs typeface="微软雅黑"/>
              </a:rPr>
              <a:t>两者</a:t>
            </a:r>
            <a:r>
              <a:rPr sz="2475" b="1">
                <a:solidFill>
                  <a:srgbClr val="061F32"/>
                </a:solidFill>
                <a:latin typeface="微软雅黑"/>
                <a:ea typeface="微软雅黑"/>
                <a:cs typeface="微软雅黑"/>
              </a:rPr>
              <a:t>缺一不可</a:t>
            </a:r>
            <a:endParaRPr sz="2475" b="1">
              <a:solidFill>
                <a:srgbClr val="061F32"/>
              </a:solidFill>
              <a:latin typeface="微软雅黑"/>
              <a:ea typeface="微软雅黑"/>
              <a:cs typeface="微软雅黑"/>
            </a:endParaRPr>
          </a:p>
        </p:txBody>
      </p:sp>
      <p:sp>
        <p:nvSpPr>
          <p:cNvPr id="16" name="矩形 362"/>
          <p:cNvSpPr>
            <a:spLocks noGrp="1"/>
          </p:cNvSpPr>
          <p:nvPr/>
        </p:nvSpPr>
        <p:spPr>
          <a:xfrm>
            <a:off x="533400" y="895350"/>
            <a:ext cx="11125200" cy="9525"/>
          </a:xfrm>
          <a:prstGeom prst="rect">
            <a:avLst/>
          </a:prstGeom>
          <a:solidFill>
            <a:srgbClr val="061F32"/>
          </a:solidFill>
        </p:spPr>
        <p:txBody>
          <a:bodyPr/>
          <a:lstStyle/>
          <a:p/>
        </p:txBody>
      </p:sp>
      <p:sp>
        <p:nvSpPr>
          <p:cNvPr id="17" name="任意多边形 363"/>
          <p:cNvSpPr>
            <a:spLocks noGrp="1"/>
          </p:cNvSpPr>
          <p:nvPr/>
        </p:nvSpPr>
        <p:spPr>
          <a:xfrm>
            <a:off x="533400" y="1019175"/>
            <a:ext cx="5448300" cy="4105275"/>
          </a:xfrm>
          <a:custGeom>
            <a:avLst/>
            <a:gdLst/>
            <a:ahLst/>
            <a:cxnLst/>
            <a:pathLst>
              <a:path w="572" h="431">
                <a:moveTo>
                  <a:pt x="0" y="0"/>
                </a:moveTo>
                <a:lnTo>
                  <a:pt x="572" y="0"/>
                </a:lnTo>
                <a:lnTo>
                  <a:pt x="572" y="4"/>
                </a:lnTo>
                <a:lnTo>
                  <a:pt x="0" y="4"/>
                </a:lnTo>
                <a:close/>
              </a:path>
            </a:pathLst>
          </a:custGeom>
          <a:solidFill>
            <a:srgbClr val="99BDED"/>
          </a:solidFill>
        </p:spPr>
        <p:txBody>
          <a:bodyPr/>
          <a:lstStyle/>
          <a:p/>
        </p:txBody>
      </p:sp>
      <p:sp>
        <p:nvSpPr>
          <p:cNvPr id="18" name="文本框 364"/>
          <p:cNvSpPr>
            <a:spLocks noGrp="1"/>
          </p:cNvSpPr>
          <p:nvPr/>
        </p:nvSpPr>
        <p:spPr>
          <a:xfrm>
            <a:off x="781050" y="1260475"/>
            <a:ext cx="4953000" cy="171450"/>
          </a:xfrm>
          <a:prstGeom prst="rect">
            <a:avLst/>
          </a:prstGeom>
        </p:spPr>
        <p:txBody>
          <a:bodyPr wrap="none" lIns="0" tIns="0" rIns="0" bIns="0"/>
          <a:lstStyle/>
          <a:p>
            <a:pPr>
              <a:lnSpc>
                <a:spcPct val="100000"/>
              </a:lnSpc>
              <a:buNone/>
            </a:pPr>
            <a:r>
              <a:rPr sz="1125" b="1" spc="150">
                <a:solidFill>
                  <a:srgbClr val="808080"/>
                </a:solidFill>
                <a:latin typeface="微软雅黑"/>
                <a:ea typeface="微软雅黑"/>
                <a:cs typeface="微软雅黑"/>
              </a:rPr>
              <a:t>第一步</a:t>
            </a:r>
            <a:r>
              <a:rPr sz="1125" b="1" spc="150">
                <a:solidFill>
                  <a:srgbClr val="808080"/>
                </a:solidFill>
                <a:latin typeface="微软雅黑"/>
                <a:ea typeface="微软雅黑"/>
                <a:cs typeface="微软雅黑"/>
              </a:rPr>
              <a:t> · </a:t>
            </a:r>
            <a:r>
              <a:rPr sz="1125" b="1" spc="150">
                <a:solidFill>
                  <a:srgbClr val="808080"/>
                </a:solidFill>
                <a:latin typeface="微软雅黑"/>
                <a:ea typeface="微软雅黑"/>
                <a:cs typeface="微软雅黑"/>
              </a:rPr>
              <a:t>自监督预训练</a:t>
            </a:r>
            <a:endParaRPr sz="1125" b="1" spc="150">
              <a:solidFill>
                <a:srgbClr val="808080"/>
              </a:solidFill>
              <a:latin typeface="微软雅黑"/>
              <a:ea typeface="微软雅黑"/>
              <a:cs typeface="微软雅黑"/>
            </a:endParaRPr>
          </a:p>
        </p:txBody>
      </p:sp>
      <p:sp>
        <p:nvSpPr>
          <p:cNvPr id="19" name="文本框 365"/>
          <p:cNvSpPr>
            <a:spLocks noGrp="1"/>
          </p:cNvSpPr>
          <p:nvPr/>
        </p:nvSpPr>
        <p:spPr>
          <a:xfrm>
            <a:off x="781050" y="1514475"/>
            <a:ext cx="4953000" cy="276225"/>
          </a:xfrm>
          <a:prstGeom prst="rect">
            <a:avLst/>
          </a:prstGeom>
        </p:spPr>
        <p:txBody>
          <a:bodyPr wrap="none" lIns="0" tIns="0" rIns="0" bIns="0"/>
          <a:lstStyle/>
          <a:p>
            <a:pPr>
              <a:lnSpc>
                <a:spcPct val="100000"/>
              </a:lnSpc>
              <a:buNone/>
            </a:pPr>
            <a:r>
              <a:rPr sz="1800" b="1">
                <a:solidFill>
                  <a:srgbClr val="061F32"/>
                </a:solidFill>
                <a:latin typeface="微软雅黑"/>
                <a:ea typeface="微软雅黑"/>
                <a:cs typeface="微软雅黑"/>
              </a:rPr>
              <a:t>学会「细胞状态长什么样」</a:t>
            </a:r>
            <a:endParaRPr sz="1800" b="1">
              <a:solidFill>
                <a:srgbClr val="061F32"/>
              </a:solidFill>
              <a:latin typeface="微软雅黑"/>
              <a:ea typeface="微软雅黑"/>
              <a:cs typeface="微软雅黑"/>
            </a:endParaRPr>
          </a:p>
        </p:txBody>
      </p:sp>
      <p:sp>
        <p:nvSpPr>
          <p:cNvPr id="20" name="文本框 366"/>
          <p:cNvSpPr>
            <a:spLocks noGrp="1"/>
          </p:cNvSpPr>
          <p:nvPr/>
        </p:nvSpPr>
        <p:spPr>
          <a:xfrm>
            <a:off x="781050" y="1943100"/>
            <a:ext cx="4953000" cy="590550"/>
          </a:xfrm>
          <a:prstGeom prst="rect">
            <a:avLst/>
          </a:prstGeom>
        </p:spPr>
        <p:txBody>
          <a:bodyPr wrap="square" lIns="0" tIns="0" rIns="0" bIns="0">
            <a:normAutofit/>
          </a:bodyPr>
          <a:lstStyle/>
          <a:p>
            <a:pPr>
              <a:lnSpc>
                <a:spcPct val="150000"/>
              </a:lnSpc>
              <a:buNone/>
            </a:pPr>
            <a:r>
              <a:rPr sz="1200" b="1">
                <a:solidFill>
                  <a:srgbClr val="061F32">
                    <a:alpha val="100000"/>
                  </a:srgbClr>
                </a:solidFill>
                <a:latin typeface="微软雅黑"/>
                <a:ea typeface="微软雅黑"/>
                <a:cs typeface="微软雅黑"/>
              </a:rPr>
              <a:t>数据：</a:t>
            </a:r>
            <a:r>
              <a:rPr sz="1200">
                <a:solidFill>
                  <a:srgbClr val="44546A">
                    <a:alpha val="100000"/>
                  </a:srgbClr>
                </a:solidFill>
                <a:latin typeface="微软雅黑"/>
                <a:ea typeface="微软雅黑"/>
                <a:cs typeface="微软雅黑"/>
              </a:rPr>
              <a:t>海量无标注数据（细胞图像、组学数据</a:t>
            </a:r>
            <a:r>
              <a:rPr lang="zh-CN" altLang="en-US" sz="1200">
                <a:solidFill>
                  <a:srgbClr val="44546A">
                    <a:alpha val="100000"/>
                  </a:srgbClr>
                </a:solidFill>
                <a:latin typeface="微软雅黑"/>
                <a:ea typeface="微软雅黑"/>
                <a:cs typeface="微软雅黑"/>
              </a:rPr>
              <a:t>）</a:t>
            </a:r>
            <a:r>
              <a:rPr sz="1200">
                <a:solidFill>
                  <a:srgbClr val="44546A">
                    <a:alpha val="100000"/>
                  </a:srgbClr>
                </a:solidFill>
                <a:latin typeface="微软雅黑"/>
                <a:ea typeface="微软雅黑"/>
                <a:cs typeface="微软雅黑"/>
              </a:rPr>
              <a:t>——</a:t>
            </a:r>
            <a:r>
              <a:rPr lang="zh-CN" altLang="en-US" sz="1200">
                <a:solidFill>
                  <a:srgbClr val="44546A">
                    <a:alpha val="100000"/>
                  </a:srgbClr>
                </a:solidFill>
                <a:latin typeface="微软雅黑"/>
                <a:ea typeface="微软雅黑"/>
                <a:cs typeface="微软雅黑"/>
              </a:rPr>
              <a:t>供给充足</a:t>
            </a:r>
            <a:r>
              <a:rPr sz="1200">
                <a:solidFill>
                  <a:srgbClr val="44546A">
                    <a:alpha val="100000"/>
                  </a:srgbClr>
                </a:solidFill>
                <a:latin typeface="微软雅黑"/>
                <a:ea typeface="微软雅黑"/>
                <a:cs typeface="微软雅黑"/>
              </a:rPr>
              <a:t>、</a:t>
            </a:r>
            <a:r>
              <a:rPr lang="zh-CN" altLang="en-US" sz="1200">
                <a:solidFill>
                  <a:srgbClr val="44546A">
                    <a:alpha val="100000"/>
                  </a:srgbClr>
                </a:solidFill>
                <a:latin typeface="微软雅黑"/>
                <a:ea typeface="微软雅黑"/>
                <a:cs typeface="微软雅黑"/>
              </a:rPr>
              <a:t>成本较低</a:t>
            </a:r>
            <a:r>
              <a:rPr lang="en-US" altLang="zh-CN" sz="1200">
                <a:solidFill>
                  <a:srgbClr val="44546A">
                    <a:alpha val="100000"/>
                  </a:srgbClr>
                </a:solidFill>
                <a:latin typeface="微软雅黑"/>
                <a:ea typeface="微软雅黑"/>
                <a:cs typeface="微软雅黑"/>
              </a:rPr>
              <a:t>、</a:t>
            </a:r>
            <a:r>
              <a:rPr sz="1200">
                <a:solidFill>
                  <a:srgbClr val="44546A">
                    <a:alpha val="100000"/>
                  </a:srgbClr>
                </a:solidFill>
                <a:latin typeface="微软雅黑"/>
                <a:ea typeface="微软雅黑"/>
                <a:cs typeface="微软雅黑"/>
              </a:rPr>
              <a:t>无需人工标注</a:t>
            </a:r>
            <a:endParaRPr sz="1275">
              <a:solidFill>
                <a:srgbClr val="44546A">
                  <a:alpha val="100000"/>
                </a:srgbClr>
              </a:solidFill>
              <a:latin typeface="微软雅黑"/>
              <a:ea typeface="微软雅黑"/>
              <a:cs typeface="微软雅黑"/>
            </a:endParaRPr>
          </a:p>
        </p:txBody>
      </p:sp>
      <p:sp>
        <p:nvSpPr>
          <p:cNvPr id="21" name="文本框 367"/>
          <p:cNvSpPr>
            <a:spLocks noGrp="1"/>
          </p:cNvSpPr>
          <p:nvPr/>
        </p:nvSpPr>
        <p:spPr>
          <a:xfrm>
            <a:off x="781050" y="2647950"/>
            <a:ext cx="4953000" cy="590550"/>
          </a:xfrm>
          <a:prstGeom prst="rect">
            <a:avLst/>
          </a:prstGeom>
        </p:spPr>
        <p:txBody>
          <a:bodyPr wrap="square" lIns="0" tIns="0" rIns="0" bIns="0">
            <a:normAutofit/>
          </a:bodyPr>
          <a:lstStyle/>
          <a:p>
            <a:pPr>
              <a:lnSpc>
                <a:spcPct val="150000"/>
              </a:lnSpc>
              <a:buNone/>
            </a:pPr>
            <a:r>
              <a:rPr sz="1200" b="1">
                <a:solidFill>
                  <a:srgbClr val="061F32">
                    <a:alpha val="100000"/>
                  </a:srgbClr>
                </a:solidFill>
                <a:latin typeface="微软雅黑"/>
                <a:ea typeface="微软雅黑"/>
                <a:cs typeface="微软雅黑"/>
              </a:rPr>
              <a:t>方法：</a:t>
            </a:r>
            <a:r>
              <a:rPr sz="1200">
                <a:solidFill>
                  <a:srgbClr val="44546A">
                    <a:alpha val="100000"/>
                  </a:srgbClr>
                </a:solidFill>
                <a:latin typeface="微软雅黑"/>
                <a:ea typeface="微软雅黑"/>
                <a:cs typeface="微软雅黑"/>
              </a:rPr>
              <a:t>模型自</a:t>
            </a:r>
            <a:r>
              <a:rPr lang="zh-CN" altLang="en-US" sz="1200">
                <a:solidFill>
                  <a:srgbClr val="44546A">
                    <a:alpha val="100000"/>
                  </a:srgbClr>
                </a:solidFill>
                <a:latin typeface="微软雅黑"/>
                <a:ea typeface="微软雅黑"/>
                <a:cs typeface="微软雅黑"/>
              </a:rPr>
              <a:t>主完成信息补全任务</a:t>
            </a:r>
            <a:r>
              <a:rPr sz="1200">
                <a:solidFill>
                  <a:srgbClr val="44546A">
                    <a:alpha val="100000"/>
                  </a:srgbClr>
                </a:solidFill>
                <a:latin typeface="微软雅黑"/>
                <a:ea typeface="微软雅黑"/>
                <a:cs typeface="微软雅黑"/>
              </a:rPr>
              <a:t>——预测被遮住的基因表达、还原</a:t>
            </a:r>
            <a:r>
              <a:rPr lang="zh-CN" altLang="en-US" sz="1200">
                <a:solidFill>
                  <a:srgbClr val="44546A">
                    <a:alpha val="100000"/>
                  </a:srgbClr>
                </a:solidFill>
                <a:latin typeface="微软雅黑"/>
                <a:ea typeface="微软雅黑"/>
                <a:cs typeface="微软雅黑"/>
              </a:rPr>
              <a:t>缺失</a:t>
            </a:r>
            <a:r>
              <a:rPr sz="1200">
                <a:solidFill>
                  <a:srgbClr val="44546A">
                    <a:alpha val="100000"/>
                  </a:srgbClr>
                </a:solidFill>
                <a:latin typeface="微软雅黑"/>
                <a:ea typeface="微软雅黑"/>
                <a:cs typeface="微软雅黑"/>
              </a:rPr>
              <a:t>的图像</a:t>
            </a:r>
            <a:r>
              <a:rPr lang="zh-CN" altLang="en-US" sz="1200">
                <a:solidFill>
                  <a:srgbClr val="44546A">
                    <a:alpha val="100000"/>
                  </a:srgbClr>
                </a:solidFill>
                <a:latin typeface="微软雅黑"/>
                <a:ea typeface="微软雅黑"/>
                <a:cs typeface="微软雅黑"/>
              </a:rPr>
              <a:t>区</a:t>
            </a:r>
            <a:r>
              <a:rPr sz="1200">
                <a:solidFill>
                  <a:srgbClr val="44546A">
                    <a:alpha val="100000"/>
                  </a:srgbClr>
                </a:solidFill>
                <a:latin typeface="微软雅黑"/>
                <a:ea typeface="微软雅黑"/>
                <a:cs typeface="微软雅黑"/>
              </a:rPr>
              <a:t>块</a:t>
            </a:r>
            <a:endParaRPr sz="1275">
              <a:solidFill>
                <a:srgbClr val="44546A">
                  <a:alpha val="100000"/>
                </a:srgbClr>
              </a:solidFill>
              <a:latin typeface="微软雅黑"/>
              <a:ea typeface="微软雅黑"/>
              <a:cs typeface="微软雅黑"/>
            </a:endParaRPr>
          </a:p>
        </p:txBody>
      </p:sp>
      <p:sp>
        <p:nvSpPr>
          <p:cNvPr id="22" name="文本框 368"/>
          <p:cNvSpPr>
            <a:spLocks noGrp="1"/>
          </p:cNvSpPr>
          <p:nvPr/>
        </p:nvSpPr>
        <p:spPr>
          <a:xfrm>
            <a:off x="781050" y="3352800"/>
            <a:ext cx="4953000" cy="590550"/>
          </a:xfrm>
          <a:prstGeom prst="rect">
            <a:avLst/>
          </a:prstGeom>
        </p:spPr>
        <p:txBody>
          <a:bodyPr wrap="square" lIns="0" tIns="0" rIns="0" bIns="0">
            <a:normAutofit/>
          </a:bodyPr>
          <a:lstStyle/>
          <a:p>
            <a:pPr>
              <a:lnSpc>
                <a:spcPct val="150000"/>
              </a:lnSpc>
              <a:buNone/>
            </a:pPr>
            <a:r>
              <a:rPr sz="1200" b="1">
                <a:solidFill>
                  <a:srgbClr val="061F32">
                    <a:alpha val="100000"/>
                  </a:srgbClr>
                </a:solidFill>
                <a:latin typeface="微软雅黑"/>
                <a:ea typeface="微软雅黑"/>
                <a:cs typeface="微软雅黑"/>
              </a:rPr>
              <a:t>产出：</a:t>
            </a:r>
            <a:r>
              <a:rPr sz="1200">
                <a:solidFill>
                  <a:srgbClr val="44546A">
                    <a:alpha val="100000"/>
                  </a:srgbClr>
                </a:solidFill>
                <a:latin typeface="微软雅黑"/>
                <a:ea typeface="微软雅黑"/>
                <a:cs typeface="微软雅黑"/>
              </a:rPr>
              <a:t>细胞状态的通用表征——</a:t>
            </a:r>
            <a:r>
              <a:rPr lang="zh-CN" altLang="en-US" sz="1200">
                <a:solidFill>
                  <a:srgbClr val="44546A">
                    <a:alpha val="100000"/>
                  </a:srgbClr>
                </a:solidFill>
                <a:latin typeface="微软雅黑"/>
                <a:ea typeface="微软雅黑"/>
                <a:cs typeface="微软雅黑"/>
              </a:rPr>
              <a:t>识别</a:t>
            </a:r>
            <a:r>
              <a:rPr sz="1200">
                <a:solidFill>
                  <a:srgbClr val="44546A">
                    <a:alpha val="100000"/>
                  </a:srgbClr>
                </a:solidFill>
                <a:latin typeface="微软雅黑"/>
                <a:ea typeface="微软雅黑"/>
                <a:cs typeface="微软雅黑"/>
              </a:rPr>
              <a:t>细胞</a:t>
            </a:r>
            <a:r>
              <a:rPr lang="zh-CN" altLang="en-US" sz="1200">
                <a:solidFill>
                  <a:srgbClr val="44546A">
                    <a:alpha val="100000"/>
                  </a:srgbClr>
                </a:solidFill>
                <a:latin typeface="微软雅黑"/>
                <a:ea typeface="微软雅黑"/>
                <a:cs typeface="微软雅黑"/>
              </a:rPr>
              <a:t>各类稳态，捕捉不同状态之间的转化规律</a:t>
            </a:r>
            <a:endParaRPr sz="1275">
              <a:solidFill>
                <a:srgbClr val="44546A">
                  <a:alpha val="100000"/>
                </a:srgbClr>
              </a:solidFill>
              <a:latin typeface="微软雅黑"/>
              <a:ea typeface="微软雅黑"/>
              <a:cs typeface="微软雅黑"/>
            </a:endParaRPr>
          </a:p>
        </p:txBody>
      </p:sp>
      <p:sp>
        <p:nvSpPr>
          <p:cNvPr id="23" name="矩形 369"/>
          <p:cNvSpPr>
            <a:spLocks noGrp="1"/>
          </p:cNvSpPr>
          <p:nvPr/>
        </p:nvSpPr>
        <p:spPr>
          <a:xfrm>
            <a:off x="781050" y="4095750"/>
            <a:ext cx="4953000" cy="381000"/>
          </a:xfrm>
          <a:prstGeom prst="rect">
            <a:avLst/>
          </a:prstGeom>
          <a:solidFill>
            <a:srgbClr val="F5F5F5"/>
          </a:solidFill>
        </p:spPr>
        <p:txBody>
          <a:bodyPr/>
          <a:lstStyle/>
          <a:p/>
        </p:txBody>
      </p:sp>
      <p:sp>
        <p:nvSpPr>
          <p:cNvPr id="24" name="文本框 370"/>
          <p:cNvSpPr>
            <a:spLocks noGrp="1"/>
          </p:cNvSpPr>
          <p:nvPr/>
        </p:nvSpPr>
        <p:spPr>
          <a:xfrm>
            <a:off x="914400" y="4191000"/>
            <a:ext cx="4686300" cy="190500"/>
          </a:xfrm>
          <a:prstGeom prst="rect">
            <a:avLst/>
          </a:prstGeom>
        </p:spPr>
        <p:txBody>
          <a:bodyPr wrap="none" lIns="0" tIns="0" rIns="0" bIns="0"/>
          <a:lstStyle/>
          <a:p>
            <a:pPr>
              <a:lnSpc>
                <a:spcPct val="100000"/>
              </a:lnSpc>
              <a:buNone/>
            </a:pPr>
            <a:r>
              <a:rPr sz="1200">
                <a:solidFill>
                  <a:srgbClr val="061F32"/>
                </a:solidFill>
                <a:latin typeface="微软雅黑"/>
                <a:ea typeface="微软雅黑"/>
                <a:cs typeface="微软雅黑"/>
              </a:rPr>
              <a:t>类比：先让模型「认识细胞」——这一步解决「数据不够」的问题</a:t>
            </a:r>
            <a:endParaRPr sz="1200">
              <a:solidFill>
                <a:srgbClr val="061F32"/>
              </a:solidFill>
              <a:latin typeface="微软雅黑"/>
              <a:ea typeface="微软雅黑"/>
              <a:cs typeface="微软雅黑"/>
            </a:endParaRPr>
          </a:p>
        </p:txBody>
      </p:sp>
      <p:sp>
        <p:nvSpPr>
          <p:cNvPr id="25" name="矩形 371"/>
          <p:cNvSpPr>
            <a:spLocks noGrp="1"/>
          </p:cNvSpPr>
          <p:nvPr/>
        </p:nvSpPr>
        <p:spPr>
          <a:xfrm>
            <a:off x="6210300" y="1057275"/>
            <a:ext cx="5448300" cy="4067175"/>
          </a:xfrm>
          <a:prstGeom prst="rect">
            <a:avLst/>
          </a:prstGeom>
          <a:solidFill>
            <a:srgbClr val="FAFCFE"/>
          </a:solidFill>
        </p:spPr>
        <p:txBody>
          <a:bodyPr/>
          <a:lstStyle/>
          <a:p/>
        </p:txBody>
      </p:sp>
      <p:sp>
        <p:nvSpPr>
          <p:cNvPr id="26" name="任意多边形 372"/>
          <p:cNvSpPr>
            <a:spLocks noGrp="1"/>
          </p:cNvSpPr>
          <p:nvPr/>
        </p:nvSpPr>
        <p:spPr>
          <a:xfrm>
            <a:off x="6210300" y="1019175"/>
            <a:ext cx="5448300" cy="4105275"/>
          </a:xfrm>
          <a:custGeom>
            <a:avLst/>
            <a:gdLst/>
            <a:ahLst/>
            <a:cxnLst/>
            <a:pathLst>
              <a:path w="572" h="431">
                <a:moveTo>
                  <a:pt x="0" y="0"/>
                </a:moveTo>
                <a:lnTo>
                  <a:pt x="572" y="0"/>
                </a:lnTo>
                <a:lnTo>
                  <a:pt x="572" y="4"/>
                </a:lnTo>
                <a:lnTo>
                  <a:pt x="0" y="4"/>
                </a:lnTo>
                <a:close/>
              </a:path>
            </a:pathLst>
          </a:custGeom>
          <a:solidFill>
            <a:srgbClr val="08A6F6"/>
          </a:solidFill>
        </p:spPr>
        <p:txBody>
          <a:bodyPr/>
          <a:lstStyle/>
          <a:p/>
        </p:txBody>
      </p:sp>
      <p:sp>
        <p:nvSpPr>
          <p:cNvPr id="27" name="文本框 373"/>
          <p:cNvSpPr>
            <a:spLocks noGrp="1"/>
          </p:cNvSpPr>
          <p:nvPr/>
        </p:nvSpPr>
        <p:spPr>
          <a:xfrm>
            <a:off x="6457950" y="1260475"/>
            <a:ext cx="4953000" cy="171450"/>
          </a:xfrm>
          <a:prstGeom prst="rect">
            <a:avLst/>
          </a:prstGeom>
        </p:spPr>
        <p:txBody>
          <a:bodyPr wrap="none" lIns="0" tIns="0" rIns="0" bIns="0"/>
          <a:lstStyle/>
          <a:p>
            <a:pPr>
              <a:lnSpc>
                <a:spcPct val="100000"/>
              </a:lnSpc>
              <a:buNone/>
            </a:pPr>
            <a:r>
              <a:rPr sz="1125" b="1" spc="150">
                <a:solidFill>
                  <a:srgbClr val="808080"/>
                </a:solidFill>
                <a:latin typeface="微软雅黑"/>
                <a:ea typeface="微软雅黑"/>
                <a:cs typeface="微软雅黑"/>
              </a:rPr>
              <a:t>第二步</a:t>
            </a:r>
            <a:r>
              <a:rPr sz="1125" b="1" spc="150">
                <a:solidFill>
                  <a:srgbClr val="808080"/>
                </a:solidFill>
                <a:latin typeface="微软雅黑"/>
                <a:ea typeface="微软雅黑"/>
                <a:cs typeface="微软雅黑"/>
              </a:rPr>
              <a:t> · </a:t>
            </a:r>
            <a:r>
              <a:rPr sz="1125" b="1" spc="150">
                <a:solidFill>
                  <a:srgbClr val="808080"/>
                </a:solidFill>
                <a:latin typeface="微软雅黑"/>
                <a:ea typeface="微软雅黑"/>
                <a:cs typeface="微软雅黑"/>
              </a:rPr>
              <a:t>监督学习</a:t>
            </a:r>
            <a:endParaRPr sz="1125" b="1" spc="150">
              <a:solidFill>
                <a:srgbClr val="808080"/>
              </a:solidFill>
              <a:latin typeface="微软雅黑"/>
              <a:ea typeface="微软雅黑"/>
              <a:cs typeface="微软雅黑"/>
            </a:endParaRPr>
          </a:p>
        </p:txBody>
      </p:sp>
      <p:sp>
        <p:nvSpPr>
          <p:cNvPr id="28" name="文本框 374"/>
          <p:cNvSpPr>
            <a:spLocks noGrp="1"/>
          </p:cNvSpPr>
          <p:nvPr/>
        </p:nvSpPr>
        <p:spPr>
          <a:xfrm>
            <a:off x="6457950" y="1514475"/>
            <a:ext cx="4953000" cy="276225"/>
          </a:xfrm>
          <a:prstGeom prst="rect">
            <a:avLst/>
          </a:prstGeom>
        </p:spPr>
        <p:txBody>
          <a:bodyPr wrap="none" lIns="0" tIns="0" rIns="0" bIns="0"/>
          <a:lstStyle/>
          <a:p>
            <a:pPr>
              <a:lnSpc>
                <a:spcPct val="100000"/>
              </a:lnSpc>
              <a:buNone/>
            </a:pPr>
            <a:r>
              <a:rPr sz="1800" b="1">
                <a:solidFill>
                  <a:srgbClr val="061F32"/>
                </a:solidFill>
                <a:latin typeface="微软雅黑"/>
                <a:ea typeface="微软雅黑"/>
                <a:cs typeface="微软雅黑"/>
              </a:rPr>
              <a:t>学会「干预 → 新状态」</a:t>
            </a:r>
            <a:endParaRPr sz="1800" b="1">
              <a:solidFill>
                <a:srgbClr val="061F32"/>
              </a:solidFill>
              <a:latin typeface="微软雅黑"/>
              <a:ea typeface="微软雅黑"/>
              <a:cs typeface="微软雅黑"/>
            </a:endParaRPr>
          </a:p>
        </p:txBody>
      </p:sp>
      <p:sp>
        <p:nvSpPr>
          <p:cNvPr id="29" name="文本框 375"/>
          <p:cNvSpPr>
            <a:spLocks noGrp="1"/>
          </p:cNvSpPr>
          <p:nvPr/>
        </p:nvSpPr>
        <p:spPr>
          <a:xfrm>
            <a:off x="6457950" y="1943100"/>
            <a:ext cx="4953000" cy="590550"/>
          </a:xfrm>
          <a:prstGeom prst="rect">
            <a:avLst/>
          </a:prstGeom>
        </p:spPr>
        <p:txBody>
          <a:bodyPr wrap="square" lIns="0" tIns="0" rIns="0" bIns="0">
            <a:normAutofit/>
          </a:bodyPr>
          <a:lstStyle/>
          <a:p>
            <a:pPr marL="0" lvl="0" algn="l" defTabSz="914400">
              <a:lnSpc>
                <a:spcPct val="150000"/>
              </a:lnSpc>
              <a:buNone/>
              <a:defRPr sz="1800">
                <a:solidFill>
                  <a:schemeClr val="tx1">
                    <a:alpha val="100000"/>
                  </a:schemeClr>
                </a:solidFill>
                <a:latin typeface="Calibri"/>
                <a:ea typeface="Calibri"/>
                <a:cs typeface="Calibri"/>
              </a:defRPr>
            </a:pPr>
            <a:r>
              <a:rPr sz="1200" b="1" i="0" u="none">
                <a:solidFill>
                  <a:srgbClr val="061F32">
                    <a:alpha val="100000"/>
                  </a:srgbClr>
                </a:solidFill>
                <a:latin typeface="微软雅黑"/>
                <a:ea typeface="微软雅黑"/>
                <a:cs typeface="微软雅黑"/>
              </a:rPr>
              <a:t>数据：类器官纵向扰动配对数据</a:t>
            </a:r>
            <a:r>
              <a:rPr sz="1200" i="0" u="none">
                <a:solidFill>
                  <a:srgbClr val="061F32">
                    <a:alpha val="100000"/>
                  </a:srgbClr>
                </a:solidFill>
                <a:latin typeface="微软雅黑"/>
                <a:ea typeface="微软雅黑"/>
                <a:cs typeface="微软雅黑"/>
              </a:rPr>
              <a:t>（给药后多组学追踪状态变化，并与患者纵向轨迹配对）稀缺、昂贵，</a:t>
            </a:r>
            <a:r>
              <a:rPr sz="1200">
                <a:solidFill>
                  <a:srgbClr val="061F32">
                    <a:alpha val="100000"/>
                  </a:srgbClr>
                </a:solidFill>
                <a:latin typeface="微软雅黑" charset="0"/>
                <a:ea typeface="微软雅黑" charset="0"/>
                <a:cs typeface="微软雅黑" charset="0"/>
              </a:rPr>
              <a:t>只能来源</a:t>
            </a:r>
            <a:r>
              <a:rPr lang="zh-CN" altLang="en-US" sz="1200">
                <a:solidFill>
                  <a:srgbClr val="061F32">
                    <a:alpha val="100000"/>
                  </a:srgbClr>
                </a:solidFill>
                <a:latin typeface="微软雅黑" charset="0"/>
                <a:ea typeface="微软雅黑" charset="0"/>
                <a:cs typeface="微软雅黑" charset="0"/>
              </a:rPr>
              <a:t>于</a:t>
            </a:r>
            <a:r>
              <a:rPr sz="1200" i="0" u="none">
                <a:solidFill>
                  <a:srgbClr val="061F32">
                    <a:alpha val="100000"/>
                  </a:srgbClr>
                </a:solidFill>
                <a:latin typeface="微软雅黑"/>
                <a:ea typeface="微软雅黑"/>
                <a:cs typeface="微软雅黑"/>
              </a:rPr>
              <a:t>真实实验与</a:t>
            </a:r>
            <a:r>
              <a:rPr lang="zh-CN" altLang="en-US" sz="1200" i="0" u="none">
                <a:solidFill>
                  <a:srgbClr val="061F32">
                    <a:alpha val="100000"/>
                  </a:srgbClr>
                </a:solidFill>
                <a:latin typeface="微软雅黑"/>
                <a:ea typeface="微软雅黑"/>
                <a:cs typeface="微软雅黑"/>
              </a:rPr>
              <a:t>临床</a:t>
            </a:r>
            <a:r>
              <a:rPr sz="1200" i="0" u="none">
                <a:solidFill>
                  <a:srgbClr val="061F32">
                    <a:alpha val="100000"/>
                  </a:srgbClr>
                </a:solidFill>
                <a:latin typeface="微软雅黑"/>
                <a:ea typeface="微软雅黑"/>
                <a:cs typeface="微软雅黑"/>
              </a:rPr>
              <a:t>随访</a:t>
            </a:r>
            <a:endParaRPr sz="1275">
              <a:solidFill>
                <a:srgbClr val="44546A">
                  <a:alpha val="100000"/>
                </a:srgbClr>
              </a:solidFill>
              <a:latin typeface="微软雅黑"/>
              <a:ea typeface="微软雅黑"/>
              <a:cs typeface="微软雅黑"/>
            </a:endParaRPr>
          </a:p>
        </p:txBody>
      </p:sp>
      <p:sp>
        <p:nvSpPr>
          <p:cNvPr id="30" name="文本框 376"/>
          <p:cNvSpPr>
            <a:spLocks noGrp="1"/>
          </p:cNvSpPr>
          <p:nvPr/>
        </p:nvSpPr>
        <p:spPr>
          <a:xfrm>
            <a:off x="6457950" y="2647950"/>
            <a:ext cx="4953000" cy="596900"/>
          </a:xfrm>
          <a:prstGeom prst="rect">
            <a:avLst/>
          </a:prstGeom>
        </p:spPr>
        <p:txBody>
          <a:bodyPr wrap="none" lIns="0" tIns="0" rIns="0" bIns="0"/>
          <a:lstStyle/>
          <a:p>
            <a:pPr marL="0" lvl="0" algn="l" defTabSz="914400">
              <a:lnSpc>
                <a:spcPct val="150000"/>
              </a:lnSpc>
              <a:buNone/>
              <a:defRPr sz="1800">
                <a:solidFill>
                  <a:schemeClr val="tx1">
                    <a:alpha val="100000"/>
                  </a:schemeClr>
                </a:solidFill>
                <a:latin typeface="Calibri"/>
                <a:ea typeface="Calibri"/>
                <a:cs typeface="Calibri"/>
              </a:defRPr>
            </a:pPr>
            <a:r>
              <a:rPr sz="1200" b="1" i="0" u="none">
                <a:solidFill>
                  <a:srgbClr val="061F32">
                    <a:alpha val="100000"/>
                  </a:srgbClr>
                </a:solidFill>
                <a:latin typeface="微软雅黑"/>
                <a:ea typeface="微软雅黑"/>
                <a:cs typeface="微软雅黑"/>
              </a:rPr>
              <a:t>方法：</a:t>
            </a:r>
            <a:r>
              <a:rPr sz="1200" b="1" i="0" u="none">
                <a:solidFill>
                  <a:schemeClr val="tx1"/>
                </a:solidFill>
                <a:latin typeface="微软雅黑"/>
                <a:ea typeface="微软雅黑"/>
                <a:cs typeface="Arial" panose="020B0604020202020204" pitchFamily="34" charset="0"/>
              </a:rPr>
              <a:t>多组学</a:t>
            </a:r>
            <a:r>
              <a:rPr sz="1200" b="0" i="0" u="none">
                <a:solidFill>
                  <a:srgbClr val="44546A">
                    <a:alpha val="100000"/>
                  </a:srgbClr>
                </a:solidFill>
                <a:latin typeface="微软雅黑"/>
                <a:ea typeface="微软雅黑"/>
                <a:cs typeface="微软雅黑"/>
              </a:rPr>
              <a:t>（RNA / 蛋白 / 代谢 / 形态 / 功能表型）经 Encoder </a:t>
            </a:r>
            <a:endParaRPr sz="1200" b="0" i="0" u="none">
              <a:solidFill>
                <a:srgbClr val="44546A">
                  <a:alpha val="100000"/>
                </a:srgbClr>
              </a:solidFill>
              <a:latin typeface="微软雅黑"/>
              <a:ea typeface="微软雅黑"/>
              <a:cs typeface="微软雅黑"/>
            </a:endParaRPr>
          </a:p>
          <a:p>
            <a:pPr marL="0" lvl="0" algn="l" defTabSz="914400">
              <a:lnSpc>
                <a:spcPct val="150000"/>
              </a:lnSpc>
              <a:buNone/>
              <a:defRPr sz="1800">
                <a:solidFill>
                  <a:schemeClr val="tx1">
                    <a:alpha val="100000"/>
                  </a:schemeClr>
                </a:solidFill>
                <a:latin typeface="Calibri"/>
                <a:ea typeface="Calibri"/>
                <a:cs typeface="Calibri"/>
              </a:defRPr>
            </a:pPr>
            <a:r>
              <a:rPr sz="1200" b="0" i="0" u="none">
                <a:solidFill>
                  <a:srgbClr val="44546A">
                    <a:alpha val="100000"/>
                  </a:srgbClr>
                </a:solidFill>
                <a:latin typeface="微软雅黑"/>
                <a:ea typeface="微软雅黑"/>
                <a:cs typeface="微软雅黑"/>
              </a:rPr>
              <a:t>压缩为潜状态 Z(t</a:t>
            </a:r>
            <a:r>
              <a:rPr sz="1200">
                <a:solidFill>
                  <a:srgbClr val="44546A">
                    <a:alpha val="100000"/>
                  </a:srgbClr>
                </a:solidFill>
                <a:latin typeface="微软雅黑"/>
                <a:ea typeface="微软雅黑"/>
                <a:cs typeface="微软雅黑"/>
              </a:rPr>
              <a:t>)，学习状态转移函数 Z(t+1) = F(Zt, 干预)</a:t>
            </a:r>
            <a:endParaRPr sz="1200">
              <a:solidFill>
                <a:srgbClr val="44546A">
                  <a:alpha val="100000"/>
                </a:srgbClr>
              </a:solidFill>
              <a:latin typeface="微软雅黑"/>
              <a:ea typeface="微软雅黑"/>
              <a:cs typeface="微软雅黑"/>
            </a:endParaRPr>
          </a:p>
        </p:txBody>
      </p:sp>
      <p:sp>
        <p:nvSpPr>
          <p:cNvPr id="31" name="文本框 377"/>
          <p:cNvSpPr>
            <a:spLocks noGrp="1"/>
          </p:cNvSpPr>
          <p:nvPr/>
        </p:nvSpPr>
        <p:spPr>
          <a:xfrm>
            <a:off x="6457950" y="3365500"/>
            <a:ext cx="4953000" cy="730250"/>
          </a:xfrm>
          <a:prstGeom prst="rect">
            <a:avLst/>
          </a:prstGeom>
        </p:spPr>
        <p:txBody>
          <a:bodyPr wrap="square" lIns="0" tIns="0" rIns="0" bIns="0">
            <a:normAutofit/>
          </a:bodyPr>
          <a:lstStyle/>
          <a:p>
            <a:pPr marL="0" lvl="0" indent="0" algn="l" defTabSz="914400">
              <a:lnSpc>
                <a:spcPct val="150000"/>
              </a:lnSpc>
              <a:buNone/>
              <a:defRPr sz="1800">
                <a:solidFill>
                  <a:schemeClr val="tx1">
                    <a:alpha val="100000"/>
                  </a:schemeClr>
                </a:solidFill>
                <a:latin typeface="Calibri"/>
                <a:ea typeface="Calibri"/>
                <a:cs typeface="Calibri"/>
              </a:defRPr>
            </a:pPr>
            <a:r>
              <a:rPr sz="1200" b="1" i="0" u="none">
                <a:solidFill>
                  <a:srgbClr val="061F32">
                    <a:alpha val="100000"/>
                  </a:srgbClr>
                </a:solidFill>
                <a:latin typeface="微软雅黑"/>
                <a:ea typeface="微软雅黑"/>
                <a:cs typeface="微软雅黑"/>
              </a:rPr>
              <a:t>产出：</a:t>
            </a:r>
            <a:r>
              <a:rPr lang="zh-CN" altLang="en-US" sz="1200" b="1" i="0" u="none">
                <a:solidFill>
                  <a:srgbClr val="061F32">
                    <a:alpha val="100000"/>
                  </a:srgbClr>
                </a:solidFill>
                <a:latin typeface="微软雅黑"/>
                <a:ea typeface="微软雅黑"/>
                <a:cs typeface="微软雅黑"/>
              </a:rPr>
              <a:t>状态向量</a:t>
            </a:r>
            <a:r>
              <a:rPr sz="1200" b="1" i="0" u="none">
                <a:solidFill>
                  <a:srgbClr val="061F32">
                    <a:alpha val="100000"/>
                  </a:srgbClr>
                </a:solidFill>
                <a:latin typeface="微软雅黑"/>
                <a:ea typeface="微软雅黑"/>
                <a:cs typeface="微软雅黑"/>
              </a:rPr>
              <a:t>Z(t) 的维度</a:t>
            </a:r>
            <a:r>
              <a:rPr sz="1200" i="0" u="none">
                <a:solidFill>
                  <a:srgbClr val="061F32">
                    <a:alpha val="100000"/>
                  </a:srgbClr>
                </a:solidFill>
                <a:latin typeface="微软雅黑"/>
                <a:ea typeface="微软雅黑"/>
                <a:cs typeface="微软雅黑"/>
              </a:rPr>
              <a:t>可对应增殖、干性、代谢、应激、免疫互作、DNA 损伤、脂质重塑与耐药；给定干预后推演类器官状态随时间变化</a:t>
            </a:r>
            <a:endParaRPr sz="1275">
              <a:solidFill>
                <a:srgbClr val="44546A">
                  <a:alpha val="100000"/>
                </a:srgbClr>
              </a:solidFill>
              <a:latin typeface="微软雅黑"/>
              <a:ea typeface="微软雅黑"/>
              <a:cs typeface="微软雅黑"/>
            </a:endParaRPr>
          </a:p>
        </p:txBody>
      </p:sp>
      <p:sp>
        <p:nvSpPr>
          <p:cNvPr id="32" name="矩形 378"/>
          <p:cNvSpPr>
            <a:spLocks noGrp="1"/>
          </p:cNvSpPr>
          <p:nvPr/>
        </p:nvSpPr>
        <p:spPr>
          <a:xfrm>
            <a:off x="6457950" y="4191000"/>
            <a:ext cx="4953000" cy="381000"/>
          </a:xfrm>
          <a:prstGeom prst="rect">
            <a:avLst/>
          </a:prstGeom>
          <a:solidFill>
            <a:srgbClr val="061F32"/>
          </a:solidFill>
        </p:spPr>
        <p:txBody>
          <a:bodyPr/>
          <a:lstStyle/>
          <a:p/>
        </p:txBody>
      </p:sp>
      <p:sp>
        <p:nvSpPr>
          <p:cNvPr id="33" name="文本框 379"/>
          <p:cNvSpPr>
            <a:spLocks noGrp="1"/>
          </p:cNvSpPr>
          <p:nvPr/>
        </p:nvSpPr>
        <p:spPr>
          <a:xfrm>
            <a:off x="6591300" y="4279900"/>
            <a:ext cx="4686300" cy="190500"/>
          </a:xfrm>
          <a:prstGeom prst="rect">
            <a:avLst/>
          </a:prstGeom>
        </p:spPr>
        <p:txBody>
          <a:bodyPr wrap="none" lIns="0" tIns="0" rIns="0" bIns="0"/>
          <a:lstStyle/>
          <a:p>
            <a:pPr>
              <a:lnSpc>
                <a:spcPct val="100000"/>
              </a:lnSpc>
              <a:buNone/>
            </a:pPr>
            <a:r>
              <a:rPr sz="1200">
                <a:solidFill>
                  <a:srgbClr val="FFFFFF"/>
                </a:solidFill>
                <a:latin typeface="微软雅黑"/>
                <a:ea typeface="微软雅黑"/>
                <a:cs typeface="微软雅黑"/>
              </a:rPr>
              <a:t>这类</a:t>
            </a:r>
            <a:r>
              <a:rPr lang="zh-CN" altLang="en-US" sz="1200">
                <a:solidFill>
                  <a:srgbClr val="FFFFFF"/>
                </a:solidFill>
                <a:latin typeface="微软雅黑"/>
                <a:ea typeface="微软雅黑"/>
                <a:cs typeface="Arial" panose="020B0604020202020204" pitchFamily="34" charset="0"/>
              </a:rPr>
              <a:t>纵向配对</a:t>
            </a:r>
            <a:r>
              <a:rPr sz="1200">
                <a:solidFill>
                  <a:srgbClr val="FFFFFF"/>
                </a:solidFill>
                <a:latin typeface="微软雅黑"/>
                <a:ea typeface="微软雅黑"/>
                <a:cs typeface="微软雅黑"/>
              </a:rPr>
              <a:t>数据</a:t>
            </a:r>
            <a:r>
              <a:rPr lang="zh-CN" altLang="en-US" sz="1200">
                <a:solidFill>
                  <a:srgbClr val="FFFFFF"/>
                </a:solidFill>
                <a:latin typeface="微软雅黑"/>
                <a:ea typeface="微软雅黑"/>
                <a:cs typeface="微软雅黑"/>
              </a:rPr>
              <a:t>，</a:t>
            </a:r>
            <a:r>
              <a:rPr sz="1200" b="1">
                <a:solidFill>
                  <a:srgbClr val="08A6F6"/>
                </a:solidFill>
                <a:latin typeface="微软雅黑"/>
                <a:ea typeface="微软雅黑"/>
                <a:cs typeface="微软雅黑"/>
              </a:rPr>
              <a:t>是</a:t>
            </a:r>
            <a:r>
              <a:rPr lang="zh-CN" altLang="en-US" sz="1200" b="1">
                <a:solidFill>
                  <a:srgbClr val="08A6F6"/>
                </a:solidFill>
                <a:latin typeface="微软雅黑"/>
                <a:ea typeface="微软雅黑"/>
                <a:cs typeface="微软雅黑"/>
              </a:rPr>
              <a:t>难以复刻的</a:t>
            </a:r>
            <a:r>
              <a:rPr sz="1200" b="1">
                <a:solidFill>
                  <a:srgbClr val="08A6F6"/>
                </a:solidFill>
                <a:latin typeface="微软雅黑"/>
                <a:ea typeface="微软雅黑"/>
                <a:cs typeface="微软雅黑"/>
              </a:rPr>
              <a:t>核心资产</a:t>
            </a:r>
            <a:endParaRPr sz="1200" b="1">
              <a:solidFill>
                <a:srgbClr val="08A6F6"/>
              </a:solidFill>
              <a:latin typeface="微软雅黑"/>
              <a:ea typeface="微软雅黑"/>
              <a:cs typeface="微软雅黑"/>
            </a:endParaRPr>
          </a:p>
        </p:txBody>
      </p:sp>
      <p:sp>
        <p:nvSpPr>
          <p:cNvPr id="34" name="矩形 380"/>
          <p:cNvSpPr>
            <a:spLocks noGrp="1"/>
          </p:cNvSpPr>
          <p:nvPr/>
        </p:nvSpPr>
        <p:spPr>
          <a:xfrm>
            <a:off x="571500" y="5276850"/>
            <a:ext cx="11125200" cy="962025"/>
          </a:xfrm>
          <a:prstGeom prst="rect">
            <a:avLst/>
          </a:prstGeom>
          <a:solidFill>
            <a:srgbClr val="F5F5F5"/>
          </a:solidFill>
        </p:spPr>
        <p:txBody>
          <a:bodyPr/>
          <a:lstStyle/>
          <a:p/>
        </p:txBody>
      </p:sp>
      <p:sp>
        <p:nvSpPr>
          <p:cNvPr id="35" name="任意多边形 381"/>
          <p:cNvSpPr>
            <a:spLocks noGrp="1"/>
          </p:cNvSpPr>
          <p:nvPr/>
        </p:nvSpPr>
        <p:spPr>
          <a:xfrm>
            <a:off x="533400" y="5276850"/>
            <a:ext cx="11163300" cy="962025"/>
          </a:xfrm>
          <a:custGeom>
            <a:avLst/>
            <a:gdLst/>
            <a:ahLst/>
            <a:cxnLst/>
            <a:pathLst>
              <a:path w="1172" h="101">
                <a:moveTo>
                  <a:pt x="0" y="0"/>
                </a:moveTo>
                <a:lnTo>
                  <a:pt x="4" y="0"/>
                </a:lnTo>
                <a:lnTo>
                  <a:pt x="4" y="101"/>
                </a:lnTo>
                <a:lnTo>
                  <a:pt x="0" y="101"/>
                </a:lnTo>
                <a:close/>
              </a:path>
            </a:pathLst>
          </a:custGeom>
          <a:solidFill>
            <a:srgbClr val="061F32"/>
          </a:solidFill>
        </p:spPr>
        <p:txBody>
          <a:bodyPr/>
          <a:lstStyle/>
          <a:p/>
        </p:txBody>
      </p:sp>
      <p:sp>
        <p:nvSpPr>
          <p:cNvPr id="36" name="文本框 382"/>
          <p:cNvSpPr>
            <a:spLocks noGrp="1"/>
          </p:cNvSpPr>
          <p:nvPr/>
        </p:nvSpPr>
        <p:spPr>
          <a:xfrm>
            <a:off x="781050" y="5429250"/>
            <a:ext cx="10668000" cy="657225"/>
          </a:xfrm>
          <a:prstGeom prst="rect">
            <a:avLst/>
          </a:prstGeom>
        </p:spPr>
        <p:txBody>
          <a:bodyPr wrap="square" lIns="0" tIns="0" rIns="0" bIns="0">
            <a:normAutofit/>
          </a:bodyPr>
          <a:lstStyle/>
          <a:p>
            <a:pPr>
              <a:lnSpc>
                <a:spcPct val="150000"/>
              </a:lnSpc>
              <a:buNone/>
            </a:pPr>
            <a:r>
              <a:rPr sz="1425" b="1">
                <a:solidFill>
                  <a:srgbClr val="061F32"/>
                </a:solidFill>
                <a:latin typeface="微软雅黑"/>
                <a:ea typeface="微软雅黑"/>
                <a:cs typeface="微软雅黑"/>
              </a:rPr>
              <a:t>两段</a:t>
            </a:r>
            <a:r>
              <a:rPr sz="1425" b="1">
                <a:solidFill>
                  <a:srgbClr val="061F32"/>
                </a:solidFill>
                <a:latin typeface="微软雅黑" charset="0"/>
                <a:ea typeface="微软雅黑" charset="0"/>
                <a:cs typeface="微软雅黑" charset="0"/>
              </a:rPr>
              <a:t>训练互为补充</a:t>
            </a:r>
            <a:r>
              <a:rPr sz="1425" b="1">
                <a:solidFill>
                  <a:srgbClr val="061F32"/>
                </a:solidFill>
                <a:latin typeface="微软雅黑"/>
                <a:ea typeface="微软雅黑"/>
                <a:cs typeface="微软雅黑"/>
              </a:rPr>
              <a:t>：</a:t>
            </a:r>
            <a:r>
              <a:rPr sz="1425">
                <a:solidFill>
                  <a:srgbClr val="061F32"/>
                </a:solidFill>
                <a:latin typeface="微软雅黑"/>
                <a:ea typeface="微软雅黑"/>
                <a:cs typeface="微软雅黑"/>
              </a:rPr>
              <a:t>只学第一步，模型只会描述、不会预测；只学第二步，模型</a:t>
            </a:r>
            <a:r>
              <a:rPr lang="zh-CN" altLang="en-US" sz="1425">
                <a:solidFill>
                  <a:srgbClr val="061F32"/>
                </a:solidFill>
                <a:latin typeface="微软雅黑"/>
                <a:ea typeface="微软雅黑"/>
                <a:cs typeface="微软雅黑"/>
              </a:rPr>
              <a:t>缺失</a:t>
            </a:r>
            <a:r>
              <a:rPr sz="1425">
                <a:solidFill>
                  <a:srgbClr val="061F32"/>
                </a:solidFill>
                <a:latin typeface="微软雅黑"/>
                <a:ea typeface="微软雅黑"/>
                <a:cs typeface="微软雅黑"/>
              </a:rPr>
              <a:t>泛化能力 </a:t>
            </a:r>
            <a:r>
              <a:rPr sz="1425" b="1">
                <a:solidFill>
                  <a:srgbClr val="08A6F6"/>
                </a:solidFill>
                <a:latin typeface="微软雅黑"/>
                <a:ea typeface="微软雅黑"/>
                <a:cs typeface="微软雅黑"/>
              </a:rPr>
              <a:t>—— </a:t>
            </a:r>
            <a:r>
              <a:rPr lang="zh-CN" altLang="en-US" sz="1425" b="1">
                <a:solidFill>
                  <a:srgbClr val="08A6F6"/>
                </a:solidFill>
                <a:latin typeface="微软雅黑"/>
                <a:ea typeface="微软雅黑"/>
                <a:cs typeface="微软雅黑"/>
              </a:rPr>
              <a:t>二者</a:t>
            </a:r>
            <a:r>
              <a:rPr sz="1425" b="1">
                <a:solidFill>
                  <a:srgbClr val="08A6F6"/>
                </a:solidFill>
                <a:latin typeface="微软雅黑"/>
                <a:ea typeface="微软雅黑"/>
                <a:cs typeface="微软雅黑"/>
              </a:rPr>
              <a:t>缺一不可。</a:t>
            </a:r>
            <a:endParaRPr sz="1425" b="1">
              <a:solidFill>
                <a:srgbClr val="08A6F6"/>
              </a:solidFill>
              <a:latin typeface="微软雅黑"/>
              <a:ea typeface="微软雅黑"/>
              <a:cs typeface="微软雅黑"/>
            </a:endParaRPr>
          </a:p>
        </p:txBody>
      </p:sp>
      <p:sp>
        <p:nvSpPr>
          <p:cNvPr id="37" name="文本框 383"/>
          <p:cNvSpPr>
            <a:spLocks noGrp="1"/>
          </p:cNvSpPr>
          <p:nvPr/>
        </p:nvSpPr>
        <p:spPr>
          <a:xfrm>
            <a:off x="533400" y="6381750"/>
            <a:ext cx="1895475"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Source: AIVC </a:t>
            </a:r>
            <a:r>
              <a:rPr sz="1050">
                <a:solidFill>
                  <a:srgbClr val="808080"/>
                </a:solidFill>
                <a:latin typeface="微软雅黑"/>
                <a:ea typeface="微软雅黑"/>
                <a:cs typeface="微软雅黑"/>
              </a:rPr>
              <a:t>商业故事</a:t>
            </a:r>
            <a:r>
              <a:rPr sz="1050">
                <a:solidFill>
                  <a:srgbClr val="808080"/>
                </a:solidFill>
                <a:latin typeface="微软雅黑"/>
                <a:ea typeface="微软雅黑"/>
                <a:cs typeface="微软雅黑"/>
              </a:rPr>
              <a:t> BP §4.2</a:t>
            </a:r>
            <a:endParaRPr sz="1050">
              <a:solidFill>
                <a:srgbClr val="808080"/>
              </a:solidFill>
              <a:latin typeface="微软雅黑"/>
              <a:ea typeface="微软雅黑"/>
              <a:cs typeface="微软雅黑"/>
            </a:endParaRPr>
          </a:p>
        </p:txBody>
      </p:sp>
      <p:sp>
        <p:nvSpPr>
          <p:cNvPr id="38" name="文本框 384"/>
          <p:cNvSpPr>
            <a:spLocks noGrp="1"/>
          </p:cNvSpPr>
          <p:nvPr/>
        </p:nvSpPr>
        <p:spPr>
          <a:xfrm>
            <a:off x="11201400" y="6381750"/>
            <a:ext cx="4572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10 / 18</a:t>
            </a:r>
            <a:endParaRPr sz="1050">
              <a:solidFill>
                <a:srgbClr val="808080"/>
              </a:solidFill>
              <a:latin typeface="微软雅黑"/>
              <a:ea typeface="微软雅黑"/>
              <a:cs typeface="微软雅黑"/>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 name="矩形 13"/>
          <p:cNvSpPr>
            <a:spLocks noGrp="1"/>
          </p:cNvSpPr>
          <p:nvPr/>
        </p:nvSpPr>
        <p:spPr>
          <a:xfrm>
            <a:off x="0" y="0"/>
            <a:ext cx="12192000" cy="6858000"/>
          </a:xfrm>
          <a:prstGeom prst="rect">
            <a:avLst/>
          </a:prstGeom>
          <a:solidFill>
            <a:srgbClr val="FFFFFF"/>
          </a:solidFill>
        </p:spPr>
        <p:txBody>
          <a:bodyPr/>
          <a:lstStyle/>
          <a:p/>
        </p:txBody>
      </p:sp>
      <p:sp>
        <p:nvSpPr>
          <p:cNvPr id="41" name="文本框 14"/>
          <p:cNvSpPr>
            <a:spLocks noGrp="1"/>
          </p:cNvSpPr>
          <p:nvPr/>
        </p:nvSpPr>
        <p:spPr>
          <a:xfrm>
            <a:off x="533400" y="419100"/>
            <a:ext cx="11125200" cy="381000"/>
          </a:xfrm>
          <a:prstGeom prst="rect">
            <a:avLst/>
          </a:prstGeom>
        </p:spPr>
        <p:txBody>
          <a:bodyPr wrap="none" lIns="0" tIns="0" rIns="0" bIns="0"/>
          <a:lstStyle/>
          <a:p>
            <a:pPr>
              <a:lnSpc>
                <a:spcPct val="100000"/>
              </a:lnSpc>
              <a:buNone/>
            </a:pPr>
            <a:r>
              <a:rPr sz="2475" b="1">
                <a:solidFill>
                  <a:srgbClr val="061F32"/>
                </a:solidFill>
                <a:latin typeface="微软雅黑"/>
                <a:ea typeface="微软雅黑"/>
                <a:cs typeface="微软雅黑"/>
              </a:rPr>
              <a:t>飞轮五环节：患者是起点也是终点，</a:t>
            </a:r>
            <a:r>
              <a:rPr lang="zh-CN" altLang="en-US" sz="2475" b="1">
                <a:solidFill>
                  <a:srgbClr val="061F32"/>
                </a:solidFill>
                <a:latin typeface="微软雅黑"/>
                <a:ea typeface="微软雅黑"/>
                <a:cs typeface="微软雅黑"/>
              </a:rPr>
              <a:t>实现</a:t>
            </a:r>
            <a:r>
              <a:rPr sz="2475" b="1">
                <a:solidFill>
                  <a:srgbClr val="061F32"/>
                </a:solidFill>
                <a:latin typeface="微软雅黑"/>
                <a:ea typeface="微软雅黑"/>
                <a:cs typeface="微软雅黑"/>
              </a:rPr>
              <a:t>双轨迹校准</a:t>
            </a:r>
            <a:r>
              <a:rPr lang="zh-CN" altLang="en-US" sz="2475" b="1">
                <a:solidFill>
                  <a:srgbClr val="061F32"/>
                </a:solidFill>
                <a:latin typeface="微软雅黑"/>
                <a:ea typeface="微软雅黑"/>
                <a:cs typeface="微软雅黑"/>
              </a:rPr>
              <a:t>与</a:t>
            </a:r>
            <a:r>
              <a:rPr sz="2475" b="1">
                <a:solidFill>
                  <a:srgbClr val="061F32"/>
                </a:solidFill>
                <a:latin typeface="微软雅黑"/>
                <a:ea typeface="微软雅黑"/>
                <a:cs typeface="微软雅黑"/>
              </a:rPr>
              <a:t>双向回灌</a:t>
            </a:r>
            <a:endParaRPr sz="2475" b="1">
              <a:solidFill>
                <a:srgbClr val="061F32"/>
              </a:solidFill>
              <a:latin typeface="微软雅黑"/>
              <a:ea typeface="微软雅黑"/>
              <a:cs typeface="微软雅黑"/>
            </a:endParaRPr>
          </a:p>
        </p:txBody>
      </p:sp>
      <p:sp>
        <p:nvSpPr>
          <p:cNvPr id="42" name="矩形 15"/>
          <p:cNvSpPr>
            <a:spLocks noGrp="1"/>
          </p:cNvSpPr>
          <p:nvPr/>
        </p:nvSpPr>
        <p:spPr>
          <a:xfrm>
            <a:off x="533400" y="895350"/>
            <a:ext cx="11125200" cy="9525"/>
          </a:xfrm>
          <a:prstGeom prst="rect">
            <a:avLst/>
          </a:prstGeom>
          <a:solidFill>
            <a:srgbClr val="061F32"/>
          </a:solidFill>
        </p:spPr>
        <p:txBody>
          <a:bodyPr/>
          <a:lstStyle/>
          <a:p/>
        </p:txBody>
      </p:sp>
      <p:sp>
        <p:nvSpPr>
          <p:cNvPr id="43" name="任意多边形 16"/>
          <p:cNvSpPr>
            <a:spLocks noGrp="1"/>
          </p:cNvSpPr>
          <p:nvPr/>
        </p:nvSpPr>
        <p:spPr>
          <a:xfrm>
            <a:off x="533400" y="1019175"/>
            <a:ext cx="1943100" cy="2133600"/>
          </a:xfrm>
          <a:custGeom>
            <a:avLst/>
            <a:gdLst/>
            <a:ahLst/>
            <a:cxnLst/>
            <a:pathLst>
              <a:path w="204" h="224">
                <a:moveTo>
                  <a:pt x="0" y="0"/>
                </a:moveTo>
                <a:lnTo>
                  <a:pt x="204" y="0"/>
                </a:lnTo>
                <a:lnTo>
                  <a:pt x="204" y="4"/>
                </a:lnTo>
                <a:lnTo>
                  <a:pt x="0" y="4"/>
                </a:lnTo>
                <a:close/>
              </a:path>
            </a:pathLst>
          </a:custGeom>
          <a:solidFill>
            <a:srgbClr val="061F32"/>
          </a:solidFill>
        </p:spPr>
        <p:txBody>
          <a:bodyPr/>
          <a:lstStyle/>
          <a:p/>
        </p:txBody>
      </p:sp>
      <p:sp>
        <p:nvSpPr>
          <p:cNvPr id="44" name="文本框 17"/>
          <p:cNvSpPr>
            <a:spLocks noGrp="1"/>
          </p:cNvSpPr>
          <p:nvPr/>
        </p:nvSpPr>
        <p:spPr>
          <a:xfrm>
            <a:off x="685800" y="1190625"/>
            <a:ext cx="1638300" cy="171450"/>
          </a:xfrm>
          <a:prstGeom prst="rect">
            <a:avLst/>
          </a:prstGeom>
        </p:spPr>
        <p:txBody>
          <a:bodyPr wrap="none" lIns="0" tIns="0" rIns="0" bIns="0"/>
          <a:lstStyle/>
          <a:p>
            <a:pPr>
              <a:lnSpc>
                <a:spcPct val="100000"/>
              </a:lnSpc>
              <a:buNone/>
            </a:pPr>
            <a:r>
              <a:rPr sz="1125" b="1">
                <a:solidFill>
                  <a:srgbClr val="808080"/>
                </a:solidFill>
                <a:latin typeface="微软雅黑"/>
                <a:ea typeface="微软雅黑"/>
                <a:cs typeface="微软雅黑"/>
              </a:rPr>
              <a:t>环节</a:t>
            </a:r>
            <a:r>
              <a:rPr sz="1125" b="1">
                <a:solidFill>
                  <a:srgbClr val="808080"/>
                </a:solidFill>
                <a:latin typeface="微软雅黑"/>
                <a:ea typeface="微软雅黑"/>
                <a:cs typeface="微软雅黑"/>
              </a:rPr>
              <a:t> ①</a:t>
            </a:r>
            <a:endParaRPr sz="1125" b="1">
              <a:solidFill>
                <a:srgbClr val="808080"/>
              </a:solidFill>
              <a:latin typeface="微软雅黑"/>
              <a:ea typeface="微软雅黑"/>
              <a:cs typeface="微软雅黑"/>
            </a:endParaRPr>
          </a:p>
        </p:txBody>
      </p:sp>
      <p:sp>
        <p:nvSpPr>
          <p:cNvPr id="45" name="文本框 18"/>
          <p:cNvSpPr>
            <a:spLocks noGrp="1"/>
          </p:cNvSpPr>
          <p:nvPr/>
        </p:nvSpPr>
        <p:spPr>
          <a:xfrm>
            <a:off x="685800" y="1400175"/>
            <a:ext cx="1638300" cy="228600"/>
          </a:xfrm>
          <a:prstGeom prst="rect">
            <a:avLst/>
          </a:prstGeom>
        </p:spPr>
        <p:txBody>
          <a:bodyPr wrap="none" lIns="0" tIns="0" rIns="0" bIns="0"/>
          <a:lstStyle/>
          <a:p>
            <a:pPr>
              <a:lnSpc>
                <a:spcPct val="100000"/>
              </a:lnSpc>
              <a:buNone/>
            </a:pPr>
            <a:r>
              <a:rPr sz="1500" b="1">
                <a:solidFill>
                  <a:srgbClr val="061F32"/>
                </a:solidFill>
                <a:latin typeface="微软雅黑"/>
                <a:ea typeface="微软雅黑"/>
                <a:cs typeface="微软雅黑"/>
              </a:rPr>
              <a:t>患者采样 · T0</a:t>
            </a:r>
            <a:endParaRPr sz="1500" b="1">
              <a:solidFill>
                <a:srgbClr val="061F32"/>
              </a:solidFill>
              <a:latin typeface="微软雅黑"/>
              <a:ea typeface="微软雅黑"/>
              <a:cs typeface="微软雅黑"/>
            </a:endParaRPr>
          </a:p>
        </p:txBody>
      </p:sp>
      <p:sp>
        <p:nvSpPr>
          <p:cNvPr id="46" name="文本框 19"/>
          <p:cNvSpPr>
            <a:spLocks noGrp="1"/>
          </p:cNvSpPr>
          <p:nvPr/>
        </p:nvSpPr>
        <p:spPr>
          <a:xfrm>
            <a:off x="685800" y="1704975"/>
            <a:ext cx="1638300" cy="504825"/>
          </a:xfrm>
          <a:prstGeom prst="rect">
            <a:avLst/>
          </a:prstGeom>
        </p:spPr>
        <p:txBody>
          <a:bodyPr wrap="square" lIns="0" tIns="0" rIns="0" bIns="0">
            <a:normAutofit/>
          </a:bodyPr>
          <a:lstStyle/>
          <a:p>
            <a:pPr>
              <a:lnSpc>
                <a:spcPct val="145000"/>
              </a:lnSpc>
              <a:buNone/>
            </a:pPr>
            <a:r>
              <a:rPr sz="1125">
                <a:solidFill>
                  <a:srgbClr val="44546A"/>
                </a:solidFill>
                <a:latin typeface="微软雅黑"/>
                <a:ea typeface="微软雅黑"/>
                <a:cs typeface="微软雅黑"/>
              </a:rPr>
              <a:t>同一患者肿瘤 → 体内轨迹 + 体外 PDO 平行实验系统</a:t>
            </a:r>
            <a:endParaRPr sz="1125">
              <a:solidFill>
                <a:srgbClr val="44546A"/>
              </a:solidFill>
              <a:latin typeface="微软雅黑"/>
              <a:ea typeface="微软雅黑"/>
              <a:cs typeface="微软雅黑"/>
            </a:endParaRPr>
          </a:p>
        </p:txBody>
      </p:sp>
      <p:sp>
        <p:nvSpPr>
          <p:cNvPr id="47" name="文本框 20"/>
          <p:cNvSpPr>
            <a:spLocks noGrp="1"/>
          </p:cNvSpPr>
          <p:nvPr/>
        </p:nvSpPr>
        <p:spPr>
          <a:xfrm>
            <a:off x="685800" y="2550128"/>
            <a:ext cx="1638300" cy="485775"/>
          </a:xfrm>
          <a:prstGeom prst="rect">
            <a:avLst/>
          </a:prstGeom>
        </p:spPr>
        <p:txBody>
          <a:bodyPr wrap="square" lIns="0" tIns="0" rIns="0" bIns="0">
            <a:normAutofit/>
          </a:bodyPr>
          <a:lstStyle/>
          <a:p>
            <a:pPr>
              <a:lnSpc>
                <a:spcPct val="140000"/>
              </a:lnSpc>
              <a:buNone/>
            </a:pPr>
            <a:r>
              <a:rPr sz="1125" b="1">
                <a:solidFill>
                  <a:srgbClr val="08A6F6"/>
                </a:solidFill>
                <a:latin typeface="微软雅黑"/>
                <a:ea typeface="微软雅黑"/>
                <a:cs typeface="微软雅黑"/>
              </a:rPr>
              <a:t>患者</a:t>
            </a:r>
            <a:r>
              <a:rPr lang="zh-CN" altLang="en-US" sz="1125" b="1">
                <a:solidFill>
                  <a:srgbClr val="08A6F6"/>
                </a:solidFill>
                <a:latin typeface="微软雅黑"/>
                <a:ea typeface="微软雅黑"/>
                <a:cs typeface="Arial" panose="020B0604020202020204" pitchFamily="34" charset="0"/>
              </a:rPr>
              <a:t>构成</a:t>
            </a:r>
            <a:r>
              <a:rPr sz="1125" b="1">
                <a:solidFill>
                  <a:srgbClr val="08A6F6"/>
                </a:solidFill>
                <a:latin typeface="微软雅黑"/>
                <a:ea typeface="微软雅黑"/>
                <a:cs typeface="微软雅黑"/>
              </a:rPr>
              <a:t>闭环的起点与终点</a:t>
            </a:r>
            <a:endParaRPr sz="1125" b="1">
              <a:solidFill>
                <a:srgbClr val="08A6F6"/>
              </a:solidFill>
              <a:latin typeface="微软雅黑"/>
              <a:ea typeface="微软雅黑"/>
              <a:cs typeface="微软雅黑"/>
            </a:endParaRPr>
          </a:p>
        </p:txBody>
      </p:sp>
      <p:pic>
        <p:nvPicPr>
          <p:cNvPr id="96" name="图片 2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533650" y="2000250"/>
            <a:ext cx="209550" cy="171450"/>
          </a:xfrm>
          <a:prstGeom prst="rect">
            <a:avLst/>
          </a:prstGeom>
        </p:spPr>
      </p:pic>
      <p:sp>
        <p:nvSpPr>
          <p:cNvPr id="49" name="任意多边形 22"/>
          <p:cNvSpPr>
            <a:spLocks noGrp="1"/>
          </p:cNvSpPr>
          <p:nvPr/>
        </p:nvSpPr>
        <p:spPr>
          <a:xfrm>
            <a:off x="2838450" y="1019175"/>
            <a:ext cx="1943100" cy="2133600"/>
          </a:xfrm>
          <a:custGeom>
            <a:avLst/>
            <a:gdLst/>
            <a:ahLst/>
            <a:cxnLst/>
            <a:pathLst>
              <a:path w="204" h="224">
                <a:moveTo>
                  <a:pt x="0" y="0"/>
                </a:moveTo>
                <a:lnTo>
                  <a:pt x="204" y="0"/>
                </a:lnTo>
                <a:lnTo>
                  <a:pt x="204" y="4"/>
                </a:lnTo>
                <a:lnTo>
                  <a:pt x="0" y="4"/>
                </a:lnTo>
                <a:close/>
              </a:path>
            </a:pathLst>
          </a:custGeom>
          <a:solidFill>
            <a:srgbClr val="061F32"/>
          </a:solidFill>
        </p:spPr>
        <p:txBody>
          <a:bodyPr/>
          <a:lstStyle/>
          <a:p/>
        </p:txBody>
      </p:sp>
      <p:sp>
        <p:nvSpPr>
          <p:cNvPr id="50" name="文本框 23"/>
          <p:cNvSpPr>
            <a:spLocks noGrp="1"/>
          </p:cNvSpPr>
          <p:nvPr/>
        </p:nvSpPr>
        <p:spPr>
          <a:xfrm>
            <a:off x="2990850" y="1190625"/>
            <a:ext cx="1638300" cy="171450"/>
          </a:xfrm>
          <a:prstGeom prst="rect">
            <a:avLst/>
          </a:prstGeom>
        </p:spPr>
        <p:txBody>
          <a:bodyPr wrap="none" lIns="0" tIns="0" rIns="0" bIns="0"/>
          <a:lstStyle/>
          <a:p>
            <a:pPr>
              <a:lnSpc>
                <a:spcPct val="100000"/>
              </a:lnSpc>
              <a:buNone/>
            </a:pPr>
            <a:r>
              <a:rPr sz="1125" b="1">
                <a:solidFill>
                  <a:srgbClr val="808080"/>
                </a:solidFill>
                <a:latin typeface="微软雅黑"/>
                <a:ea typeface="微软雅黑"/>
                <a:cs typeface="微软雅黑"/>
              </a:rPr>
              <a:t>环节</a:t>
            </a:r>
            <a:r>
              <a:rPr sz="1125" b="1">
                <a:solidFill>
                  <a:srgbClr val="808080"/>
                </a:solidFill>
                <a:latin typeface="微软雅黑"/>
                <a:ea typeface="微软雅黑"/>
                <a:cs typeface="微软雅黑"/>
              </a:rPr>
              <a:t> ②</a:t>
            </a:r>
            <a:endParaRPr sz="1125" b="1">
              <a:solidFill>
                <a:srgbClr val="808080"/>
              </a:solidFill>
              <a:latin typeface="微软雅黑"/>
              <a:ea typeface="微软雅黑"/>
              <a:cs typeface="微软雅黑"/>
            </a:endParaRPr>
          </a:p>
        </p:txBody>
      </p:sp>
      <p:sp>
        <p:nvSpPr>
          <p:cNvPr id="51" name="文本框 24"/>
          <p:cNvSpPr>
            <a:spLocks noGrp="1"/>
          </p:cNvSpPr>
          <p:nvPr/>
        </p:nvSpPr>
        <p:spPr>
          <a:xfrm>
            <a:off x="2990850" y="1400175"/>
            <a:ext cx="1638300" cy="228600"/>
          </a:xfrm>
          <a:prstGeom prst="rect">
            <a:avLst/>
          </a:prstGeom>
        </p:spPr>
        <p:txBody>
          <a:bodyPr wrap="none" lIns="0" tIns="0" rIns="0" bIns="0"/>
          <a:lstStyle/>
          <a:p>
            <a:pPr>
              <a:lnSpc>
                <a:spcPct val="100000"/>
              </a:lnSpc>
              <a:buNone/>
            </a:pPr>
            <a:r>
              <a:rPr sz="1500" b="1">
                <a:solidFill>
                  <a:srgbClr val="061F32"/>
                </a:solidFill>
                <a:latin typeface="微软雅黑"/>
                <a:ea typeface="微软雅黑"/>
                <a:cs typeface="微软雅黑"/>
              </a:rPr>
              <a:t>体外扰动 × 模型训练</a:t>
            </a:r>
            <a:endParaRPr sz="1500" b="1">
              <a:solidFill>
                <a:srgbClr val="061F32"/>
              </a:solidFill>
              <a:latin typeface="微软雅黑"/>
              <a:ea typeface="微软雅黑"/>
              <a:cs typeface="微软雅黑"/>
            </a:endParaRPr>
          </a:p>
        </p:txBody>
      </p:sp>
      <p:sp>
        <p:nvSpPr>
          <p:cNvPr id="52" name="文本框 25"/>
          <p:cNvSpPr>
            <a:spLocks noGrp="1"/>
          </p:cNvSpPr>
          <p:nvPr/>
        </p:nvSpPr>
        <p:spPr>
          <a:xfrm>
            <a:off x="2990850" y="1704975"/>
            <a:ext cx="1638300" cy="504825"/>
          </a:xfrm>
          <a:prstGeom prst="rect">
            <a:avLst/>
          </a:prstGeom>
        </p:spPr>
        <p:txBody>
          <a:bodyPr wrap="square" lIns="0" tIns="0" rIns="0" bIns="0">
            <a:normAutofit/>
          </a:bodyPr>
          <a:lstStyle/>
          <a:p>
            <a:pPr>
              <a:lnSpc>
                <a:spcPct val="145000"/>
              </a:lnSpc>
              <a:buNone/>
            </a:pPr>
            <a:r>
              <a:rPr sz="1125">
                <a:solidFill>
                  <a:srgbClr val="44546A"/>
                </a:solidFill>
                <a:latin typeface="微软雅黑"/>
                <a:ea typeface="微软雅黑"/>
                <a:cs typeface="微软雅黑"/>
              </a:rPr>
              <a:t>多模态纵向数据 → 潜空间 Z(t) 状态转移模型</a:t>
            </a:r>
            <a:endParaRPr sz="1125">
              <a:solidFill>
                <a:srgbClr val="44546A"/>
              </a:solidFill>
              <a:latin typeface="微软雅黑"/>
              <a:ea typeface="微软雅黑"/>
              <a:cs typeface="微软雅黑"/>
            </a:endParaRPr>
          </a:p>
        </p:txBody>
      </p:sp>
      <p:sp>
        <p:nvSpPr>
          <p:cNvPr id="53" name="文本框 26"/>
          <p:cNvSpPr>
            <a:spLocks noGrp="1"/>
          </p:cNvSpPr>
          <p:nvPr/>
        </p:nvSpPr>
        <p:spPr>
          <a:xfrm>
            <a:off x="2990850" y="2550128"/>
            <a:ext cx="1638300" cy="247650"/>
          </a:xfrm>
          <a:prstGeom prst="rect">
            <a:avLst/>
          </a:prstGeom>
        </p:spPr>
        <p:txBody>
          <a:bodyPr wrap="none" lIns="0" tIns="0" rIns="0" bIns="0"/>
          <a:lstStyle/>
          <a:p>
            <a:pPr marL="0" lvl="0" indent="0" algn="l" defTabSz="914400">
              <a:lnSpc>
                <a:spcPct val="140000"/>
              </a:lnSpc>
              <a:buNone/>
              <a:defRPr sz="1800">
                <a:solidFill>
                  <a:schemeClr val="tx1">
                    <a:alpha val="100000"/>
                  </a:schemeClr>
                </a:solidFill>
                <a:latin typeface="Calibri"/>
                <a:ea typeface="Calibri"/>
                <a:cs typeface="Calibri"/>
              </a:defRPr>
            </a:pPr>
            <a:r>
              <a:rPr sz="1125" b="1" i="0" u="none">
                <a:solidFill>
                  <a:srgbClr val="08A6F6">
                    <a:alpha val="100000"/>
                  </a:srgbClr>
                </a:solidFill>
                <a:latin typeface="微软雅黑"/>
                <a:ea typeface="微软雅黑"/>
                <a:cs typeface="微软雅黑"/>
              </a:rPr>
              <a:t>先认识细胞，再预测干预 </a:t>
            </a:r>
            <a:r>
              <a:rPr lang="zh-CN" altLang="en-US" sz="1125" b="1" i="0" u="none">
                <a:solidFill>
                  <a:srgbClr val="08A6F6">
                    <a:alpha val="100000"/>
                  </a:srgbClr>
                </a:solidFill>
                <a:latin typeface="微软雅黑"/>
                <a:ea typeface="微软雅黑"/>
                <a:cs typeface="微软雅黑"/>
              </a:rPr>
              <a:t>- </a:t>
            </a:r>
            <a:endParaRPr lang="zh-CN" altLang="en-US" sz="1125" b="1" i="0" u="none">
              <a:solidFill>
                <a:srgbClr val="08A6F6">
                  <a:alpha val="100000"/>
                </a:srgbClr>
              </a:solidFill>
              <a:latin typeface="微软雅黑"/>
              <a:ea typeface="微软雅黑"/>
              <a:cs typeface="微软雅黑"/>
            </a:endParaRPr>
          </a:p>
          <a:p>
            <a:pPr marL="0" lvl="0" indent="0" algn="l" defTabSz="914400">
              <a:lnSpc>
                <a:spcPct val="140000"/>
              </a:lnSpc>
              <a:buNone/>
              <a:defRPr sz="1800">
                <a:solidFill>
                  <a:schemeClr val="tx1">
                    <a:alpha val="100000"/>
                  </a:schemeClr>
                </a:solidFill>
                <a:latin typeface="Calibri"/>
                <a:ea typeface="Calibri"/>
                <a:cs typeface="Calibri"/>
              </a:defRPr>
            </a:pPr>
            <a:r>
              <a:rPr lang="zh-CN" altLang="en-US" sz="1125" b="1" i="0" u="none">
                <a:solidFill>
                  <a:srgbClr val="08A6F6">
                    <a:alpha val="100000"/>
                  </a:srgbClr>
                </a:solidFill>
                <a:latin typeface="微软雅黑"/>
                <a:ea typeface="微软雅黑"/>
                <a:cs typeface="微软雅黑"/>
              </a:rPr>
              <a:t>两段式训练</a:t>
            </a:r>
            <a:endParaRPr sz="1125">
              <a:solidFill>
                <a:srgbClr val="808080">
                  <a:alpha val="100000"/>
                </a:srgbClr>
              </a:solidFill>
              <a:latin typeface="微软雅黑"/>
              <a:ea typeface="微软雅黑"/>
              <a:cs typeface="微软雅黑"/>
            </a:endParaRPr>
          </a:p>
        </p:txBody>
      </p:sp>
      <p:pic>
        <p:nvPicPr>
          <p:cNvPr id="102" name="图片 2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38700" y="2000250"/>
            <a:ext cx="209550" cy="171450"/>
          </a:xfrm>
          <a:prstGeom prst="rect">
            <a:avLst/>
          </a:prstGeom>
        </p:spPr>
      </p:pic>
      <p:sp>
        <p:nvSpPr>
          <p:cNvPr id="55" name="任意多边形 28"/>
          <p:cNvSpPr>
            <a:spLocks noGrp="1"/>
          </p:cNvSpPr>
          <p:nvPr/>
        </p:nvSpPr>
        <p:spPr>
          <a:xfrm>
            <a:off x="5143500" y="1019175"/>
            <a:ext cx="1943100" cy="2133600"/>
          </a:xfrm>
          <a:custGeom>
            <a:avLst/>
            <a:gdLst/>
            <a:ahLst/>
            <a:cxnLst/>
            <a:pathLst>
              <a:path w="204" h="224">
                <a:moveTo>
                  <a:pt x="0" y="0"/>
                </a:moveTo>
                <a:lnTo>
                  <a:pt x="204" y="0"/>
                </a:lnTo>
                <a:lnTo>
                  <a:pt x="204" y="4"/>
                </a:lnTo>
                <a:lnTo>
                  <a:pt x="0" y="4"/>
                </a:lnTo>
                <a:close/>
              </a:path>
            </a:pathLst>
          </a:custGeom>
          <a:solidFill>
            <a:srgbClr val="061F32"/>
          </a:solidFill>
        </p:spPr>
        <p:txBody>
          <a:bodyPr/>
          <a:lstStyle/>
          <a:p/>
        </p:txBody>
      </p:sp>
      <p:sp>
        <p:nvSpPr>
          <p:cNvPr id="56" name="文本框 29"/>
          <p:cNvSpPr>
            <a:spLocks noGrp="1"/>
          </p:cNvSpPr>
          <p:nvPr/>
        </p:nvSpPr>
        <p:spPr>
          <a:xfrm>
            <a:off x="5295900" y="1190625"/>
            <a:ext cx="1638300" cy="171450"/>
          </a:xfrm>
          <a:prstGeom prst="rect">
            <a:avLst/>
          </a:prstGeom>
        </p:spPr>
        <p:txBody>
          <a:bodyPr wrap="none" lIns="0" tIns="0" rIns="0" bIns="0"/>
          <a:lstStyle/>
          <a:p>
            <a:pPr>
              <a:lnSpc>
                <a:spcPct val="100000"/>
              </a:lnSpc>
              <a:buNone/>
            </a:pPr>
            <a:r>
              <a:rPr sz="1125" b="1">
                <a:solidFill>
                  <a:srgbClr val="808080"/>
                </a:solidFill>
                <a:latin typeface="微软雅黑"/>
                <a:ea typeface="微软雅黑"/>
                <a:cs typeface="微软雅黑"/>
              </a:rPr>
              <a:t>环节</a:t>
            </a:r>
            <a:r>
              <a:rPr sz="1125" b="1">
                <a:solidFill>
                  <a:srgbClr val="808080"/>
                </a:solidFill>
                <a:latin typeface="微软雅黑"/>
                <a:ea typeface="微软雅黑"/>
                <a:cs typeface="微软雅黑"/>
              </a:rPr>
              <a:t> ③</a:t>
            </a:r>
            <a:endParaRPr sz="1125" b="1">
              <a:solidFill>
                <a:srgbClr val="808080"/>
              </a:solidFill>
              <a:latin typeface="微软雅黑"/>
              <a:ea typeface="微软雅黑"/>
              <a:cs typeface="微软雅黑"/>
            </a:endParaRPr>
          </a:p>
        </p:txBody>
      </p:sp>
      <p:sp>
        <p:nvSpPr>
          <p:cNvPr id="57" name="文本框 30"/>
          <p:cNvSpPr>
            <a:spLocks noGrp="1"/>
          </p:cNvSpPr>
          <p:nvPr/>
        </p:nvSpPr>
        <p:spPr>
          <a:xfrm>
            <a:off x="5295900" y="1400175"/>
            <a:ext cx="1638300" cy="228600"/>
          </a:xfrm>
          <a:prstGeom prst="rect">
            <a:avLst/>
          </a:prstGeom>
        </p:spPr>
        <p:txBody>
          <a:bodyPr wrap="none" lIns="0" tIns="0" rIns="0" bIns="0"/>
          <a:lstStyle/>
          <a:p>
            <a:pPr>
              <a:lnSpc>
                <a:spcPct val="100000"/>
              </a:lnSpc>
              <a:buNone/>
            </a:pPr>
            <a:r>
              <a:rPr sz="1500" b="1">
                <a:solidFill>
                  <a:srgbClr val="061F32"/>
                </a:solidFill>
                <a:latin typeface="微软雅黑"/>
                <a:ea typeface="微软雅黑"/>
                <a:cs typeface="微软雅黑"/>
              </a:rPr>
              <a:t>虚拟类器官预测</a:t>
            </a:r>
            <a:endParaRPr sz="1500" b="1">
              <a:solidFill>
                <a:srgbClr val="061F32"/>
              </a:solidFill>
              <a:latin typeface="微软雅黑"/>
              <a:ea typeface="微软雅黑"/>
              <a:cs typeface="微软雅黑"/>
            </a:endParaRPr>
          </a:p>
        </p:txBody>
      </p:sp>
      <p:sp>
        <p:nvSpPr>
          <p:cNvPr id="58" name="文本框 31"/>
          <p:cNvSpPr>
            <a:spLocks noGrp="1"/>
          </p:cNvSpPr>
          <p:nvPr/>
        </p:nvSpPr>
        <p:spPr>
          <a:xfrm>
            <a:off x="5295900" y="1704975"/>
            <a:ext cx="1638300" cy="504825"/>
          </a:xfrm>
          <a:prstGeom prst="rect">
            <a:avLst/>
          </a:prstGeom>
        </p:spPr>
        <p:txBody>
          <a:bodyPr wrap="square" lIns="0" tIns="0" rIns="0" bIns="0">
            <a:normAutofit lnSpcReduction="10000"/>
          </a:bodyPr>
          <a:lstStyle/>
          <a:p>
            <a:pPr>
              <a:lnSpc>
                <a:spcPct val="145000"/>
              </a:lnSpc>
              <a:buNone/>
            </a:pPr>
            <a:r>
              <a:rPr sz="1125">
                <a:solidFill>
                  <a:srgbClr val="44546A"/>
                </a:solidFill>
                <a:latin typeface="微软雅黑"/>
                <a:ea typeface="微软雅黑"/>
                <a:cs typeface="微软雅黑"/>
              </a:rPr>
              <a:t>模拟疾病演化与治疗响应，预测在</a:t>
            </a:r>
            <a:r>
              <a:rPr lang="zh-CN" altLang="en-US" sz="1125">
                <a:solidFill>
                  <a:srgbClr val="44546A"/>
                </a:solidFill>
                <a:latin typeface="微软雅黑"/>
                <a:ea typeface="微软雅黑"/>
                <a:cs typeface="微软雅黑"/>
              </a:rPr>
              <a:t>临床</a:t>
            </a:r>
            <a:r>
              <a:rPr sz="1125">
                <a:solidFill>
                  <a:srgbClr val="44546A"/>
                </a:solidFill>
                <a:latin typeface="微软雅黑"/>
                <a:ea typeface="微软雅黑"/>
                <a:cs typeface="微软雅黑"/>
              </a:rPr>
              <a:t>结局前锁定</a:t>
            </a:r>
            <a:endParaRPr sz="1125">
              <a:solidFill>
                <a:srgbClr val="44546A"/>
              </a:solidFill>
              <a:latin typeface="微软雅黑"/>
              <a:ea typeface="微软雅黑"/>
              <a:cs typeface="微软雅黑"/>
            </a:endParaRPr>
          </a:p>
        </p:txBody>
      </p:sp>
      <p:sp>
        <p:nvSpPr>
          <p:cNvPr id="59" name="文本框 32"/>
          <p:cNvSpPr>
            <a:spLocks noGrp="1"/>
          </p:cNvSpPr>
          <p:nvPr/>
        </p:nvSpPr>
        <p:spPr>
          <a:xfrm>
            <a:off x="5295900" y="2550128"/>
            <a:ext cx="1638300" cy="485775"/>
          </a:xfrm>
          <a:prstGeom prst="rect">
            <a:avLst/>
          </a:prstGeom>
        </p:spPr>
        <p:txBody>
          <a:bodyPr wrap="square" lIns="0" tIns="0" rIns="0" bIns="0">
            <a:normAutofit/>
          </a:bodyPr>
          <a:lstStyle/>
          <a:p>
            <a:pPr marL="0" lvl="0" algn="l" defTabSz="914400">
              <a:lnSpc>
                <a:spcPct val="140000"/>
              </a:lnSpc>
              <a:buNone/>
              <a:defRPr sz="1800">
                <a:solidFill>
                  <a:schemeClr val="tx1">
                    <a:alpha val="100000"/>
                  </a:schemeClr>
                </a:solidFill>
                <a:latin typeface="Calibri"/>
                <a:ea typeface="Calibri"/>
                <a:cs typeface="Calibri"/>
              </a:defRPr>
            </a:pPr>
            <a:r>
              <a:rPr sz="1125" b="1" i="0" u="none">
                <a:solidFill>
                  <a:srgbClr val="08A6F6">
                    <a:alpha val="100000"/>
                  </a:srgbClr>
                </a:solidFill>
                <a:latin typeface="微软雅黑"/>
                <a:ea typeface="微软雅黑"/>
                <a:cs typeface="微软雅黑"/>
              </a:rPr>
              <a:t>先</a:t>
            </a:r>
            <a:r>
              <a:rPr sz="1125" b="1" i="0" u="none">
                <a:solidFill>
                  <a:srgbClr val="08A6F6">
                    <a:alpha val="100000"/>
                  </a:srgbClr>
                </a:solidFill>
                <a:latin typeface="微软雅黑"/>
                <a:ea typeface="微软雅黑"/>
                <a:cs typeface="微软雅黑"/>
              </a:rPr>
              <a:t>锁定、后观</a:t>
            </a:r>
            <a:r>
              <a:rPr sz="1125" b="1" i="0" u="none">
                <a:solidFill>
                  <a:srgbClr val="08A6F6">
                    <a:alpha val="100000"/>
                  </a:srgbClr>
                </a:solidFill>
                <a:latin typeface="微软雅黑"/>
                <a:ea typeface="微软雅黑"/>
                <a:cs typeface="微软雅黑"/>
              </a:rPr>
              <a:t>察</a:t>
            </a:r>
            <a:r>
              <a:rPr sz="1125" b="1" i="0" u="none">
                <a:solidFill>
                  <a:srgbClr val="08A6F6">
                    <a:alpha val="100000"/>
                  </a:srgbClr>
                </a:solidFill>
                <a:latin typeface="微软雅黑"/>
                <a:ea typeface="微软雅黑"/>
                <a:cs typeface="微软雅黑"/>
              </a:rPr>
              <a:t> --</a:t>
            </a:r>
            <a:endParaRPr sz="1125" b="1" i="0" u="none">
              <a:solidFill>
                <a:srgbClr val="08A6F6">
                  <a:alpha val="100000"/>
                </a:srgbClr>
              </a:solidFill>
              <a:latin typeface="微软雅黑"/>
              <a:ea typeface="微软雅黑"/>
              <a:cs typeface="微软雅黑"/>
            </a:endParaRPr>
          </a:p>
          <a:p>
            <a:pPr marL="0" lvl="0" algn="l" defTabSz="914400">
              <a:lnSpc>
                <a:spcPct val="140000"/>
              </a:lnSpc>
              <a:buNone/>
              <a:defRPr sz="1800">
                <a:solidFill>
                  <a:schemeClr val="tx1">
                    <a:alpha val="100000"/>
                  </a:schemeClr>
                </a:solidFill>
                <a:latin typeface="Calibri"/>
                <a:ea typeface="Calibri"/>
                <a:cs typeface="Calibri"/>
              </a:defRPr>
            </a:pPr>
            <a:r>
              <a:rPr sz="1125" b="1" i="0" u="none">
                <a:solidFill>
                  <a:srgbClr val="08A6F6">
                    <a:alpha val="100000"/>
                  </a:srgbClr>
                </a:solidFill>
                <a:latin typeface="微软雅黑"/>
                <a:ea typeface="微软雅黑"/>
                <a:cs typeface="微软雅黑"/>
              </a:rPr>
              <a:t>前瞻性</a:t>
            </a:r>
            <a:r>
              <a:rPr lang="zh-CN" altLang="en-US" sz="1125" b="1" i="0" u="none">
                <a:solidFill>
                  <a:srgbClr val="08A6F6">
                    <a:alpha val="100000"/>
                  </a:srgbClr>
                </a:solidFill>
                <a:latin typeface="微软雅黑"/>
                <a:ea typeface="微软雅黑"/>
                <a:cs typeface="微软雅黑"/>
              </a:rPr>
              <a:t>验证</a:t>
            </a:r>
            <a:endParaRPr sz="1125" b="1" i="0" u="none">
              <a:solidFill>
                <a:srgbClr val="08A6F6">
                  <a:alpha val="100000"/>
                </a:srgbClr>
              </a:solidFill>
              <a:latin typeface="微软雅黑"/>
              <a:ea typeface="微软雅黑"/>
              <a:cs typeface="微软雅黑"/>
            </a:endParaRPr>
          </a:p>
        </p:txBody>
      </p:sp>
      <p:pic>
        <p:nvPicPr>
          <p:cNvPr id="108" name="图片 3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43750" y="2000250"/>
            <a:ext cx="209550" cy="171450"/>
          </a:xfrm>
          <a:prstGeom prst="rect">
            <a:avLst/>
          </a:prstGeom>
        </p:spPr>
      </p:pic>
      <p:sp>
        <p:nvSpPr>
          <p:cNvPr id="61" name="任意多边形 34"/>
          <p:cNvSpPr>
            <a:spLocks noGrp="1"/>
          </p:cNvSpPr>
          <p:nvPr/>
        </p:nvSpPr>
        <p:spPr>
          <a:xfrm>
            <a:off x="7448550" y="1019175"/>
            <a:ext cx="1943100" cy="2133600"/>
          </a:xfrm>
          <a:custGeom>
            <a:avLst/>
            <a:gdLst/>
            <a:ahLst/>
            <a:cxnLst/>
            <a:pathLst>
              <a:path w="204" h="224">
                <a:moveTo>
                  <a:pt x="0" y="0"/>
                </a:moveTo>
                <a:lnTo>
                  <a:pt x="204" y="0"/>
                </a:lnTo>
                <a:lnTo>
                  <a:pt x="204" y="4"/>
                </a:lnTo>
                <a:lnTo>
                  <a:pt x="0" y="4"/>
                </a:lnTo>
                <a:close/>
              </a:path>
            </a:pathLst>
          </a:custGeom>
          <a:solidFill>
            <a:srgbClr val="08A6F6"/>
          </a:solidFill>
        </p:spPr>
        <p:txBody>
          <a:bodyPr/>
          <a:lstStyle/>
          <a:p/>
        </p:txBody>
      </p:sp>
      <p:sp>
        <p:nvSpPr>
          <p:cNvPr id="62" name="文本框 35"/>
          <p:cNvSpPr>
            <a:spLocks noGrp="1"/>
          </p:cNvSpPr>
          <p:nvPr/>
        </p:nvSpPr>
        <p:spPr>
          <a:xfrm>
            <a:off x="7600950" y="1190625"/>
            <a:ext cx="1638300" cy="171450"/>
          </a:xfrm>
          <a:prstGeom prst="rect">
            <a:avLst/>
          </a:prstGeom>
        </p:spPr>
        <p:txBody>
          <a:bodyPr wrap="none" lIns="0" tIns="0" rIns="0" bIns="0"/>
          <a:lstStyle/>
          <a:p>
            <a:pPr>
              <a:lnSpc>
                <a:spcPct val="100000"/>
              </a:lnSpc>
              <a:buNone/>
            </a:pPr>
            <a:r>
              <a:rPr sz="1125" b="1">
                <a:solidFill>
                  <a:srgbClr val="808080"/>
                </a:solidFill>
                <a:latin typeface="微软雅黑"/>
                <a:ea typeface="微软雅黑"/>
                <a:cs typeface="微软雅黑"/>
              </a:rPr>
              <a:t>环节</a:t>
            </a:r>
            <a:r>
              <a:rPr sz="1125" b="1">
                <a:solidFill>
                  <a:srgbClr val="808080"/>
                </a:solidFill>
                <a:latin typeface="微软雅黑"/>
                <a:ea typeface="微软雅黑"/>
                <a:cs typeface="微软雅黑"/>
              </a:rPr>
              <a:t> ④</a:t>
            </a:r>
            <a:endParaRPr sz="1125" b="1">
              <a:solidFill>
                <a:srgbClr val="808080"/>
              </a:solidFill>
              <a:latin typeface="微软雅黑"/>
              <a:ea typeface="微软雅黑"/>
              <a:cs typeface="微软雅黑"/>
            </a:endParaRPr>
          </a:p>
        </p:txBody>
      </p:sp>
      <p:sp>
        <p:nvSpPr>
          <p:cNvPr id="63" name="文本框 36"/>
          <p:cNvSpPr>
            <a:spLocks noGrp="1"/>
          </p:cNvSpPr>
          <p:nvPr/>
        </p:nvSpPr>
        <p:spPr>
          <a:xfrm>
            <a:off x="7600950" y="1400175"/>
            <a:ext cx="1638300" cy="228600"/>
          </a:xfrm>
          <a:prstGeom prst="rect">
            <a:avLst/>
          </a:prstGeom>
        </p:spPr>
        <p:txBody>
          <a:bodyPr wrap="none" lIns="0" tIns="0" rIns="0" bIns="0"/>
          <a:lstStyle/>
          <a:p>
            <a:pPr>
              <a:lnSpc>
                <a:spcPct val="100000"/>
              </a:lnSpc>
              <a:buNone/>
            </a:pPr>
            <a:r>
              <a:rPr sz="1500" b="1">
                <a:solidFill>
                  <a:srgbClr val="061F32"/>
                </a:solidFill>
                <a:latin typeface="微软雅黑"/>
                <a:ea typeface="微软雅黑"/>
                <a:cs typeface="微软雅黑"/>
              </a:rPr>
              <a:t>患者随访 · T1</a:t>
            </a:r>
            <a:endParaRPr sz="1500" b="1">
              <a:solidFill>
                <a:srgbClr val="061F32"/>
              </a:solidFill>
              <a:latin typeface="微软雅黑"/>
              <a:ea typeface="微软雅黑"/>
              <a:cs typeface="微软雅黑"/>
            </a:endParaRPr>
          </a:p>
        </p:txBody>
      </p:sp>
      <p:sp>
        <p:nvSpPr>
          <p:cNvPr id="64" name="文本框 37"/>
          <p:cNvSpPr>
            <a:spLocks noGrp="1"/>
          </p:cNvSpPr>
          <p:nvPr/>
        </p:nvSpPr>
        <p:spPr>
          <a:xfrm>
            <a:off x="7600950" y="1704975"/>
            <a:ext cx="1638300" cy="504825"/>
          </a:xfrm>
          <a:prstGeom prst="rect">
            <a:avLst/>
          </a:prstGeom>
        </p:spPr>
        <p:txBody>
          <a:bodyPr wrap="square" lIns="0" tIns="0" rIns="0" bIns="0">
            <a:normAutofit/>
          </a:bodyPr>
          <a:lstStyle/>
          <a:p>
            <a:pPr>
              <a:lnSpc>
                <a:spcPct val="145000"/>
              </a:lnSpc>
              <a:buNone/>
            </a:pPr>
            <a:r>
              <a:rPr sz="1125">
                <a:solidFill>
                  <a:srgbClr val="44546A"/>
                </a:solidFill>
                <a:latin typeface="微软雅黑"/>
                <a:ea typeface="微软雅黑"/>
                <a:cs typeface="微软雅黑"/>
              </a:rPr>
              <a:t>真实临床结局（复发 / 进展）盲态评分：准确度 + 校准度</a:t>
            </a:r>
            <a:endParaRPr sz="1125">
              <a:solidFill>
                <a:srgbClr val="44546A"/>
              </a:solidFill>
              <a:latin typeface="微软雅黑"/>
              <a:ea typeface="微软雅黑"/>
              <a:cs typeface="微软雅黑"/>
            </a:endParaRPr>
          </a:p>
        </p:txBody>
      </p:sp>
      <p:sp>
        <p:nvSpPr>
          <p:cNvPr id="65" name="文本框 38"/>
          <p:cNvSpPr>
            <a:spLocks noGrp="1"/>
          </p:cNvSpPr>
          <p:nvPr/>
        </p:nvSpPr>
        <p:spPr>
          <a:xfrm>
            <a:off x="7600950" y="2550128"/>
            <a:ext cx="1638300" cy="247650"/>
          </a:xfrm>
          <a:prstGeom prst="rect">
            <a:avLst/>
          </a:prstGeom>
        </p:spPr>
        <p:txBody>
          <a:bodyPr wrap="none" lIns="0" tIns="0" rIns="0" bIns="0"/>
          <a:lstStyle/>
          <a:p>
            <a:pPr>
              <a:lnSpc>
                <a:spcPct val="140000"/>
              </a:lnSpc>
              <a:buNone/>
            </a:pPr>
            <a:r>
              <a:rPr lang="zh-CN" altLang="en-US" sz="1125" b="1">
                <a:solidFill>
                  <a:srgbClr val="08A6F6"/>
                </a:solidFill>
                <a:latin typeface="微软雅黑"/>
                <a:ea typeface="微软雅黑"/>
                <a:cs typeface="微软雅黑"/>
              </a:rPr>
              <a:t>经</a:t>
            </a:r>
            <a:r>
              <a:rPr sz="1125" b="1">
                <a:solidFill>
                  <a:srgbClr val="08A6F6"/>
                </a:solidFill>
                <a:latin typeface="微软雅黑"/>
                <a:ea typeface="微软雅黑"/>
                <a:cs typeface="微软雅黑"/>
              </a:rPr>
              <a:t>评分后的结局</a:t>
            </a:r>
            <a:r>
              <a:rPr lang="zh-CN" altLang="en-US" sz="1125" b="1">
                <a:solidFill>
                  <a:srgbClr val="08A6F6"/>
                </a:solidFill>
                <a:latin typeface="微软雅黑"/>
                <a:ea typeface="微软雅黑"/>
                <a:cs typeface="微软雅黑"/>
              </a:rPr>
              <a:t>转化为</a:t>
            </a:r>
            <a:endParaRPr lang="zh-CN" altLang="en-US" sz="1125" b="1">
              <a:solidFill>
                <a:srgbClr val="08A6F6"/>
              </a:solidFill>
              <a:latin typeface="微软雅黑"/>
              <a:ea typeface="微软雅黑"/>
              <a:cs typeface="微软雅黑"/>
            </a:endParaRPr>
          </a:p>
          <a:p>
            <a:pPr>
              <a:lnSpc>
                <a:spcPct val="140000"/>
              </a:lnSpc>
              <a:buNone/>
            </a:pPr>
            <a:r>
              <a:rPr lang="zh-CN" altLang="en-US" sz="1125" b="1">
                <a:solidFill>
                  <a:srgbClr val="08A6F6"/>
                </a:solidFill>
                <a:latin typeface="微软雅黑"/>
                <a:ea typeface="微软雅黑"/>
                <a:cs typeface="微软雅黑"/>
              </a:rPr>
              <a:t>可用的训练数据</a:t>
            </a:r>
            <a:endParaRPr sz="1125" b="1">
              <a:solidFill>
                <a:srgbClr val="08A6F6"/>
              </a:solidFill>
              <a:latin typeface="微软雅黑"/>
              <a:ea typeface="微软雅黑"/>
              <a:cs typeface="微软雅黑"/>
            </a:endParaRPr>
          </a:p>
        </p:txBody>
      </p:sp>
      <p:pic>
        <p:nvPicPr>
          <p:cNvPr id="114" name="图片 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48800" y="2000250"/>
            <a:ext cx="209550" cy="171450"/>
          </a:xfrm>
          <a:prstGeom prst="rect">
            <a:avLst/>
          </a:prstGeom>
        </p:spPr>
      </p:pic>
      <p:sp>
        <p:nvSpPr>
          <p:cNvPr id="67" name="矩形 40"/>
          <p:cNvSpPr>
            <a:spLocks noGrp="1"/>
          </p:cNvSpPr>
          <p:nvPr/>
        </p:nvSpPr>
        <p:spPr>
          <a:xfrm>
            <a:off x="9753600" y="1019175"/>
            <a:ext cx="1943100" cy="2133600"/>
          </a:xfrm>
          <a:prstGeom prst="rect">
            <a:avLst/>
          </a:prstGeom>
          <a:solidFill>
            <a:srgbClr val="061F32"/>
          </a:solidFill>
        </p:spPr>
        <p:txBody>
          <a:bodyPr/>
          <a:lstStyle/>
          <a:p/>
        </p:txBody>
      </p:sp>
      <p:sp>
        <p:nvSpPr>
          <p:cNvPr id="68" name="文本框 41"/>
          <p:cNvSpPr>
            <a:spLocks noGrp="1"/>
          </p:cNvSpPr>
          <p:nvPr/>
        </p:nvSpPr>
        <p:spPr>
          <a:xfrm>
            <a:off x="9906000" y="1152525"/>
            <a:ext cx="1638300" cy="171450"/>
          </a:xfrm>
          <a:prstGeom prst="rect">
            <a:avLst/>
          </a:prstGeom>
        </p:spPr>
        <p:txBody>
          <a:bodyPr wrap="none" lIns="0" tIns="0" rIns="0" bIns="0"/>
          <a:lstStyle/>
          <a:p>
            <a:pPr>
              <a:lnSpc>
                <a:spcPct val="100000"/>
              </a:lnSpc>
              <a:buNone/>
            </a:pPr>
            <a:r>
              <a:rPr sz="1125" b="1">
                <a:solidFill>
                  <a:srgbClr val="99BDED"/>
                </a:solidFill>
                <a:latin typeface="微软雅黑"/>
                <a:ea typeface="微软雅黑"/>
                <a:cs typeface="微软雅黑"/>
              </a:rPr>
              <a:t>环节</a:t>
            </a:r>
            <a:r>
              <a:rPr sz="1125" b="1">
                <a:solidFill>
                  <a:srgbClr val="99BDED"/>
                </a:solidFill>
                <a:latin typeface="微软雅黑"/>
                <a:ea typeface="微软雅黑"/>
                <a:cs typeface="微软雅黑"/>
              </a:rPr>
              <a:t> ⑤</a:t>
            </a:r>
            <a:endParaRPr sz="1125" b="1">
              <a:solidFill>
                <a:srgbClr val="99BDED"/>
              </a:solidFill>
              <a:latin typeface="微软雅黑"/>
              <a:ea typeface="微软雅黑"/>
              <a:cs typeface="微软雅黑"/>
            </a:endParaRPr>
          </a:p>
        </p:txBody>
      </p:sp>
      <p:sp>
        <p:nvSpPr>
          <p:cNvPr id="69" name="文本框 42"/>
          <p:cNvSpPr>
            <a:spLocks noGrp="1"/>
          </p:cNvSpPr>
          <p:nvPr/>
        </p:nvSpPr>
        <p:spPr>
          <a:xfrm>
            <a:off x="9906000" y="1362075"/>
            <a:ext cx="1638300" cy="228600"/>
          </a:xfrm>
          <a:prstGeom prst="rect">
            <a:avLst/>
          </a:prstGeom>
        </p:spPr>
        <p:txBody>
          <a:bodyPr wrap="none" lIns="0" tIns="0" rIns="0" bIns="0"/>
          <a:lstStyle/>
          <a:p>
            <a:pPr>
              <a:lnSpc>
                <a:spcPct val="100000"/>
              </a:lnSpc>
              <a:buNone/>
            </a:pPr>
            <a:r>
              <a:rPr sz="1500" b="1">
                <a:solidFill>
                  <a:srgbClr val="FFFFFF"/>
                </a:solidFill>
                <a:latin typeface="微软雅黑"/>
                <a:ea typeface="微软雅黑"/>
                <a:cs typeface="微软雅黑"/>
              </a:rPr>
              <a:t>双向回灌</a:t>
            </a:r>
            <a:endParaRPr sz="1500" b="1">
              <a:solidFill>
                <a:srgbClr val="FFFFFF"/>
              </a:solidFill>
              <a:latin typeface="微软雅黑"/>
              <a:ea typeface="微软雅黑"/>
              <a:cs typeface="微软雅黑"/>
            </a:endParaRPr>
          </a:p>
        </p:txBody>
      </p:sp>
      <p:sp>
        <p:nvSpPr>
          <p:cNvPr id="70" name="文本框 43"/>
          <p:cNvSpPr>
            <a:spLocks noGrp="1"/>
          </p:cNvSpPr>
          <p:nvPr/>
        </p:nvSpPr>
        <p:spPr>
          <a:xfrm>
            <a:off x="9906000" y="1666875"/>
            <a:ext cx="1638300" cy="504825"/>
          </a:xfrm>
          <a:prstGeom prst="rect">
            <a:avLst/>
          </a:prstGeom>
        </p:spPr>
        <p:txBody>
          <a:bodyPr wrap="square" lIns="0" tIns="0" rIns="0" bIns="0">
            <a:normAutofit/>
          </a:bodyPr>
          <a:lstStyle/>
          <a:p>
            <a:pPr>
              <a:lnSpc>
                <a:spcPct val="145000"/>
              </a:lnSpc>
              <a:buNone/>
            </a:pPr>
            <a:r>
              <a:rPr sz="1125">
                <a:solidFill>
                  <a:srgbClr val="99BDED"/>
                </a:solidFill>
                <a:latin typeface="微软雅黑"/>
                <a:ea typeface="微软雅黑"/>
                <a:cs typeface="微软雅黑"/>
              </a:rPr>
              <a:t>校正模型误差，同步校正 PDO 培养偏差</a:t>
            </a:r>
            <a:endParaRPr sz="1125">
              <a:solidFill>
                <a:srgbClr val="99BDED"/>
              </a:solidFill>
              <a:latin typeface="微软雅黑"/>
              <a:ea typeface="微软雅黑"/>
              <a:cs typeface="微软雅黑"/>
            </a:endParaRPr>
          </a:p>
        </p:txBody>
      </p:sp>
      <p:sp>
        <p:nvSpPr>
          <p:cNvPr id="71" name="文本框 44"/>
          <p:cNvSpPr>
            <a:spLocks noGrp="1"/>
          </p:cNvSpPr>
          <p:nvPr/>
        </p:nvSpPr>
        <p:spPr>
          <a:xfrm>
            <a:off x="9906000" y="2247900"/>
            <a:ext cx="1638300" cy="247650"/>
          </a:xfrm>
          <a:prstGeom prst="rect">
            <a:avLst/>
          </a:prstGeom>
        </p:spPr>
        <p:txBody>
          <a:bodyPr wrap="none" lIns="0" tIns="0" rIns="0" bIns="0"/>
          <a:lstStyle/>
          <a:p>
            <a:pPr>
              <a:lnSpc>
                <a:spcPct val="140000"/>
              </a:lnSpc>
              <a:buNone/>
            </a:pPr>
            <a:r>
              <a:rPr sz="1125" b="1">
                <a:solidFill>
                  <a:srgbClr val="08A6F6">
                    <a:alpha val="100000"/>
                  </a:srgbClr>
                </a:solidFill>
                <a:latin typeface="微软雅黑"/>
                <a:ea typeface="微软雅黑"/>
                <a:cs typeface="微软雅黑"/>
              </a:rPr>
              <a:t>先评分、再更新，</a:t>
            </a:r>
            <a:endParaRPr sz="1125" b="1">
              <a:solidFill>
                <a:srgbClr val="08A6F6">
                  <a:alpha val="100000"/>
                </a:srgbClr>
              </a:solidFill>
              <a:latin typeface="微软雅黑"/>
              <a:ea typeface="微软雅黑"/>
              <a:cs typeface="微软雅黑"/>
            </a:endParaRPr>
          </a:p>
          <a:p>
            <a:pPr>
              <a:lnSpc>
                <a:spcPct val="140000"/>
              </a:lnSpc>
              <a:buNone/>
            </a:pPr>
            <a:r>
              <a:rPr sz="1125" b="1">
                <a:solidFill>
                  <a:srgbClr val="08A6F6">
                    <a:alpha val="100000"/>
                  </a:srgbClr>
                </a:solidFill>
                <a:latin typeface="微软雅黑"/>
                <a:ea typeface="微软雅黑"/>
                <a:cs typeface="微软雅黑"/>
              </a:rPr>
              <a:t>进入下一轮迭代</a:t>
            </a:r>
            <a:endParaRPr sz="1125" b="1">
              <a:solidFill>
                <a:srgbClr val="08A6F6">
                  <a:alpha val="100000"/>
                </a:srgbClr>
              </a:solidFill>
              <a:latin typeface="微软雅黑"/>
              <a:ea typeface="微软雅黑"/>
              <a:cs typeface="微软雅黑"/>
            </a:endParaRPr>
          </a:p>
        </p:txBody>
      </p:sp>
      <p:sp>
        <p:nvSpPr>
          <p:cNvPr id="72" name="矩形 45"/>
          <p:cNvSpPr>
            <a:spLocks noGrp="1"/>
          </p:cNvSpPr>
          <p:nvPr/>
        </p:nvSpPr>
        <p:spPr>
          <a:xfrm>
            <a:off x="533400" y="3343275"/>
            <a:ext cx="6257925" cy="2895600"/>
          </a:xfrm>
          <a:prstGeom prst="rect">
            <a:avLst/>
          </a:prstGeom>
          <a:solidFill>
            <a:srgbClr val="F5F5F5"/>
          </a:solidFill>
        </p:spPr>
        <p:txBody>
          <a:bodyPr/>
          <a:lstStyle/>
          <a:p/>
        </p:txBody>
      </p:sp>
      <p:sp>
        <p:nvSpPr>
          <p:cNvPr id="73" name="文本框 46"/>
          <p:cNvSpPr>
            <a:spLocks noGrp="1"/>
          </p:cNvSpPr>
          <p:nvPr/>
        </p:nvSpPr>
        <p:spPr>
          <a:xfrm>
            <a:off x="742950" y="3514725"/>
            <a:ext cx="5838825" cy="219075"/>
          </a:xfrm>
          <a:prstGeom prst="rect">
            <a:avLst/>
          </a:prstGeom>
        </p:spPr>
        <p:txBody>
          <a:bodyPr wrap="none" lIns="0" tIns="0" rIns="0" bIns="0"/>
          <a:lstStyle/>
          <a:p>
            <a:pPr>
              <a:lnSpc>
                <a:spcPct val="100000"/>
              </a:lnSpc>
              <a:buNone/>
            </a:pPr>
            <a:r>
              <a:rPr sz="1425" b="1">
                <a:solidFill>
                  <a:srgbClr val="061F32"/>
                </a:solidFill>
                <a:latin typeface="微软雅黑"/>
                <a:ea typeface="微软雅黑"/>
                <a:cs typeface="微软雅黑"/>
              </a:rPr>
              <a:t>飞轮能转起来的三个</a:t>
            </a:r>
            <a:r>
              <a:rPr sz="1425" b="1">
                <a:solidFill>
                  <a:srgbClr val="061F32"/>
                </a:solidFill>
                <a:latin typeface="微软雅黑" charset="0"/>
                <a:ea typeface="微软雅黑" charset="0"/>
                <a:cs typeface="微软雅黑" charset="0"/>
              </a:rPr>
              <a:t>核心原则</a:t>
            </a:r>
            <a:endParaRPr>
              <a:latin typeface="微软雅黑"/>
              <a:ea typeface="微软雅黑"/>
              <a:cs typeface="微软雅黑"/>
            </a:endParaRPr>
          </a:p>
        </p:txBody>
      </p:sp>
      <p:sp>
        <p:nvSpPr>
          <p:cNvPr id="74" name="文本框 47"/>
          <p:cNvSpPr>
            <a:spLocks noGrp="1"/>
          </p:cNvSpPr>
          <p:nvPr/>
        </p:nvSpPr>
        <p:spPr>
          <a:xfrm>
            <a:off x="742950" y="3829050"/>
            <a:ext cx="5838825" cy="628610"/>
          </a:xfrm>
          <a:prstGeom prst="rect">
            <a:avLst/>
          </a:prstGeom>
        </p:spPr>
        <p:txBody>
          <a:bodyPr wrap="square" lIns="0" tIns="0" rIns="0" bIns="0">
            <a:normAutofit/>
          </a:bodyPr>
          <a:lstStyle/>
          <a:p>
            <a:pPr>
              <a:lnSpc>
                <a:spcPct val="145000"/>
              </a:lnSpc>
              <a:buNone/>
            </a:pPr>
            <a:r>
              <a:rPr sz="1200" b="1">
                <a:solidFill>
                  <a:srgbClr val="061F32"/>
                </a:solidFill>
                <a:latin typeface="微软雅黑"/>
                <a:ea typeface="微软雅黑"/>
                <a:cs typeface="微软雅黑"/>
              </a:rPr>
              <a:t>① </a:t>
            </a:r>
            <a:r>
              <a:rPr lang="zh-CN" altLang="en-US" sz="1200" b="1">
                <a:solidFill>
                  <a:srgbClr val="061F32"/>
                </a:solidFill>
                <a:latin typeface="微软雅黑"/>
                <a:ea typeface="微软雅黑"/>
                <a:cs typeface="Arial" panose="020B0604020202020204" pitchFamily="34" charset="0"/>
              </a:rPr>
              <a:t>无法在患者体内批量开展</a:t>
            </a:r>
            <a:r>
              <a:rPr sz="1200" b="1">
                <a:solidFill>
                  <a:srgbClr val="061F32"/>
                </a:solidFill>
                <a:latin typeface="微软雅黑"/>
                <a:ea typeface="微软雅黑"/>
                <a:cs typeface="微软雅黑"/>
              </a:rPr>
              <a:t>干预实验，类器官</a:t>
            </a:r>
            <a:r>
              <a:rPr lang="zh-CN" altLang="en-US" sz="1200" b="1">
                <a:solidFill>
                  <a:srgbClr val="061F32"/>
                </a:solidFill>
                <a:latin typeface="微软雅黑"/>
                <a:ea typeface="微软雅黑"/>
                <a:cs typeface="微软雅黑"/>
              </a:rPr>
              <a:t>作为</a:t>
            </a:r>
            <a:r>
              <a:rPr sz="1200" b="1">
                <a:solidFill>
                  <a:srgbClr val="061F32"/>
                </a:solidFill>
                <a:latin typeface="微软雅黑"/>
                <a:ea typeface="微软雅黑"/>
                <a:cs typeface="微软雅黑"/>
              </a:rPr>
              <a:t>平行实验</a:t>
            </a:r>
            <a:r>
              <a:rPr lang="zh-CN" altLang="en-US" sz="1200" b="1">
                <a:solidFill>
                  <a:srgbClr val="061F32"/>
                </a:solidFill>
                <a:latin typeface="微软雅黑"/>
                <a:ea typeface="微软雅黑"/>
                <a:cs typeface="微软雅黑"/>
              </a:rPr>
              <a:t>载体，</a:t>
            </a:r>
            <a:r>
              <a:rPr sz="1200" b="1">
                <a:solidFill>
                  <a:srgbClr val="061F32"/>
                </a:solidFill>
                <a:latin typeface="微软雅黑"/>
                <a:ea typeface="微软雅黑"/>
                <a:cs typeface="微软雅黑"/>
              </a:rPr>
              <a:t>保留患者</a:t>
            </a:r>
            <a:r>
              <a:rPr lang="zh-CN" altLang="en-US" sz="1200" b="1">
                <a:solidFill>
                  <a:srgbClr val="061F32"/>
                </a:solidFill>
                <a:latin typeface="微软雅黑"/>
                <a:ea typeface="微软雅黑"/>
                <a:cs typeface="微软雅黑"/>
              </a:rPr>
              <a:t>肿瘤</a:t>
            </a:r>
            <a:r>
              <a:rPr sz="1200" b="1">
                <a:solidFill>
                  <a:srgbClr val="061F32"/>
                </a:solidFill>
                <a:latin typeface="微软雅黑"/>
                <a:ea typeface="微软雅黑"/>
                <a:cs typeface="微软雅黑"/>
              </a:rPr>
              <a:t>特异性，同时能在体外安全、</a:t>
            </a:r>
            <a:r>
              <a:rPr lang="zh-CN" altLang="en-US" sz="1200" b="1">
                <a:solidFill>
                  <a:srgbClr val="061F32"/>
                </a:solidFill>
                <a:latin typeface="微软雅黑"/>
                <a:ea typeface="微软雅黑"/>
                <a:cs typeface="微软雅黑"/>
              </a:rPr>
              <a:t>规模化</a:t>
            </a:r>
            <a:r>
              <a:rPr sz="1200" b="1">
                <a:solidFill>
                  <a:srgbClr val="061F32"/>
                </a:solidFill>
                <a:latin typeface="微软雅黑"/>
                <a:ea typeface="微软雅黑"/>
                <a:cs typeface="微软雅黑"/>
              </a:rPr>
              <a:t>地测试干预。</a:t>
            </a:r>
            <a:endParaRPr sz="1200">
              <a:solidFill>
                <a:srgbClr val="44546A"/>
              </a:solidFill>
              <a:latin typeface="微软雅黑"/>
              <a:ea typeface="微软雅黑"/>
              <a:cs typeface="微软雅黑"/>
            </a:endParaRPr>
          </a:p>
        </p:txBody>
      </p:sp>
      <p:sp>
        <p:nvSpPr>
          <p:cNvPr id="75" name="文本框 48"/>
          <p:cNvSpPr>
            <a:spLocks noGrp="1"/>
          </p:cNvSpPr>
          <p:nvPr/>
        </p:nvSpPr>
        <p:spPr>
          <a:xfrm>
            <a:off x="742950" y="4457700"/>
            <a:ext cx="6048417" cy="883696"/>
          </a:xfrm>
          <a:prstGeom prst="rect">
            <a:avLst/>
          </a:prstGeom>
        </p:spPr>
        <p:txBody>
          <a:bodyPr wrap="square" lIns="0" tIns="0" rIns="0" bIns="0">
            <a:normAutofit/>
          </a:bodyPr>
          <a:lstStyle/>
          <a:p>
            <a:pPr>
              <a:lnSpc>
                <a:spcPct val="145000"/>
              </a:lnSpc>
              <a:buNone/>
            </a:pPr>
            <a:r>
              <a:rPr sz="1200" b="1">
                <a:solidFill>
                  <a:schemeClr val="tx1"/>
                </a:solidFill>
                <a:latin typeface="微软雅黑"/>
                <a:ea typeface="微软雅黑"/>
                <a:cs typeface="微软雅黑"/>
              </a:rPr>
              <a:t>② 不</a:t>
            </a:r>
            <a:r>
              <a:rPr lang="zh-CN" altLang="en-US" sz="1200" b="1">
                <a:solidFill>
                  <a:schemeClr val="tx1"/>
                </a:solidFill>
                <a:latin typeface="微软雅黑"/>
                <a:ea typeface="微软雅黑"/>
                <a:cs typeface="微软雅黑"/>
              </a:rPr>
              <a:t>可仅凭</a:t>
            </a:r>
            <a:r>
              <a:rPr sz="1200" b="1">
                <a:solidFill>
                  <a:schemeClr val="tx1"/>
                </a:solidFill>
                <a:latin typeface="微软雅黑"/>
                <a:ea typeface="微软雅黑"/>
                <a:cs typeface="微软雅黑"/>
              </a:rPr>
              <a:t>模型生成</a:t>
            </a:r>
            <a:r>
              <a:rPr lang="zh-CN" altLang="en-US" sz="1200" b="1">
                <a:solidFill>
                  <a:schemeClr val="tx1"/>
                </a:solidFill>
                <a:latin typeface="微软雅黑"/>
                <a:ea typeface="微软雅黑"/>
                <a:cs typeface="微软雅黑"/>
              </a:rPr>
              <a:t>的数据</a:t>
            </a:r>
            <a:r>
              <a:rPr sz="1200" b="1">
                <a:solidFill>
                  <a:schemeClr val="tx1"/>
                </a:solidFill>
                <a:latin typeface="微软雅黑"/>
                <a:ea typeface="微软雅黑"/>
                <a:cs typeface="微软雅黑"/>
              </a:rPr>
              <a:t>训练模型</a:t>
            </a:r>
            <a:r>
              <a:rPr lang="zh-CN" altLang="en-US" sz="1200" b="1">
                <a:solidFill>
                  <a:schemeClr val="tx1"/>
                </a:solidFill>
                <a:latin typeface="微软雅黑"/>
                <a:ea typeface="微软雅黑"/>
                <a:cs typeface="微软雅黑"/>
              </a:rPr>
              <a:t>，</a:t>
            </a:r>
            <a:r>
              <a:rPr sz="1200" b="1">
                <a:solidFill>
                  <a:schemeClr val="tx1"/>
                </a:solidFill>
                <a:latin typeface="微软雅黑"/>
                <a:ea typeface="微软雅黑"/>
                <a:cs typeface="微软雅黑"/>
              </a:rPr>
              <a:t>训练</a:t>
            </a:r>
            <a:r>
              <a:rPr lang="zh-CN" altLang="en-US" sz="1200" b="1">
                <a:solidFill>
                  <a:schemeClr val="tx1"/>
                </a:solidFill>
                <a:latin typeface="微软雅黑"/>
                <a:ea typeface="微软雅黑"/>
                <a:cs typeface="微软雅黑"/>
              </a:rPr>
              <a:t>素材</a:t>
            </a:r>
            <a:r>
              <a:rPr sz="1200" b="1">
                <a:solidFill>
                  <a:schemeClr val="tx1"/>
                </a:solidFill>
                <a:latin typeface="微软雅黑"/>
                <a:ea typeface="微软雅黑"/>
                <a:cs typeface="微软雅黑"/>
              </a:rPr>
              <a:t>必须来</a:t>
            </a:r>
            <a:r>
              <a:rPr lang="zh-CN" altLang="en-US" sz="1200" b="1">
                <a:solidFill>
                  <a:schemeClr val="tx1"/>
                </a:solidFill>
                <a:latin typeface="微软雅黑"/>
                <a:ea typeface="微软雅黑"/>
                <a:cs typeface="微软雅黑"/>
              </a:rPr>
              <a:t>源于</a:t>
            </a:r>
            <a:r>
              <a:rPr sz="1200" b="1">
                <a:solidFill>
                  <a:schemeClr val="tx1"/>
                </a:solidFill>
                <a:latin typeface="微软雅黑"/>
                <a:ea typeface="微软雅黑"/>
                <a:cs typeface="微软雅黑"/>
              </a:rPr>
              <a:t>真实实验与</a:t>
            </a:r>
            <a:r>
              <a:rPr lang="zh-CN" altLang="en-US" sz="1200" b="1">
                <a:solidFill>
                  <a:schemeClr val="tx1"/>
                </a:solidFill>
                <a:latin typeface="微软雅黑"/>
                <a:ea typeface="微软雅黑"/>
                <a:cs typeface="微软雅黑"/>
              </a:rPr>
              <a:t>临床随访</a:t>
            </a:r>
            <a:r>
              <a:rPr sz="1200" b="1">
                <a:solidFill>
                  <a:schemeClr val="tx1"/>
                </a:solidFill>
                <a:latin typeface="微软雅黑"/>
                <a:ea typeface="微软雅黑"/>
                <a:cs typeface="微软雅黑"/>
              </a:rPr>
              <a:t>结局；前瞻验证要求先锁定预测、再盲态评分，确保回灌数据可信</a:t>
            </a:r>
            <a:r>
              <a:rPr lang="zh-CN" altLang="en-US" sz="1200" b="1">
                <a:solidFill>
                  <a:schemeClr val="tx1"/>
                </a:solidFill>
                <a:latin typeface="微软雅黑"/>
                <a:ea typeface="微软雅黑"/>
                <a:cs typeface="微软雅黑"/>
              </a:rPr>
              <a:t>有效</a:t>
            </a:r>
            <a:r>
              <a:rPr sz="1200" b="1">
                <a:solidFill>
                  <a:schemeClr val="tx1"/>
                </a:solidFill>
                <a:latin typeface="微软雅黑"/>
                <a:ea typeface="微软雅黑"/>
                <a:cs typeface="微软雅黑"/>
              </a:rPr>
              <a:t>。</a:t>
            </a:r>
            <a:endParaRPr sz="1200">
              <a:solidFill>
                <a:schemeClr val="tx1"/>
              </a:solidFill>
              <a:latin typeface="微软雅黑"/>
              <a:ea typeface="微软雅黑"/>
              <a:cs typeface="微软雅黑"/>
            </a:endParaRPr>
          </a:p>
        </p:txBody>
      </p:sp>
      <p:sp>
        <p:nvSpPr>
          <p:cNvPr id="76" name="文本框 49"/>
          <p:cNvSpPr>
            <a:spLocks noGrp="1"/>
          </p:cNvSpPr>
          <p:nvPr/>
        </p:nvSpPr>
        <p:spPr>
          <a:xfrm>
            <a:off x="742950" y="5086376"/>
            <a:ext cx="5838825" cy="788394"/>
          </a:xfrm>
          <a:prstGeom prst="rect">
            <a:avLst/>
          </a:prstGeom>
        </p:spPr>
        <p:txBody>
          <a:bodyPr wrap="square" lIns="0" tIns="0" rIns="0" bIns="0">
            <a:normAutofit/>
          </a:bodyPr>
          <a:lstStyle/>
          <a:p>
            <a:pPr>
              <a:lnSpc>
                <a:spcPct val="145000"/>
              </a:lnSpc>
              <a:buNone/>
            </a:pPr>
            <a:r>
              <a:rPr sz="1200" b="1">
                <a:solidFill>
                  <a:srgbClr val="061F32"/>
                </a:solidFill>
                <a:latin typeface="微软雅黑"/>
                <a:ea typeface="微软雅黑"/>
                <a:cs typeface="微软雅黑"/>
              </a:rPr>
              <a:t>③ 验证</a:t>
            </a:r>
            <a:r>
              <a:rPr lang="zh-CN" altLang="en-US" sz="1200" b="1">
                <a:solidFill>
                  <a:srgbClr val="061F32"/>
                </a:solidFill>
                <a:latin typeface="微软雅黑"/>
                <a:ea typeface="微软雅黑"/>
                <a:cs typeface="微软雅黑"/>
              </a:rPr>
              <a:t>-</a:t>
            </a:r>
            <a:r>
              <a:rPr sz="1200" b="1">
                <a:solidFill>
                  <a:srgbClr val="061F32"/>
                </a:solidFill>
                <a:latin typeface="微软雅黑"/>
                <a:ea typeface="微软雅黑"/>
                <a:cs typeface="微软雅黑"/>
              </a:rPr>
              <a:t>校准</a:t>
            </a:r>
            <a:r>
              <a:rPr lang="zh-CN" altLang="en-US" sz="1200" b="1">
                <a:solidFill>
                  <a:srgbClr val="061F32"/>
                </a:solidFill>
                <a:latin typeface="微软雅黑"/>
                <a:ea typeface="微软雅黑"/>
                <a:cs typeface="微软雅黑"/>
              </a:rPr>
              <a:t>闭环</a:t>
            </a:r>
            <a:r>
              <a:rPr sz="1200" b="1">
                <a:solidFill>
                  <a:srgbClr val="061F32"/>
                </a:solidFill>
                <a:latin typeface="微软雅黑"/>
                <a:ea typeface="微软雅黑"/>
                <a:cs typeface="微软雅黑"/>
              </a:rPr>
              <a:t>本质是监督反馈与主动学习。强化学习更适合后续主动实验设计：让模型选择</a:t>
            </a:r>
            <a:r>
              <a:rPr lang="zh-CN" altLang="en-US" sz="1200" b="1">
                <a:solidFill>
                  <a:srgbClr val="061F32"/>
                </a:solidFill>
                <a:latin typeface="微软雅黑"/>
                <a:ea typeface="微软雅黑"/>
                <a:cs typeface="微软雅黑"/>
              </a:rPr>
              <a:t>能</a:t>
            </a:r>
            <a:r>
              <a:rPr sz="1200" b="1">
                <a:solidFill>
                  <a:srgbClr val="061F32"/>
                </a:solidFill>
                <a:latin typeface="微软雅黑"/>
                <a:ea typeface="微软雅黑"/>
                <a:cs typeface="微软雅黑"/>
              </a:rPr>
              <a:t>最</a:t>
            </a:r>
            <a:r>
              <a:rPr lang="zh-CN" altLang="en-US" sz="1200" b="1">
                <a:solidFill>
                  <a:srgbClr val="061F32"/>
                </a:solidFill>
                <a:latin typeface="微软雅黑"/>
                <a:ea typeface="微软雅黑"/>
                <a:cs typeface="微软雅黑"/>
              </a:rPr>
              <a:t>大化</a:t>
            </a:r>
            <a:r>
              <a:rPr sz="1200" b="1">
                <a:solidFill>
                  <a:srgbClr val="061F32"/>
                </a:solidFill>
                <a:latin typeface="微软雅黑"/>
                <a:ea typeface="微软雅黑"/>
                <a:cs typeface="微软雅黑"/>
              </a:rPr>
              <a:t>提升自身</a:t>
            </a:r>
            <a:r>
              <a:rPr lang="zh-CN" altLang="en-US" sz="1200" b="1">
                <a:solidFill>
                  <a:srgbClr val="061F32"/>
                </a:solidFill>
                <a:latin typeface="微软雅黑"/>
                <a:ea typeface="微软雅黑"/>
                <a:cs typeface="微软雅黑"/>
              </a:rPr>
              <a:t>能力</a:t>
            </a:r>
            <a:r>
              <a:rPr sz="1200" b="1">
                <a:solidFill>
                  <a:srgbClr val="061F32"/>
                </a:solidFill>
                <a:latin typeface="微软雅黑"/>
                <a:ea typeface="微软雅黑"/>
                <a:cs typeface="微软雅黑"/>
              </a:rPr>
              <a:t>的实验</a:t>
            </a:r>
            <a:r>
              <a:rPr lang="zh-CN" altLang="en-US" sz="1200" b="1">
                <a:solidFill>
                  <a:srgbClr val="061F32"/>
                </a:solidFill>
                <a:latin typeface="微软雅黑"/>
                <a:ea typeface="微软雅黑"/>
                <a:cs typeface="微软雅黑"/>
              </a:rPr>
              <a:t>组</a:t>
            </a:r>
            <a:r>
              <a:rPr sz="1200" b="1">
                <a:solidFill>
                  <a:srgbClr val="061F32"/>
                </a:solidFill>
                <a:latin typeface="微软雅黑"/>
                <a:ea typeface="微软雅黑"/>
                <a:cs typeface="微软雅黑"/>
              </a:rPr>
              <a:t>。</a:t>
            </a:r>
            <a:endParaRPr sz="1200">
              <a:solidFill>
                <a:srgbClr val="44546A"/>
              </a:solidFill>
              <a:latin typeface="微软雅黑"/>
              <a:ea typeface="微软雅黑"/>
              <a:cs typeface="微软雅黑"/>
            </a:endParaRPr>
          </a:p>
        </p:txBody>
      </p:sp>
      <p:sp>
        <p:nvSpPr>
          <p:cNvPr id="77" name="矩形 50"/>
          <p:cNvSpPr>
            <a:spLocks noGrp="1"/>
          </p:cNvSpPr>
          <p:nvPr/>
        </p:nvSpPr>
        <p:spPr>
          <a:xfrm>
            <a:off x="7019925" y="3343275"/>
            <a:ext cx="4638675" cy="2895600"/>
          </a:xfrm>
          <a:prstGeom prst="rect">
            <a:avLst/>
          </a:prstGeom>
          <a:solidFill>
            <a:srgbClr val="061F32"/>
          </a:solidFill>
        </p:spPr>
        <p:txBody>
          <a:bodyPr/>
          <a:lstStyle/>
          <a:p/>
        </p:txBody>
      </p:sp>
      <p:sp>
        <p:nvSpPr>
          <p:cNvPr id="78" name="文本框 51"/>
          <p:cNvSpPr>
            <a:spLocks noGrp="1"/>
          </p:cNvSpPr>
          <p:nvPr/>
        </p:nvSpPr>
        <p:spPr>
          <a:xfrm>
            <a:off x="7229475" y="3514725"/>
            <a:ext cx="4219575" cy="219075"/>
          </a:xfrm>
          <a:prstGeom prst="rect">
            <a:avLst/>
          </a:prstGeom>
        </p:spPr>
        <p:txBody>
          <a:bodyPr wrap="none" lIns="0" tIns="0" rIns="0" bIns="0"/>
          <a:lstStyle/>
          <a:p>
            <a:pPr>
              <a:lnSpc>
                <a:spcPct val="100000"/>
              </a:lnSpc>
              <a:buNone/>
            </a:pPr>
            <a:r>
              <a:rPr sz="1425" b="1">
                <a:solidFill>
                  <a:srgbClr val="FFFFFF"/>
                </a:solidFill>
                <a:latin typeface="微软雅黑"/>
                <a:ea typeface="微软雅黑"/>
                <a:cs typeface="微软雅黑"/>
              </a:rPr>
              <a:t>飞轮的三层收益</a:t>
            </a:r>
            <a:endParaRPr sz="1425" b="1">
              <a:solidFill>
                <a:srgbClr val="FFFFFF"/>
              </a:solidFill>
              <a:latin typeface="微软雅黑"/>
              <a:ea typeface="微软雅黑"/>
              <a:cs typeface="微软雅黑"/>
            </a:endParaRPr>
          </a:p>
        </p:txBody>
      </p:sp>
      <p:sp>
        <p:nvSpPr>
          <p:cNvPr id="79" name="文本框 52"/>
          <p:cNvSpPr>
            <a:spLocks noGrp="1"/>
          </p:cNvSpPr>
          <p:nvPr/>
        </p:nvSpPr>
        <p:spPr>
          <a:xfrm>
            <a:off x="7229475" y="3829050"/>
            <a:ext cx="4219575" cy="533400"/>
          </a:xfrm>
          <a:prstGeom prst="rect">
            <a:avLst/>
          </a:prstGeom>
        </p:spPr>
        <p:txBody>
          <a:bodyPr wrap="square" lIns="0" tIns="0" rIns="0" bIns="0">
            <a:normAutofit/>
          </a:bodyPr>
          <a:lstStyle/>
          <a:p>
            <a:pPr>
              <a:lnSpc>
                <a:spcPct val="145000"/>
              </a:lnSpc>
              <a:buNone/>
            </a:pPr>
            <a:r>
              <a:rPr sz="1200" b="1">
                <a:solidFill>
                  <a:srgbClr val="FFFFFF"/>
                </a:solidFill>
                <a:latin typeface="微软雅黑"/>
                <a:ea typeface="微软雅黑"/>
                <a:cs typeface="微软雅黑"/>
              </a:rPr>
              <a:t>对客户：</a:t>
            </a:r>
            <a:r>
              <a:rPr sz="1200">
                <a:solidFill>
                  <a:srgbClr val="99BDED"/>
                </a:solidFill>
                <a:latin typeface="微软雅黑"/>
                <a:ea typeface="微软雅黑"/>
                <a:cs typeface="微软雅黑"/>
              </a:rPr>
              <a:t>每一轮项目交付研发答案——候选排序、机制线索、验证结果</a:t>
            </a:r>
            <a:endParaRPr sz="1200">
              <a:solidFill>
                <a:srgbClr val="99BDED"/>
              </a:solidFill>
              <a:latin typeface="微软雅黑"/>
              <a:ea typeface="微软雅黑"/>
              <a:cs typeface="微软雅黑"/>
            </a:endParaRPr>
          </a:p>
        </p:txBody>
      </p:sp>
      <p:sp>
        <p:nvSpPr>
          <p:cNvPr id="80" name="文本框 53"/>
          <p:cNvSpPr>
            <a:spLocks noGrp="1"/>
          </p:cNvSpPr>
          <p:nvPr/>
        </p:nvSpPr>
        <p:spPr>
          <a:xfrm>
            <a:off x="7229475" y="4457700"/>
            <a:ext cx="4219575" cy="533400"/>
          </a:xfrm>
          <a:prstGeom prst="rect">
            <a:avLst/>
          </a:prstGeom>
        </p:spPr>
        <p:txBody>
          <a:bodyPr wrap="square" lIns="0" tIns="0" rIns="0" bIns="0">
            <a:normAutofit/>
          </a:bodyPr>
          <a:lstStyle/>
          <a:p>
            <a:pPr>
              <a:lnSpc>
                <a:spcPct val="145000"/>
              </a:lnSpc>
              <a:buNone/>
            </a:pPr>
            <a:r>
              <a:rPr sz="1200" b="1">
                <a:solidFill>
                  <a:srgbClr val="FFFFFF"/>
                </a:solidFill>
                <a:latin typeface="微软雅黑"/>
                <a:ea typeface="微软雅黑"/>
                <a:cs typeface="微软雅黑"/>
              </a:rPr>
              <a:t>对公司：每一轮项目沉淀标准化纵向数据、</a:t>
            </a:r>
            <a:r>
              <a:rPr lang="zh-CN" altLang="en-US" sz="1200" b="1">
                <a:solidFill>
                  <a:srgbClr val="FFFFFF"/>
                </a:solidFill>
                <a:latin typeface="微软雅黑"/>
                <a:ea typeface="微软雅黑"/>
                <a:cs typeface="微软雅黑"/>
              </a:rPr>
              <a:t>迭代</a:t>
            </a:r>
            <a:r>
              <a:rPr sz="1200" b="1">
                <a:solidFill>
                  <a:srgbClr val="FFFFFF"/>
                </a:solidFill>
                <a:latin typeface="微软雅黑"/>
                <a:ea typeface="微软雅黑"/>
                <a:cs typeface="微软雅黑"/>
              </a:rPr>
              <a:t>模型参数</a:t>
            </a:r>
            <a:r>
              <a:rPr lang="zh-CN" altLang="en-US" sz="1200" b="1">
                <a:solidFill>
                  <a:srgbClr val="FFFFFF"/>
                </a:solidFill>
                <a:latin typeface="微软雅黑"/>
                <a:ea typeface="微软雅黑"/>
                <a:cs typeface="微软雅黑"/>
              </a:rPr>
              <a:t>，持续收窄</a:t>
            </a:r>
            <a:r>
              <a:rPr sz="1200" b="1">
                <a:solidFill>
                  <a:srgbClr val="FFFFFF"/>
                </a:solidFill>
                <a:latin typeface="微软雅黑"/>
                <a:ea typeface="微软雅黑"/>
                <a:cs typeface="微软雅黑"/>
              </a:rPr>
              <a:t>预测误差</a:t>
            </a:r>
            <a:endParaRPr sz="1200">
              <a:solidFill>
                <a:srgbClr val="99BDED"/>
              </a:solidFill>
              <a:latin typeface="微软雅黑"/>
              <a:ea typeface="微软雅黑"/>
              <a:cs typeface="微软雅黑"/>
            </a:endParaRPr>
          </a:p>
        </p:txBody>
      </p:sp>
      <p:sp>
        <p:nvSpPr>
          <p:cNvPr id="81" name="文本框 54"/>
          <p:cNvSpPr>
            <a:spLocks noGrp="1"/>
          </p:cNvSpPr>
          <p:nvPr/>
        </p:nvSpPr>
        <p:spPr>
          <a:xfrm>
            <a:off x="7229475" y="5086350"/>
            <a:ext cx="4219575" cy="533400"/>
          </a:xfrm>
          <a:prstGeom prst="rect">
            <a:avLst/>
          </a:prstGeom>
        </p:spPr>
        <p:txBody>
          <a:bodyPr wrap="square" lIns="0" tIns="0" rIns="0" bIns="0">
            <a:normAutofit/>
          </a:bodyPr>
          <a:lstStyle/>
          <a:p>
            <a:pPr>
              <a:lnSpc>
                <a:spcPct val="145000"/>
              </a:lnSpc>
              <a:buNone/>
            </a:pPr>
            <a:r>
              <a:rPr sz="1200" b="1">
                <a:solidFill>
                  <a:srgbClr val="FFFFFF"/>
                </a:solidFill>
                <a:latin typeface="微软雅黑"/>
                <a:ea typeface="微软雅黑"/>
                <a:cs typeface="微软雅黑"/>
              </a:rPr>
              <a:t>对平台：</a:t>
            </a:r>
            <a:r>
              <a:rPr sz="1200">
                <a:solidFill>
                  <a:srgbClr val="99BDED"/>
                </a:solidFill>
                <a:latin typeface="微软雅黑"/>
                <a:ea typeface="微软雅黑"/>
                <a:cs typeface="微软雅黑"/>
              </a:rPr>
              <a:t>项目越多、数据越厚、模型越准，交付效率和数据价值同步提升——</a:t>
            </a:r>
            <a:r>
              <a:rPr sz="1200" b="1">
                <a:solidFill>
                  <a:srgbClr val="08A6F6"/>
                </a:solidFill>
                <a:latin typeface="微软雅黑"/>
                <a:ea typeface="微软雅黑"/>
                <a:cs typeface="微软雅黑"/>
              </a:rPr>
              <a:t>这就是护城河的来源</a:t>
            </a:r>
            <a:endParaRPr sz="1200" b="1">
              <a:solidFill>
                <a:srgbClr val="08A6F6"/>
              </a:solidFill>
              <a:latin typeface="微软雅黑"/>
              <a:ea typeface="微软雅黑"/>
              <a:cs typeface="微软雅黑"/>
            </a:endParaRPr>
          </a:p>
        </p:txBody>
      </p:sp>
      <p:sp>
        <p:nvSpPr>
          <p:cNvPr id="82" name="文本框 55"/>
          <p:cNvSpPr>
            <a:spLocks noGrp="1"/>
          </p:cNvSpPr>
          <p:nvPr/>
        </p:nvSpPr>
        <p:spPr>
          <a:xfrm>
            <a:off x="533400" y="6381750"/>
            <a:ext cx="26670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Source: AIVC </a:t>
            </a:r>
            <a:r>
              <a:rPr sz="1050">
                <a:solidFill>
                  <a:srgbClr val="808080"/>
                </a:solidFill>
                <a:latin typeface="微软雅黑"/>
                <a:ea typeface="微软雅黑"/>
                <a:cs typeface="微软雅黑"/>
              </a:rPr>
              <a:t>商业故事</a:t>
            </a:r>
            <a:r>
              <a:rPr sz="1050">
                <a:solidFill>
                  <a:srgbClr val="808080"/>
                </a:solidFill>
                <a:latin typeface="微软雅黑"/>
                <a:ea typeface="微软雅黑"/>
                <a:cs typeface="微软雅黑"/>
              </a:rPr>
              <a:t> BP §4.3 / §4.4 / §4.5</a:t>
            </a:r>
            <a:endParaRPr sz="1050">
              <a:solidFill>
                <a:srgbClr val="808080"/>
              </a:solidFill>
              <a:latin typeface="微软雅黑"/>
              <a:ea typeface="微软雅黑"/>
              <a:cs typeface="微软雅黑"/>
            </a:endParaRPr>
          </a:p>
        </p:txBody>
      </p:sp>
      <p:sp>
        <p:nvSpPr>
          <p:cNvPr id="83" name="文本框 56"/>
          <p:cNvSpPr>
            <a:spLocks noGrp="1"/>
          </p:cNvSpPr>
          <p:nvPr/>
        </p:nvSpPr>
        <p:spPr>
          <a:xfrm>
            <a:off x="11201400" y="6381750"/>
            <a:ext cx="4572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11 / 18</a:t>
            </a:r>
            <a:endParaRPr sz="1050">
              <a:solidFill>
                <a:srgbClr val="808080"/>
              </a:solidFill>
              <a:latin typeface="微软雅黑"/>
              <a:ea typeface="微软雅黑"/>
              <a:cs typeface="微软雅黑"/>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5" name="矩形 58"/>
          <p:cNvSpPr>
            <a:spLocks noGrp="1"/>
          </p:cNvSpPr>
          <p:nvPr/>
        </p:nvSpPr>
        <p:spPr>
          <a:xfrm>
            <a:off x="0" y="0"/>
            <a:ext cx="12192000" cy="6858000"/>
          </a:xfrm>
          <a:prstGeom prst="rect">
            <a:avLst/>
          </a:prstGeom>
          <a:solidFill>
            <a:srgbClr val="062032"/>
          </a:solidFill>
        </p:spPr>
        <p:txBody>
          <a:bodyPr/>
          <a:lstStyle/>
          <a:p/>
        </p:txBody>
      </p:sp>
      <p:sp>
        <p:nvSpPr>
          <p:cNvPr id="86" name="文本框 59"/>
          <p:cNvSpPr>
            <a:spLocks noGrp="1"/>
          </p:cNvSpPr>
          <p:nvPr/>
        </p:nvSpPr>
        <p:spPr>
          <a:xfrm>
            <a:off x="4429125" y="2981325"/>
            <a:ext cx="2628900" cy="533400"/>
          </a:xfrm>
          <a:prstGeom prst="rect">
            <a:avLst/>
          </a:prstGeom>
        </p:spPr>
        <p:txBody>
          <a:bodyPr wrap="none" lIns="0" tIns="0" rIns="0" bIns="0"/>
          <a:lstStyle/>
          <a:p>
            <a:pPr>
              <a:lnSpc>
                <a:spcPct val="100000"/>
              </a:lnSpc>
              <a:buNone/>
            </a:pPr>
            <a:r>
              <a:rPr sz="3450" b="1">
                <a:solidFill>
                  <a:srgbClr val="FFFFFF"/>
                </a:solidFill>
                <a:latin typeface="微软雅黑"/>
                <a:ea typeface="微软雅黑"/>
                <a:cs typeface="微软雅黑"/>
              </a:rPr>
              <a:t>为什么是我们</a:t>
            </a:r>
            <a:endParaRPr sz="3450" b="1">
              <a:solidFill>
                <a:srgbClr val="FFFFFF"/>
              </a:solidFill>
              <a:latin typeface="微软雅黑"/>
              <a:ea typeface="微软雅黑"/>
              <a:cs typeface="微软雅黑"/>
            </a:endParaRPr>
          </a:p>
        </p:txBody>
      </p:sp>
      <p:sp>
        <p:nvSpPr>
          <p:cNvPr id="87" name="文本框 60"/>
          <p:cNvSpPr>
            <a:spLocks noGrp="1"/>
          </p:cNvSpPr>
          <p:nvPr/>
        </p:nvSpPr>
        <p:spPr>
          <a:xfrm>
            <a:off x="4429125" y="3648075"/>
            <a:ext cx="2628900" cy="228600"/>
          </a:xfrm>
          <a:prstGeom prst="rect">
            <a:avLst/>
          </a:prstGeom>
        </p:spPr>
        <p:txBody>
          <a:bodyPr wrap="none" lIns="0" tIns="0" rIns="0" bIns="0"/>
          <a:lstStyle/>
          <a:p>
            <a:pPr>
              <a:lnSpc>
                <a:spcPct val="100000"/>
              </a:lnSpc>
              <a:buNone/>
            </a:pPr>
            <a:r>
              <a:rPr sz="1500" spc="225">
                <a:solidFill>
                  <a:srgbClr val="99BDED"/>
                </a:solidFill>
                <a:latin typeface="微软雅黑"/>
                <a:ea typeface="微软雅黑"/>
                <a:cs typeface="微软雅黑"/>
              </a:rPr>
              <a:t>WHY US</a:t>
            </a:r>
            <a:endParaRPr sz="1500" spc="225">
              <a:solidFill>
                <a:srgbClr val="99BDED"/>
              </a:solidFill>
              <a:latin typeface="微软雅黑"/>
              <a:ea typeface="微软雅黑"/>
              <a:cs typeface="微软雅黑"/>
            </a:endParaRPr>
          </a:p>
        </p:txBody>
      </p:sp>
      <p:sp>
        <p:nvSpPr>
          <p:cNvPr id="88" name="文本框 61"/>
          <p:cNvSpPr>
            <a:spLocks noGrp="1"/>
          </p:cNvSpPr>
          <p:nvPr/>
        </p:nvSpPr>
        <p:spPr>
          <a:xfrm>
            <a:off x="685800" y="1943100"/>
            <a:ext cx="3057525" cy="2971800"/>
          </a:xfrm>
          <a:prstGeom prst="rect">
            <a:avLst/>
          </a:prstGeom>
        </p:spPr>
        <p:txBody>
          <a:bodyPr wrap="none" lIns="0" tIns="0" rIns="0" bIns="0"/>
          <a:lstStyle/>
          <a:p>
            <a:pPr>
              <a:lnSpc>
                <a:spcPct val="100000"/>
              </a:lnSpc>
              <a:buNone/>
            </a:pPr>
            <a:r>
              <a:rPr sz="19500" b="1">
                <a:solidFill>
                  <a:srgbClr val="FFFFFF">
                    <a:alpha val="12000"/>
                  </a:srgbClr>
                </a:solidFill>
                <a:latin typeface="微软雅黑"/>
                <a:ea typeface="微软雅黑"/>
                <a:cs typeface="微软雅黑"/>
              </a:rPr>
              <a:t>03</a:t>
            </a:r>
            <a:endParaRPr sz="19500" b="1">
              <a:solidFill>
                <a:srgbClr val="FFFFFF">
                  <a:alpha val="12000"/>
                </a:srgbClr>
              </a:solidFill>
              <a:latin typeface="微软雅黑"/>
              <a:ea typeface="微软雅黑"/>
              <a:cs typeface="微软雅黑"/>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 name="矩形 63"/>
          <p:cNvSpPr>
            <a:spLocks noGrp="1"/>
          </p:cNvSpPr>
          <p:nvPr/>
        </p:nvSpPr>
        <p:spPr>
          <a:xfrm>
            <a:off x="0" y="0"/>
            <a:ext cx="12192000" cy="6858000"/>
          </a:xfrm>
          <a:prstGeom prst="rect">
            <a:avLst/>
          </a:prstGeom>
          <a:solidFill>
            <a:srgbClr val="FFFFFF"/>
          </a:solidFill>
        </p:spPr>
        <p:txBody>
          <a:bodyPr/>
          <a:lstStyle/>
          <a:p/>
        </p:txBody>
      </p:sp>
      <p:sp>
        <p:nvSpPr>
          <p:cNvPr id="91" name="文本框 64"/>
          <p:cNvSpPr>
            <a:spLocks noGrp="1"/>
          </p:cNvSpPr>
          <p:nvPr/>
        </p:nvSpPr>
        <p:spPr>
          <a:xfrm>
            <a:off x="533400" y="419100"/>
            <a:ext cx="11125200" cy="381000"/>
          </a:xfrm>
          <a:prstGeom prst="rect">
            <a:avLst/>
          </a:prstGeom>
        </p:spPr>
        <p:txBody>
          <a:bodyPr wrap="none" lIns="0" tIns="0" rIns="0" bIns="0"/>
          <a:lstStyle/>
          <a:p>
            <a:pPr>
              <a:lnSpc>
                <a:spcPct val="100000"/>
              </a:lnSpc>
              <a:buNone/>
            </a:pPr>
            <a:r>
              <a:rPr sz="2475" b="1">
                <a:solidFill>
                  <a:srgbClr val="061F32"/>
                </a:solidFill>
                <a:latin typeface="微软雅黑"/>
                <a:ea typeface="微软雅黑"/>
                <a:cs typeface="微软雅黑"/>
              </a:rPr>
              <a:t>团队：科学 × 数据 × 模型 × 运营，核心能力</a:t>
            </a:r>
            <a:r>
              <a:rPr lang="zh-CN" altLang="en-US" sz="2475" b="1">
                <a:solidFill>
                  <a:srgbClr val="061F32"/>
                </a:solidFill>
                <a:latin typeface="微软雅黑"/>
                <a:ea typeface="微软雅黑"/>
                <a:cs typeface="微软雅黑"/>
              </a:rPr>
              <a:t>实现</a:t>
            </a:r>
            <a:r>
              <a:rPr sz="2475" b="1">
                <a:solidFill>
                  <a:srgbClr val="061F32"/>
                </a:solidFill>
                <a:latin typeface="微软雅黑"/>
                <a:ea typeface="微软雅黑"/>
                <a:cs typeface="微软雅黑"/>
              </a:rPr>
              <a:t>自持</a:t>
            </a:r>
            <a:r>
              <a:rPr lang="zh-CN" altLang="en-US" sz="2475" b="1">
                <a:solidFill>
                  <a:srgbClr val="061F32"/>
                </a:solidFill>
                <a:latin typeface="微软雅黑"/>
                <a:ea typeface="微软雅黑"/>
                <a:cs typeface="微软雅黑"/>
              </a:rPr>
              <a:t>闭环</a:t>
            </a:r>
            <a:endParaRPr sz="2475" b="1">
              <a:solidFill>
                <a:srgbClr val="061F32"/>
              </a:solidFill>
              <a:latin typeface="微软雅黑"/>
              <a:ea typeface="微软雅黑"/>
              <a:cs typeface="微软雅黑"/>
            </a:endParaRPr>
          </a:p>
        </p:txBody>
      </p:sp>
      <p:sp>
        <p:nvSpPr>
          <p:cNvPr id="92" name="矩形 65"/>
          <p:cNvSpPr>
            <a:spLocks noGrp="1"/>
          </p:cNvSpPr>
          <p:nvPr/>
        </p:nvSpPr>
        <p:spPr>
          <a:xfrm>
            <a:off x="533400" y="895350"/>
            <a:ext cx="11125200" cy="9525"/>
          </a:xfrm>
          <a:prstGeom prst="rect">
            <a:avLst/>
          </a:prstGeom>
          <a:solidFill>
            <a:srgbClr val="061F32"/>
          </a:solidFill>
        </p:spPr>
        <p:txBody>
          <a:bodyPr/>
          <a:lstStyle/>
          <a:p/>
        </p:txBody>
      </p:sp>
      <p:sp>
        <p:nvSpPr>
          <p:cNvPr id="93" name="文本框 66"/>
          <p:cNvSpPr>
            <a:spLocks noGrp="1"/>
          </p:cNvSpPr>
          <p:nvPr/>
        </p:nvSpPr>
        <p:spPr>
          <a:xfrm>
            <a:off x="533400" y="1019175"/>
            <a:ext cx="11274879" cy="2518682"/>
          </a:xfrm>
          <a:prstGeom prst="rect">
            <a:avLst/>
          </a:prstGeom>
        </p:spPr>
        <p:txBody>
          <a:bodyPr wrap="none" lIns="0" tIns="0" rIns="0" bIns="0"/>
          <a:lstStyle/>
          <a:p>
            <a:pPr algn="l">
              <a:lnSpc>
                <a:spcPct val="100000"/>
              </a:lnSpc>
              <a:buNone/>
            </a:pPr>
            <a:r>
              <a:rPr lang="zh-CN" altLang="en-US" sz="1500" b="1">
                <a:solidFill>
                  <a:srgbClr val="061F32"/>
                </a:solidFill>
                <a:latin typeface="微软雅黑"/>
                <a:ea typeface="微软雅黑"/>
                <a:cs typeface="微软雅黑"/>
              </a:rPr>
              <a:t>-</a:t>
            </a:r>
            <a:r>
              <a:rPr lang="zh-CN" altLang="en-US" sz="1400" b="1">
                <a:solidFill>
                  <a:srgbClr val="061F32"/>
                </a:solidFill>
                <a:latin typeface="微软雅黑"/>
                <a:ea typeface="微软雅黑"/>
                <a:cs typeface="Arial" panose="020B0604020202020204" pitchFamily="34" charset="0"/>
              </a:rPr>
              <a:t> </a:t>
            </a:r>
            <a:r>
              <a:rPr lang="zh-CN" altLang="en-US" sz="1400" b="1">
                <a:solidFill>
                  <a:srgbClr val="061F32"/>
                </a:solidFill>
                <a:latin typeface="微软雅黑" charset="0"/>
                <a:ea typeface="微软雅黑" charset="0"/>
                <a:cs typeface="微软雅黑" charset="0"/>
              </a:rPr>
              <a:t>CEO</a:t>
            </a:r>
            <a:r>
              <a:rPr sz="1400" b="1">
                <a:solidFill>
                  <a:srgbClr val="061F32"/>
                </a:solidFill>
                <a:latin typeface="微软雅黑"/>
                <a:ea typeface="微软雅黑"/>
                <a:cs typeface="微软雅黑"/>
              </a:rPr>
              <a:t>田伟利博士</a:t>
            </a:r>
            <a:r>
              <a:rPr lang="zh-CN" altLang="en-US" sz="1400" b="1">
                <a:solidFill>
                  <a:srgbClr val="061F32"/>
                </a:solidFill>
                <a:latin typeface="微软雅黑"/>
                <a:ea typeface="微软雅黑"/>
                <a:cs typeface="微软雅黑"/>
              </a:rPr>
              <a:t>：</a:t>
            </a:r>
            <a:r>
              <a:rPr lang="en-US" altLang="zh-CN" sz="1400">
                <a:solidFill>
                  <a:srgbClr val="061F32"/>
                </a:solidFill>
                <a:latin typeface="微软雅黑"/>
                <a:ea typeface="微软雅黑"/>
                <a:cs typeface="微软雅黑"/>
              </a:rPr>
              <a:t>DKFZ / </a:t>
            </a:r>
            <a:r>
              <a:rPr lang="zh-CN" altLang="en-US" sz="1400">
                <a:solidFill>
                  <a:srgbClr val="061F32"/>
                </a:solidFill>
                <a:latin typeface="微软雅黑"/>
                <a:ea typeface="微软雅黑"/>
                <a:cs typeface="微软雅黑"/>
              </a:rPr>
              <a:t>海德堡大学分子神经遗传学</a:t>
            </a:r>
            <a:r>
              <a:rPr lang="zh-CN" altLang="en-US" sz="1400">
                <a:solidFill>
                  <a:srgbClr val="061F32"/>
                </a:solidFill>
                <a:latin typeface="微软雅黑" charset="0"/>
                <a:ea typeface="微软雅黑" charset="0"/>
                <a:cs typeface="微软雅黑" charset="0"/>
              </a:rPr>
              <a:t>资深科学家</a:t>
            </a:r>
            <a:r>
              <a:rPr lang="zh-CN" altLang="en-US" sz="1400">
                <a:solidFill>
                  <a:srgbClr val="061F32"/>
                </a:solidFill>
                <a:latin typeface="微软雅黑"/>
                <a:ea typeface="微软雅黑"/>
                <a:cs typeface="微软雅黑"/>
              </a:rPr>
              <a:t>，霍英东杰出青年学者；深耕神经调控与脑类器官方向，主持欧中重大科研</a:t>
            </a:r>
            <a:endParaRPr lang="zh-CN" altLang="en-US" sz="1400">
              <a:solidFill>
                <a:srgbClr val="061F32"/>
              </a:solidFill>
              <a:latin typeface="微软雅黑"/>
              <a:ea typeface="微软雅黑"/>
              <a:cs typeface="微软雅黑"/>
            </a:endParaRPr>
          </a:p>
          <a:p>
            <a:pPr algn="l">
              <a:lnSpc>
                <a:spcPct val="100000"/>
              </a:lnSpc>
              <a:buNone/>
            </a:pPr>
            <a:r>
              <a:rPr lang="zh-CN" altLang="en-US" sz="1400">
                <a:solidFill>
                  <a:srgbClr val="061F32"/>
                </a:solidFill>
                <a:latin typeface="微软雅黑"/>
                <a:ea typeface="微软雅黑"/>
                <a:cs typeface="微软雅黑"/>
              </a:rPr>
              <a:t>项目，以核心成员身份完成 </a:t>
            </a:r>
            <a:r>
              <a:rPr lang="en-US" altLang="zh-CN" sz="1400">
                <a:solidFill>
                  <a:srgbClr val="061F32"/>
                </a:solidFill>
                <a:latin typeface="微软雅黑"/>
                <a:ea typeface="微软雅黑"/>
                <a:cs typeface="微软雅黑"/>
              </a:rPr>
              <a:t>Cell Stem Cell 2025（IPTO </a:t>
            </a:r>
            <a:r>
              <a:rPr lang="zh-CN" altLang="en-US" sz="1400">
                <a:solidFill>
                  <a:srgbClr val="061F32"/>
                </a:solidFill>
                <a:latin typeface="微软雅黑"/>
                <a:ea typeface="微软雅黑"/>
                <a:cs typeface="微软雅黑"/>
              </a:rPr>
              <a:t>预测治疗响应）、</a:t>
            </a:r>
            <a:r>
              <a:rPr lang="en-US" altLang="zh-CN" sz="1400">
                <a:solidFill>
                  <a:srgbClr val="061F32"/>
                </a:solidFill>
                <a:latin typeface="微软雅黑"/>
                <a:ea typeface="微软雅黑"/>
                <a:cs typeface="微软雅黑"/>
              </a:rPr>
              <a:t>npj Precision Oncology 2024（GBM </a:t>
            </a:r>
            <a:r>
              <a:rPr lang="zh-CN" altLang="en-US" sz="1400">
                <a:solidFill>
                  <a:srgbClr val="061F32"/>
                </a:solidFill>
                <a:latin typeface="微软雅黑"/>
                <a:ea typeface="微软雅黑"/>
                <a:cs typeface="微软雅黑"/>
              </a:rPr>
              <a:t>类器官多维图谱）两项顶刊</a:t>
            </a:r>
            <a:endParaRPr lang="zh-CN" altLang="en-US" sz="1400">
              <a:solidFill>
                <a:srgbClr val="061F32"/>
              </a:solidFill>
              <a:latin typeface="微软雅黑"/>
              <a:ea typeface="微软雅黑"/>
              <a:cs typeface="微软雅黑"/>
            </a:endParaRPr>
          </a:p>
          <a:p>
            <a:pPr algn="l">
              <a:lnSpc>
                <a:spcPct val="100000"/>
              </a:lnSpc>
              <a:buNone/>
            </a:pPr>
            <a:r>
              <a:rPr lang="zh-CN" altLang="en-US" sz="1400">
                <a:solidFill>
                  <a:srgbClr val="061F32"/>
                </a:solidFill>
                <a:latin typeface="微软雅黑"/>
                <a:ea typeface="微软雅黑"/>
                <a:cs typeface="微软雅黑"/>
              </a:rPr>
              <a:t>工作。长期研究胶质母细胞瘤复发，耐药等临床上亟待解决的难题。兼具顶尖科研与产业转化经验。</a:t>
            </a:r>
            <a:endParaRPr lang="zh-CN" altLang="en-US" sz="1400">
              <a:solidFill>
                <a:srgbClr val="061F32"/>
              </a:solidFill>
              <a:latin typeface="微软雅黑"/>
              <a:ea typeface="微软雅黑"/>
              <a:cs typeface="微软雅黑"/>
            </a:endParaRPr>
          </a:p>
          <a:p>
            <a:pPr algn="l">
              <a:lnSpc>
                <a:spcPct val="100000"/>
              </a:lnSpc>
              <a:buNone/>
            </a:pPr>
            <a:endParaRPr lang="zh-CN" altLang="en-US" sz="1400" b="1">
              <a:solidFill>
                <a:srgbClr val="061F32"/>
              </a:solidFill>
              <a:latin typeface="微软雅黑"/>
              <a:ea typeface="微软雅黑"/>
              <a:cs typeface="微软雅黑"/>
            </a:endParaRPr>
          </a:p>
          <a:p>
            <a:pPr algn="l">
              <a:lnSpc>
                <a:spcPct val="100000"/>
              </a:lnSpc>
              <a:buNone/>
            </a:pPr>
            <a:r>
              <a:rPr lang="zh-CN" altLang="en-US" sz="1400" b="1">
                <a:solidFill>
                  <a:srgbClr val="061F32"/>
                </a:solidFill>
                <a:latin typeface="微软雅黑"/>
                <a:ea typeface="微软雅黑"/>
                <a:cs typeface="微软雅黑"/>
              </a:rPr>
              <a:t>- </a:t>
            </a:r>
            <a:r>
              <a:rPr lang="en-US" altLang="zh-CN" sz="1400" b="1">
                <a:solidFill>
                  <a:srgbClr val="061F32"/>
                </a:solidFill>
                <a:latin typeface="微软雅黑"/>
                <a:ea typeface="微软雅黑"/>
                <a:cs typeface="微软雅黑"/>
              </a:rPr>
              <a:t>CTO</a:t>
            </a:r>
            <a:r>
              <a:rPr lang="zh-CN" altLang="en-US" sz="1400" b="1">
                <a:solidFill>
                  <a:srgbClr val="061F32"/>
                </a:solidFill>
                <a:latin typeface="微软雅黑"/>
                <a:ea typeface="微软雅黑"/>
                <a:cs typeface="微软雅黑"/>
              </a:rPr>
              <a:t>卓悦博士：</a:t>
            </a:r>
            <a:r>
              <a:rPr lang="en-US" altLang="zh-CN" sz="1400">
                <a:solidFill>
                  <a:srgbClr val="061F32"/>
                </a:solidFill>
                <a:latin typeface="微软雅黑"/>
                <a:ea typeface="微软雅黑"/>
                <a:cs typeface="微软雅黑"/>
              </a:rPr>
              <a:t>DKFZ / </a:t>
            </a:r>
            <a:r>
              <a:rPr lang="zh-CN" altLang="en-US" sz="1400">
                <a:solidFill>
                  <a:srgbClr val="061F32"/>
                </a:solidFill>
                <a:latin typeface="微软雅黑"/>
                <a:ea typeface="微软雅黑"/>
                <a:cs typeface="微软雅黑"/>
              </a:rPr>
              <a:t>海德堡大学发育生物学博士，和田伟利博士共同发表</a:t>
            </a:r>
            <a:r>
              <a:rPr lang="en-US" altLang="zh-CN" sz="1400">
                <a:solidFill>
                  <a:srgbClr val="061F32"/>
                </a:solidFill>
                <a:latin typeface="微软雅黑"/>
                <a:ea typeface="微软雅黑"/>
                <a:cs typeface="微软雅黑"/>
              </a:rPr>
              <a:t>Cell Stem Cell</a:t>
            </a:r>
            <a:r>
              <a:rPr lang="zh-CN" altLang="en-US" sz="1400">
                <a:solidFill>
                  <a:srgbClr val="061F32"/>
                </a:solidFill>
                <a:latin typeface="微软雅黑"/>
                <a:ea typeface="微软雅黑"/>
                <a:cs typeface="微软雅黑"/>
              </a:rPr>
              <a:t>脑瘤类器官顶刊成果；精通</a:t>
            </a:r>
            <a:r>
              <a:rPr lang="en-US" altLang="zh-CN" sz="1400">
                <a:solidFill>
                  <a:srgbClr val="061F32"/>
                </a:solidFill>
                <a:latin typeface="微软雅黑"/>
                <a:ea typeface="微软雅黑"/>
                <a:cs typeface="微软雅黑"/>
              </a:rPr>
              <a:t>iPSC</a:t>
            </a:r>
            <a:r>
              <a:rPr lang="zh-CN" altLang="en-US" sz="1400">
                <a:solidFill>
                  <a:srgbClr val="061F32"/>
                </a:solidFill>
                <a:latin typeface="微软雅黑"/>
                <a:ea typeface="微软雅黑"/>
                <a:cs typeface="微软雅黑"/>
              </a:rPr>
              <a:t>脑类器官构建，</a:t>
            </a:r>
            <a:endParaRPr lang="zh-CN" altLang="en-US" sz="1400">
              <a:solidFill>
                <a:srgbClr val="061F32"/>
              </a:solidFill>
              <a:latin typeface="微软雅黑"/>
              <a:ea typeface="微软雅黑"/>
              <a:cs typeface="微软雅黑"/>
            </a:endParaRPr>
          </a:p>
          <a:p>
            <a:pPr algn="l">
              <a:lnSpc>
                <a:spcPct val="100000"/>
              </a:lnSpc>
              <a:buNone/>
            </a:pPr>
            <a:r>
              <a:rPr lang="en-US" altLang="zh-CN" sz="1400">
                <a:solidFill>
                  <a:srgbClr val="061F32"/>
                </a:solidFill>
                <a:latin typeface="微软雅黑"/>
                <a:ea typeface="微软雅黑"/>
                <a:cs typeface="微软雅黑"/>
              </a:rPr>
              <a:t>CRISPR</a:t>
            </a:r>
            <a:r>
              <a:rPr lang="zh-CN" altLang="en-US" sz="1400">
                <a:solidFill>
                  <a:srgbClr val="061F32"/>
                </a:solidFill>
                <a:latin typeface="微软雅黑"/>
                <a:ea typeface="微软雅黑"/>
                <a:cs typeface="微软雅黑"/>
              </a:rPr>
              <a:t>基因组编辑，掌握单细胞测序，</a:t>
            </a:r>
            <a:r>
              <a:rPr lang="en-US" altLang="zh-CN" sz="1400">
                <a:solidFill>
                  <a:srgbClr val="061F32"/>
                </a:solidFill>
                <a:latin typeface="微软雅黑"/>
                <a:ea typeface="微软雅黑"/>
                <a:cs typeface="微软雅黑"/>
              </a:rPr>
              <a:t>YOLO / Cellpose AI</a:t>
            </a:r>
            <a:r>
              <a:rPr lang="zh-CN" altLang="en-US" sz="1400">
                <a:solidFill>
                  <a:srgbClr val="061F32"/>
                </a:solidFill>
                <a:latin typeface="微软雅黑"/>
                <a:ea typeface="微软雅黑"/>
                <a:cs typeface="微软雅黑"/>
              </a:rPr>
              <a:t>图像分析，具备实验室系统搭建与课题指导经验。</a:t>
            </a:r>
            <a:endParaRPr lang="zh-CN" altLang="en-US" sz="1400">
              <a:solidFill>
                <a:srgbClr val="061F32"/>
              </a:solidFill>
              <a:latin typeface="微软雅黑"/>
              <a:ea typeface="微软雅黑"/>
              <a:cs typeface="微软雅黑"/>
            </a:endParaRPr>
          </a:p>
          <a:p>
            <a:pPr algn="l">
              <a:lnSpc>
                <a:spcPct val="100000"/>
              </a:lnSpc>
              <a:buNone/>
            </a:pPr>
            <a:endParaRPr lang="zh-CN" altLang="en-US" sz="1400" b="1">
              <a:solidFill>
                <a:srgbClr val="061F32"/>
              </a:solidFill>
              <a:latin typeface="微软雅黑"/>
              <a:ea typeface="微软雅黑"/>
              <a:cs typeface="微软雅黑"/>
            </a:endParaRPr>
          </a:p>
          <a:p>
            <a:pPr algn="l">
              <a:lnSpc>
                <a:spcPct val="100000"/>
              </a:lnSpc>
              <a:buNone/>
            </a:pPr>
            <a:r>
              <a:rPr lang="zh-CN" altLang="en-US" sz="1400" b="1">
                <a:solidFill>
                  <a:srgbClr val="061F32"/>
                </a:solidFill>
                <a:latin typeface="微软雅黑" charset="0"/>
                <a:ea typeface="微软雅黑" charset="0"/>
                <a:cs typeface="微软雅黑" charset="0"/>
              </a:rPr>
              <a:t>- </a:t>
            </a:r>
            <a:r>
              <a:rPr lang="en-US" altLang="zh-CN" sz="1400" b="1">
                <a:solidFill>
                  <a:srgbClr val="061F32"/>
                </a:solidFill>
                <a:latin typeface="微软雅黑" charset="0"/>
                <a:ea typeface="微软雅黑" charset="0"/>
                <a:cs typeface="微软雅黑" charset="0"/>
              </a:rPr>
              <a:t>ML</a:t>
            </a:r>
            <a:r>
              <a:rPr lang="zh-CN" altLang="en-US" sz="1400" b="1">
                <a:solidFill>
                  <a:srgbClr val="061F32"/>
                </a:solidFill>
                <a:latin typeface="微软雅黑" charset="0"/>
                <a:ea typeface="微软雅黑" charset="0"/>
                <a:cs typeface="微软雅黑" charset="0"/>
              </a:rPr>
              <a:t>负责人王中杰博士：</a:t>
            </a:r>
            <a:r>
              <a:rPr lang="zh-CN" altLang="en-US" sz="1400">
                <a:solidFill>
                  <a:srgbClr val="061F32"/>
                </a:solidFill>
                <a:latin typeface="微软雅黑" charset="0"/>
                <a:ea typeface="微软雅黑" charset="0"/>
                <a:cs typeface="微软雅黑" charset="0"/>
              </a:rPr>
              <a:t>巴斯德研究所博士后，近</a:t>
            </a:r>
            <a:r>
              <a:rPr lang="en-US" altLang="zh-CN" sz="1400">
                <a:solidFill>
                  <a:srgbClr val="061F32"/>
                </a:solidFill>
                <a:latin typeface="微软雅黑" charset="0"/>
                <a:ea typeface="微软雅黑" charset="0"/>
                <a:cs typeface="微软雅黑" charset="0"/>
              </a:rPr>
              <a:t>10</a:t>
            </a:r>
            <a:r>
              <a:rPr lang="zh-CN" altLang="en-US" sz="1400">
                <a:solidFill>
                  <a:srgbClr val="061F32"/>
                </a:solidFill>
                <a:latin typeface="微软雅黑" charset="0"/>
                <a:ea typeface="微软雅黑" charset="0"/>
                <a:cs typeface="微软雅黑" charset="0"/>
              </a:rPr>
              <a:t>年生物信息与多组学数据分析经验；曾任职哈佛医学院，精通大规模计算与机器学习预测</a:t>
            </a:r>
            <a:endParaRPr lang="zh-CN" altLang="en-US" sz="1400">
              <a:solidFill>
                <a:srgbClr val="061F32"/>
              </a:solidFill>
              <a:latin typeface="微软雅黑" charset="0"/>
              <a:ea typeface="微软雅黑" charset="0"/>
              <a:cs typeface="微软雅黑" charset="0"/>
            </a:endParaRPr>
          </a:p>
          <a:p>
            <a:pPr algn="l">
              <a:lnSpc>
                <a:spcPct val="100000"/>
              </a:lnSpc>
              <a:buNone/>
            </a:pPr>
            <a:r>
              <a:rPr lang="zh-CN" altLang="en-US" sz="1400">
                <a:solidFill>
                  <a:srgbClr val="061F32"/>
                </a:solidFill>
                <a:latin typeface="微软雅黑" charset="0"/>
                <a:ea typeface="微软雅黑" charset="0"/>
                <a:cs typeface="微软雅黑" charset="0"/>
              </a:rPr>
              <a:t>建模，擅长搭建端到端可复用分析流程，支撑临床与生物医药项目的数据挖掘与决策输出。</a:t>
            </a:r>
            <a:endParaRPr lang="zh-CN" altLang="en-US" sz="1400">
              <a:solidFill>
                <a:srgbClr val="061F32"/>
              </a:solidFill>
              <a:latin typeface="微软雅黑" charset="0"/>
              <a:ea typeface="微软雅黑" charset="0"/>
              <a:cs typeface="微软雅黑" charset="0"/>
            </a:endParaRPr>
          </a:p>
          <a:p>
            <a:pPr marL="0" indent="0" algn="l" defTabSz="0" rtl="0" eaLnBrk="1" latinLnBrk="0" hangingPunct="1">
              <a:lnSpc>
                <a:spcPct val="100000"/>
              </a:lnSpc>
              <a:spcBef>
                <a:spcPct val="0"/>
              </a:spcBef>
              <a:spcAft>
                <a:spcPct val="0"/>
              </a:spcAft>
              <a:buNone/>
            </a:pPr>
            <a:endParaRPr lang="zh-CN" altLang="en-US" sz="1400" b="1">
              <a:solidFill>
                <a:srgbClr val="061F32"/>
              </a:solidFill>
              <a:latin typeface="微软雅黑" charset="0"/>
              <a:ea typeface="微软雅黑" charset="0"/>
              <a:cs typeface="微软雅黑" charset="0"/>
            </a:endParaRPr>
          </a:p>
          <a:p>
            <a:pPr marL="0" indent="0" algn="l" defTabSz="0" rtl="0" eaLnBrk="1" latinLnBrk="0" hangingPunct="1">
              <a:lnSpc>
                <a:spcPct val="100000"/>
              </a:lnSpc>
              <a:spcBef>
                <a:spcPct val="0"/>
              </a:spcBef>
              <a:spcAft>
                <a:spcPct val="0"/>
              </a:spcAft>
              <a:buNone/>
            </a:pPr>
            <a:r>
              <a:rPr lang="zh-CN" altLang="en-US" sz="1400" b="1">
                <a:solidFill>
                  <a:srgbClr val="061F32"/>
                </a:solidFill>
                <a:latin typeface="微软雅黑" charset="0"/>
                <a:ea typeface="微软雅黑" charset="0"/>
                <a:cs typeface="微软雅黑" charset="0"/>
              </a:rPr>
              <a:t>- 运营负责人兰晓静：</a:t>
            </a:r>
            <a:r>
              <a:rPr lang="zh-CN" altLang="en-US" sz="1400">
                <a:solidFill>
                  <a:srgbClr val="061F32"/>
                </a:solidFill>
                <a:latin typeface="微软雅黑" charset="0"/>
                <a:ea typeface="微软雅黑" charset="0"/>
                <a:cs typeface="微软雅黑" charset="0"/>
              </a:rPr>
              <a:t>海德堡大学经济学硕士，浙江大学管理学学士，竺可桢学院创业与创新管理强化班，</a:t>
            </a:r>
            <a:r>
              <a:rPr lang="en-US" altLang="zh-CN" sz="1400">
                <a:solidFill>
                  <a:srgbClr val="061F32"/>
                </a:solidFill>
                <a:latin typeface="微软雅黑" charset="0"/>
                <a:ea typeface="微软雅黑" charset="0"/>
                <a:cs typeface="微软雅黑" charset="0"/>
              </a:rPr>
              <a:t>FRM</a:t>
            </a:r>
            <a:r>
              <a:rPr lang="zh-CN" altLang="en-US" sz="1400">
                <a:solidFill>
                  <a:srgbClr val="061F32"/>
                </a:solidFill>
                <a:latin typeface="微软雅黑" charset="0"/>
                <a:ea typeface="微软雅黑" charset="0"/>
                <a:cs typeface="微软雅黑" charset="0"/>
              </a:rPr>
              <a:t>持证人；拥有多年国际金融机构</a:t>
            </a:r>
            <a:endParaRPr lang="zh-CN" altLang="en-US" sz="1400">
              <a:solidFill>
                <a:srgbClr val="061F32"/>
              </a:solidFill>
              <a:latin typeface="微软雅黑" charset="0"/>
              <a:ea typeface="微软雅黑" charset="0"/>
              <a:cs typeface="微软雅黑" charset="0"/>
            </a:endParaRPr>
          </a:p>
          <a:p>
            <a:pPr marL="0" indent="0" algn="l" defTabSz="0" rtl="0" eaLnBrk="1" latinLnBrk="0" hangingPunct="1">
              <a:lnSpc>
                <a:spcPct val="100000"/>
              </a:lnSpc>
              <a:spcBef>
                <a:spcPct val="0"/>
              </a:spcBef>
              <a:spcAft>
                <a:spcPct val="0"/>
              </a:spcAft>
              <a:buNone/>
            </a:pPr>
            <a:r>
              <a:rPr lang="zh-CN" altLang="en-US" sz="1400">
                <a:solidFill>
                  <a:srgbClr val="061F32"/>
                </a:solidFill>
                <a:latin typeface="微软雅黑" charset="0"/>
                <a:ea typeface="微软雅黑" charset="0"/>
                <a:cs typeface="微软雅黑" charset="0"/>
              </a:rPr>
              <a:t>风控合规，跨境尽调经验，精通跨境财务统筹，合规体系搭建与硬科技创业项目运营。</a:t>
            </a:r>
            <a:endParaRPr lang="zh-CN" altLang="en-US" sz="1400">
              <a:solidFill>
                <a:srgbClr val="061F32"/>
              </a:solidFill>
              <a:latin typeface="微软雅黑"/>
              <a:ea typeface="微软雅黑"/>
              <a:cs typeface="微软雅黑"/>
            </a:endParaRPr>
          </a:p>
        </p:txBody>
      </p:sp>
      <p:graphicFrame>
        <p:nvGraphicFramePr>
          <p:cNvPr id="112" name="表格 71"/>
          <p:cNvGraphicFramePr/>
          <p:nvPr/>
        </p:nvGraphicFramePr>
        <p:xfrm>
          <a:off x="533400" y="3769179"/>
          <a:ext cx="10856595" cy="2048510"/>
        </p:xfrm>
        <a:graphic>
          <a:graphicData uri="http://schemas.openxmlformats.org/drawingml/2006/table">
            <a:tbl>
              <a:tblPr/>
              <a:tblGrid>
                <a:gridCol w="2316480"/>
                <a:gridCol w="2096770"/>
                <a:gridCol w="6443345"/>
              </a:tblGrid>
              <a:tr h="398780">
                <a:tc>
                  <a:txBody>
                    <a:bodyPr wrap="square">
                      <a:spAutoFit/>
                    </a:bodyPr>
                    <a:lstStyle/>
                    <a:p>
                      <a:pPr marL="114300" marR="114300" algn="l">
                        <a:lnSpc>
                          <a:spcPct val="120000"/>
                        </a:lnSpc>
                        <a:buNone/>
                      </a:pPr>
                      <a:r>
                        <a:rPr sz="1125" b="1">
                          <a:solidFill>
                            <a:srgbClr val="FFFFFF"/>
                          </a:solidFill>
                          <a:latin typeface="微软雅黑"/>
                          <a:ea typeface="微软雅黑"/>
                          <a:cs typeface="微软雅黑"/>
                        </a:rPr>
                        <a:t>角色</a:t>
                      </a:r>
                      <a:endParaRPr sz="1125" b="1">
                        <a:solidFill>
                          <a:srgbClr val="FFFFFF"/>
                        </a:solidFill>
                        <a:latin typeface="微软雅黑"/>
                        <a:ea typeface="微软雅黑"/>
                        <a:cs typeface="微软雅黑"/>
                      </a:endParaRPr>
                    </a:p>
                  </a:txBody>
                  <a:tcPr marL="0" marR="0" marT="0" marB="0" anchor="ctr">
                    <a:lnL>
                      <a:noFill/>
                    </a:lnL>
                    <a:lnR>
                      <a:noFill/>
                    </a:lnR>
                    <a:lnT>
                      <a:noFill/>
                    </a:lnT>
                    <a:lnB>
                      <a:noFill/>
                    </a:lnB>
                    <a:solidFill>
                      <a:srgbClr val="061F32"/>
                    </a:solidFill>
                  </a:tcPr>
                </a:tc>
                <a:tc>
                  <a:txBody>
                    <a:bodyPr wrap="square">
                      <a:spAutoFit/>
                    </a:bodyPr>
                    <a:lstStyle/>
                    <a:p>
                      <a:pPr marL="114300" marR="114300" algn="l">
                        <a:lnSpc>
                          <a:spcPct val="120000"/>
                        </a:lnSpc>
                        <a:buNone/>
                      </a:pPr>
                      <a:r>
                        <a:rPr sz="1125" b="1">
                          <a:solidFill>
                            <a:srgbClr val="FFFFFF"/>
                          </a:solidFill>
                          <a:latin typeface="微软雅黑"/>
                          <a:ea typeface="微软雅黑"/>
                          <a:cs typeface="微软雅黑"/>
                        </a:rPr>
                        <a:t>人选</a:t>
                      </a:r>
                      <a:endParaRPr sz="1125" b="1">
                        <a:solidFill>
                          <a:srgbClr val="FFFFFF"/>
                        </a:solidFill>
                        <a:latin typeface="微软雅黑"/>
                        <a:ea typeface="微软雅黑"/>
                        <a:cs typeface="微软雅黑"/>
                      </a:endParaRPr>
                    </a:p>
                  </a:txBody>
                  <a:tcPr marL="0" marR="0" marT="0" marB="0" anchor="ctr">
                    <a:lnL>
                      <a:noFill/>
                    </a:lnL>
                    <a:lnR>
                      <a:noFill/>
                    </a:lnR>
                    <a:lnT>
                      <a:noFill/>
                    </a:lnT>
                    <a:lnB>
                      <a:noFill/>
                    </a:lnB>
                    <a:solidFill>
                      <a:srgbClr val="061F32"/>
                    </a:solidFill>
                  </a:tcPr>
                </a:tc>
                <a:tc>
                  <a:txBody>
                    <a:bodyPr wrap="square">
                      <a:spAutoFit/>
                    </a:bodyPr>
                    <a:lstStyle/>
                    <a:p>
                      <a:pPr marL="114300" marR="114300" algn="l">
                        <a:lnSpc>
                          <a:spcPct val="120000"/>
                        </a:lnSpc>
                        <a:buNone/>
                      </a:pPr>
                      <a:r>
                        <a:rPr sz="1125" b="1">
                          <a:solidFill>
                            <a:srgbClr val="FFFFFF"/>
                          </a:solidFill>
                          <a:latin typeface="微软雅黑"/>
                          <a:ea typeface="微软雅黑"/>
                          <a:cs typeface="微软雅黑"/>
                        </a:rPr>
                        <a:t>职责</a:t>
                      </a:r>
                      <a:endParaRPr sz="1125" b="1">
                        <a:solidFill>
                          <a:srgbClr val="FFFFFF"/>
                        </a:solidFill>
                        <a:latin typeface="微软雅黑"/>
                        <a:ea typeface="微软雅黑"/>
                        <a:cs typeface="微软雅黑"/>
                      </a:endParaRPr>
                    </a:p>
                  </a:txBody>
                  <a:tcPr marL="0" marR="0" marT="0" marB="0" anchor="ctr">
                    <a:lnL>
                      <a:noFill/>
                    </a:lnL>
                    <a:lnR>
                      <a:noFill/>
                    </a:lnR>
                    <a:lnT>
                      <a:noFill/>
                    </a:lnT>
                    <a:lnB>
                      <a:noFill/>
                    </a:lnB>
                    <a:solidFill>
                      <a:srgbClr val="061F32"/>
                    </a:solidFill>
                  </a:tcPr>
                </a:tc>
              </a:tr>
              <a:tr h="412750">
                <a:tc>
                  <a:txBody>
                    <a:bodyPr wrap="square">
                      <a:spAutoFit/>
                    </a:bodyPr>
                    <a:lstStyle/>
                    <a:p>
                      <a:pPr marL="114300" marR="114300" algn="l">
                        <a:lnSpc>
                          <a:spcPct val="120000"/>
                        </a:lnSpc>
                        <a:buNone/>
                      </a:pPr>
                      <a:r>
                        <a:rPr sz="1125" b="1">
                          <a:solidFill>
                            <a:srgbClr val="061F32"/>
                          </a:solidFill>
                          <a:latin typeface="微软雅黑"/>
                          <a:ea typeface="微软雅黑"/>
                          <a:cs typeface="微软雅黑"/>
                        </a:rPr>
                        <a:t>科学 / </a:t>
                      </a:r>
                      <a:endParaRPr sz="1125" b="1">
                        <a:solidFill>
                          <a:srgbClr val="061F32"/>
                        </a:solidFill>
                        <a:latin typeface="微软雅黑"/>
                        <a:ea typeface="微软雅黑"/>
                        <a:cs typeface="微软雅黑"/>
                      </a:endParaRPr>
                    </a:p>
                    <a:p>
                      <a:pPr marL="114300" marR="114300" algn="l">
                        <a:lnSpc>
                          <a:spcPct val="120000"/>
                        </a:lnSpc>
                        <a:buNone/>
                      </a:pPr>
                      <a:r>
                        <a:rPr sz="1125" b="1">
                          <a:solidFill>
                            <a:srgbClr val="061F32"/>
                          </a:solidFill>
                          <a:latin typeface="微软雅黑"/>
                          <a:ea typeface="微软雅黑"/>
                          <a:cs typeface="微软雅黑"/>
                        </a:rPr>
                        <a:t>CEO</a:t>
                      </a:r>
                      <a:endParaRPr sz="1125" b="1">
                        <a:solidFill>
                          <a:srgbClr val="061F32"/>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pPr marL="114300" marR="114300" algn="l">
                        <a:lnSpc>
                          <a:spcPct val="120000"/>
                        </a:lnSpc>
                        <a:buNone/>
                      </a:pPr>
                      <a:r>
                        <a:rPr sz="1125">
                          <a:solidFill>
                            <a:srgbClr val="44546A"/>
                          </a:solidFill>
                          <a:latin typeface="微软雅黑"/>
                          <a:ea typeface="微软雅黑"/>
                          <a:cs typeface="微软雅黑"/>
                        </a:rPr>
                        <a:t>田伟利</a:t>
                      </a:r>
                      <a:endParaRPr sz="1125">
                        <a:solidFill>
                          <a:srgbClr val="44546A"/>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pPr marL="114300" marR="114300" algn="l">
                        <a:lnSpc>
                          <a:spcPct val="120000"/>
                        </a:lnSpc>
                        <a:buNone/>
                      </a:pPr>
                      <a:r>
                        <a:rPr sz="1125">
                          <a:solidFill>
                            <a:srgbClr val="44546A"/>
                          </a:solidFill>
                          <a:latin typeface="微软雅黑"/>
                          <a:ea typeface="微软雅黑"/>
                          <a:cs typeface="微软雅黑"/>
                        </a:rPr>
                        <a:t>脑类器官</a:t>
                      </a:r>
                      <a:r>
                        <a:rPr lang="zh-CN" altLang="en-US" sz="1125">
                          <a:solidFill>
                            <a:srgbClr val="44546A"/>
                          </a:solidFill>
                          <a:latin typeface="微软雅黑"/>
                          <a:ea typeface="微软雅黑"/>
                          <a:cs typeface="Arial" panose="020B0604020202020204" pitchFamily="34" charset="0"/>
                        </a:rPr>
                        <a:t>体系搭建</a:t>
                      </a:r>
                      <a:r>
                        <a:rPr sz="1125">
                          <a:solidFill>
                            <a:srgbClr val="44546A"/>
                          </a:solidFill>
                          <a:latin typeface="微软雅黑"/>
                          <a:ea typeface="微软雅黑"/>
                          <a:cs typeface="微软雅黑"/>
                        </a:rPr>
                        <a:t>、疾病机制</a:t>
                      </a:r>
                      <a:r>
                        <a:rPr lang="zh-CN" altLang="en-US" sz="1125">
                          <a:solidFill>
                            <a:srgbClr val="44546A"/>
                          </a:solidFill>
                          <a:latin typeface="微软雅黑"/>
                          <a:ea typeface="微软雅黑"/>
                          <a:cs typeface="微软雅黑"/>
                        </a:rPr>
                        <a:t>研究</a:t>
                      </a:r>
                      <a:r>
                        <a:rPr sz="1125">
                          <a:solidFill>
                            <a:srgbClr val="44546A"/>
                          </a:solidFill>
                          <a:latin typeface="微软雅黑"/>
                          <a:ea typeface="微软雅黑"/>
                          <a:cs typeface="微软雅黑"/>
                        </a:rPr>
                        <a:t>、</a:t>
                      </a:r>
                      <a:r>
                        <a:rPr lang="zh-CN" altLang="en-US" sz="1125">
                          <a:solidFill>
                            <a:srgbClr val="44546A"/>
                          </a:solidFill>
                          <a:latin typeface="微软雅黑"/>
                          <a:ea typeface="微软雅黑"/>
                          <a:cs typeface="微软雅黑"/>
                        </a:rPr>
                        <a:t>整体</a:t>
                      </a:r>
                      <a:r>
                        <a:rPr sz="1125">
                          <a:solidFill>
                            <a:srgbClr val="44546A"/>
                          </a:solidFill>
                          <a:latin typeface="微软雅黑"/>
                          <a:ea typeface="微软雅黑"/>
                          <a:cs typeface="微软雅黑"/>
                        </a:rPr>
                        <a:t>科学路线</a:t>
                      </a:r>
                      <a:r>
                        <a:rPr lang="zh-CN" altLang="en-US" sz="1125">
                          <a:solidFill>
                            <a:srgbClr val="44546A"/>
                          </a:solidFill>
                          <a:latin typeface="微软雅黑"/>
                          <a:ea typeface="微软雅黑"/>
                          <a:cs typeface="微软雅黑"/>
                        </a:rPr>
                        <a:t>规划</a:t>
                      </a:r>
                      <a:endParaRPr sz="1125">
                        <a:solidFill>
                          <a:srgbClr val="44546A"/>
                        </a:solidFill>
                        <a:latin typeface="微软雅黑"/>
                        <a:ea typeface="微软雅黑"/>
                        <a:cs typeface="微软雅黑"/>
                      </a:endParaRPr>
                    </a:p>
                  </a:txBody>
                  <a:tcPr marL="0" marR="0" marT="0" marB="0" anchor="ctr">
                    <a:lnL>
                      <a:noFill/>
                    </a:lnL>
                    <a:lnR>
                      <a:noFill/>
                    </a:lnR>
                    <a:lnT>
                      <a:noFill/>
                    </a:lnT>
                    <a:lnB>
                      <a:noFill/>
                    </a:lnB>
                  </a:tcPr>
                </a:tc>
              </a:tr>
              <a:tr h="412750">
                <a:tc>
                  <a:txBody>
                    <a:bodyPr wrap="square">
                      <a:spAutoFit/>
                    </a:bodyPr>
                    <a:lstStyle/>
                    <a:p>
                      <a:pPr marL="114300" marR="114300" algn="l">
                        <a:lnSpc>
                          <a:spcPct val="120000"/>
                        </a:lnSpc>
                        <a:buNone/>
                      </a:pPr>
                      <a:r>
                        <a:rPr sz="1125" b="1">
                          <a:solidFill>
                            <a:srgbClr val="061F32"/>
                          </a:solidFill>
                          <a:latin typeface="微软雅黑"/>
                          <a:ea typeface="微软雅黑"/>
                          <a:cs typeface="微软雅黑"/>
                        </a:rPr>
                        <a:t>数据生产 / </a:t>
                      </a:r>
                      <a:endParaRPr sz="1125" b="1">
                        <a:solidFill>
                          <a:srgbClr val="061F32"/>
                        </a:solidFill>
                        <a:latin typeface="微软雅黑"/>
                        <a:ea typeface="微软雅黑"/>
                        <a:cs typeface="微软雅黑"/>
                      </a:endParaRPr>
                    </a:p>
                    <a:p>
                      <a:pPr marL="114300" marR="114300" algn="l">
                        <a:lnSpc>
                          <a:spcPct val="120000"/>
                        </a:lnSpc>
                        <a:buNone/>
                      </a:pPr>
                      <a:r>
                        <a:rPr sz="1125" b="1">
                          <a:solidFill>
                            <a:srgbClr val="061F32"/>
                          </a:solidFill>
                          <a:latin typeface="微软雅黑"/>
                          <a:ea typeface="微软雅黑"/>
                          <a:cs typeface="微软雅黑"/>
                        </a:rPr>
                        <a:t>CTO</a:t>
                      </a:r>
                      <a:endParaRPr sz="1125" b="1">
                        <a:solidFill>
                          <a:srgbClr val="061F32"/>
                        </a:solidFill>
                        <a:latin typeface="微软雅黑"/>
                        <a:ea typeface="微软雅黑"/>
                        <a:cs typeface="微软雅黑"/>
                      </a:endParaRPr>
                    </a:p>
                  </a:txBody>
                  <a:tcPr marL="0" marR="0" marT="0" marB="0" anchor="ctr">
                    <a:lnL>
                      <a:noFill/>
                    </a:lnL>
                    <a:lnR>
                      <a:noFill/>
                    </a:lnR>
                    <a:lnT>
                      <a:noFill/>
                    </a:lnT>
                    <a:lnB>
                      <a:noFill/>
                    </a:lnB>
                    <a:solidFill>
                      <a:srgbClr val="F5F5F5"/>
                    </a:solidFill>
                  </a:tcPr>
                </a:tc>
                <a:tc>
                  <a:txBody>
                    <a:bodyPr wrap="square">
                      <a:spAutoFit/>
                    </a:bodyPr>
                    <a:lstStyle/>
                    <a:p>
                      <a:pPr marL="114300" marR="114300" algn="l">
                        <a:lnSpc>
                          <a:spcPct val="120000"/>
                        </a:lnSpc>
                        <a:buNone/>
                      </a:pPr>
                      <a:r>
                        <a:rPr sz="1125">
                          <a:solidFill>
                            <a:srgbClr val="44546A"/>
                          </a:solidFill>
                          <a:latin typeface="微软雅黑"/>
                          <a:ea typeface="微软雅黑"/>
                          <a:cs typeface="微软雅黑"/>
                        </a:rPr>
                        <a:t>卓悦</a:t>
                      </a:r>
                      <a:endParaRPr sz="1125">
                        <a:solidFill>
                          <a:srgbClr val="44546A"/>
                        </a:solidFill>
                        <a:latin typeface="微软雅黑"/>
                        <a:ea typeface="微软雅黑"/>
                        <a:cs typeface="微软雅黑"/>
                      </a:endParaRPr>
                    </a:p>
                  </a:txBody>
                  <a:tcPr marL="0" marR="0" marT="0" marB="0" anchor="ctr">
                    <a:lnL>
                      <a:noFill/>
                    </a:lnL>
                    <a:lnR>
                      <a:noFill/>
                    </a:lnR>
                    <a:lnT>
                      <a:noFill/>
                    </a:lnT>
                    <a:lnB>
                      <a:noFill/>
                    </a:lnB>
                    <a:solidFill>
                      <a:srgbClr val="F5F5F5"/>
                    </a:solidFill>
                  </a:tcPr>
                </a:tc>
                <a:tc>
                  <a:txBody>
                    <a:bodyPr wrap="square">
                      <a:spAutoFit/>
                    </a:bodyPr>
                    <a:lstStyle/>
                    <a:p>
                      <a:pPr marL="114300" marR="114300" algn="l">
                        <a:lnSpc>
                          <a:spcPct val="120000"/>
                        </a:lnSpc>
                        <a:buNone/>
                      </a:pPr>
                      <a:r>
                        <a:rPr sz="1125">
                          <a:solidFill>
                            <a:srgbClr val="44546A"/>
                          </a:solidFill>
                          <a:latin typeface="微软雅黑"/>
                          <a:ea typeface="微软雅黑"/>
                          <a:cs typeface="微软雅黑"/>
                        </a:rPr>
                        <a:t>实验数字化</a:t>
                      </a:r>
                      <a:r>
                        <a:rPr lang="zh-CN" altLang="en-US" sz="1125">
                          <a:solidFill>
                            <a:srgbClr val="44546A"/>
                          </a:solidFill>
                          <a:latin typeface="微软雅黑"/>
                          <a:ea typeface="微软雅黑"/>
                          <a:cs typeface="微软雅黑"/>
                        </a:rPr>
                        <a:t>落地</a:t>
                      </a:r>
                      <a:r>
                        <a:rPr sz="1125">
                          <a:solidFill>
                            <a:srgbClr val="44546A"/>
                          </a:solidFill>
                          <a:latin typeface="微软雅黑"/>
                          <a:ea typeface="微软雅黑"/>
                          <a:cs typeface="微软雅黑"/>
                        </a:rPr>
                        <a:t>、生信</a:t>
                      </a:r>
                      <a:r>
                        <a:rPr lang="zh-CN" altLang="en-US" sz="1125">
                          <a:solidFill>
                            <a:srgbClr val="44546A"/>
                          </a:solidFill>
                          <a:latin typeface="微软雅黑"/>
                          <a:ea typeface="微软雅黑"/>
                          <a:cs typeface="微软雅黑"/>
                        </a:rPr>
                        <a:t>分析</a:t>
                      </a:r>
                      <a:r>
                        <a:rPr sz="1125">
                          <a:solidFill>
                            <a:srgbClr val="44546A"/>
                          </a:solidFill>
                          <a:latin typeface="微软雅黑"/>
                          <a:ea typeface="微软雅黑"/>
                          <a:cs typeface="微软雅黑"/>
                        </a:rPr>
                        <a:t>、图像 AI</a:t>
                      </a:r>
                      <a:r>
                        <a:rPr lang="zh-CN" altLang="en-US" sz="1125">
                          <a:solidFill>
                            <a:srgbClr val="44546A"/>
                          </a:solidFill>
                          <a:latin typeface="微软雅黑"/>
                          <a:ea typeface="微软雅黑"/>
                          <a:cs typeface="微软雅黑"/>
                        </a:rPr>
                        <a:t>开发；</a:t>
                      </a:r>
                      <a:r>
                        <a:rPr sz="1125">
                          <a:solidFill>
                            <a:srgbClr val="44546A"/>
                          </a:solidFill>
                          <a:latin typeface="微软雅黑"/>
                          <a:ea typeface="微软雅黑"/>
                          <a:cs typeface="微软雅黑"/>
                        </a:rPr>
                        <a:t>自建 Verqura 系统</a:t>
                      </a:r>
                      <a:endParaRPr sz="1125">
                        <a:solidFill>
                          <a:srgbClr val="44546A"/>
                        </a:solidFill>
                        <a:latin typeface="微软雅黑"/>
                        <a:ea typeface="微软雅黑"/>
                        <a:cs typeface="微软雅黑"/>
                      </a:endParaRPr>
                    </a:p>
                  </a:txBody>
                  <a:tcPr marL="0" marR="0" marT="0" marB="0" anchor="ctr">
                    <a:lnL>
                      <a:noFill/>
                    </a:lnL>
                    <a:lnR>
                      <a:noFill/>
                    </a:lnR>
                    <a:lnT>
                      <a:noFill/>
                    </a:lnT>
                    <a:lnB>
                      <a:noFill/>
                    </a:lnB>
                    <a:solidFill>
                      <a:srgbClr val="F5F5F5"/>
                    </a:solidFill>
                  </a:tcPr>
                </a:tc>
              </a:tr>
              <a:tr h="412750">
                <a:tc>
                  <a:txBody>
                    <a:bodyPr wrap="square">
                      <a:spAutoFit/>
                    </a:bodyPr>
                    <a:lstStyle/>
                    <a:p>
                      <a:pPr marL="114300" algn="l">
                        <a:lnSpc>
                          <a:spcPct val="120000"/>
                        </a:lnSpc>
                        <a:buNone/>
                      </a:pPr>
                      <a:r>
                        <a:rPr sz="1125" b="1" i="0" u="none">
                          <a:solidFill>
                            <a:srgbClr val="061F32">
                              <a:alpha val="100000"/>
                            </a:srgbClr>
                          </a:solidFill>
                          <a:latin typeface="微软雅黑"/>
                          <a:ea typeface="微软雅黑"/>
                          <a:cs typeface="微软雅黑"/>
                        </a:rPr>
                        <a:t>核心模型 / </a:t>
                      </a:r>
                      <a:endParaRPr sz="1125" b="1">
                        <a:solidFill>
                          <a:srgbClr val="08A6F6">
                            <a:alpha val="100000"/>
                          </a:srgbClr>
                        </a:solidFill>
                        <a:latin typeface="微软雅黑"/>
                        <a:ea typeface="微软雅黑"/>
                        <a:cs typeface="微软雅黑"/>
                      </a:endParaRPr>
                    </a:p>
                    <a:p>
                      <a:pPr marL="114300" algn="l">
                        <a:lnSpc>
                          <a:spcPct val="120000"/>
                        </a:lnSpc>
                        <a:buNone/>
                      </a:pPr>
                      <a:r>
                        <a:rPr sz="1125" b="1" i="0" u="none">
                          <a:solidFill>
                            <a:srgbClr val="061F32">
                              <a:alpha val="100000"/>
                            </a:srgbClr>
                          </a:solidFill>
                          <a:latin typeface="微软雅黑"/>
                          <a:ea typeface="微软雅黑"/>
                          <a:cs typeface="微软雅黑"/>
                        </a:rPr>
                        <a:t>ML 负</a:t>
                      </a:r>
                      <a:r>
                        <a:rPr sz="1125" b="1" i="0" u="none">
                          <a:solidFill>
                            <a:srgbClr val="061F32">
                              <a:alpha val="100000"/>
                            </a:srgbClr>
                          </a:solidFill>
                          <a:latin typeface="微软雅黑"/>
                          <a:ea typeface="微软雅黑"/>
                          <a:cs typeface="微软雅黑"/>
                        </a:rPr>
                        <a:t>责</a:t>
                      </a:r>
                      <a:r>
                        <a:rPr sz="1125" b="1" i="0" u="none">
                          <a:solidFill>
                            <a:srgbClr val="061F32">
                              <a:alpha val="100000"/>
                            </a:srgbClr>
                          </a:solidFill>
                          <a:latin typeface="微软雅黑"/>
                          <a:ea typeface="微软雅黑"/>
                          <a:cs typeface="微软雅黑"/>
                        </a:rPr>
                        <a:t>人</a:t>
                      </a:r>
                      <a:endParaRPr sz="1125" b="1">
                        <a:solidFill>
                          <a:srgbClr val="08A6F6">
                            <a:alpha val="100000"/>
                          </a:srgbClr>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pPr marL="114300" indent="0" algn="l" defTabSz="914400">
                        <a:lnSpc>
                          <a:spcPct val="120000"/>
                        </a:lnSpc>
                        <a:buNone/>
                      </a:pPr>
                      <a:r>
                        <a:rPr sz="1125" b="0" i="0" u="none">
                          <a:solidFill>
                            <a:srgbClr val="44546A">
                              <a:alpha val="100000"/>
                            </a:srgbClr>
                          </a:solidFill>
                          <a:latin typeface="微软雅黑"/>
                          <a:ea typeface="微软雅黑"/>
                          <a:cs typeface="微软雅黑"/>
                        </a:rPr>
                        <a:t>王中杰</a:t>
                      </a:r>
                      <a:endParaRPr sz="1125" b="0" i="0" u="none">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pPr marL="114300" marR="114300" algn="l">
                        <a:lnSpc>
                          <a:spcPct val="120000"/>
                        </a:lnSpc>
                        <a:buNone/>
                      </a:pPr>
                      <a:r>
                        <a:rPr sz="1125">
                          <a:solidFill>
                            <a:srgbClr val="44546A"/>
                          </a:solidFill>
                          <a:latin typeface="微软雅黑"/>
                          <a:ea typeface="微软雅黑"/>
                          <a:cs typeface="微软雅黑"/>
                        </a:rPr>
                        <a:t>虚拟类器官预测模型</a:t>
                      </a:r>
                      <a:r>
                        <a:rPr lang="zh-CN" altLang="en-US" sz="1125">
                          <a:solidFill>
                            <a:srgbClr val="44546A"/>
                          </a:solidFill>
                          <a:latin typeface="微软雅黑"/>
                          <a:ea typeface="微软雅黑"/>
                          <a:cs typeface="微软雅黑"/>
                        </a:rPr>
                        <a:t>研发；</a:t>
                      </a:r>
                      <a:r>
                        <a:rPr sz="1125">
                          <a:solidFill>
                            <a:srgbClr val="44546A"/>
                          </a:solidFill>
                          <a:latin typeface="微软雅黑"/>
                          <a:ea typeface="微软雅黑"/>
                          <a:cs typeface="微软雅黑"/>
                        </a:rPr>
                        <a:t>多模态建模、自监督预训练、因果建模</a:t>
                      </a:r>
                      <a:endParaRPr sz="1125">
                        <a:solidFill>
                          <a:srgbClr val="44546A"/>
                        </a:solidFill>
                        <a:latin typeface="微软雅黑"/>
                        <a:ea typeface="微软雅黑"/>
                        <a:cs typeface="微软雅黑"/>
                      </a:endParaRPr>
                    </a:p>
                  </a:txBody>
                  <a:tcPr marL="0" marR="0" marT="0" marB="0" anchor="ctr">
                    <a:lnL>
                      <a:noFill/>
                    </a:lnL>
                    <a:lnR>
                      <a:noFill/>
                    </a:lnR>
                    <a:lnT>
                      <a:noFill/>
                    </a:lnT>
                    <a:lnB>
                      <a:noFill/>
                    </a:lnB>
                  </a:tcPr>
                </a:tc>
              </a:tr>
              <a:tr h="411480">
                <a:tc>
                  <a:txBody>
                    <a:bodyPr wrap="square">
                      <a:spAutoFit/>
                    </a:bodyPr>
                    <a:lstStyle/>
                    <a:p>
                      <a:pPr marL="114300" algn="l">
                        <a:lnSpc>
                          <a:spcPct val="120000"/>
                        </a:lnSpc>
                        <a:buNone/>
                      </a:pPr>
                      <a:r>
                        <a:rPr sz="1125" b="1" i="0" u="none">
                          <a:solidFill>
                            <a:srgbClr val="061F32">
                              <a:alpha val="100000"/>
                            </a:srgbClr>
                          </a:solidFill>
                          <a:latin typeface="微软雅黑"/>
                          <a:ea typeface="微软雅黑"/>
                          <a:cs typeface="微软雅黑"/>
                        </a:rPr>
                        <a:t>运营 </a:t>
                      </a:r>
                      <a:r>
                        <a:rPr lang="en-US" altLang="zh-CN" sz="1125" b="1" i="0" u="none">
                          <a:solidFill>
                            <a:srgbClr val="061F32">
                              <a:alpha val="100000"/>
                            </a:srgbClr>
                          </a:solidFill>
                          <a:latin typeface="微软雅黑"/>
                          <a:ea typeface="微软雅黑"/>
                          <a:cs typeface="微软雅黑"/>
                        </a:rPr>
                        <a:t>/</a:t>
                      </a:r>
                      <a:endParaRPr lang="en-US" altLang="zh-CN" sz="1125" b="1" i="0" u="none">
                        <a:solidFill>
                          <a:srgbClr val="061F32">
                            <a:alpha val="100000"/>
                          </a:srgbClr>
                        </a:solidFill>
                        <a:latin typeface="微软雅黑"/>
                        <a:ea typeface="微软雅黑"/>
                        <a:cs typeface="微软雅黑"/>
                      </a:endParaRPr>
                    </a:p>
                    <a:p>
                      <a:pPr marL="114300" algn="l">
                        <a:lnSpc>
                          <a:spcPct val="120000"/>
                        </a:lnSpc>
                        <a:buNone/>
                      </a:pPr>
                      <a:r>
                        <a:rPr lang="zh-CN" altLang="en-US" sz="1125" b="1" i="0" u="none">
                          <a:solidFill>
                            <a:srgbClr val="061F32">
                              <a:alpha val="100000"/>
                            </a:srgbClr>
                          </a:solidFill>
                          <a:latin typeface="微软雅黑"/>
                          <a:ea typeface="微软雅黑"/>
                          <a:cs typeface="微软雅黑"/>
                        </a:rPr>
                        <a:t>财务、</a:t>
                      </a:r>
                      <a:r>
                        <a:rPr sz="1125" b="1" i="0" u="none">
                          <a:solidFill>
                            <a:srgbClr val="061F32">
                              <a:alpha val="100000"/>
                            </a:srgbClr>
                          </a:solidFill>
                          <a:latin typeface="微软雅黑"/>
                          <a:ea typeface="微软雅黑"/>
                          <a:cs typeface="微软雅黑"/>
                        </a:rPr>
                        <a:t>合规负责人</a:t>
                      </a:r>
                      <a:endParaRPr sz="1125" b="1" i="0" u="none">
                        <a:solidFill>
                          <a:srgbClr val="061F32">
                            <a:alpha val="100000"/>
                          </a:srgbClr>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pPr marL="114300" indent="0" algn="l" defTabSz="914400">
                        <a:lnSpc>
                          <a:spcPct val="120000"/>
                        </a:lnSpc>
                        <a:buNone/>
                      </a:pPr>
                      <a:r>
                        <a:rPr sz="1125" b="0" i="0" u="none">
                          <a:solidFill>
                            <a:srgbClr val="44546A">
                              <a:alpha val="100000"/>
                            </a:srgbClr>
                          </a:solidFill>
                          <a:latin typeface="微软雅黑"/>
                          <a:ea typeface="微软雅黑"/>
                          <a:cs typeface="微软雅黑"/>
                        </a:rPr>
                        <a:t>兰晓静</a:t>
                      </a:r>
                      <a:endParaRPr sz="1125" b="0" i="0" u="none">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pPr marL="114300" algn="l">
                        <a:lnSpc>
                          <a:spcPct val="120000"/>
                        </a:lnSpc>
                        <a:buNone/>
                      </a:pPr>
                      <a:r>
                        <a:rPr sz="1125" b="0" i="0" u="none">
                          <a:solidFill>
                            <a:srgbClr val="44546A">
                              <a:alpha val="100000"/>
                            </a:srgbClr>
                          </a:solidFill>
                          <a:latin typeface="微软雅黑"/>
                          <a:ea typeface="微软雅黑"/>
                          <a:cs typeface="微软雅黑"/>
                        </a:rPr>
                        <a:t>项目</a:t>
                      </a:r>
                      <a:r>
                        <a:rPr lang="zh-CN" altLang="en-US" sz="1125" b="0" i="0" u="none">
                          <a:solidFill>
                            <a:srgbClr val="44546A">
                              <a:alpha val="100000"/>
                            </a:srgbClr>
                          </a:solidFill>
                          <a:latin typeface="微软雅黑"/>
                          <a:ea typeface="微软雅黑"/>
                          <a:cs typeface="微软雅黑"/>
                        </a:rPr>
                        <a:t>全流程</a:t>
                      </a:r>
                      <a:r>
                        <a:rPr sz="1125" b="0" i="0" u="none">
                          <a:solidFill>
                            <a:srgbClr val="44546A">
                              <a:alpha val="100000"/>
                            </a:srgbClr>
                          </a:solidFill>
                          <a:latin typeface="微软雅黑"/>
                          <a:ea typeface="微软雅黑"/>
                          <a:cs typeface="微软雅黑"/>
                        </a:rPr>
                        <a:t>运营</a:t>
                      </a:r>
                      <a:r>
                        <a:rPr lang="zh-CN" altLang="en-US" sz="1125" b="0" i="0" u="none">
                          <a:solidFill>
                            <a:srgbClr val="44546A">
                              <a:alpha val="100000"/>
                            </a:srgbClr>
                          </a:solidFill>
                          <a:latin typeface="微软雅黑"/>
                          <a:ea typeface="微软雅黑"/>
                          <a:cs typeface="微软雅黑"/>
                        </a:rPr>
                        <a:t>管理；</a:t>
                      </a:r>
                      <a:r>
                        <a:rPr sz="1125" b="0" i="0" u="none">
                          <a:solidFill>
                            <a:srgbClr val="44546A">
                              <a:alpha val="100000"/>
                            </a:srgbClr>
                          </a:solidFill>
                          <a:latin typeface="微软雅黑"/>
                          <a:ea typeface="微软雅黑"/>
                          <a:cs typeface="微软雅黑"/>
                        </a:rPr>
                        <a:t>财务</a:t>
                      </a:r>
                      <a:r>
                        <a:rPr lang="zh-CN" altLang="en-US" sz="1125" b="0" i="0" u="none">
                          <a:solidFill>
                            <a:srgbClr val="44546A">
                              <a:alpha val="100000"/>
                            </a:srgbClr>
                          </a:solidFill>
                          <a:latin typeface="微软雅黑"/>
                          <a:ea typeface="微软雅黑"/>
                          <a:cs typeface="微软雅黑"/>
                        </a:rPr>
                        <a:t>统筹</a:t>
                      </a:r>
                      <a:r>
                        <a:rPr sz="1125" b="0" i="0" u="none">
                          <a:solidFill>
                            <a:srgbClr val="44546A">
                              <a:alpha val="100000"/>
                            </a:srgbClr>
                          </a:solidFill>
                          <a:latin typeface="微软雅黑"/>
                          <a:ea typeface="微软雅黑"/>
                          <a:cs typeface="微软雅黑"/>
                        </a:rPr>
                        <a:t>与风控合规</a:t>
                      </a:r>
                      <a:r>
                        <a:rPr lang="zh-CN" altLang="en-US" sz="1125" b="0" i="0" u="none">
                          <a:solidFill>
                            <a:srgbClr val="44546A">
                              <a:alpha val="100000"/>
                            </a:srgbClr>
                          </a:solidFill>
                          <a:latin typeface="微软雅黑"/>
                          <a:ea typeface="微软雅黑"/>
                          <a:cs typeface="微软雅黑"/>
                        </a:rPr>
                        <a:t>；</a:t>
                      </a:r>
                      <a:r>
                        <a:rPr sz="1125" b="0" i="0" u="none">
                          <a:solidFill>
                            <a:srgbClr val="44546A">
                              <a:alpha val="100000"/>
                            </a:srgbClr>
                          </a:solidFill>
                          <a:latin typeface="微软雅黑"/>
                          <a:ea typeface="微软雅黑"/>
                          <a:cs typeface="微软雅黑"/>
                        </a:rPr>
                        <a:t>商务拓展与跨</a:t>
                      </a:r>
                      <a:r>
                        <a:rPr lang="zh-CN" altLang="en-US" sz="1125" b="0" i="0" u="none">
                          <a:solidFill>
                            <a:srgbClr val="44546A">
                              <a:alpha val="100000"/>
                            </a:srgbClr>
                          </a:solidFill>
                          <a:latin typeface="微软雅黑"/>
                          <a:ea typeface="微软雅黑"/>
                          <a:cs typeface="微软雅黑"/>
                        </a:rPr>
                        <a:t>机构</a:t>
                      </a:r>
                      <a:r>
                        <a:rPr sz="1125" b="0" i="0" u="none">
                          <a:solidFill>
                            <a:srgbClr val="44546A">
                              <a:alpha val="100000"/>
                            </a:srgbClr>
                          </a:solidFill>
                          <a:latin typeface="微软雅黑"/>
                          <a:ea typeface="微软雅黑"/>
                          <a:cs typeface="微软雅黑"/>
                        </a:rPr>
                        <a:t>合作</a:t>
                      </a:r>
                      <a:endParaRPr sz="1125" b="0" i="0" u="none">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tcPr>
                </a:tc>
              </a:tr>
            </a:tbl>
          </a:graphicData>
        </a:graphic>
      </p:graphicFrame>
      <p:sp>
        <p:nvSpPr>
          <p:cNvPr id="99" name="任意多边形 72"/>
          <p:cNvSpPr>
            <a:spLocks noGrp="1"/>
          </p:cNvSpPr>
          <p:nvPr/>
        </p:nvSpPr>
        <p:spPr>
          <a:xfrm>
            <a:off x="533400" y="5878286"/>
            <a:ext cx="11125200" cy="420914"/>
          </a:xfrm>
          <a:custGeom>
            <a:avLst/>
            <a:gdLst/>
            <a:ahLst/>
            <a:cxnLst/>
            <a:pathLst>
              <a:path w="760" h="34">
                <a:moveTo>
                  <a:pt x="0" y="0"/>
                </a:moveTo>
                <a:lnTo>
                  <a:pt x="4" y="0"/>
                </a:lnTo>
                <a:lnTo>
                  <a:pt x="4" y="34"/>
                </a:lnTo>
                <a:lnTo>
                  <a:pt x="0" y="34"/>
                </a:lnTo>
                <a:close/>
              </a:path>
            </a:pathLst>
          </a:custGeom>
          <a:solidFill>
            <a:srgbClr val="08A6F6"/>
          </a:solidFill>
        </p:spPr>
        <p:txBody>
          <a:bodyPr/>
          <a:lstStyle/>
          <a:p/>
        </p:txBody>
      </p:sp>
      <p:sp>
        <p:nvSpPr>
          <p:cNvPr id="100" name="文本框 73"/>
          <p:cNvSpPr>
            <a:spLocks noGrp="1"/>
          </p:cNvSpPr>
          <p:nvPr/>
        </p:nvSpPr>
        <p:spPr>
          <a:xfrm>
            <a:off x="723900" y="5917293"/>
            <a:ext cx="10744200" cy="508000"/>
          </a:xfrm>
          <a:prstGeom prst="rect">
            <a:avLst/>
          </a:prstGeom>
        </p:spPr>
        <p:txBody>
          <a:bodyPr wrap="none" lIns="0" tIns="0" rIns="0" bIns="0"/>
          <a:lstStyle/>
          <a:p>
            <a:pPr>
              <a:lnSpc>
                <a:spcPct val="145000"/>
              </a:lnSpc>
              <a:buNone/>
            </a:pPr>
            <a:r>
              <a:rPr sz="1275" b="1">
                <a:solidFill>
                  <a:srgbClr val="061F32"/>
                </a:solidFill>
                <a:latin typeface="微软雅黑"/>
                <a:ea typeface="微软雅黑"/>
                <a:cs typeface="微软雅黑"/>
              </a:rPr>
              <a:t>患者采样、类器官建立、数据</a:t>
            </a:r>
            <a:r>
              <a:rPr sz="1275" b="1">
                <a:solidFill>
                  <a:srgbClr val="061F32"/>
                </a:solidFill>
                <a:latin typeface="微软雅黑" charset="0"/>
                <a:ea typeface="微软雅黑" charset="0"/>
                <a:cs typeface="微软雅黑" charset="0"/>
              </a:rPr>
              <a:t>构建</a:t>
            </a:r>
            <a:r>
              <a:rPr sz="1275" b="1">
                <a:solidFill>
                  <a:srgbClr val="061F32"/>
                </a:solidFill>
                <a:latin typeface="微软雅黑"/>
                <a:ea typeface="微软雅黑"/>
                <a:cs typeface="微软雅黑"/>
              </a:rPr>
              <a:t>、模型迭代、前瞻</a:t>
            </a:r>
            <a:r>
              <a:rPr lang="zh-CN" altLang="en-US" sz="1275" b="1">
                <a:solidFill>
                  <a:srgbClr val="061F32"/>
                </a:solidFill>
                <a:latin typeface="微软雅黑"/>
                <a:ea typeface="微软雅黑"/>
                <a:cs typeface="微软雅黑"/>
              </a:rPr>
              <a:t>性</a:t>
            </a:r>
            <a:r>
              <a:rPr sz="1275" b="1">
                <a:solidFill>
                  <a:srgbClr val="061F32"/>
                </a:solidFill>
                <a:latin typeface="微软雅黑"/>
                <a:ea typeface="微软雅黑"/>
                <a:cs typeface="微软雅黑"/>
              </a:rPr>
              <a:t>验证——数据飞轮</a:t>
            </a:r>
            <a:r>
              <a:rPr lang="zh-CN" altLang="en-US" sz="1275" b="1">
                <a:solidFill>
                  <a:srgbClr val="061F32"/>
                </a:solidFill>
                <a:latin typeface="微软雅黑"/>
                <a:ea typeface="微软雅黑"/>
                <a:cs typeface="微软雅黑"/>
              </a:rPr>
              <a:t>完整链路均可在</a:t>
            </a:r>
            <a:r>
              <a:rPr sz="1275" b="1">
                <a:solidFill>
                  <a:srgbClr val="061F32"/>
                </a:solidFill>
                <a:latin typeface="微软雅黑"/>
                <a:ea typeface="微软雅黑"/>
                <a:cs typeface="微软雅黑"/>
              </a:rPr>
              <a:t>团队内部闭环</a:t>
            </a:r>
            <a:r>
              <a:rPr lang="zh-CN" altLang="en-US" sz="1275" b="1">
                <a:solidFill>
                  <a:srgbClr val="061F32"/>
                </a:solidFill>
                <a:latin typeface="微软雅黑"/>
                <a:ea typeface="微软雅黑"/>
                <a:cs typeface="微软雅黑"/>
              </a:rPr>
              <a:t>运行。</a:t>
            </a:r>
            <a:endParaRPr sz="1275" b="1">
              <a:solidFill>
                <a:srgbClr val="061F32"/>
              </a:solidFill>
              <a:latin typeface="微软雅黑"/>
              <a:ea typeface="微软雅黑"/>
              <a:cs typeface="微软雅黑"/>
            </a:endParaRPr>
          </a:p>
        </p:txBody>
      </p:sp>
      <p:sp>
        <p:nvSpPr>
          <p:cNvPr id="101" name="文本框 77"/>
          <p:cNvSpPr>
            <a:spLocks noGrp="1"/>
          </p:cNvSpPr>
          <p:nvPr/>
        </p:nvSpPr>
        <p:spPr>
          <a:xfrm>
            <a:off x="533400" y="6381750"/>
            <a:ext cx="4810125"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Source: AIVC 商业故事 BP §5</a:t>
            </a:r>
            <a:endParaRPr sz="1050">
              <a:solidFill>
                <a:srgbClr val="808080"/>
              </a:solidFill>
              <a:latin typeface="微软雅黑"/>
              <a:ea typeface="微软雅黑"/>
              <a:cs typeface="微软雅黑"/>
            </a:endParaRPr>
          </a:p>
        </p:txBody>
      </p:sp>
      <p:sp>
        <p:nvSpPr>
          <p:cNvPr id="102" name="文本框 78"/>
          <p:cNvSpPr>
            <a:spLocks noGrp="1"/>
          </p:cNvSpPr>
          <p:nvPr/>
        </p:nvSpPr>
        <p:spPr>
          <a:xfrm>
            <a:off x="11201400" y="6381750"/>
            <a:ext cx="4572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13 / 18</a:t>
            </a:r>
            <a:endParaRPr sz="1050">
              <a:solidFill>
                <a:srgbClr val="808080"/>
              </a:solidFill>
              <a:latin typeface="微软雅黑"/>
              <a:ea typeface="微软雅黑"/>
              <a:cs typeface="微软雅黑"/>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 name="矩形 80"/>
          <p:cNvSpPr>
            <a:spLocks noGrp="1"/>
          </p:cNvSpPr>
          <p:nvPr/>
        </p:nvSpPr>
        <p:spPr>
          <a:xfrm>
            <a:off x="0" y="0"/>
            <a:ext cx="12192000" cy="6858000"/>
          </a:xfrm>
          <a:prstGeom prst="rect">
            <a:avLst/>
          </a:prstGeom>
          <a:solidFill>
            <a:srgbClr val="FFFFFF"/>
          </a:solidFill>
        </p:spPr>
        <p:txBody>
          <a:bodyPr/>
          <a:lstStyle/>
          <a:p/>
        </p:txBody>
      </p:sp>
      <p:sp>
        <p:nvSpPr>
          <p:cNvPr id="105" name="文本框 81"/>
          <p:cNvSpPr>
            <a:spLocks noGrp="1"/>
          </p:cNvSpPr>
          <p:nvPr/>
        </p:nvSpPr>
        <p:spPr>
          <a:xfrm>
            <a:off x="533400" y="419100"/>
            <a:ext cx="11125200" cy="381000"/>
          </a:xfrm>
          <a:prstGeom prst="rect">
            <a:avLst/>
          </a:prstGeom>
        </p:spPr>
        <p:txBody>
          <a:bodyPr wrap="none" lIns="0" tIns="0" rIns="0" bIns="0"/>
          <a:lstStyle/>
          <a:p>
            <a:pPr>
              <a:lnSpc>
                <a:spcPct val="100000"/>
              </a:lnSpc>
              <a:buNone/>
            </a:pPr>
            <a:r>
              <a:rPr sz="2475" b="1">
                <a:solidFill>
                  <a:srgbClr val="061F32"/>
                </a:solidFill>
                <a:latin typeface="微软雅黑"/>
                <a:ea typeface="微软雅黑"/>
                <a:cs typeface="微软雅黑"/>
              </a:rPr>
              <a:t>护城河：患者-PDO 纵向配对轨迹、培养偏差校正与前瞻</a:t>
            </a:r>
            <a:r>
              <a:rPr lang="zh-CN" altLang="en-US" sz="2475" b="1">
                <a:solidFill>
                  <a:srgbClr val="061F32"/>
                </a:solidFill>
                <a:latin typeface="微软雅黑"/>
                <a:ea typeface="微软雅黑"/>
                <a:cs typeface="微软雅黑"/>
              </a:rPr>
              <a:t>性</a:t>
            </a:r>
            <a:r>
              <a:rPr sz="2475" b="1">
                <a:solidFill>
                  <a:srgbClr val="061F32"/>
                </a:solidFill>
                <a:latin typeface="微软雅黑"/>
                <a:ea typeface="微软雅黑"/>
                <a:cs typeface="微软雅黑"/>
              </a:rPr>
              <a:t>验证</a:t>
            </a:r>
            <a:endParaRPr sz="2475" b="1">
              <a:solidFill>
                <a:srgbClr val="061F32"/>
              </a:solidFill>
              <a:latin typeface="微软雅黑"/>
              <a:ea typeface="微软雅黑"/>
              <a:cs typeface="微软雅黑"/>
            </a:endParaRPr>
          </a:p>
        </p:txBody>
      </p:sp>
      <p:sp>
        <p:nvSpPr>
          <p:cNvPr id="106" name="矩形 82"/>
          <p:cNvSpPr>
            <a:spLocks noGrp="1"/>
          </p:cNvSpPr>
          <p:nvPr/>
        </p:nvSpPr>
        <p:spPr>
          <a:xfrm>
            <a:off x="533400" y="895350"/>
            <a:ext cx="11125200" cy="9525"/>
          </a:xfrm>
          <a:prstGeom prst="rect">
            <a:avLst/>
          </a:prstGeom>
          <a:solidFill>
            <a:srgbClr val="061F32"/>
          </a:solidFill>
        </p:spPr>
        <p:txBody>
          <a:bodyPr/>
          <a:lstStyle/>
          <a:p/>
        </p:txBody>
      </p:sp>
      <p:sp>
        <p:nvSpPr>
          <p:cNvPr id="107" name="文本框 83"/>
          <p:cNvSpPr>
            <a:spLocks noGrp="1"/>
          </p:cNvSpPr>
          <p:nvPr/>
        </p:nvSpPr>
        <p:spPr>
          <a:xfrm>
            <a:off x="533400" y="1019175"/>
            <a:ext cx="7200900" cy="228600"/>
          </a:xfrm>
          <a:prstGeom prst="rect">
            <a:avLst/>
          </a:prstGeom>
        </p:spPr>
        <p:txBody>
          <a:bodyPr wrap="none" lIns="0" tIns="0" rIns="0" bIns="0"/>
          <a:lstStyle/>
          <a:p>
            <a:pPr>
              <a:lnSpc>
                <a:spcPct val="100000"/>
              </a:lnSpc>
              <a:buNone/>
            </a:pPr>
            <a:r>
              <a:rPr sz="1500" b="1">
                <a:solidFill>
                  <a:srgbClr val="061F32"/>
                </a:solidFill>
                <a:latin typeface="微软雅黑"/>
                <a:ea typeface="微软雅黑"/>
                <a:cs typeface="微软雅黑"/>
              </a:rPr>
              <a:t>数据的三层价值——层级决定</a:t>
            </a:r>
            <a:r>
              <a:rPr sz="1500" b="1">
                <a:solidFill>
                  <a:srgbClr val="061F32"/>
                </a:solidFill>
                <a:latin typeface="微软雅黑" charset="0"/>
                <a:ea typeface="微软雅黑" charset="0"/>
                <a:cs typeface="微软雅黑" charset="0"/>
              </a:rPr>
              <a:t>模型所能习得能力</a:t>
            </a:r>
            <a:endParaRPr>
              <a:latin typeface="微软雅黑" charset="0"/>
              <a:ea typeface="微软雅黑" charset="0"/>
              <a:cs typeface="微软雅黑" charset="0"/>
            </a:endParaRPr>
          </a:p>
        </p:txBody>
      </p:sp>
      <p:sp>
        <p:nvSpPr>
          <p:cNvPr id="108" name="矩形 84"/>
          <p:cNvSpPr>
            <a:spLocks noGrp="1"/>
          </p:cNvSpPr>
          <p:nvPr/>
        </p:nvSpPr>
        <p:spPr>
          <a:xfrm>
            <a:off x="533400" y="1381125"/>
            <a:ext cx="2857500" cy="552450"/>
          </a:xfrm>
          <a:prstGeom prst="rect">
            <a:avLst/>
          </a:prstGeom>
          <a:solidFill>
            <a:srgbClr val="E7E6E6"/>
          </a:solidFill>
        </p:spPr>
        <p:txBody>
          <a:bodyPr/>
          <a:lstStyle/>
          <a:p/>
        </p:txBody>
      </p:sp>
      <p:sp>
        <p:nvSpPr>
          <p:cNvPr id="109" name="文本框 85"/>
          <p:cNvSpPr>
            <a:spLocks noGrp="1"/>
          </p:cNvSpPr>
          <p:nvPr/>
        </p:nvSpPr>
        <p:spPr>
          <a:xfrm>
            <a:off x="685800" y="1476375"/>
            <a:ext cx="2552700" cy="200025"/>
          </a:xfrm>
          <a:prstGeom prst="rect">
            <a:avLst/>
          </a:prstGeom>
        </p:spPr>
        <p:txBody>
          <a:bodyPr wrap="none" lIns="0" tIns="0" rIns="0" bIns="0"/>
          <a:lstStyle/>
          <a:p>
            <a:pPr>
              <a:lnSpc>
                <a:spcPct val="100000"/>
              </a:lnSpc>
              <a:buNone/>
            </a:pPr>
            <a:r>
              <a:rPr sz="1200" b="1">
                <a:solidFill>
                  <a:srgbClr val="44546A"/>
                </a:solidFill>
                <a:latin typeface="微软雅黑"/>
                <a:ea typeface="微软雅黑"/>
                <a:cs typeface="微软雅黑"/>
              </a:rPr>
              <a:t>第一层 · </a:t>
            </a:r>
            <a:r>
              <a:rPr sz="1200" b="1">
                <a:solidFill>
                  <a:srgbClr val="44546A"/>
                </a:solidFill>
                <a:latin typeface="微软雅黑"/>
                <a:ea typeface="微软雅黑"/>
                <a:cs typeface="微软雅黑"/>
              </a:rPr>
              <a:t>自监督数据</a:t>
            </a:r>
            <a:endParaRPr sz="1200" b="1">
              <a:solidFill>
                <a:srgbClr val="44546A"/>
              </a:solidFill>
              <a:latin typeface="微软雅黑"/>
              <a:ea typeface="微软雅黑"/>
              <a:cs typeface="微软雅黑"/>
            </a:endParaRPr>
          </a:p>
        </p:txBody>
      </p:sp>
      <p:sp>
        <p:nvSpPr>
          <p:cNvPr id="110" name="文本框 86"/>
          <p:cNvSpPr>
            <a:spLocks noGrp="1"/>
          </p:cNvSpPr>
          <p:nvPr/>
        </p:nvSpPr>
        <p:spPr>
          <a:xfrm>
            <a:off x="685800" y="1676400"/>
            <a:ext cx="25527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海量、</a:t>
            </a:r>
            <a:r>
              <a:rPr lang="zh-CN" altLang="en-US" sz="1050">
                <a:solidFill>
                  <a:srgbClr val="808080"/>
                </a:solidFill>
                <a:latin typeface="微软雅黑"/>
                <a:ea typeface="微软雅黑"/>
                <a:cs typeface="微软雅黑"/>
              </a:rPr>
              <a:t>获取成本低</a:t>
            </a:r>
            <a:r>
              <a:rPr sz="1050">
                <a:solidFill>
                  <a:srgbClr val="808080"/>
                </a:solidFill>
                <a:latin typeface="微软雅黑"/>
                <a:ea typeface="微软雅黑"/>
                <a:cs typeface="微软雅黑"/>
              </a:rPr>
              <a:t>、无需</a:t>
            </a:r>
            <a:r>
              <a:rPr lang="zh-CN" altLang="en-US" sz="1050">
                <a:solidFill>
                  <a:srgbClr val="808080"/>
                </a:solidFill>
                <a:latin typeface="微软雅黑"/>
                <a:ea typeface="微软雅黑"/>
                <a:cs typeface="微软雅黑"/>
              </a:rPr>
              <a:t>人工</a:t>
            </a:r>
            <a:r>
              <a:rPr sz="1050">
                <a:solidFill>
                  <a:srgbClr val="808080"/>
                </a:solidFill>
                <a:latin typeface="微软雅黑"/>
                <a:ea typeface="微软雅黑"/>
                <a:cs typeface="微软雅黑"/>
              </a:rPr>
              <a:t>标注</a:t>
            </a:r>
            <a:endParaRPr sz="1050">
              <a:solidFill>
                <a:srgbClr val="808080"/>
              </a:solidFill>
              <a:latin typeface="微软雅黑"/>
              <a:ea typeface="微软雅黑"/>
              <a:cs typeface="微软雅黑"/>
            </a:endParaRPr>
          </a:p>
        </p:txBody>
      </p:sp>
      <p:sp>
        <p:nvSpPr>
          <p:cNvPr id="111" name="文本框 87"/>
          <p:cNvSpPr>
            <a:spLocks noGrp="1"/>
          </p:cNvSpPr>
          <p:nvPr/>
        </p:nvSpPr>
        <p:spPr>
          <a:xfrm>
            <a:off x="3524250" y="1562100"/>
            <a:ext cx="4210050" cy="200025"/>
          </a:xfrm>
          <a:prstGeom prst="rect">
            <a:avLst/>
          </a:prstGeom>
        </p:spPr>
        <p:txBody>
          <a:bodyPr wrap="none" lIns="0" tIns="0" rIns="0" bIns="0"/>
          <a:lstStyle/>
          <a:p>
            <a:pPr>
              <a:lnSpc>
                <a:spcPct val="100000"/>
              </a:lnSpc>
              <a:buNone/>
            </a:pPr>
            <a:r>
              <a:rPr sz="1200">
                <a:solidFill>
                  <a:srgbClr val="44546A"/>
                </a:solidFill>
                <a:latin typeface="微软雅黑"/>
                <a:ea typeface="微软雅黑"/>
                <a:cs typeface="微软雅黑"/>
              </a:rPr>
              <a:t>主要学习细胞状态表征，</a:t>
            </a:r>
            <a:r>
              <a:rPr lang="zh-CN" altLang="en-US" sz="1200">
                <a:solidFill>
                  <a:srgbClr val="44546A"/>
                </a:solidFill>
                <a:latin typeface="微软雅黑"/>
                <a:ea typeface="微软雅黑"/>
                <a:cs typeface="微软雅黑"/>
              </a:rPr>
              <a:t>无法形成完整的</a:t>
            </a:r>
            <a:r>
              <a:rPr sz="1200">
                <a:solidFill>
                  <a:srgbClr val="44546A"/>
                </a:solidFill>
                <a:latin typeface="微软雅黑"/>
                <a:ea typeface="微软雅黑"/>
                <a:cs typeface="微软雅黑"/>
              </a:rPr>
              <a:t>临床级闭环</a:t>
            </a:r>
            <a:endParaRPr sz="1200">
              <a:solidFill>
                <a:srgbClr val="44546A"/>
              </a:solidFill>
              <a:latin typeface="微软雅黑"/>
              <a:ea typeface="微软雅黑"/>
              <a:cs typeface="微软雅黑"/>
            </a:endParaRPr>
          </a:p>
        </p:txBody>
      </p:sp>
      <p:sp>
        <p:nvSpPr>
          <p:cNvPr id="112" name="矩形 88"/>
          <p:cNvSpPr>
            <a:spLocks noGrp="1"/>
          </p:cNvSpPr>
          <p:nvPr/>
        </p:nvSpPr>
        <p:spPr>
          <a:xfrm>
            <a:off x="533400" y="2009775"/>
            <a:ext cx="3619500" cy="552450"/>
          </a:xfrm>
          <a:prstGeom prst="rect">
            <a:avLst/>
          </a:prstGeom>
          <a:solidFill>
            <a:srgbClr val="99BDED"/>
          </a:solidFill>
        </p:spPr>
        <p:txBody>
          <a:bodyPr/>
          <a:lstStyle/>
          <a:p/>
        </p:txBody>
      </p:sp>
      <p:sp>
        <p:nvSpPr>
          <p:cNvPr id="113" name="文本框 89"/>
          <p:cNvSpPr>
            <a:spLocks noGrp="1"/>
          </p:cNvSpPr>
          <p:nvPr/>
        </p:nvSpPr>
        <p:spPr>
          <a:xfrm>
            <a:off x="685800" y="2105025"/>
            <a:ext cx="3314700" cy="200025"/>
          </a:xfrm>
          <a:prstGeom prst="rect">
            <a:avLst/>
          </a:prstGeom>
        </p:spPr>
        <p:txBody>
          <a:bodyPr wrap="none" lIns="0" tIns="0" rIns="0" bIns="0"/>
          <a:lstStyle/>
          <a:p>
            <a:pPr>
              <a:lnSpc>
                <a:spcPct val="100000"/>
              </a:lnSpc>
              <a:buNone/>
            </a:pPr>
            <a:r>
              <a:rPr sz="1200" b="1">
                <a:solidFill>
                  <a:srgbClr val="061F32"/>
                </a:solidFill>
                <a:latin typeface="微软雅黑"/>
                <a:ea typeface="微软雅黑"/>
                <a:cs typeface="微软雅黑"/>
              </a:rPr>
              <a:t>第二层 · </a:t>
            </a:r>
            <a:r>
              <a:rPr sz="1200" b="1">
                <a:solidFill>
                  <a:srgbClr val="061F32"/>
                </a:solidFill>
                <a:latin typeface="微软雅黑"/>
                <a:ea typeface="微软雅黑"/>
                <a:cs typeface="微软雅黑"/>
              </a:rPr>
              <a:t>监督数据</a:t>
            </a:r>
            <a:endParaRPr sz="1200" b="1">
              <a:solidFill>
                <a:srgbClr val="061F32"/>
              </a:solidFill>
              <a:latin typeface="微软雅黑"/>
              <a:ea typeface="微软雅黑"/>
              <a:cs typeface="微软雅黑"/>
            </a:endParaRPr>
          </a:p>
        </p:txBody>
      </p:sp>
      <p:sp>
        <p:nvSpPr>
          <p:cNvPr id="114" name="文本框 90"/>
          <p:cNvSpPr>
            <a:spLocks noGrp="1"/>
          </p:cNvSpPr>
          <p:nvPr/>
        </p:nvSpPr>
        <p:spPr>
          <a:xfrm>
            <a:off x="685800" y="2305050"/>
            <a:ext cx="3314700" cy="161925"/>
          </a:xfrm>
          <a:prstGeom prst="rect">
            <a:avLst/>
          </a:prstGeom>
        </p:spPr>
        <p:txBody>
          <a:bodyPr wrap="none" lIns="0" tIns="0" rIns="0" bIns="0"/>
          <a:lstStyle/>
          <a:p>
            <a:pPr>
              <a:lnSpc>
                <a:spcPct val="100000"/>
              </a:lnSpc>
              <a:buNone/>
            </a:pPr>
            <a:r>
              <a:rPr sz="1050">
                <a:solidFill>
                  <a:srgbClr val="44546A"/>
                </a:solidFill>
                <a:latin typeface="微软雅黑"/>
                <a:ea typeface="微软雅黑"/>
                <a:cs typeface="微软雅黑"/>
              </a:rPr>
              <a:t>人工</a:t>
            </a:r>
            <a:r>
              <a:rPr sz="1050">
                <a:solidFill>
                  <a:srgbClr val="44546A"/>
                </a:solidFill>
                <a:latin typeface="微软雅黑" charset="0"/>
                <a:ea typeface="微软雅黑" charset="0"/>
                <a:cs typeface="微软雅黑" charset="0"/>
              </a:rPr>
              <a:t>整理标注</a:t>
            </a:r>
            <a:endParaRPr>
              <a:latin typeface="微软雅黑" charset="0"/>
              <a:ea typeface="微软雅黑" charset="0"/>
              <a:cs typeface="微软雅黑" charset="0"/>
            </a:endParaRPr>
          </a:p>
        </p:txBody>
      </p:sp>
      <p:sp>
        <p:nvSpPr>
          <p:cNvPr id="115" name="文本框 91"/>
          <p:cNvSpPr>
            <a:spLocks noGrp="1"/>
          </p:cNvSpPr>
          <p:nvPr/>
        </p:nvSpPr>
        <p:spPr>
          <a:xfrm>
            <a:off x="4286250" y="2190750"/>
            <a:ext cx="2457450" cy="200025"/>
          </a:xfrm>
          <a:prstGeom prst="rect">
            <a:avLst/>
          </a:prstGeom>
        </p:spPr>
        <p:txBody>
          <a:bodyPr wrap="none" lIns="0" tIns="0" rIns="0" bIns="0"/>
          <a:lstStyle/>
          <a:p>
            <a:pPr>
              <a:lnSpc>
                <a:spcPct val="100000"/>
              </a:lnSpc>
              <a:buNone/>
            </a:pPr>
            <a:r>
              <a:rPr lang="zh-CN" altLang="en-US" sz="1200">
                <a:solidFill>
                  <a:srgbClr val="44546A"/>
                </a:solidFill>
                <a:latin typeface="微软雅黑"/>
                <a:ea typeface="微软雅黑"/>
                <a:cs typeface="微软雅黑"/>
              </a:rPr>
              <a:t>学习</a:t>
            </a:r>
            <a:r>
              <a:rPr sz="1200">
                <a:solidFill>
                  <a:srgbClr val="44546A"/>
                </a:solidFill>
                <a:latin typeface="微软雅黑"/>
                <a:ea typeface="微软雅黑"/>
                <a:cs typeface="微软雅黑"/>
              </a:rPr>
              <a:t>映射</a:t>
            </a:r>
            <a:r>
              <a:rPr lang="zh-CN" altLang="en-US" sz="1200">
                <a:solidFill>
                  <a:srgbClr val="44546A"/>
                </a:solidFill>
                <a:latin typeface="微软雅黑"/>
                <a:ea typeface="微软雅黑"/>
                <a:cs typeface="微软雅黑"/>
              </a:rPr>
              <a:t>关系</a:t>
            </a:r>
            <a:r>
              <a:rPr sz="1200">
                <a:solidFill>
                  <a:srgbClr val="44546A"/>
                </a:solidFill>
                <a:latin typeface="微软雅黑" charset="0"/>
                <a:ea typeface="微软雅黑" charset="0"/>
                <a:cs typeface="微软雅黑" charset="0"/>
              </a:rPr>
              <a:t>，难以区分因果逻辑</a:t>
            </a:r>
            <a:endParaRPr sz="1200">
              <a:latin typeface="微软雅黑" charset="0"/>
              <a:ea typeface="微软雅黑" charset="0"/>
              <a:cs typeface="微软雅黑" charset="0"/>
            </a:endParaRPr>
          </a:p>
        </p:txBody>
      </p:sp>
      <p:sp>
        <p:nvSpPr>
          <p:cNvPr id="116" name="矩形 92"/>
          <p:cNvSpPr>
            <a:spLocks noGrp="1"/>
          </p:cNvSpPr>
          <p:nvPr/>
        </p:nvSpPr>
        <p:spPr>
          <a:xfrm>
            <a:off x="533400" y="2638425"/>
            <a:ext cx="4381500" cy="714375"/>
          </a:xfrm>
          <a:prstGeom prst="rect">
            <a:avLst/>
          </a:prstGeom>
          <a:solidFill>
            <a:srgbClr val="061F32"/>
          </a:solidFill>
        </p:spPr>
        <p:txBody>
          <a:bodyPr/>
          <a:lstStyle/>
          <a:p/>
        </p:txBody>
      </p:sp>
      <p:sp>
        <p:nvSpPr>
          <p:cNvPr id="117" name="文本框 93"/>
          <p:cNvSpPr>
            <a:spLocks noGrp="1"/>
          </p:cNvSpPr>
          <p:nvPr/>
        </p:nvSpPr>
        <p:spPr>
          <a:xfrm>
            <a:off x="685800" y="2733675"/>
            <a:ext cx="4076700" cy="200025"/>
          </a:xfrm>
          <a:prstGeom prst="rect">
            <a:avLst/>
          </a:prstGeom>
        </p:spPr>
        <p:txBody>
          <a:bodyPr wrap="none" lIns="0" tIns="0" rIns="0" bIns="0"/>
          <a:lstStyle/>
          <a:p>
            <a:pPr>
              <a:lnSpc>
                <a:spcPct val="100000"/>
              </a:lnSpc>
              <a:buNone/>
            </a:pPr>
            <a:r>
              <a:rPr sz="1200" b="1">
                <a:solidFill>
                  <a:srgbClr val="FFFFFF"/>
                </a:solidFill>
                <a:latin typeface="微软雅黑"/>
                <a:ea typeface="微软雅黑"/>
                <a:cs typeface="微软雅黑"/>
              </a:rPr>
              <a:t>第三层 · 扰动配对数据</a:t>
            </a:r>
            <a:r>
              <a:rPr lang="zh-CN" altLang="en-US" sz="1200" b="1">
                <a:solidFill>
                  <a:srgbClr val="FFFFFF"/>
                </a:solidFill>
                <a:latin typeface="微软雅黑"/>
                <a:ea typeface="微软雅黑"/>
                <a:cs typeface="微软雅黑"/>
              </a:rPr>
              <a:t>（</a:t>
            </a:r>
            <a:r>
              <a:rPr sz="1200" b="1">
                <a:solidFill>
                  <a:srgbClr val="FFFFFF"/>
                </a:solidFill>
                <a:latin typeface="微软雅黑"/>
                <a:ea typeface="微软雅黑"/>
                <a:cs typeface="微软雅黑"/>
              </a:rPr>
              <a:t>核心资产</a:t>
            </a:r>
            <a:r>
              <a:rPr lang="zh-CN" altLang="en-US" sz="1275" b="1">
                <a:solidFill>
                  <a:srgbClr val="FFFFFF"/>
                </a:solidFill>
                <a:latin typeface="微软雅黑"/>
                <a:ea typeface="微软雅黑"/>
                <a:cs typeface="微软雅黑"/>
              </a:rPr>
              <a:t>）</a:t>
            </a:r>
            <a:endParaRPr sz="1050" b="1">
              <a:solidFill>
                <a:srgbClr val="08A6F6"/>
              </a:solidFill>
              <a:latin typeface="微软雅黑"/>
              <a:ea typeface="微软雅黑"/>
              <a:cs typeface="微软雅黑"/>
            </a:endParaRPr>
          </a:p>
        </p:txBody>
      </p:sp>
      <p:sp>
        <p:nvSpPr>
          <p:cNvPr id="118" name="文本框 94"/>
          <p:cNvSpPr>
            <a:spLocks noGrp="1"/>
          </p:cNvSpPr>
          <p:nvPr/>
        </p:nvSpPr>
        <p:spPr>
          <a:xfrm>
            <a:off x="685800" y="2933700"/>
            <a:ext cx="4076700" cy="323850"/>
          </a:xfrm>
          <a:prstGeom prst="rect">
            <a:avLst/>
          </a:prstGeom>
        </p:spPr>
        <p:txBody>
          <a:bodyPr wrap="square" lIns="0" tIns="0" rIns="0" bIns="0">
            <a:normAutofit lnSpcReduction="10000"/>
          </a:bodyPr>
          <a:lstStyle/>
          <a:p>
            <a:pPr>
              <a:lnSpc>
                <a:spcPct val="100000"/>
              </a:lnSpc>
              <a:buNone/>
            </a:pPr>
            <a:r>
              <a:rPr lang="zh-CN" altLang="en-US" sz="1050">
                <a:solidFill>
                  <a:srgbClr val="99BDED"/>
                </a:solidFill>
                <a:latin typeface="微软雅黑"/>
                <a:ea typeface="微软雅黑"/>
                <a:cs typeface="微软雅黑"/>
              </a:rPr>
              <a:t>存量</a:t>
            </a:r>
            <a:r>
              <a:rPr sz="1050">
                <a:solidFill>
                  <a:srgbClr val="99BDED"/>
                </a:solidFill>
                <a:latin typeface="微软雅黑"/>
                <a:ea typeface="微软雅黑"/>
                <a:cs typeface="微软雅黑"/>
              </a:rPr>
              <a:t>稀缺、</a:t>
            </a:r>
            <a:r>
              <a:rPr lang="zh-CN" altLang="en-US" sz="1050">
                <a:solidFill>
                  <a:srgbClr val="99BDED"/>
                </a:solidFill>
                <a:latin typeface="微软雅黑"/>
                <a:ea typeface="微软雅黑"/>
                <a:cs typeface="微软雅黑"/>
              </a:rPr>
              <a:t>获取成本高昂</a:t>
            </a:r>
            <a:r>
              <a:rPr sz="1050">
                <a:solidFill>
                  <a:srgbClr val="99BDED"/>
                </a:solidFill>
                <a:latin typeface="微软雅黑"/>
                <a:ea typeface="微软雅黑"/>
                <a:cs typeface="微软雅黑"/>
              </a:rPr>
              <a:t>、</a:t>
            </a:r>
            <a:r>
              <a:rPr lang="zh-CN" altLang="en-US" sz="1050">
                <a:solidFill>
                  <a:srgbClr val="99BDED"/>
                </a:solidFill>
                <a:latin typeface="微软雅黑"/>
                <a:ea typeface="微软雅黑"/>
                <a:cs typeface="微软雅黑"/>
              </a:rPr>
              <a:t>来源于</a:t>
            </a:r>
            <a:r>
              <a:rPr sz="1050">
                <a:solidFill>
                  <a:srgbClr val="99BDED"/>
                </a:solidFill>
                <a:latin typeface="微软雅黑"/>
                <a:ea typeface="微软雅黑"/>
                <a:cs typeface="微软雅黑"/>
              </a:rPr>
              <a:t>真实</a:t>
            </a:r>
            <a:r>
              <a:rPr lang="zh-CN" altLang="en-US" sz="1050">
                <a:solidFill>
                  <a:srgbClr val="99BDED"/>
                </a:solidFill>
                <a:latin typeface="微软雅黑"/>
                <a:ea typeface="微软雅黑"/>
                <a:cs typeface="微软雅黑"/>
              </a:rPr>
              <a:t>实验；给药后多时间点追踪细胞系统时序变化</a:t>
            </a:r>
            <a:endParaRPr sz="1050">
              <a:solidFill>
                <a:srgbClr val="99BDED"/>
              </a:solidFill>
              <a:latin typeface="微软雅黑"/>
              <a:ea typeface="微软雅黑"/>
              <a:cs typeface="微软雅黑"/>
            </a:endParaRPr>
          </a:p>
        </p:txBody>
      </p:sp>
      <p:sp>
        <p:nvSpPr>
          <p:cNvPr id="119" name="文本框 95"/>
          <p:cNvSpPr>
            <a:spLocks noGrp="1"/>
          </p:cNvSpPr>
          <p:nvPr/>
        </p:nvSpPr>
        <p:spPr>
          <a:xfrm>
            <a:off x="5048250" y="2895600"/>
            <a:ext cx="1476375" cy="200025"/>
          </a:xfrm>
          <a:prstGeom prst="rect">
            <a:avLst/>
          </a:prstGeom>
        </p:spPr>
        <p:txBody>
          <a:bodyPr wrap="none" lIns="0" tIns="0" rIns="0" bIns="0"/>
          <a:lstStyle/>
          <a:p>
            <a:pPr>
              <a:lnSpc>
                <a:spcPct val="100000"/>
              </a:lnSpc>
              <a:buNone/>
            </a:pPr>
            <a:r>
              <a:rPr sz="1200" b="1">
                <a:solidFill>
                  <a:srgbClr val="061F32"/>
                </a:solidFill>
                <a:latin typeface="微软雅黑"/>
                <a:ea typeface="微软雅黑"/>
                <a:cs typeface="微软雅黑"/>
              </a:rPr>
              <a:t>习得</a:t>
            </a:r>
            <a:r>
              <a:rPr sz="1200" b="1">
                <a:solidFill>
                  <a:srgbClr val="061F32"/>
                </a:solidFill>
                <a:latin typeface="微软雅黑"/>
                <a:ea typeface="微软雅黑"/>
                <a:cs typeface="Arial" panose="020B0604020202020204" pitchFamily="34" charset="0"/>
              </a:rPr>
              <a:t>干预</a:t>
            </a:r>
            <a:r>
              <a:rPr lang="zh-CN" altLang="en-US" sz="1200" b="1">
                <a:solidFill>
                  <a:srgbClr val="061F32"/>
                </a:solidFill>
                <a:latin typeface="微软雅黑"/>
                <a:ea typeface="微软雅黑"/>
                <a:cs typeface="Arial" panose="020B0604020202020204" pitchFamily="34" charset="0"/>
              </a:rPr>
              <a:t>-响应之间的因果规律</a:t>
            </a:r>
            <a:endParaRPr sz="1200">
              <a:latin typeface="微软雅黑"/>
              <a:ea typeface="微软雅黑"/>
              <a:cs typeface="微软雅黑"/>
            </a:endParaRPr>
          </a:p>
        </p:txBody>
      </p:sp>
      <p:sp>
        <p:nvSpPr>
          <p:cNvPr id="120" name="矩形 96"/>
          <p:cNvSpPr>
            <a:spLocks noGrp="1"/>
          </p:cNvSpPr>
          <p:nvPr/>
        </p:nvSpPr>
        <p:spPr>
          <a:xfrm>
            <a:off x="533400" y="3763903"/>
            <a:ext cx="2324100" cy="885825"/>
          </a:xfrm>
          <a:prstGeom prst="rect">
            <a:avLst/>
          </a:prstGeom>
          <a:ln w="12700">
            <a:solidFill>
              <a:srgbClr val="E7E6E6"/>
            </a:solidFill>
            <a:prstDash val="solid"/>
          </a:ln>
        </p:spPr>
        <p:txBody>
          <a:bodyPr/>
          <a:lstStyle/>
          <a:p/>
        </p:txBody>
      </p:sp>
      <p:sp>
        <p:nvSpPr>
          <p:cNvPr id="121" name="文本框 97"/>
          <p:cNvSpPr>
            <a:spLocks noGrp="1"/>
          </p:cNvSpPr>
          <p:nvPr/>
        </p:nvSpPr>
        <p:spPr>
          <a:xfrm>
            <a:off x="666750" y="3887886"/>
            <a:ext cx="2057400" cy="247650"/>
          </a:xfrm>
          <a:prstGeom prst="rect">
            <a:avLst/>
          </a:prstGeom>
        </p:spPr>
        <p:txBody>
          <a:bodyPr wrap="none" lIns="0" tIns="0" rIns="0" bIns="0"/>
          <a:lstStyle/>
          <a:p>
            <a:pPr>
              <a:lnSpc>
                <a:spcPct val="140000"/>
              </a:lnSpc>
              <a:buNone/>
            </a:pPr>
            <a:r>
              <a:rPr sz="1125" b="1">
                <a:solidFill>
                  <a:srgbClr val="061F32"/>
                </a:solidFill>
                <a:latin typeface="微软雅黑"/>
                <a:ea typeface="微软雅黑"/>
                <a:cs typeface="微软雅黑"/>
              </a:rPr>
              <a:t>患者来源类器官体系</a:t>
            </a:r>
            <a:endParaRPr sz="1125" b="1">
              <a:solidFill>
                <a:srgbClr val="061F32"/>
              </a:solidFill>
              <a:latin typeface="微软雅黑"/>
              <a:ea typeface="微软雅黑"/>
              <a:cs typeface="微软雅黑"/>
            </a:endParaRPr>
          </a:p>
        </p:txBody>
      </p:sp>
      <p:sp>
        <p:nvSpPr>
          <p:cNvPr id="122" name="文本框 98"/>
          <p:cNvSpPr>
            <a:spLocks noGrp="1"/>
          </p:cNvSpPr>
          <p:nvPr/>
        </p:nvSpPr>
        <p:spPr>
          <a:xfrm>
            <a:off x="666750" y="4173636"/>
            <a:ext cx="2057400" cy="409575"/>
          </a:xfrm>
          <a:prstGeom prst="rect">
            <a:avLst/>
          </a:prstGeom>
        </p:spPr>
        <p:txBody>
          <a:bodyPr wrap="square" lIns="0" tIns="0" rIns="0" bIns="0">
            <a:normAutofit/>
          </a:bodyPr>
          <a:lstStyle/>
          <a:p>
            <a:pPr>
              <a:lnSpc>
                <a:spcPct val="135000"/>
              </a:lnSpc>
              <a:buNone/>
            </a:pPr>
            <a:r>
              <a:rPr sz="975">
                <a:solidFill>
                  <a:srgbClr val="808080">
                    <a:alpha val="100000"/>
                  </a:srgbClr>
                </a:solidFill>
                <a:latin typeface="微软雅黑"/>
                <a:ea typeface="微软雅黑"/>
                <a:cs typeface="微软雅黑"/>
              </a:rPr>
              <a:t>因果数据的源头，无法从公开渠道获得</a:t>
            </a:r>
            <a:endParaRPr sz="975">
              <a:solidFill>
                <a:srgbClr val="808080">
                  <a:alpha val="100000"/>
                </a:srgbClr>
              </a:solidFill>
              <a:latin typeface="微软雅黑"/>
              <a:ea typeface="微软雅黑"/>
              <a:cs typeface="微软雅黑"/>
            </a:endParaRPr>
          </a:p>
        </p:txBody>
      </p:sp>
      <p:sp>
        <p:nvSpPr>
          <p:cNvPr id="123" name="矩形 99"/>
          <p:cNvSpPr>
            <a:spLocks noGrp="1"/>
          </p:cNvSpPr>
          <p:nvPr/>
        </p:nvSpPr>
        <p:spPr>
          <a:xfrm>
            <a:off x="2971800" y="3763903"/>
            <a:ext cx="2324100" cy="885825"/>
          </a:xfrm>
          <a:prstGeom prst="rect">
            <a:avLst/>
          </a:prstGeom>
          <a:ln w="12700">
            <a:solidFill>
              <a:srgbClr val="E7E6E6"/>
            </a:solidFill>
            <a:prstDash val="solid"/>
          </a:ln>
        </p:spPr>
        <p:txBody>
          <a:bodyPr/>
          <a:lstStyle/>
          <a:p/>
        </p:txBody>
      </p:sp>
      <p:sp>
        <p:nvSpPr>
          <p:cNvPr id="124" name="文本框 100"/>
          <p:cNvSpPr>
            <a:spLocks noGrp="1"/>
          </p:cNvSpPr>
          <p:nvPr/>
        </p:nvSpPr>
        <p:spPr>
          <a:xfrm>
            <a:off x="3105150" y="3887886"/>
            <a:ext cx="2057400" cy="406400"/>
          </a:xfrm>
          <a:prstGeom prst="rect">
            <a:avLst/>
          </a:prstGeom>
        </p:spPr>
        <p:txBody>
          <a:bodyPr wrap="none" lIns="0" tIns="0" rIns="0" bIns="0"/>
          <a:lstStyle/>
          <a:p>
            <a:pPr>
              <a:lnSpc>
                <a:spcPct val="140000"/>
              </a:lnSpc>
              <a:buNone/>
            </a:pPr>
            <a:r>
              <a:rPr sz="1125" b="1">
                <a:solidFill>
                  <a:srgbClr val="061F32"/>
                </a:solidFill>
                <a:latin typeface="微软雅黑"/>
                <a:ea typeface="微软雅黑"/>
                <a:cs typeface="微软雅黑"/>
              </a:rPr>
              <a:t>纵向患者‑PDO 配对轨迹数据</a:t>
            </a:r>
            <a:endParaRPr sz="1125" b="1">
              <a:solidFill>
                <a:srgbClr val="061F32"/>
              </a:solidFill>
              <a:latin typeface="微软雅黑"/>
              <a:ea typeface="微软雅黑"/>
              <a:cs typeface="微软雅黑"/>
            </a:endParaRPr>
          </a:p>
        </p:txBody>
      </p:sp>
      <p:sp>
        <p:nvSpPr>
          <p:cNvPr id="125" name="文本框 101"/>
          <p:cNvSpPr>
            <a:spLocks noGrp="1"/>
          </p:cNvSpPr>
          <p:nvPr/>
        </p:nvSpPr>
        <p:spPr>
          <a:xfrm>
            <a:off x="3105150" y="4173636"/>
            <a:ext cx="2190750" cy="409575"/>
          </a:xfrm>
          <a:prstGeom prst="rect">
            <a:avLst/>
          </a:prstGeom>
        </p:spPr>
        <p:txBody>
          <a:bodyPr wrap="square" lIns="0" tIns="0" rIns="0" bIns="0">
            <a:normAutofit fontScale="67500"/>
          </a:bodyPr>
          <a:lstStyle/>
          <a:p>
            <a:pPr marL="0" lvl="0" algn="l" defTabSz="914400">
              <a:lnSpc>
                <a:spcPct val="135000"/>
              </a:lnSpc>
              <a:buNone/>
              <a:defRPr sz="1800">
                <a:solidFill>
                  <a:schemeClr val="tx1">
                    <a:alpha val="100000"/>
                  </a:schemeClr>
                </a:solidFill>
                <a:latin typeface="Calibri"/>
                <a:ea typeface="Calibri"/>
                <a:cs typeface="Calibri"/>
              </a:defRPr>
            </a:pPr>
            <a:r>
              <a:rPr sz="1260" b="0" i="0" u="none">
                <a:solidFill>
                  <a:srgbClr val="808080">
                    <a:alpha val="100000"/>
                  </a:srgbClr>
                </a:solidFill>
                <a:latin typeface="微软雅黑"/>
                <a:ea typeface="微软雅黑"/>
                <a:cs typeface="微软雅黑"/>
              </a:rPr>
              <a:t>统一 SOP、多剂量</a:t>
            </a:r>
            <a:r>
              <a:rPr lang="zh-CN" altLang="en-US" sz="1260" b="0" i="0" u="none">
                <a:solidFill>
                  <a:srgbClr val="808080">
                    <a:alpha val="100000"/>
                  </a:srgbClr>
                </a:solidFill>
                <a:latin typeface="微软雅黑"/>
                <a:ea typeface="微软雅黑"/>
                <a:cs typeface="微软雅黑"/>
              </a:rPr>
              <a:t>、</a:t>
            </a:r>
            <a:r>
              <a:rPr sz="1260" b="0" i="0" u="none">
                <a:solidFill>
                  <a:srgbClr val="808080">
                    <a:alpha val="100000"/>
                  </a:srgbClr>
                </a:solidFill>
                <a:latin typeface="微软雅黑"/>
                <a:ea typeface="微软雅黑"/>
                <a:cs typeface="微软雅黑"/>
              </a:rPr>
              <a:t>多时间点</a:t>
            </a:r>
            <a:r>
              <a:rPr lang="zh-CN" altLang="en-US" sz="1260" b="0" i="0" u="none">
                <a:solidFill>
                  <a:srgbClr val="808080">
                    <a:alpha val="100000"/>
                  </a:srgbClr>
                </a:solidFill>
                <a:latin typeface="微软雅黑"/>
                <a:ea typeface="微软雅黑"/>
                <a:cs typeface="微软雅黑"/>
              </a:rPr>
              <a:t>维度采集样本</a:t>
            </a:r>
            <a:r>
              <a:rPr sz="1260" b="0" i="0" u="none">
                <a:solidFill>
                  <a:srgbClr val="808080">
                    <a:alpha val="100000"/>
                  </a:srgbClr>
                </a:solidFill>
                <a:latin typeface="微软雅黑"/>
                <a:ea typeface="微软雅黑"/>
                <a:cs typeface="微软雅黑"/>
              </a:rPr>
              <a:t>，与患者纵向轨迹逐轮配对</a:t>
            </a:r>
            <a:endParaRPr sz="975">
              <a:solidFill>
                <a:srgbClr val="808080">
                  <a:alpha val="100000"/>
                </a:srgbClr>
              </a:solidFill>
              <a:latin typeface="微软雅黑"/>
              <a:ea typeface="微软雅黑"/>
              <a:cs typeface="微软雅黑"/>
            </a:endParaRPr>
          </a:p>
        </p:txBody>
      </p:sp>
      <p:sp>
        <p:nvSpPr>
          <p:cNvPr id="126" name="矩形 102"/>
          <p:cNvSpPr>
            <a:spLocks noGrp="1"/>
          </p:cNvSpPr>
          <p:nvPr/>
        </p:nvSpPr>
        <p:spPr>
          <a:xfrm>
            <a:off x="5410200" y="3763903"/>
            <a:ext cx="2324100" cy="885825"/>
          </a:xfrm>
          <a:prstGeom prst="rect">
            <a:avLst/>
          </a:prstGeom>
          <a:ln w="12700">
            <a:solidFill>
              <a:srgbClr val="E7E6E6"/>
            </a:solidFill>
            <a:prstDash val="solid"/>
          </a:ln>
        </p:spPr>
        <p:txBody>
          <a:bodyPr/>
          <a:lstStyle/>
          <a:p/>
        </p:txBody>
      </p:sp>
      <p:sp>
        <p:nvSpPr>
          <p:cNvPr id="127" name="文本框 103"/>
          <p:cNvSpPr>
            <a:spLocks noGrp="1"/>
          </p:cNvSpPr>
          <p:nvPr/>
        </p:nvSpPr>
        <p:spPr>
          <a:xfrm>
            <a:off x="5543550" y="3887886"/>
            <a:ext cx="2057400" cy="247650"/>
          </a:xfrm>
          <a:prstGeom prst="rect">
            <a:avLst/>
          </a:prstGeom>
        </p:spPr>
        <p:txBody>
          <a:bodyPr wrap="none" lIns="0" tIns="0" rIns="0" bIns="0"/>
          <a:lstStyle/>
          <a:p>
            <a:pPr>
              <a:lnSpc>
                <a:spcPct val="140000"/>
              </a:lnSpc>
              <a:buNone/>
            </a:pPr>
            <a:r>
              <a:rPr sz="1125" b="1">
                <a:solidFill>
                  <a:srgbClr val="061F32"/>
                </a:solidFill>
                <a:latin typeface="微软雅黑"/>
                <a:ea typeface="微软雅黑"/>
                <a:cs typeface="微软雅黑"/>
              </a:rPr>
              <a:t>临床</a:t>
            </a:r>
            <a:r>
              <a:rPr lang="zh-CN" altLang="en-US" sz="1125" b="1">
                <a:solidFill>
                  <a:srgbClr val="061F32"/>
                </a:solidFill>
                <a:latin typeface="微软雅黑"/>
                <a:ea typeface="微软雅黑"/>
                <a:cs typeface="Arial" panose="020B0604020202020204" pitchFamily="34" charset="0"/>
              </a:rPr>
              <a:t>结局链路</a:t>
            </a:r>
            <a:endParaRPr sz="1125" b="1">
              <a:solidFill>
                <a:srgbClr val="061F32"/>
              </a:solidFill>
              <a:latin typeface="微软雅黑"/>
              <a:ea typeface="微软雅黑"/>
              <a:cs typeface="微软雅黑"/>
            </a:endParaRPr>
          </a:p>
        </p:txBody>
      </p:sp>
      <p:sp>
        <p:nvSpPr>
          <p:cNvPr id="128" name="文本框 104"/>
          <p:cNvSpPr>
            <a:spLocks noGrp="1"/>
          </p:cNvSpPr>
          <p:nvPr/>
        </p:nvSpPr>
        <p:spPr>
          <a:xfrm>
            <a:off x="5543550" y="4173636"/>
            <a:ext cx="2057400" cy="504805"/>
          </a:xfrm>
          <a:prstGeom prst="rect">
            <a:avLst/>
          </a:prstGeom>
        </p:spPr>
        <p:txBody>
          <a:bodyPr wrap="none" lIns="0" tIns="0" rIns="0" bIns="0"/>
          <a:lstStyle/>
          <a:p>
            <a:pPr>
              <a:lnSpc>
                <a:spcPct val="135000"/>
              </a:lnSpc>
              <a:buNone/>
            </a:pPr>
            <a:r>
              <a:rPr sz="975">
                <a:solidFill>
                  <a:srgbClr val="808080"/>
                </a:solidFill>
                <a:latin typeface="微软雅黑"/>
                <a:ea typeface="微软雅黑"/>
                <a:cs typeface="微软雅黑"/>
              </a:rPr>
              <a:t>前瞻</a:t>
            </a:r>
            <a:r>
              <a:rPr lang="zh-CN" altLang="en-US" sz="975">
                <a:solidFill>
                  <a:srgbClr val="808080"/>
                </a:solidFill>
                <a:latin typeface="微软雅黑"/>
                <a:ea typeface="微软雅黑"/>
                <a:cs typeface="微软雅黑"/>
              </a:rPr>
              <a:t>性</a:t>
            </a:r>
            <a:r>
              <a:rPr sz="975">
                <a:solidFill>
                  <a:srgbClr val="808080"/>
                </a:solidFill>
                <a:latin typeface="微软雅黑"/>
                <a:ea typeface="微软雅黑"/>
                <a:cs typeface="微软雅黑"/>
              </a:rPr>
              <a:t>验证与随访渠道，</a:t>
            </a:r>
            <a:r>
              <a:rPr lang="zh-CN" altLang="en-US" sz="975">
                <a:solidFill>
                  <a:srgbClr val="808080"/>
                </a:solidFill>
                <a:latin typeface="微软雅黑"/>
                <a:ea typeface="微软雅黑"/>
                <a:cs typeface="微软雅黑"/>
              </a:rPr>
              <a:t>持续完成</a:t>
            </a:r>
            <a:endParaRPr lang="zh-CN" altLang="en-US" sz="975">
              <a:solidFill>
                <a:srgbClr val="808080"/>
              </a:solidFill>
              <a:latin typeface="微软雅黑"/>
              <a:ea typeface="微软雅黑"/>
              <a:cs typeface="微软雅黑"/>
            </a:endParaRPr>
          </a:p>
          <a:p>
            <a:pPr>
              <a:lnSpc>
                <a:spcPct val="135000"/>
              </a:lnSpc>
              <a:buNone/>
            </a:pPr>
            <a:r>
              <a:rPr lang="zh-CN" altLang="en-US" sz="975">
                <a:solidFill>
                  <a:srgbClr val="808080"/>
                </a:solidFill>
                <a:latin typeface="微软雅黑"/>
                <a:ea typeface="微软雅黑"/>
                <a:cs typeface="微软雅黑"/>
              </a:rPr>
              <a:t>样本-结局配对</a:t>
            </a:r>
            <a:endParaRPr sz="975">
              <a:solidFill>
                <a:srgbClr val="808080"/>
              </a:solidFill>
              <a:latin typeface="微软雅黑"/>
              <a:ea typeface="微软雅黑"/>
              <a:cs typeface="微软雅黑"/>
            </a:endParaRPr>
          </a:p>
        </p:txBody>
      </p:sp>
      <p:sp>
        <p:nvSpPr>
          <p:cNvPr id="129" name="文本框 105"/>
          <p:cNvSpPr>
            <a:spLocks noGrp="1"/>
          </p:cNvSpPr>
          <p:nvPr/>
        </p:nvSpPr>
        <p:spPr>
          <a:xfrm>
            <a:off x="533381" y="3496494"/>
            <a:ext cx="7200900" cy="267437"/>
          </a:xfrm>
          <a:prstGeom prst="rect">
            <a:avLst/>
          </a:prstGeom>
        </p:spPr>
        <p:txBody>
          <a:bodyPr wrap="none" lIns="0" tIns="0" rIns="0" bIns="0"/>
          <a:lstStyle/>
          <a:p>
            <a:pPr>
              <a:lnSpc>
                <a:spcPct val="100000"/>
              </a:lnSpc>
              <a:buNone/>
            </a:pPr>
            <a:r>
              <a:rPr sz="1200" b="1">
                <a:solidFill>
                  <a:srgbClr val="061F32"/>
                </a:solidFill>
                <a:latin typeface="微软雅黑"/>
                <a:ea typeface="微软雅黑"/>
                <a:cs typeface="微软雅黑"/>
              </a:rPr>
              <a:t>三类核心资产 + 一项</a:t>
            </a:r>
            <a:r>
              <a:rPr sz="1200" b="1">
                <a:solidFill>
                  <a:srgbClr val="061F32"/>
                </a:solidFill>
                <a:latin typeface="微软雅黑" charset="0"/>
                <a:ea typeface="微软雅黑" charset="0"/>
                <a:cs typeface="微软雅黑" charset="0"/>
              </a:rPr>
              <a:t>校正</a:t>
            </a:r>
            <a:r>
              <a:rPr sz="1200" b="1">
                <a:solidFill>
                  <a:srgbClr val="061F32"/>
                </a:solidFill>
                <a:latin typeface="微软雅黑"/>
                <a:ea typeface="微软雅黑"/>
                <a:cs typeface="微软雅黑"/>
              </a:rPr>
              <a:t>能力</a:t>
            </a:r>
            <a:endParaRPr sz="1200" b="1">
              <a:solidFill>
                <a:srgbClr val="061F32"/>
              </a:solidFill>
              <a:latin typeface="微软雅黑"/>
              <a:ea typeface="微软雅黑"/>
              <a:cs typeface="微软雅黑"/>
            </a:endParaRPr>
          </a:p>
        </p:txBody>
      </p:sp>
      <p:sp>
        <p:nvSpPr>
          <p:cNvPr id="130" name="矩形 106"/>
          <p:cNvSpPr>
            <a:spLocks noGrp="1"/>
          </p:cNvSpPr>
          <p:nvPr/>
        </p:nvSpPr>
        <p:spPr>
          <a:xfrm>
            <a:off x="533400" y="5406891"/>
            <a:ext cx="7200900" cy="828809"/>
          </a:xfrm>
          <a:prstGeom prst="rect">
            <a:avLst/>
          </a:prstGeom>
          <a:solidFill>
            <a:srgbClr val="061F32"/>
          </a:solidFill>
        </p:spPr>
        <p:txBody>
          <a:bodyPr/>
          <a:lstStyle/>
          <a:p/>
        </p:txBody>
      </p:sp>
      <p:sp>
        <p:nvSpPr>
          <p:cNvPr id="131" name="文本框 107"/>
          <p:cNvSpPr>
            <a:spLocks noGrp="1"/>
          </p:cNvSpPr>
          <p:nvPr/>
        </p:nvSpPr>
        <p:spPr>
          <a:xfrm>
            <a:off x="685589" y="5463460"/>
            <a:ext cx="6819900" cy="736638"/>
          </a:xfrm>
          <a:prstGeom prst="rect">
            <a:avLst/>
          </a:prstGeom>
        </p:spPr>
        <p:txBody>
          <a:bodyPr wrap="square" lIns="0" tIns="0" rIns="0" bIns="0">
            <a:normAutofit fontScale="91014" lnSpcReduction="20000"/>
          </a:bodyPr>
          <a:lstStyle/>
          <a:p>
            <a:pPr>
              <a:lnSpc>
                <a:spcPct val="150000"/>
              </a:lnSpc>
              <a:buNone/>
            </a:pPr>
            <a:r>
              <a:rPr sz="1350">
                <a:solidFill>
                  <a:srgbClr val="FFFFFF"/>
                </a:solidFill>
                <a:latin typeface="微软雅黑"/>
                <a:ea typeface="微软雅黑"/>
                <a:cs typeface="微软雅黑"/>
              </a:rPr>
              <a:t>我们的核心差异，</a:t>
            </a:r>
            <a:r>
              <a:rPr lang="zh-CN" altLang="en-US" sz="1350">
                <a:solidFill>
                  <a:srgbClr val="FFFFFF"/>
                </a:solidFill>
                <a:latin typeface="微软雅黑"/>
                <a:ea typeface="微软雅黑"/>
                <a:cs typeface="微软雅黑"/>
              </a:rPr>
              <a:t>并不在于复用</a:t>
            </a:r>
            <a:r>
              <a:rPr sz="1350">
                <a:solidFill>
                  <a:srgbClr val="FFFFFF"/>
                </a:solidFill>
                <a:latin typeface="微软雅黑"/>
                <a:ea typeface="微软雅黑"/>
                <a:cs typeface="微软雅黑"/>
              </a:rPr>
              <a:t>公开单细胞数据</a:t>
            </a:r>
            <a:r>
              <a:rPr lang="zh-CN" altLang="en-US" sz="1350">
                <a:solidFill>
                  <a:srgbClr val="FFFFFF"/>
                </a:solidFill>
                <a:latin typeface="微软雅黑"/>
                <a:ea typeface="微软雅黑"/>
                <a:cs typeface="微软雅黑"/>
              </a:rPr>
              <a:t>集重复训练模型，而是可以持续产出</a:t>
            </a:r>
            <a:r>
              <a:rPr sz="1350">
                <a:solidFill>
                  <a:srgbClr val="FFFFFF"/>
                </a:solidFill>
                <a:latin typeface="微软雅黑"/>
                <a:ea typeface="微软雅黑"/>
                <a:cs typeface="微软雅黑"/>
              </a:rPr>
              <a:t>患者-PDO 纵向配对、扰动</a:t>
            </a:r>
            <a:r>
              <a:rPr lang="zh-CN" altLang="en-US" sz="1350">
                <a:solidFill>
                  <a:srgbClr val="FFFFFF"/>
                </a:solidFill>
                <a:latin typeface="微软雅黑"/>
                <a:ea typeface="微软雅黑"/>
                <a:cs typeface="微软雅黑"/>
              </a:rPr>
              <a:t>响应数据以及经过临床评分的样本</a:t>
            </a:r>
            <a:r>
              <a:rPr sz="1350">
                <a:solidFill>
                  <a:srgbClr val="FFFFFF"/>
                </a:solidFill>
                <a:latin typeface="微软雅黑"/>
                <a:ea typeface="微软雅黑"/>
                <a:cs typeface="微软雅黑"/>
              </a:rPr>
              <a:t>。模型</a:t>
            </a:r>
            <a:r>
              <a:rPr lang="zh-CN" altLang="en-US" sz="1350">
                <a:solidFill>
                  <a:srgbClr val="FFFFFF"/>
                </a:solidFill>
                <a:latin typeface="微软雅黑"/>
                <a:ea typeface="微软雅黑"/>
                <a:cs typeface="微软雅黑"/>
              </a:rPr>
              <a:t>的</a:t>
            </a:r>
            <a:r>
              <a:rPr sz="1350">
                <a:solidFill>
                  <a:srgbClr val="FFFFFF"/>
                </a:solidFill>
                <a:latin typeface="微软雅黑"/>
                <a:ea typeface="微软雅黑"/>
                <a:cs typeface="微软雅黑"/>
              </a:rPr>
              <a:t>学习</a:t>
            </a:r>
            <a:r>
              <a:rPr lang="zh-CN" altLang="en-US" sz="1350">
                <a:solidFill>
                  <a:srgbClr val="FFFFFF"/>
                </a:solidFill>
                <a:latin typeface="微软雅黑"/>
                <a:ea typeface="微软雅黑"/>
                <a:cs typeface="微软雅黑"/>
              </a:rPr>
              <a:t>目标，由识别静态细胞状态升级为推演干预之后生物系统随时间演变的趋势。</a:t>
            </a:r>
            <a:endParaRPr sz="1350">
              <a:solidFill>
                <a:srgbClr val="FFFFFF"/>
              </a:solidFill>
              <a:latin typeface="微软雅黑"/>
              <a:ea typeface="微软雅黑"/>
              <a:cs typeface="微软雅黑"/>
            </a:endParaRPr>
          </a:p>
        </p:txBody>
      </p:sp>
      <p:sp>
        <p:nvSpPr>
          <p:cNvPr id="132" name="矩形 108"/>
          <p:cNvSpPr>
            <a:spLocks noGrp="1"/>
          </p:cNvSpPr>
          <p:nvPr/>
        </p:nvSpPr>
        <p:spPr>
          <a:xfrm>
            <a:off x="8039100" y="1019175"/>
            <a:ext cx="3619500" cy="4210050"/>
          </a:xfrm>
          <a:prstGeom prst="rect">
            <a:avLst/>
          </a:prstGeom>
          <a:solidFill>
            <a:srgbClr val="FFFFFF"/>
          </a:solidFill>
          <a:ln w="12700">
            <a:solidFill>
              <a:srgbClr val="E7E6E6"/>
            </a:solidFill>
            <a:prstDash val="solid"/>
          </a:ln>
        </p:spPr>
        <p:txBody>
          <a:bodyPr/>
          <a:lstStyle/>
          <a:p/>
        </p:txBody>
      </p:sp>
      <p:pic>
        <p:nvPicPr>
          <p:cNvPr id="169" name="图片 109"/>
          <p:cNvPicPr>
            <a:picLocks noChangeAspect="1"/>
          </p:cNvPicPr>
          <p:nvPr/>
        </p:nvPicPr>
        <p:blipFill>
          <a:blip r:embed="rId1"/>
          <a:srcRect t="4754" b="4754"/>
          <a:stretch>
            <a:fillRect/>
          </a:stretch>
        </p:blipFill>
        <p:spPr>
          <a:xfrm>
            <a:off x="8096250" y="1076325"/>
            <a:ext cx="3486150" cy="4095750"/>
          </a:xfrm>
          <a:prstGeom prst="rect">
            <a:avLst/>
          </a:prstGeom>
        </p:spPr>
      </p:pic>
      <p:sp>
        <p:nvSpPr>
          <p:cNvPr id="134" name="文本框 110"/>
          <p:cNvSpPr>
            <a:spLocks noGrp="1"/>
          </p:cNvSpPr>
          <p:nvPr/>
        </p:nvSpPr>
        <p:spPr>
          <a:xfrm>
            <a:off x="8039100" y="5324475"/>
            <a:ext cx="3619500" cy="704850"/>
          </a:xfrm>
          <a:prstGeom prst="rect">
            <a:avLst/>
          </a:prstGeom>
        </p:spPr>
        <p:txBody>
          <a:bodyPr wrap="square" lIns="0" tIns="0" rIns="0" bIns="0">
            <a:normAutofit fontScale="77946"/>
          </a:bodyPr>
          <a:lstStyle/>
          <a:p>
            <a:pPr>
              <a:lnSpc>
                <a:spcPct val="145000"/>
              </a:lnSpc>
              <a:buNone/>
            </a:pPr>
            <a:r>
              <a:rPr sz="1050">
                <a:solidFill>
                  <a:srgbClr val="808080"/>
                </a:solidFill>
                <a:latin typeface="微软雅黑"/>
                <a:ea typeface="微软雅黑"/>
                <a:cs typeface="微软雅黑"/>
              </a:rPr>
              <a:t>证据：Cell Stem Cell 2025 显示 IPTO 可保留肿瘤生态系统，并前瞻性预测患者 PFS / OS（p=0.034 / 0.033）。本项目需在此基础上建立公司自有 SOP、配对队列与培养偏差校正。</a:t>
            </a:r>
            <a:endParaRPr sz="1050">
              <a:solidFill>
                <a:srgbClr val="808080"/>
              </a:solidFill>
              <a:latin typeface="微软雅黑"/>
              <a:ea typeface="微软雅黑"/>
              <a:cs typeface="微软雅黑"/>
            </a:endParaRPr>
          </a:p>
        </p:txBody>
      </p:sp>
      <p:sp>
        <p:nvSpPr>
          <p:cNvPr id="135" name="文本框 111"/>
          <p:cNvSpPr>
            <a:spLocks noGrp="1"/>
          </p:cNvSpPr>
          <p:nvPr/>
        </p:nvSpPr>
        <p:spPr>
          <a:xfrm>
            <a:off x="533400" y="6381750"/>
            <a:ext cx="4467225"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Source: AIVC </a:t>
            </a:r>
            <a:r>
              <a:rPr sz="1050">
                <a:solidFill>
                  <a:srgbClr val="808080"/>
                </a:solidFill>
                <a:latin typeface="微软雅黑"/>
                <a:ea typeface="微软雅黑"/>
                <a:cs typeface="微软雅黑"/>
              </a:rPr>
              <a:t>商业故事</a:t>
            </a:r>
            <a:r>
              <a:rPr sz="1050">
                <a:solidFill>
                  <a:srgbClr val="808080"/>
                </a:solidFill>
                <a:latin typeface="微软雅黑"/>
                <a:ea typeface="微软雅黑"/>
                <a:cs typeface="微软雅黑"/>
              </a:rPr>
              <a:t> BP §6</a:t>
            </a:r>
            <a:r>
              <a:rPr sz="1050">
                <a:solidFill>
                  <a:srgbClr val="808080"/>
                </a:solidFill>
                <a:latin typeface="微软雅黑"/>
                <a:ea typeface="微软雅黑"/>
                <a:cs typeface="微软雅黑"/>
              </a:rPr>
              <a:t>；</a:t>
            </a:r>
            <a:r>
              <a:rPr sz="1050">
                <a:solidFill>
                  <a:srgbClr val="808080"/>
                </a:solidFill>
                <a:latin typeface="微软雅黑"/>
                <a:ea typeface="微软雅黑"/>
                <a:cs typeface="微软雅黑"/>
              </a:rPr>
              <a:t>Peng et al., Cell Stem Cell 32, 662 (2025)</a:t>
            </a:r>
            <a:endParaRPr sz="1050">
              <a:solidFill>
                <a:srgbClr val="808080"/>
              </a:solidFill>
              <a:latin typeface="微软雅黑"/>
              <a:ea typeface="微软雅黑"/>
              <a:cs typeface="微软雅黑"/>
            </a:endParaRPr>
          </a:p>
        </p:txBody>
      </p:sp>
      <p:sp>
        <p:nvSpPr>
          <p:cNvPr id="136" name="文本框 112"/>
          <p:cNvSpPr>
            <a:spLocks noGrp="1"/>
          </p:cNvSpPr>
          <p:nvPr/>
        </p:nvSpPr>
        <p:spPr>
          <a:xfrm>
            <a:off x="11201400" y="6381750"/>
            <a:ext cx="4572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14 / 18</a:t>
            </a:r>
            <a:endParaRPr sz="1050">
              <a:solidFill>
                <a:srgbClr val="808080"/>
              </a:solidFill>
              <a:latin typeface="微软雅黑"/>
              <a:ea typeface="微软雅黑"/>
              <a:cs typeface="微软雅黑"/>
            </a:endParaRPr>
          </a:p>
        </p:txBody>
      </p:sp>
      <p:sp>
        <p:nvSpPr>
          <p:cNvPr id="137" name="矩形 136"/>
          <p:cNvSpPr>
            <a:spLocks noGrp="1"/>
          </p:cNvSpPr>
          <p:nvPr/>
        </p:nvSpPr>
        <p:spPr>
          <a:xfrm>
            <a:off x="533400" y="4743555"/>
            <a:ext cx="7200900" cy="504820"/>
          </a:xfrm>
          <a:prstGeom prst="rect">
            <a:avLst/>
          </a:prstGeom>
          <a:ln w="12700">
            <a:solidFill>
              <a:srgbClr val="E7E6E6"/>
            </a:solidFill>
            <a:prstDash val="solid"/>
          </a:ln>
        </p:spPr>
        <p:txBody>
          <a:bodyPr/>
          <a:lstStyle/>
          <a:p/>
        </p:txBody>
      </p:sp>
      <p:sp>
        <p:nvSpPr>
          <p:cNvPr id="138" name="矩形 137"/>
          <p:cNvSpPr>
            <a:spLocks noGrp="1"/>
          </p:cNvSpPr>
          <p:nvPr/>
        </p:nvSpPr>
        <p:spPr>
          <a:xfrm>
            <a:off x="533400" y="4737205"/>
            <a:ext cx="7067550" cy="400614"/>
          </a:xfrm>
          <a:prstGeom prst="rect">
            <a:avLst/>
          </a:prstGeom>
          <a:noFill/>
          <a:ln>
            <a:noFill/>
          </a:ln>
        </p:spPr>
        <p:txBody>
          <a:bodyPr/>
          <a:lstStyle/>
          <a:p>
            <a:pPr marL="0" lvl="0" algn="l" defTabSz="914400">
              <a:lnSpc>
                <a:spcPct val="100000"/>
              </a:lnSpc>
              <a:buNone/>
              <a:defRPr sz="1800">
                <a:solidFill>
                  <a:schemeClr val="tx1">
                    <a:alpha val="100000"/>
                  </a:schemeClr>
                </a:solidFill>
                <a:latin typeface="Calibri"/>
                <a:ea typeface="Calibri"/>
                <a:cs typeface="Calibri"/>
              </a:defRPr>
            </a:pPr>
            <a:r>
              <a:rPr sz="1125" b="1" i="0" u="none">
                <a:solidFill>
                  <a:srgbClr val="061F32">
                    <a:alpha val="100000"/>
                  </a:srgbClr>
                </a:solidFill>
                <a:latin typeface="微软雅黑"/>
                <a:ea typeface="微软雅黑"/>
                <a:cs typeface="微软雅黑"/>
              </a:rPr>
              <a:t>第四</a:t>
            </a:r>
            <a:r>
              <a:rPr lang="zh-CN" altLang="en-US" sz="1125" b="1" i="0" u="none">
                <a:solidFill>
                  <a:srgbClr val="061F32">
                    <a:alpha val="100000"/>
                  </a:srgbClr>
                </a:solidFill>
                <a:latin typeface="微软雅黑"/>
                <a:ea typeface="微软雅黑"/>
                <a:cs typeface="微软雅黑"/>
              </a:rPr>
              <a:t>项</a:t>
            </a:r>
            <a:r>
              <a:rPr sz="1125" b="1" i="0" u="none">
                <a:solidFill>
                  <a:srgbClr val="061F32">
                    <a:alpha val="100000"/>
                  </a:srgbClr>
                </a:solidFill>
                <a:latin typeface="微软雅黑"/>
                <a:ea typeface="微软雅黑"/>
                <a:cs typeface="微软雅黑"/>
              </a:rPr>
              <a:t> · 培养偏差校正模型：</a:t>
            </a:r>
            <a:r>
              <a:rPr sz="1125">
                <a:solidFill>
                  <a:srgbClr val="061F32">
                    <a:alpha val="100000"/>
                  </a:srgbClr>
                </a:solidFill>
                <a:latin typeface="微软雅黑" charset="0"/>
                <a:ea typeface="微软雅黑" charset="0"/>
                <a:cs typeface="微软雅黑" charset="0"/>
              </a:rPr>
              <a:t>量化</a:t>
            </a:r>
            <a:r>
              <a:rPr sz="1125" i="0" u="none">
                <a:solidFill>
                  <a:srgbClr val="061F32">
                    <a:alpha val="100000"/>
                  </a:srgbClr>
                </a:solidFill>
                <a:latin typeface="微软雅黑"/>
                <a:ea typeface="微软雅黑"/>
                <a:cs typeface="微软雅黑"/>
              </a:rPr>
              <a:t>体外培养</a:t>
            </a:r>
            <a:r>
              <a:rPr lang="zh-CN" altLang="en-US" sz="1125" i="0" u="none">
                <a:solidFill>
                  <a:srgbClr val="061F32">
                    <a:alpha val="100000"/>
                  </a:srgbClr>
                </a:solidFill>
                <a:latin typeface="微软雅黑"/>
                <a:ea typeface="微软雅黑"/>
                <a:cs typeface="微软雅黑"/>
              </a:rPr>
              <a:t>环境带来的信</a:t>
            </a:r>
            <a:r>
              <a:rPr sz="1125" i="0" u="none">
                <a:solidFill>
                  <a:srgbClr val="061F32">
                    <a:alpha val="100000"/>
                  </a:srgbClr>
                </a:solidFill>
                <a:latin typeface="微软雅黑"/>
                <a:ea typeface="微软雅黑"/>
                <a:cs typeface="微软雅黑"/>
              </a:rPr>
              <a:t>息丢失、富集</a:t>
            </a:r>
            <a:r>
              <a:rPr lang="zh-CN" altLang="en-US" sz="1125" i="0" u="none">
                <a:solidFill>
                  <a:srgbClr val="061F32">
                    <a:alpha val="100000"/>
                  </a:srgbClr>
                </a:solidFill>
                <a:latin typeface="微软雅黑"/>
                <a:ea typeface="微软雅黑"/>
                <a:cs typeface="微软雅黑"/>
              </a:rPr>
              <a:t>效应以及系统偏差</a:t>
            </a:r>
            <a:r>
              <a:rPr sz="1125" i="0" u="none">
                <a:solidFill>
                  <a:srgbClr val="061F32">
                    <a:alpha val="100000"/>
                  </a:srgbClr>
                </a:solidFill>
                <a:latin typeface="微软雅黑"/>
                <a:ea typeface="微软雅黑"/>
                <a:cs typeface="微软雅黑"/>
              </a:rPr>
              <a:t>，</a:t>
            </a:r>
            <a:r>
              <a:rPr lang="zh-CN" altLang="en-US" sz="1125" i="0" u="none">
                <a:solidFill>
                  <a:srgbClr val="061F32">
                    <a:alpha val="100000"/>
                  </a:srgbClr>
                </a:solidFill>
                <a:latin typeface="微软雅黑"/>
                <a:ea typeface="微软雅黑"/>
                <a:cs typeface="微软雅黑"/>
              </a:rPr>
              <a:t>将</a:t>
            </a:r>
            <a:r>
              <a:rPr sz="1125" i="0" u="none">
                <a:solidFill>
                  <a:srgbClr val="061F32">
                    <a:alpha val="100000"/>
                  </a:srgbClr>
                </a:solidFill>
                <a:latin typeface="微软雅黑"/>
                <a:ea typeface="微软雅黑"/>
                <a:cs typeface="微软雅黑"/>
              </a:rPr>
              <a:t>类器官</a:t>
            </a:r>
            <a:r>
              <a:rPr lang="zh-CN" altLang="en-US" sz="1125" i="0" u="none">
                <a:solidFill>
                  <a:srgbClr val="061F32">
                    <a:alpha val="100000"/>
                  </a:srgbClr>
                </a:solidFill>
                <a:latin typeface="微软雅黑"/>
                <a:ea typeface="微软雅黑"/>
                <a:cs typeface="微软雅黑"/>
              </a:rPr>
              <a:t>实验</a:t>
            </a:r>
            <a:r>
              <a:rPr sz="1125" i="0" u="none">
                <a:solidFill>
                  <a:srgbClr val="061F32">
                    <a:alpha val="100000"/>
                  </a:srgbClr>
                </a:solidFill>
                <a:latin typeface="微软雅黑"/>
                <a:ea typeface="微软雅黑"/>
                <a:cs typeface="微软雅黑"/>
              </a:rPr>
              <a:t>结果</a:t>
            </a:r>
            <a:r>
              <a:rPr lang="zh-CN" altLang="en-US" sz="1125" i="0" u="none">
                <a:solidFill>
                  <a:srgbClr val="061F32">
                    <a:alpha val="100000"/>
                  </a:srgbClr>
                </a:solidFill>
                <a:latin typeface="微软雅黑"/>
                <a:ea typeface="微软雅黑"/>
                <a:cs typeface="微软雅黑"/>
              </a:rPr>
              <a:t>校准还原至患者体内场景</a:t>
            </a:r>
            <a:endParaRPr sz="1800">
              <a:solidFill>
                <a:schemeClr val="tx1">
                  <a:alpha val="100000"/>
                </a:schemeClr>
              </a:solidFill>
              <a:latin typeface="Calibri"/>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 name="矩形 114"/>
          <p:cNvSpPr>
            <a:spLocks noGrp="1"/>
          </p:cNvSpPr>
          <p:nvPr/>
        </p:nvSpPr>
        <p:spPr>
          <a:xfrm>
            <a:off x="0" y="0"/>
            <a:ext cx="12192000" cy="6858000"/>
          </a:xfrm>
          <a:prstGeom prst="rect">
            <a:avLst/>
          </a:prstGeom>
          <a:solidFill>
            <a:srgbClr val="062032"/>
          </a:solidFill>
        </p:spPr>
        <p:txBody>
          <a:bodyPr/>
          <a:lstStyle/>
          <a:p/>
        </p:txBody>
      </p:sp>
      <p:sp>
        <p:nvSpPr>
          <p:cNvPr id="141" name="文本框 115"/>
          <p:cNvSpPr>
            <a:spLocks noGrp="1"/>
          </p:cNvSpPr>
          <p:nvPr/>
        </p:nvSpPr>
        <p:spPr>
          <a:xfrm>
            <a:off x="4429125" y="2981325"/>
            <a:ext cx="2838450" cy="533400"/>
          </a:xfrm>
          <a:prstGeom prst="rect">
            <a:avLst/>
          </a:prstGeom>
        </p:spPr>
        <p:txBody>
          <a:bodyPr wrap="none" lIns="0" tIns="0" rIns="0" bIns="0"/>
          <a:lstStyle/>
          <a:p>
            <a:pPr>
              <a:lnSpc>
                <a:spcPct val="100000"/>
              </a:lnSpc>
              <a:buNone/>
            </a:pPr>
            <a:r>
              <a:rPr sz="3450" b="1">
                <a:solidFill>
                  <a:srgbClr val="FFFFFF"/>
                </a:solidFill>
                <a:latin typeface="微软雅黑"/>
                <a:ea typeface="微软雅黑"/>
                <a:cs typeface="微软雅黑"/>
              </a:rPr>
              <a:t>商业与融资</a:t>
            </a:r>
            <a:endParaRPr sz="3450" b="1">
              <a:solidFill>
                <a:srgbClr val="FFFFFF"/>
              </a:solidFill>
              <a:latin typeface="微软雅黑"/>
              <a:ea typeface="微软雅黑"/>
              <a:cs typeface="微软雅黑"/>
            </a:endParaRPr>
          </a:p>
        </p:txBody>
      </p:sp>
      <p:sp>
        <p:nvSpPr>
          <p:cNvPr id="142" name="文本框 116"/>
          <p:cNvSpPr>
            <a:spLocks noGrp="1"/>
          </p:cNvSpPr>
          <p:nvPr/>
        </p:nvSpPr>
        <p:spPr>
          <a:xfrm>
            <a:off x="4429125" y="3648075"/>
            <a:ext cx="2838450" cy="228600"/>
          </a:xfrm>
          <a:prstGeom prst="rect">
            <a:avLst/>
          </a:prstGeom>
        </p:spPr>
        <p:txBody>
          <a:bodyPr wrap="none" lIns="0" tIns="0" rIns="0" bIns="0"/>
          <a:lstStyle/>
          <a:p>
            <a:pPr>
              <a:lnSpc>
                <a:spcPct val="100000"/>
              </a:lnSpc>
              <a:buNone/>
            </a:pPr>
            <a:r>
              <a:rPr sz="1500" spc="225">
                <a:solidFill>
                  <a:srgbClr val="99BDED"/>
                </a:solidFill>
                <a:latin typeface="微软雅黑"/>
                <a:ea typeface="微软雅黑"/>
                <a:cs typeface="微软雅黑"/>
              </a:rPr>
              <a:t>BUSINESS &amp; FINANCING</a:t>
            </a:r>
            <a:endParaRPr sz="1500" spc="225">
              <a:solidFill>
                <a:srgbClr val="99BDED"/>
              </a:solidFill>
              <a:latin typeface="微软雅黑"/>
              <a:ea typeface="微软雅黑"/>
              <a:cs typeface="微软雅黑"/>
            </a:endParaRPr>
          </a:p>
        </p:txBody>
      </p:sp>
      <p:sp>
        <p:nvSpPr>
          <p:cNvPr id="143" name="文本框 117"/>
          <p:cNvSpPr>
            <a:spLocks noGrp="1"/>
          </p:cNvSpPr>
          <p:nvPr/>
        </p:nvSpPr>
        <p:spPr>
          <a:xfrm>
            <a:off x="685800" y="1943100"/>
            <a:ext cx="3057525" cy="2971800"/>
          </a:xfrm>
          <a:prstGeom prst="rect">
            <a:avLst/>
          </a:prstGeom>
        </p:spPr>
        <p:txBody>
          <a:bodyPr wrap="none" lIns="0" tIns="0" rIns="0" bIns="0"/>
          <a:lstStyle/>
          <a:p>
            <a:pPr>
              <a:lnSpc>
                <a:spcPct val="100000"/>
              </a:lnSpc>
              <a:buNone/>
            </a:pPr>
            <a:r>
              <a:rPr sz="19500" b="1">
                <a:solidFill>
                  <a:srgbClr val="FFFFFF">
                    <a:alpha val="12000"/>
                  </a:srgbClr>
                </a:solidFill>
                <a:latin typeface="微软雅黑"/>
                <a:ea typeface="微软雅黑"/>
                <a:cs typeface="微软雅黑"/>
              </a:rPr>
              <a:t>04</a:t>
            </a:r>
            <a:endParaRPr sz="19500" b="1">
              <a:solidFill>
                <a:srgbClr val="FFFFFF">
                  <a:alpha val="12000"/>
                </a:srgbClr>
              </a:solidFill>
              <a:latin typeface="微软雅黑"/>
              <a:ea typeface="微软雅黑"/>
              <a:cs typeface="微软雅黑"/>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 name="矩形 119"/>
          <p:cNvSpPr>
            <a:spLocks noGrp="1"/>
          </p:cNvSpPr>
          <p:nvPr/>
        </p:nvSpPr>
        <p:spPr>
          <a:xfrm>
            <a:off x="0" y="0"/>
            <a:ext cx="12192000" cy="6858000"/>
          </a:xfrm>
          <a:prstGeom prst="rect">
            <a:avLst/>
          </a:prstGeom>
          <a:solidFill>
            <a:srgbClr val="FFFFFF"/>
          </a:solidFill>
        </p:spPr>
        <p:txBody>
          <a:bodyPr/>
          <a:lstStyle/>
          <a:p/>
        </p:txBody>
      </p:sp>
      <p:sp>
        <p:nvSpPr>
          <p:cNvPr id="146" name="文本框 120"/>
          <p:cNvSpPr>
            <a:spLocks noGrp="1"/>
          </p:cNvSpPr>
          <p:nvPr/>
        </p:nvSpPr>
        <p:spPr>
          <a:xfrm>
            <a:off x="533400" y="419100"/>
            <a:ext cx="11125200" cy="381000"/>
          </a:xfrm>
          <a:prstGeom prst="rect">
            <a:avLst/>
          </a:prstGeom>
        </p:spPr>
        <p:txBody>
          <a:bodyPr wrap="none" lIns="0" tIns="0" rIns="0" bIns="0"/>
          <a:lstStyle/>
          <a:p>
            <a:pPr>
              <a:lnSpc>
                <a:spcPct val="100000"/>
              </a:lnSpc>
              <a:buNone/>
            </a:pPr>
            <a:r>
              <a:rPr sz="2475" b="1">
                <a:solidFill>
                  <a:srgbClr val="061F32"/>
                </a:solidFill>
                <a:latin typeface="微软雅黑"/>
                <a:ea typeface="微软雅黑"/>
                <a:cs typeface="微软雅黑"/>
              </a:rPr>
              <a:t>竞争：赛道被资本验证，差异化在数据性质与验证闭环</a:t>
            </a:r>
            <a:endParaRPr sz="2475" b="1">
              <a:solidFill>
                <a:srgbClr val="061F32"/>
              </a:solidFill>
              <a:latin typeface="微软雅黑"/>
              <a:ea typeface="微软雅黑"/>
              <a:cs typeface="微软雅黑"/>
            </a:endParaRPr>
          </a:p>
        </p:txBody>
      </p:sp>
      <p:sp>
        <p:nvSpPr>
          <p:cNvPr id="147" name="矩形 121"/>
          <p:cNvSpPr>
            <a:spLocks noGrp="1"/>
          </p:cNvSpPr>
          <p:nvPr/>
        </p:nvSpPr>
        <p:spPr>
          <a:xfrm>
            <a:off x="533400" y="895350"/>
            <a:ext cx="11125200" cy="9525"/>
          </a:xfrm>
          <a:prstGeom prst="rect">
            <a:avLst/>
          </a:prstGeom>
          <a:solidFill>
            <a:srgbClr val="061F32"/>
          </a:solidFill>
        </p:spPr>
        <p:txBody>
          <a:bodyPr/>
          <a:lstStyle/>
          <a:p/>
        </p:txBody>
      </p:sp>
      <p:graphicFrame>
        <p:nvGraphicFramePr>
          <p:cNvPr id="161" name="表格 122"/>
          <p:cNvGraphicFramePr/>
          <p:nvPr/>
        </p:nvGraphicFramePr>
        <p:xfrm>
          <a:off x="533400" y="1019175"/>
          <a:ext cx="11125200" cy="3390903"/>
        </p:xfrm>
        <a:graphic>
          <a:graphicData uri="http://schemas.openxmlformats.org/drawingml/2006/table">
            <a:tbl>
              <a:tblPr/>
              <a:tblGrid>
                <a:gridCol w="1464184"/>
                <a:gridCol w="2837309"/>
                <a:gridCol w="2909579"/>
                <a:gridCol w="3914128"/>
              </a:tblGrid>
              <a:tr h="301668">
                <a:tc>
                  <a:txBody>
                    <a:bodyPr wrap="square">
                      <a:spAutoFit/>
                    </a:bodyPr>
                    <a:lstStyle/>
                    <a:p>
                      <a:pPr marL="114300" marR="114300" algn="l">
                        <a:lnSpc>
                          <a:spcPct val="120000"/>
                        </a:lnSpc>
                        <a:buNone/>
                      </a:pPr>
                      <a:r>
                        <a:rPr sz="1125" b="1">
                          <a:solidFill>
                            <a:srgbClr val="FFFFFF"/>
                          </a:solidFill>
                          <a:latin typeface="微软雅黑"/>
                          <a:ea typeface="微软雅黑"/>
                          <a:cs typeface="微软雅黑"/>
                        </a:rPr>
                        <a:t>公司</a:t>
                      </a:r>
                      <a:endParaRPr sz="1125" b="1">
                        <a:solidFill>
                          <a:srgbClr val="FFFFFF"/>
                        </a:solidFill>
                        <a:latin typeface="微软雅黑"/>
                        <a:ea typeface="微软雅黑"/>
                        <a:cs typeface="微软雅黑"/>
                      </a:endParaRPr>
                    </a:p>
                  </a:txBody>
                  <a:tcPr marL="0" marR="0" marT="0" marB="0" anchor="ctr">
                    <a:lnL>
                      <a:noFill/>
                    </a:lnL>
                    <a:lnR>
                      <a:noFill/>
                    </a:lnR>
                    <a:lnT>
                      <a:noFill/>
                    </a:lnT>
                    <a:lnB>
                      <a:noFill/>
                    </a:lnB>
                    <a:solidFill>
                      <a:srgbClr val="061F32"/>
                    </a:solidFill>
                  </a:tcPr>
                </a:tc>
                <a:tc>
                  <a:txBody>
                    <a:bodyPr wrap="square">
                      <a:spAutoFit/>
                    </a:bodyPr>
                    <a:lstStyle/>
                    <a:p>
                      <a:pPr marL="114300" marR="114300" algn="l">
                        <a:lnSpc>
                          <a:spcPct val="120000"/>
                        </a:lnSpc>
                        <a:buNone/>
                      </a:pPr>
                      <a:r>
                        <a:rPr sz="1125" b="1">
                          <a:solidFill>
                            <a:srgbClr val="FFFFFF"/>
                          </a:solidFill>
                          <a:latin typeface="微软雅黑"/>
                          <a:ea typeface="微软雅黑"/>
                          <a:cs typeface="微软雅黑"/>
                        </a:rPr>
                        <a:t>路线</a:t>
                      </a:r>
                      <a:endParaRPr sz="1125" b="1">
                        <a:solidFill>
                          <a:srgbClr val="FFFFFF"/>
                        </a:solidFill>
                        <a:latin typeface="微软雅黑"/>
                        <a:ea typeface="微软雅黑"/>
                        <a:cs typeface="微软雅黑"/>
                      </a:endParaRPr>
                    </a:p>
                  </a:txBody>
                  <a:tcPr marL="0" marR="0" marT="0" marB="0" anchor="ctr">
                    <a:lnL>
                      <a:noFill/>
                    </a:lnL>
                    <a:lnR>
                      <a:noFill/>
                    </a:lnR>
                    <a:lnT>
                      <a:noFill/>
                    </a:lnT>
                    <a:lnB>
                      <a:noFill/>
                    </a:lnB>
                    <a:solidFill>
                      <a:srgbClr val="061F32"/>
                    </a:solidFill>
                  </a:tcPr>
                </a:tc>
                <a:tc>
                  <a:txBody>
                    <a:bodyPr wrap="square">
                      <a:spAutoFit/>
                    </a:bodyPr>
                    <a:lstStyle/>
                    <a:p>
                      <a:pPr marL="114300" marR="114300" algn="l">
                        <a:lnSpc>
                          <a:spcPct val="120000"/>
                        </a:lnSpc>
                        <a:buNone/>
                      </a:pPr>
                      <a:r>
                        <a:rPr sz="1125" b="1">
                          <a:solidFill>
                            <a:srgbClr val="FFFFFF"/>
                          </a:solidFill>
                          <a:latin typeface="微软雅黑"/>
                          <a:ea typeface="微软雅黑"/>
                          <a:cs typeface="微软雅黑"/>
                        </a:rPr>
                        <a:t>融资与估值</a:t>
                      </a:r>
                      <a:endParaRPr sz="1125" b="1">
                        <a:solidFill>
                          <a:srgbClr val="FFFFFF"/>
                        </a:solidFill>
                        <a:latin typeface="微软雅黑"/>
                        <a:ea typeface="微软雅黑"/>
                        <a:cs typeface="微软雅黑"/>
                      </a:endParaRPr>
                    </a:p>
                  </a:txBody>
                  <a:tcPr marL="0" marR="0" marT="0" marB="0" anchor="ctr">
                    <a:lnL>
                      <a:noFill/>
                    </a:lnL>
                    <a:lnR>
                      <a:noFill/>
                    </a:lnR>
                    <a:lnT>
                      <a:noFill/>
                    </a:lnT>
                    <a:lnB>
                      <a:noFill/>
                    </a:lnB>
                    <a:solidFill>
                      <a:srgbClr val="061F32"/>
                    </a:solidFill>
                  </a:tcPr>
                </a:tc>
                <a:tc>
                  <a:txBody>
                    <a:bodyPr wrap="square">
                      <a:spAutoFit/>
                    </a:bodyPr>
                    <a:lstStyle/>
                    <a:p>
                      <a:pPr marL="114300" marR="114300" algn="l">
                        <a:lnSpc>
                          <a:spcPct val="120000"/>
                        </a:lnSpc>
                        <a:buNone/>
                      </a:pPr>
                      <a:r>
                        <a:rPr sz="1125" b="1">
                          <a:solidFill>
                            <a:srgbClr val="FFFFFF"/>
                          </a:solidFill>
                          <a:latin typeface="微软雅黑"/>
                          <a:ea typeface="微软雅黑"/>
                          <a:cs typeface="微软雅黑"/>
                        </a:rPr>
                        <a:t>对我们的差异点</a:t>
                      </a:r>
                      <a:endParaRPr sz="1125" b="1">
                        <a:solidFill>
                          <a:srgbClr val="FFFFFF"/>
                        </a:solidFill>
                        <a:latin typeface="微软雅黑"/>
                        <a:ea typeface="微软雅黑"/>
                        <a:cs typeface="微软雅黑"/>
                      </a:endParaRPr>
                    </a:p>
                  </a:txBody>
                  <a:tcPr marL="0" marR="0" marT="0" marB="0" anchor="ctr">
                    <a:lnL>
                      <a:noFill/>
                    </a:lnL>
                    <a:lnR>
                      <a:noFill/>
                    </a:lnR>
                    <a:lnT>
                      <a:noFill/>
                    </a:lnT>
                    <a:lnB>
                      <a:noFill/>
                    </a:lnB>
                    <a:solidFill>
                      <a:srgbClr val="061F32"/>
                    </a:solidFill>
                  </a:tcPr>
                </a:tc>
              </a:tr>
              <a:tr h="483051">
                <a:tc>
                  <a:txBody>
                    <a:bodyPr wrap="square">
                      <a:spAutoFit/>
                    </a:bodyPr>
                    <a:lstStyle/>
                    <a:p>
                      <a:pPr marL="114300" marR="114300" algn="l">
                        <a:lnSpc>
                          <a:spcPct val="120000"/>
                        </a:lnSpc>
                        <a:buNone/>
                      </a:pPr>
                      <a:r>
                        <a:rPr sz="1050" b="1">
                          <a:solidFill>
                            <a:srgbClr val="061F32"/>
                          </a:solidFill>
                          <a:latin typeface="微软雅黑"/>
                          <a:ea typeface="微软雅黑"/>
                          <a:cs typeface="微软雅黑"/>
                        </a:rPr>
                        <a:t>Arc Institute（美国·非营利）</a:t>
                      </a:r>
                      <a:endParaRPr sz="1050" b="1">
                        <a:solidFill>
                          <a:srgbClr val="061F32"/>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pPr marL="114300" marR="114300" algn="l">
                        <a:lnSpc>
                          <a:spcPct val="120000"/>
                        </a:lnSpc>
                        <a:buNone/>
                      </a:pPr>
                      <a:r>
                        <a:rPr sz="1050">
                          <a:solidFill>
                            <a:srgbClr val="44546A"/>
                          </a:solidFill>
                          <a:latin typeface="微软雅黑"/>
                          <a:ea typeface="微软雅黑"/>
                          <a:cs typeface="微软雅黑"/>
                        </a:rPr>
                        <a:t>STATE 虚拟细胞模型，观测 + 扰动数据</a:t>
                      </a:r>
                      <a:endParaRPr sz="1050">
                        <a:solidFill>
                          <a:srgbClr val="44546A"/>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pPr marL="114300" algn="l">
                        <a:lnSpc>
                          <a:spcPct val="120000"/>
                        </a:lnSpc>
                        <a:buNone/>
                      </a:pPr>
                      <a:r>
                        <a:rPr sz="1050" b="0" i="0" u="none">
                          <a:solidFill>
                            <a:srgbClr val="44546A">
                              <a:alpha val="100000"/>
                            </a:srgbClr>
                          </a:solidFill>
                          <a:latin typeface="微软雅黑"/>
                          <a:ea typeface="微软雅黑"/>
                          <a:cs typeface="微软雅黑"/>
                        </a:rPr>
                        <a:t>2026 年入选 TED Audacious 2025 cohort（年度资助池 10.3 亿美元）</a:t>
                      </a:r>
                      <a:endParaRPr sz="1050">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r>
                        <a:rPr sz="1050" b="0" i="0" u="none">
                          <a:solidFill>
                            <a:srgbClr val="44546A">
                              <a:alpha val="100000"/>
                            </a:srgbClr>
                          </a:solidFill>
                          <a:latin typeface="微软雅黑"/>
                          <a:ea typeface="微软雅黑"/>
                          <a:cs typeface="微软雅黑"/>
                        </a:rPr>
                        <a:t>  通用虚拟细胞路线；我们</a:t>
                      </a:r>
                      <a:r>
                        <a:rPr lang="zh-CN" altLang="en-US" sz="1050" b="0" i="0" u="none">
                          <a:solidFill>
                            <a:srgbClr val="44546A">
                              <a:alpha val="100000"/>
                            </a:srgbClr>
                          </a:solidFill>
                          <a:latin typeface="微软雅黑"/>
                          <a:ea typeface="微软雅黑"/>
                          <a:cs typeface="微软雅黑"/>
                        </a:rPr>
                        <a:t>构建</a:t>
                      </a:r>
                      <a:r>
                        <a:rPr sz="1050" b="0" i="0" u="none">
                          <a:solidFill>
                            <a:srgbClr val="44546A">
                              <a:alpha val="100000"/>
                            </a:srgbClr>
                          </a:solidFill>
                          <a:latin typeface="微软雅黑"/>
                          <a:ea typeface="微软雅黑"/>
                          <a:cs typeface="微软雅黑"/>
                        </a:rPr>
                        <a:t>患者-PDO 纵向配对</a:t>
                      </a:r>
                      <a:r>
                        <a:rPr lang="zh-CN" altLang="en-US" sz="1050" b="0" i="0" u="none">
                          <a:solidFill>
                            <a:srgbClr val="44546A">
                              <a:alpha val="100000"/>
                            </a:srgbClr>
                          </a:solidFill>
                          <a:latin typeface="微软雅黑"/>
                          <a:ea typeface="微软雅黑"/>
                          <a:cs typeface="微软雅黑"/>
                        </a:rPr>
                        <a:t>并打通</a:t>
                      </a:r>
                      <a:r>
                        <a:rPr sz="1050" b="0" i="0" u="none">
                          <a:solidFill>
                            <a:srgbClr val="44546A">
                              <a:alpha val="100000"/>
                            </a:srgbClr>
                          </a:solidFill>
                          <a:latin typeface="微软雅黑"/>
                          <a:ea typeface="微软雅黑"/>
                          <a:cs typeface="微软雅黑"/>
                        </a:rPr>
                        <a:t>临床结 </a:t>
                      </a:r>
                      <a:endParaRPr sz="1050" b="0" i="0" u="none">
                        <a:solidFill>
                          <a:srgbClr val="44546A">
                            <a:alpha val="100000"/>
                          </a:srgbClr>
                        </a:solidFill>
                        <a:latin typeface="微软雅黑"/>
                        <a:ea typeface="微软雅黑"/>
                        <a:cs typeface="微软雅黑"/>
                      </a:endParaRPr>
                    </a:p>
                    <a:p>
                      <a:r>
                        <a:rPr sz="1050" b="0">
                          <a:solidFill>
                            <a:srgbClr val="44546A">
                              <a:alpha val="100000"/>
                            </a:srgbClr>
                          </a:solidFill>
                          <a:latin typeface="微软雅黑" charset="0"/>
                          <a:ea typeface="微软雅黑" charset="0"/>
                          <a:cs typeface="微软雅黑" charset="0"/>
                        </a:rPr>
                        <a:t>  </a:t>
                      </a:r>
                      <a:r>
                        <a:rPr sz="1050" b="0" i="0" u="none">
                          <a:solidFill>
                            <a:srgbClr val="44546A">
                              <a:alpha val="100000"/>
                            </a:srgbClr>
                          </a:solidFill>
                          <a:latin typeface="微软雅黑"/>
                          <a:ea typeface="微软雅黑"/>
                          <a:cs typeface="微软雅黑"/>
                        </a:rPr>
                        <a:t>局验证</a:t>
                      </a:r>
                      <a:r>
                        <a:rPr lang="zh-CN" altLang="en-US" sz="1050" b="0" i="0" u="none">
                          <a:solidFill>
                            <a:srgbClr val="44546A">
                              <a:alpha val="100000"/>
                            </a:srgbClr>
                          </a:solidFill>
                          <a:latin typeface="微软雅黑"/>
                          <a:ea typeface="微软雅黑"/>
                          <a:cs typeface="微软雅黑"/>
                        </a:rPr>
                        <a:t>闭环</a:t>
                      </a:r>
                      <a:endParaRPr sz="1050" b="0" i="0" u="none">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tcPr>
                </a:tc>
              </a:tr>
              <a:tr h="673980">
                <a:tc>
                  <a:txBody>
                    <a:bodyPr wrap="square">
                      <a:spAutoFit/>
                    </a:bodyPr>
                    <a:lstStyle/>
                    <a:p>
                      <a:pPr marL="114300" marR="114300" algn="l">
                        <a:lnSpc>
                          <a:spcPct val="120000"/>
                        </a:lnSpc>
                        <a:buNone/>
                      </a:pPr>
                      <a:r>
                        <a:rPr sz="1050" b="1">
                          <a:solidFill>
                            <a:srgbClr val="061F32"/>
                          </a:solidFill>
                          <a:latin typeface="微软雅黑"/>
                          <a:ea typeface="微软雅黑"/>
                          <a:cs typeface="微软雅黑"/>
                        </a:rPr>
                        <a:t>Tahoe Therapeutics（美国）</a:t>
                      </a:r>
                      <a:endParaRPr sz="1050" b="1">
                        <a:solidFill>
                          <a:srgbClr val="061F32"/>
                        </a:solidFill>
                        <a:latin typeface="微软雅黑"/>
                        <a:ea typeface="微软雅黑"/>
                        <a:cs typeface="微软雅黑"/>
                      </a:endParaRPr>
                    </a:p>
                  </a:txBody>
                  <a:tcPr marL="0" marR="0" marT="0" marB="0" anchor="ctr">
                    <a:lnL>
                      <a:noFill/>
                    </a:lnL>
                    <a:lnR>
                      <a:noFill/>
                    </a:lnR>
                    <a:lnT>
                      <a:noFill/>
                    </a:lnT>
                    <a:lnB>
                      <a:noFill/>
                    </a:lnB>
                    <a:solidFill>
                      <a:srgbClr val="F5F5F5"/>
                    </a:solidFill>
                  </a:tcPr>
                </a:tc>
                <a:tc>
                  <a:txBody>
                    <a:bodyPr wrap="square">
                      <a:spAutoFit/>
                    </a:bodyPr>
                    <a:lstStyle/>
                    <a:p>
                      <a:pPr marL="114300" marR="114300" algn="l">
                        <a:lnSpc>
                          <a:spcPct val="120000"/>
                        </a:lnSpc>
                        <a:buNone/>
                      </a:pPr>
                      <a:r>
                        <a:rPr sz="1050">
                          <a:solidFill>
                            <a:srgbClr val="44546A"/>
                          </a:solidFill>
                          <a:latin typeface="微软雅黑"/>
                          <a:ea typeface="微软雅黑"/>
                          <a:cs typeface="微软雅黑"/>
                        </a:rPr>
                        <a:t>Mosaic 肿瘤细胞扰动数据，Tahoe-100M / 1B</a:t>
                      </a:r>
                      <a:endParaRPr sz="1050">
                        <a:solidFill>
                          <a:srgbClr val="44546A"/>
                        </a:solidFill>
                        <a:latin typeface="微软雅黑"/>
                        <a:ea typeface="微软雅黑"/>
                        <a:cs typeface="微软雅黑"/>
                      </a:endParaRPr>
                    </a:p>
                  </a:txBody>
                  <a:tcPr marL="0" marR="0" marT="0" marB="0" anchor="ctr">
                    <a:lnL>
                      <a:noFill/>
                    </a:lnL>
                    <a:lnR>
                      <a:noFill/>
                    </a:lnR>
                    <a:lnT>
                      <a:noFill/>
                    </a:lnT>
                    <a:lnB>
                      <a:noFill/>
                    </a:lnB>
                    <a:solidFill>
                      <a:srgbClr val="F5F5F5"/>
                    </a:solidFill>
                  </a:tcPr>
                </a:tc>
                <a:tc>
                  <a:txBody>
                    <a:bodyPr wrap="square">
                      <a:spAutoFit/>
                    </a:bodyPr>
                    <a:lstStyle/>
                    <a:p>
                      <a:pPr marL="114300" algn="l">
                        <a:lnSpc>
                          <a:spcPct val="120000"/>
                        </a:lnSpc>
                        <a:buNone/>
                      </a:pPr>
                      <a:r>
                        <a:rPr sz="1050" b="0" i="0" u="none">
                          <a:solidFill>
                            <a:srgbClr val="44546A">
                              <a:alpha val="100000"/>
                            </a:srgbClr>
                          </a:solidFill>
                          <a:latin typeface="微软雅黑"/>
                          <a:ea typeface="微软雅黑"/>
                          <a:cs typeface="微软雅黑"/>
                        </a:rPr>
                        <a:t>2025.8 A 轮 3000 万美元，总融资 4200 万美元，估值 1.2 亿美元</a:t>
                      </a:r>
                      <a:endParaRPr sz="1050" b="1">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solidFill>
                      <a:srgbClr val="F5F5F5"/>
                    </a:solidFill>
                  </a:tcPr>
                </a:tc>
                <a:tc>
                  <a:txBody>
                    <a:bodyPr wrap="square">
                      <a:spAutoFit/>
                    </a:bodyPr>
                    <a:lstStyle/>
                    <a:p>
                      <a:pPr marL="114300" algn="l">
                        <a:lnSpc>
                          <a:spcPct val="120000"/>
                        </a:lnSpc>
                        <a:buNone/>
                      </a:pPr>
                      <a:r>
                        <a:rPr sz="1050" b="0" i="0" u="none">
                          <a:solidFill>
                            <a:srgbClr val="44546A">
                              <a:alpha val="100000"/>
                            </a:srgbClr>
                          </a:solidFill>
                          <a:latin typeface="微软雅黑"/>
                          <a:ea typeface="微软雅黑"/>
                          <a:cs typeface="微软雅黑"/>
                        </a:rPr>
                        <a:t>癌细胞与患者</a:t>
                      </a:r>
                      <a:r>
                        <a:rPr lang="zh-CN" altLang="en-US" sz="1050" b="0" i="0" u="none">
                          <a:solidFill>
                            <a:srgbClr val="44546A">
                              <a:alpha val="100000"/>
                            </a:srgbClr>
                          </a:solidFill>
                          <a:latin typeface="微软雅黑"/>
                          <a:ea typeface="微软雅黑"/>
                          <a:cs typeface="微软雅黑"/>
                        </a:rPr>
                        <a:t>样本混合平台</a:t>
                      </a:r>
                      <a:r>
                        <a:rPr sz="1050" b="0" i="0" u="none">
                          <a:solidFill>
                            <a:srgbClr val="44546A">
                              <a:alpha val="100000"/>
                            </a:srgbClr>
                          </a:solidFill>
                          <a:latin typeface="微软雅黑"/>
                          <a:ea typeface="微软雅黑"/>
                          <a:cs typeface="微软雅黑"/>
                        </a:rPr>
                        <a:t>；我们</a:t>
                      </a:r>
                      <a:r>
                        <a:rPr lang="zh-CN" altLang="en-US" sz="1050" b="0" i="0" u="none">
                          <a:solidFill>
                            <a:srgbClr val="44546A">
                              <a:alpha val="100000"/>
                            </a:srgbClr>
                          </a:solidFill>
                          <a:latin typeface="微软雅黑"/>
                          <a:ea typeface="微软雅黑"/>
                          <a:cs typeface="微软雅黑"/>
                        </a:rPr>
                        <a:t>专注</a:t>
                      </a:r>
                      <a:r>
                        <a:rPr sz="1050" b="0" i="0" u="none">
                          <a:solidFill>
                            <a:srgbClr val="44546A">
                              <a:alpha val="100000"/>
                            </a:srgbClr>
                          </a:solidFill>
                          <a:latin typeface="微软雅黑"/>
                          <a:ea typeface="微软雅黑"/>
                          <a:cs typeface="微软雅黑"/>
                        </a:rPr>
                        <a:t>患者来源 3D 类器官</a:t>
                      </a:r>
                      <a:r>
                        <a:rPr lang="zh-CN" altLang="en-US" sz="1050" b="0" i="0" u="none">
                          <a:solidFill>
                            <a:srgbClr val="44546A">
                              <a:alpha val="100000"/>
                            </a:srgbClr>
                          </a:solidFill>
                          <a:latin typeface="微软雅黑"/>
                          <a:ea typeface="微软雅黑"/>
                          <a:cs typeface="微软雅黑"/>
                        </a:rPr>
                        <a:t>以及完整随访链路</a:t>
                      </a:r>
                      <a:endParaRPr sz="1050">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solidFill>
                      <a:srgbClr val="F5F5F5"/>
                    </a:solidFill>
                  </a:tcPr>
                </a:tc>
              </a:tr>
              <a:tr h="483051">
                <a:tc>
                  <a:txBody>
                    <a:bodyPr wrap="square">
                      <a:spAutoFit/>
                    </a:bodyPr>
                    <a:lstStyle/>
                    <a:p>
                      <a:pPr marL="114300" marR="114300" algn="l">
                        <a:lnSpc>
                          <a:spcPct val="120000"/>
                        </a:lnSpc>
                        <a:buNone/>
                      </a:pPr>
                      <a:r>
                        <a:rPr sz="1050" b="1">
                          <a:solidFill>
                            <a:srgbClr val="061F32"/>
                          </a:solidFill>
                          <a:latin typeface="微软雅黑"/>
                          <a:ea typeface="微软雅黑"/>
                          <a:cs typeface="微软雅黑"/>
                        </a:rPr>
                        <a:t>CZI（美国·非营利）</a:t>
                      </a:r>
                      <a:endParaRPr sz="1050" b="1">
                        <a:solidFill>
                          <a:srgbClr val="061F32"/>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pPr marL="114300" algn="l">
                        <a:lnSpc>
                          <a:spcPct val="120000"/>
                        </a:lnSpc>
                        <a:buNone/>
                      </a:pPr>
                      <a:r>
                        <a:rPr sz="1050" b="0" i="0" u="none">
                          <a:solidFill>
                            <a:srgbClr val="44546A">
                              <a:alpha val="100000"/>
                            </a:srgbClr>
                          </a:solidFill>
                          <a:latin typeface="微软雅黑"/>
                          <a:ea typeface="微软雅黑"/>
                          <a:cs typeface="微软雅黑"/>
                        </a:rPr>
                        <a:t>CELLxGENE 与虚拟细胞平台，多尺度 AI 生物模型</a:t>
                      </a:r>
                      <a:endParaRPr sz="1050">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pPr marL="114300" algn="l">
                        <a:lnSpc>
                          <a:spcPct val="120000"/>
                        </a:lnSpc>
                        <a:buNone/>
                      </a:pPr>
                      <a:r>
                        <a:rPr sz="1050" b="0" i="0" u="none">
                          <a:solidFill>
                            <a:srgbClr val="44546A">
                              <a:alpha val="100000"/>
                            </a:srgbClr>
                          </a:solidFill>
                          <a:latin typeface="微软雅黑"/>
                          <a:ea typeface="微软雅黑"/>
                          <a:cs typeface="微软雅黑"/>
                        </a:rPr>
                        <a:t>2025 年宣布科学 AI 算力扩至 10,000 GPUs</a:t>
                      </a:r>
                      <a:endParaRPr sz="1050">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r>
                        <a:rPr sz="1050" b="0" i="0" u="none">
                          <a:solidFill>
                            <a:srgbClr val="44546A">
                              <a:alpha val="100000"/>
                            </a:srgbClr>
                          </a:solidFill>
                          <a:latin typeface="微软雅黑"/>
                          <a:ea typeface="微软雅黑"/>
                          <a:cs typeface="微软雅黑"/>
                        </a:rPr>
                        <a:t>   开放基础设施与通用模型；我们聚焦纵向</a:t>
                      </a:r>
                      <a:r>
                        <a:rPr lang="zh-CN" altLang="en-US" sz="1050" b="0" i="0" u="none">
                          <a:solidFill>
                            <a:srgbClr val="44546A">
                              <a:alpha val="100000"/>
                            </a:srgbClr>
                          </a:solidFill>
                          <a:latin typeface="微软雅黑"/>
                          <a:ea typeface="微软雅黑"/>
                          <a:cs typeface="微软雅黑"/>
                        </a:rPr>
                        <a:t>配对</a:t>
                      </a:r>
                      <a:r>
                        <a:rPr sz="1050" b="0" i="0" u="none">
                          <a:solidFill>
                            <a:srgbClr val="44546A">
                              <a:alpha val="100000"/>
                            </a:srgbClr>
                          </a:solidFill>
                          <a:latin typeface="微软雅黑"/>
                          <a:ea typeface="微软雅黑"/>
                          <a:cs typeface="微软雅黑"/>
                        </a:rPr>
                        <a:t>队列</a:t>
                      </a:r>
                      <a:r>
                        <a:rPr lang="zh-CN" altLang="en-US" sz="1050" b="0" i="0" u="none">
                          <a:solidFill>
                            <a:srgbClr val="44546A">
                              <a:alpha val="100000"/>
                            </a:srgbClr>
                          </a:solidFill>
                          <a:latin typeface="微软雅黑"/>
                          <a:ea typeface="微软雅黑"/>
                          <a:cs typeface="微软雅黑"/>
                        </a:rPr>
                        <a:t>以及可</a:t>
                      </a:r>
                      <a:r>
                        <a:rPr sz="1050" b="0" i="0" u="none">
                          <a:solidFill>
                            <a:srgbClr val="44546A">
                              <a:alpha val="100000"/>
                            </a:srgbClr>
                          </a:solidFill>
                          <a:latin typeface="微软雅黑"/>
                          <a:ea typeface="微软雅黑"/>
                          <a:cs typeface="微软雅黑"/>
                        </a:rPr>
                        <a:t>交付</a:t>
                      </a:r>
                      <a:r>
                        <a:rPr lang="zh-CN" altLang="en-US" sz="1050" b="0" i="0" u="none">
                          <a:solidFill>
                            <a:srgbClr val="44546A">
                              <a:alpha val="100000"/>
                            </a:srgbClr>
                          </a:solidFill>
                          <a:latin typeface="微软雅黑"/>
                          <a:ea typeface="微软雅黑"/>
                          <a:cs typeface="微软雅黑"/>
                        </a:rPr>
                        <a:t>的</a:t>
                      </a:r>
                      <a:endParaRPr lang="zh-CN" altLang="en-US" sz="1050" b="0" i="0" u="none">
                        <a:solidFill>
                          <a:srgbClr val="44546A">
                            <a:alpha val="100000"/>
                          </a:srgbClr>
                        </a:solidFill>
                        <a:latin typeface="微软雅黑"/>
                        <a:ea typeface="微软雅黑"/>
                        <a:cs typeface="微软雅黑"/>
                      </a:endParaRPr>
                    </a:p>
                    <a:p>
                      <a:r>
                        <a:rPr lang="zh-CN" altLang="en-US" sz="1050" b="0">
                          <a:solidFill>
                            <a:srgbClr val="44546A">
                              <a:alpha val="100000"/>
                            </a:srgbClr>
                          </a:solidFill>
                          <a:latin typeface="微软雅黑" charset="0"/>
                          <a:ea typeface="微软雅黑" charset="0"/>
                          <a:cs typeface="微软雅黑" charset="0"/>
                        </a:rPr>
                        <a:t>   </a:t>
                      </a:r>
                      <a:r>
                        <a:rPr lang="zh-CN" altLang="en-US" sz="1050" b="0" i="0" u="none">
                          <a:solidFill>
                            <a:srgbClr val="44546A">
                              <a:alpha val="100000"/>
                            </a:srgbClr>
                          </a:solidFill>
                          <a:latin typeface="微软雅黑"/>
                          <a:ea typeface="微软雅黑"/>
                          <a:cs typeface="微软雅黑"/>
                        </a:rPr>
                        <a:t>验证</a:t>
                      </a:r>
                      <a:r>
                        <a:rPr sz="1050" b="0" i="0" u="none">
                          <a:solidFill>
                            <a:srgbClr val="44546A">
                              <a:alpha val="100000"/>
                            </a:srgbClr>
                          </a:solidFill>
                          <a:latin typeface="微软雅黑"/>
                          <a:ea typeface="微软雅黑"/>
                          <a:cs typeface="微软雅黑"/>
                        </a:rPr>
                        <a:t>闭环</a:t>
                      </a:r>
                      <a:endParaRPr sz="1050" b="0" i="0" u="none">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tcPr>
                </a:tc>
              </a:tr>
              <a:tr h="483051">
                <a:tc>
                  <a:txBody>
                    <a:bodyPr wrap="square">
                      <a:spAutoFit/>
                    </a:bodyPr>
                    <a:lstStyle/>
                    <a:p>
                      <a:pPr marL="114300" marR="114300" algn="l">
                        <a:lnSpc>
                          <a:spcPct val="120000"/>
                        </a:lnSpc>
                        <a:buNone/>
                      </a:pPr>
                      <a:r>
                        <a:rPr sz="1050" b="1">
                          <a:solidFill>
                            <a:srgbClr val="061F32"/>
                          </a:solidFill>
                          <a:latin typeface="微软雅黑"/>
                          <a:ea typeface="微软雅黑"/>
                          <a:cs typeface="微软雅黑"/>
                        </a:rPr>
                        <a:t>Google Research / DeepMind（美国）</a:t>
                      </a:r>
                      <a:endParaRPr sz="1050" b="1">
                        <a:solidFill>
                          <a:srgbClr val="061F32"/>
                        </a:solidFill>
                        <a:latin typeface="微软雅黑"/>
                        <a:ea typeface="微软雅黑"/>
                        <a:cs typeface="微软雅黑"/>
                      </a:endParaRPr>
                    </a:p>
                  </a:txBody>
                  <a:tcPr marL="0" marR="0" marT="0" marB="0" anchor="ctr">
                    <a:lnL>
                      <a:noFill/>
                    </a:lnL>
                    <a:lnR>
                      <a:noFill/>
                    </a:lnR>
                    <a:lnT>
                      <a:noFill/>
                    </a:lnT>
                    <a:lnB>
                      <a:noFill/>
                    </a:lnB>
                    <a:solidFill>
                      <a:srgbClr val="F5F5F5"/>
                    </a:solidFill>
                  </a:tcPr>
                </a:tc>
                <a:tc>
                  <a:txBody>
                    <a:bodyPr wrap="square">
                      <a:spAutoFit/>
                    </a:bodyPr>
                    <a:lstStyle/>
                    <a:p>
                      <a:pPr marL="114300" algn="l">
                        <a:lnSpc>
                          <a:spcPct val="120000"/>
                        </a:lnSpc>
                        <a:buNone/>
                      </a:pPr>
                      <a:r>
                        <a:rPr sz="1050" b="0" i="0" u="none">
                          <a:solidFill>
                            <a:srgbClr val="44546A">
                              <a:alpha val="100000"/>
                            </a:srgbClr>
                          </a:solidFill>
                          <a:latin typeface="微软雅黑"/>
                          <a:ea typeface="微软雅黑"/>
                          <a:cs typeface="微软雅黑"/>
                        </a:rPr>
                        <a:t>单细胞语言模型与健康 AI，持续布局 AI for Science</a:t>
                      </a:r>
                      <a:endParaRPr sz="1050">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solidFill>
                      <a:srgbClr val="F5F5F5"/>
                    </a:solidFill>
                  </a:tcPr>
                </a:tc>
                <a:tc>
                  <a:txBody>
                    <a:bodyPr wrap="square">
                      <a:spAutoFit/>
                    </a:bodyPr>
                    <a:lstStyle/>
                    <a:p>
                      <a:pPr marL="114300" algn="l">
                        <a:lnSpc>
                          <a:spcPct val="120000"/>
                        </a:lnSpc>
                        <a:buNone/>
                      </a:pPr>
                      <a:r>
                        <a:rPr sz="1050" b="0" i="0" u="none">
                          <a:solidFill>
                            <a:srgbClr val="44546A">
                              <a:alpha val="100000"/>
                            </a:srgbClr>
                          </a:solidFill>
                          <a:latin typeface="微软雅黑"/>
                          <a:ea typeface="微软雅黑"/>
                          <a:cs typeface="微软雅黑"/>
                        </a:rPr>
                        <a:t>母公司资源</a:t>
                      </a:r>
                      <a:r>
                        <a:rPr lang="zh-CN" altLang="en-US" sz="1050" b="0" i="0" u="none">
                          <a:solidFill>
                            <a:srgbClr val="44546A">
                              <a:alpha val="100000"/>
                            </a:srgbClr>
                          </a:solidFill>
                          <a:latin typeface="微软雅黑"/>
                          <a:ea typeface="微软雅黑"/>
                          <a:cs typeface="微软雅黑"/>
                        </a:rPr>
                        <a:t>投入</a:t>
                      </a:r>
                      <a:endParaRPr sz="1050">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solidFill>
                      <a:srgbClr val="F5F5F5"/>
                    </a:solidFill>
                  </a:tcPr>
                </a:tc>
                <a:tc>
                  <a:txBody>
                    <a:bodyPr wrap="square">
                      <a:spAutoFit/>
                    </a:bodyPr>
                    <a:lstStyle/>
                    <a:p>
                      <a:pPr marL="114300" algn="l">
                        <a:lnSpc>
                          <a:spcPct val="120000"/>
                        </a:lnSpc>
                        <a:buNone/>
                      </a:pPr>
                      <a:r>
                        <a:rPr sz="1050" b="0" i="0" u="none">
                          <a:solidFill>
                            <a:srgbClr val="44546A">
                              <a:alpha val="100000"/>
                            </a:srgbClr>
                          </a:solidFill>
                          <a:latin typeface="微软雅黑"/>
                          <a:ea typeface="微软雅黑"/>
                          <a:cs typeface="微软雅黑"/>
                        </a:rPr>
                        <a:t>押注</a:t>
                      </a:r>
                      <a:r>
                        <a:rPr lang="zh-CN" altLang="en-US" sz="1050" b="0" i="0" u="none">
                          <a:solidFill>
                            <a:srgbClr val="44546A">
                              <a:alpha val="100000"/>
                            </a:srgbClr>
                          </a:solidFill>
                          <a:latin typeface="微软雅黑"/>
                          <a:ea typeface="微软雅黑"/>
                          <a:cs typeface="Arial" panose="020B0604020202020204" pitchFamily="34" charset="0"/>
                        </a:rPr>
                        <a:t>通用基础模型</a:t>
                      </a:r>
                      <a:r>
                        <a:rPr sz="1050" b="0" i="0" u="none">
                          <a:solidFill>
                            <a:srgbClr val="44546A">
                              <a:alpha val="100000"/>
                            </a:srgbClr>
                          </a:solidFill>
                          <a:latin typeface="微软雅黑"/>
                          <a:ea typeface="微软雅黑"/>
                          <a:cs typeface="微软雅黑"/>
                        </a:rPr>
                        <a:t>方向；我们</a:t>
                      </a:r>
                      <a:r>
                        <a:rPr lang="zh-CN" altLang="en-US" sz="1050" b="0" i="0" u="none">
                          <a:solidFill>
                            <a:srgbClr val="44546A">
                              <a:alpha val="100000"/>
                            </a:srgbClr>
                          </a:solidFill>
                          <a:latin typeface="微软雅黑"/>
                          <a:ea typeface="微软雅黑"/>
                          <a:cs typeface="微软雅黑"/>
                        </a:rPr>
                        <a:t>优先自建</a:t>
                      </a:r>
                      <a:r>
                        <a:rPr sz="1050" b="0" i="0" u="none">
                          <a:solidFill>
                            <a:srgbClr val="44546A">
                              <a:alpha val="100000"/>
                            </a:srgbClr>
                          </a:solidFill>
                          <a:latin typeface="微软雅黑"/>
                          <a:ea typeface="微软雅黑"/>
                          <a:cs typeface="微软雅黑"/>
                        </a:rPr>
                        <a:t>因果数据</a:t>
                      </a:r>
                      <a:r>
                        <a:rPr lang="zh-CN" altLang="en-US" sz="1050" b="0" i="0" u="none">
                          <a:solidFill>
                            <a:srgbClr val="44546A">
                              <a:alpha val="100000"/>
                            </a:srgbClr>
                          </a:solidFill>
                          <a:latin typeface="微软雅黑"/>
                          <a:ea typeface="微软雅黑"/>
                          <a:cs typeface="微软雅黑"/>
                        </a:rPr>
                        <a:t>集</a:t>
                      </a:r>
                      <a:r>
                        <a:rPr sz="1050" b="0" i="0" u="none">
                          <a:solidFill>
                            <a:srgbClr val="44546A">
                              <a:alpha val="100000"/>
                            </a:srgbClr>
                          </a:solidFill>
                          <a:latin typeface="微软雅黑"/>
                          <a:ea typeface="微软雅黑"/>
                          <a:cs typeface="微软雅黑"/>
                        </a:rPr>
                        <a:t>，不</a:t>
                      </a:r>
                      <a:r>
                        <a:rPr lang="zh-CN" altLang="en-US" sz="1050" b="0" i="0" u="none">
                          <a:solidFill>
                            <a:srgbClr val="44546A">
                              <a:alpha val="100000"/>
                            </a:srgbClr>
                          </a:solidFill>
                          <a:latin typeface="微软雅黑"/>
                          <a:ea typeface="微软雅黑"/>
                          <a:cs typeface="微软雅黑"/>
                        </a:rPr>
                        <a:t>直接</a:t>
                      </a:r>
                      <a:r>
                        <a:rPr sz="1050" b="0" i="0" u="none">
                          <a:solidFill>
                            <a:srgbClr val="44546A">
                              <a:alpha val="100000"/>
                            </a:srgbClr>
                          </a:solidFill>
                          <a:latin typeface="微软雅黑"/>
                          <a:ea typeface="微软雅黑"/>
                          <a:cs typeface="微软雅黑"/>
                        </a:rPr>
                        <a:t>拼</a:t>
                      </a:r>
                      <a:r>
                        <a:rPr lang="zh-CN" altLang="en-US" sz="1050" b="0" i="0" u="none">
                          <a:solidFill>
                            <a:srgbClr val="44546A">
                              <a:alpha val="100000"/>
                            </a:srgbClr>
                          </a:solidFill>
                          <a:latin typeface="微软雅黑"/>
                          <a:ea typeface="微软雅黑"/>
                          <a:cs typeface="微软雅黑"/>
                        </a:rPr>
                        <a:t>接</a:t>
                      </a:r>
                      <a:r>
                        <a:rPr sz="1050" b="0" i="0" u="none">
                          <a:solidFill>
                            <a:srgbClr val="44546A">
                              <a:alpha val="100000"/>
                            </a:srgbClr>
                          </a:solidFill>
                          <a:latin typeface="微软雅黑"/>
                          <a:ea typeface="微软雅黑"/>
                          <a:cs typeface="微软雅黑"/>
                        </a:rPr>
                        <a:t>通用模型</a:t>
                      </a:r>
                      <a:endParaRPr sz="1050">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solidFill>
                      <a:srgbClr val="F5F5F5"/>
                    </a:solidFill>
                  </a:tcPr>
                </a:tc>
              </a:tr>
              <a:tr h="483051">
                <a:tc>
                  <a:txBody>
                    <a:bodyPr wrap="square">
                      <a:spAutoFit/>
                    </a:bodyPr>
                    <a:lstStyle/>
                    <a:p>
                      <a:pPr marL="114300" marR="114300" algn="l">
                        <a:lnSpc>
                          <a:spcPct val="120000"/>
                        </a:lnSpc>
                        <a:buNone/>
                      </a:pPr>
                      <a:r>
                        <a:rPr sz="1050" b="1">
                          <a:solidFill>
                            <a:srgbClr val="061F32"/>
                          </a:solidFill>
                          <a:latin typeface="微软雅黑"/>
                          <a:ea typeface="微软雅黑"/>
                          <a:cs typeface="微软雅黑"/>
                        </a:rPr>
                        <a:t>英灵殿科技（中国）</a:t>
                      </a:r>
                      <a:endParaRPr sz="1050" b="1">
                        <a:solidFill>
                          <a:srgbClr val="061F32"/>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pPr marL="114300" algn="l">
                        <a:lnSpc>
                          <a:spcPct val="120000"/>
                        </a:lnSpc>
                        <a:buNone/>
                      </a:pPr>
                      <a:r>
                        <a:rPr sz="1050" b="0" i="0" u="none">
                          <a:solidFill>
                            <a:srgbClr val="44546A">
                              <a:alpha val="100000"/>
                            </a:srgbClr>
                          </a:solidFill>
                          <a:latin typeface="微软雅黑"/>
                          <a:ea typeface="微软雅黑"/>
                          <a:cs typeface="微软雅黑"/>
                        </a:rPr>
                        <a:t>全模态分子世界模型，偏分子 / 蛋白质设计</a:t>
                      </a:r>
                      <a:endParaRPr sz="1050">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pPr marL="114300" algn="l">
                        <a:lnSpc>
                          <a:spcPct val="120000"/>
                        </a:lnSpc>
                        <a:buNone/>
                      </a:pPr>
                      <a:r>
                        <a:rPr sz="1050" b="0" i="0" u="none">
                          <a:solidFill>
                            <a:srgbClr val="44546A">
                              <a:alpha val="100000"/>
                            </a:srgbClr>
                          </a:solidFill>
                          <a:latin typeface="微软雅黑"/>
                          <a:ea typeface="微软雅黑"/>
                          <a:cs typeface="微软雅黑"/>
                        </a:rPr>
                        <a:t>2025.7 三个月累计融资近 5000 万美元</a:t>
                      </a:r>
                      <a:endParaRPr sz="1050" b="1">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tcPr>
                </a:tc>
                <a:tc>
                  <a:txBody>
                    <a:bodyPr wrap="square">
                      <a:spAutoFit/>
                    </a:bodyPr>
                    <a:lstStyle/>
                    <a:p>
                      <a:pPr marL="114300" algn="l">
                        <a:lnSpc>
                          <a:spcPct val="120000"/>
                        </a:lnSpc>
                        <a:buNone/>
                      </a:pPr>
                      <a:r>
                        <a:rPr lang="zh-CN" altLang="en-US" sz="1050" b="0" i="0" u="none">
                          <a:solidFill>
                            <a:srgbClr val="44546A">
                              <a:alpha val="100000"/>
                            </a:srgbClr>
                          </a:solidFill>
                          <a:latin typeface="微软雅黑"/>
                          <a:ea typeface="微软雅黑"/>
                          <a:cs typeface="微软雅黑"/>
                        </a:rPr>
                        <a:t>研发</a:t>
                      </a:r>
                      <a:r>
                        <a:rPr sz="1050" b="0" i="0" u="none">
                          <a:solidFill>
                            <a:srgbClr val="44546A">
                              <a:alpha val="100000"/>
                            </a:srgbClr>
                          </a:solidFill>
                          <a:latin typeface="微软雅黑"/>
                          <a:ea typeface="微软雅黑"/>
                          <a:cs typeface="微软雅黑"/>
                        </a:rPr>
                        <a:t>重心在分子与蛋白质</a:t>
                      </a:r>
                      <a:r>
                        <a:rPr lang="zh-CN" altLang="en-US" sz="1050" b="0" i="0" u="none">
                          <a:solidFill>
                            <a:srgbClr val="44546A">
                              <a:alpha val="100000"/>
                            </a:srgbClr>
                          </a:solidFill>
                          <a:latin typeface="微软雅黑"/>
                          <a:ea typeface="微软雅黑"/>
                          <a:cs typeface="微软雅黑"/>
                        </a:rPr>
                        <a:t>层级</a:t>
                      </a:r>
                      <a:r>
                        <a:rPr sz="1050" b="0" i="0" u="none">
                          <a:solidFill>
                            <a:srgbClr val="44546A">
                              <a:alpha val="100000"/>
                            </a:srgbClr>
                          </a:solidFill>
                          <a:latin typeface="微软雅黑"/>
                          <a:ea typeface="微软雅黑"/>
                          <a:cs typeface="微软雅黑"/>
                        </a:rPr>
                        <a:t>；我们</a:t>
                      </a:r>
                      <a:r>
                        <a:rPr lang="zh-CN" altLang="en-US" sz="1050" b="0" i="0" u="none">
                          <a:solidFill>
                            <a:srgbClr val="44546A">
                              <a:alpha val="100000"/>
                            </a:srgbClr>
                          </a:solidFill>
                          <a:latin typeface="微软雅黑"/>
                          <a:ea typeface="微软雅黑"/>
                          <a:cs typeface="微软雅黑"/>
                        </a:rPr>
                        <a:t>聚焦</a:t>
                      </a:r>
                      <a:r>
                        <a:rPr sz="1050" b="0" i="0" u="none">
                          <a:solidFill>
                            <a:srgbClr val="44546A">
                              <a:alpha val="100000"/>
                            </a:srgbClr>
                          </a:solidFill>
                          <a:latin typeface="微软雅黑"/>
                          <a:ea typeface="微软雅黑"/>
                          <a:cs typeface="微软雅黑"/>
                        </a:rPr>
                        <a:t>组织层面细胞状态</a:t>
                      </a:r>
                      <a:r>
                        <a:rPr lang="zh-CN" altLang="en-US" sz="1050" b="0" i="0" u="none">
                          <a:solidFill>
                            <a:srgbClr val="44546A">
                              <a:alpha val="100000"/>
                            </a:srgbClr>
                          </a:solidFill>
                          <a:latin typeface="微软雅黑"/>
                          <a:ea typeface="微软雅黑"/>
                          <a:cs typeface="微软雅黑"/>
                        </a:rPr>
                        <a:t>以及</a:t>
                      </a:r>
                      <a:r>
                        <a:rPr sz="1050" b="0" i="0" u="none">
                          <a:solidFill>
                            <a:srgbClr val="44546A">
                              <a:alpha val="100000"/>
                            </a:srgbClr>
                          </a:solidFill>
                          <a:latin typeface="微软雅黑"/>
                          <a:ea typeface="微软雅黑"/>
                          <a:cs typeface="微软雅黑"/>
                        </a:rPr>
                        <a:t>药物响应</a:t>
                      </a:r>
                      <a:r>
                        <a:rPr lang="zh-CN" altLang="en-US" sz="1050" b="0" i="0" u="none">
                          <a:solidFill>
                            <a:srgbClr val="44546A">
                              <a:alpha val="100000"/>
                            </a:srgbClr>
                          </a:solidFill>
                          <a:latin typeface="微软雅黑"/>
                          <a:ea typeface="微软雅黑"/>
                          <a:cs typeface="微软雅黑"/>
                        </a:rPr>
                        <a:t>过程</a:t>
                      </a:r>
                      <a:endParaRPr sz="1050">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tcPr>
                </a:tc>
              </a:tr>
              <a:tr h="483051">
                <a:tc>
                  <a:txBody>
                    <a:bodyPr wrap="square">
                      <a:spAutoFit/>
                    </a:bodyPr>
                    <a:lstStyle/>
                    <a:p>
                      <a:pPr marL="114300" marR="114300" algn="l">
                        <a:lnSpc>
                          <a:spcPct val="120000"/>
                        </a:lnSpc>
                        <a:buNone/>
                      </a:pPr>
                      <a:r>
                        <a:rPr sz="1050" b="1">
                          <a:solidFill>
                            <a:srgbClr val="061F32"/>
                          </a:solidFill>
                          <a:latin typeface="微软雅黑"/>
                          <a:ea typeface="微软雅黑"/>
                          <a:cs typeface="微软雅黑"/>
                        </a:rPr>
                        <a:t>深度细胞（中国北京）</a:t>
                      </a:r>
                      <a:endParaRPr sz="1050" b="1">
                        <a:solidFill>
                          <a:srgbClr val="061F32"/>
                        </a:solidFill>
                        <a:latin typeface="微软雅黑"/>
                        <a:ea typeface="微软雅黑"/>
                        <a:cs typeface="微软雅黑"/>
                      </a:endParaRPr>
                    </a:p>
                  </a:txBody>
                  <a:tcPr marL="0" marR="0" marT="0" marB="0" anchor="ctr">
                    <a:lnL>
                      <a:noFill/>
                    </a:lnL>
                    <a:lnR>
                      <a:noFill/>
                    </a:lnR>
                    <a:lnT>
                      <a:noFill/>
                    </a:lnT>
                    <a:lnB>
                      <a:noFill/>
                    </a:lnB>
                    <a:solidFill>
                      <a:srgbClr val="F5F5F5"/>
                    </a:solidFill>
                  </a:tcPr>
                </a:tc>
                <a:tc>
                  <a:txBody>
                    <a:bodyPr wrap="square">
                      <a:spAutoFit/>
                    </a:bodyPr>
                    <a:lstStyle/>
                    <a:p>
                      <a:pPr marL="114300" algn="l">
                        <a:lnSpc>
                          <a:spcPct val="120000"/>
                        </a:lnSpc>
                        <a:buNone/>
                      </a:pPr>
                      <a:r>
                        <a:rPr sz="1050" b="0" i="0" u="none">
                          <a:solidFill>
                            <a:srgbClr val="44546A">
                              <a:alpha val="100000"/>
                            </a:srgbClr>
                          </a:solidFill>
                          <a:latin typeface="微软雅黑"/>
                          <a:ea typeface="微软雅黑"/>
                          <a:cs typeface="微软雅黑"/>
                        </a:rPr>
                        <a:t>「AI + 物理」虚拟细胞世界模型，分子相互作用基座</a:t>
                      </a:r>
                      <a:endParaRPr sz="1050">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solidFill>
                      <a:srgbClr val="F5F5F5"/>
                    </a:solidFill>
                  </a:tcPr>
                </a:tc>
                <a:tc>
                  <a:txBody>
                    <a:bodyPr wrap="square">
                      <a:spAutoFit/>
                    </a:bodyPr>
                    <a:lstStyle/>
                    <a:p>
                      <a:pPr marL="114300" algn="l">
                        <a:lnSpc>
                          <a:spcPct val="120000"/>
                        </a:lnSpc>
                        <a:buNone/>
                      </a:pPr>
                      <a:r>
                        <a:rPr sz="1050" b="0" i="0" u="none">
                          <a:solidFill>
                            <a:srgbClr val="44546A">
                              <a:alpha val="100000"/>
                            </a:srgbClr>
                          </a:solidFill>
                          <a:latin typeface="微软雅黑"/>
                          <a:ea typeface="微软雅黑"/>
                          <a:cs typeface="微软雅黑"/>
                        </a:rPr>
                        <a:t>2026.8 完成近亿元种子轮</a:t>
                      </a:r>
                      <a:endParaRPr sz="1050" b="1">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solidFill>
                      <a:srgbClr val="F5F5F5"/>
                    </a:solidFill>
                  </a:tcPr>
                </a:tc>
                <a:tc>
                  <a:txBody>
                    <a:bodyPr wrap="square">
                      <a:spAutoFit/>
                    </a:bodyPr>
                    <a:lstStyle/>
                    <a:p>
                      <a:pPr marL="114300" algn="l">
                        <a:lnSpc>
                          <a:spcPct val="120000"/>
                        </a:lnSpc>
                        <a:buNone/>
                      </a:pPr>
                      <a:r>
                        <a:rPr lang="zh-CN" altLang="en-US" sz="1050" b="0" i="0" u="none">
                          <a:solidFill>
                            <a:srgbClr val="44546A">
                              <a:alpha val="100000"/>
                            </a:srgbClr>
                          </a:solidFill>
                          <a:latin typeface="微软雅黑"/>
                          <a:ea typeface="微软雅黑"/>
                          <a:cs typeface="微软雅黑"/>
                        </a:rPr>
                        <a:t>自底层</a:t>
                      </a:r>
                      <a:r>
                        <a:rPr sz="1050" b="0" i="0" u="none">
                          <a:solidFill>
                            <a:srgbClr val="44546A">
                              <a:alpha val="100000"/>
                            </a:srgbClr>
                          </a:solidFill>
                          <a:latin typeface="微软雅黑"/>
                          <a:ea typeface="微软雅黑"/>
                          <a:cs typeface="微软雅黑"/>
                        </a:rPr>
                        <a:t>分子</a:t>
                      </a:r>
                      <a:r>
                        <a:rPr lang="zh-CN" altLang="en-US" sz="1050" b="0" i="0" u="none">
                          <a:solidFill>
                            <a:srgbClr val="44546A">
                              <a:alpha val="100000"/>
                            </a:srgbClr>
                          </a:solidFill>
                          <a:latin typeface="微软雅黑"/>
                          <a:ea typeface="微软雅黑"/>
                          <a:cs typeface="微软雅黑"/>
                        </a:rPr>
                        <a:t>、</a:t>
                      </a:r>
                      <a:r>
                        <a:rPr sz="1050" b="0" i="0" u="none">
                          <a:solidFill>
                            <a:srgbClr val="44546A">
                              <a:alpha val="100000"/>
                            </a:srgbClr>
                          </a:solidFill>
                          <a:latin typeface="微软雅黑"/>
                          <a:ea typeface="微软雅黑"/>
                          <a:cs typeface="微软雅黑"/>
                        </a:rPr>
                        <a:t>物理机制出发建模；我们</a:t>
                      </a:r>
                      <a:r>
                        <a:rPr lang="zh-CN" altLang="en-US" sz="1050" b="0" i="0" u="none">
                          <a:solidFill>
                            <a:srgbClr val="44546A">
                              <a:alpha val="100000"/>
                            </a:srgbClr>
                          </a:solidFill>
                          <a:latin typeface="微软雅黑"/>
                          <a:ea typeface="微软雅黑"/>
                          <a:cs typeface="微软雅黑"/>
                        </a:rPr>
                        <a:t>以</a:t>
                      </a:r>
                      <a:r>
                        <a:rPr sz="1050" b="0" i="0" u="none">
                          <a:solidFill>
                            <a:srgbClr val="44546A">
                              <a:alpha val="100000"/>
                            </a:srgbClr>
                          </a:solidFill>
                          <a:latin typeface="微软雅黑"/>
                          <a:ea typeface="微软雅黑"/>
                          <a:cs typeface="微软雅黑"/>
                        </a:rPr>
                        <a:t>真实类器官实验数据</a:t>
                      </a:r>
                      <a:r>
                        <a:rPr lang="zh-CN" altLang="en-US" sz="1050" b="0" i="0" u="none">
                          <a:solidFill>
                            <a:srgbClr val="44546A">
                              <a:alpha val="100000"/>
                            </a:srgbClr>
                          </a:solidFill>
                          <a:latin typeface="微软雅黑"/>
                          <a:ea typeface="微软雅黑"/>
                          <a:cs typeface="微软雅黑"/>
                        </a:rPr>
                        <a:t>为起点</a:t>
                      </a:r>
                      <a:r>
                        <a:rPr sz="1050" b="0" i="0" u="none">
                          <a:solidFill>
                            <a:srgbClr val="44546A">
                              <a:alpha val="100000"/>
                            </a:srgbClr>
                          </a:solidFill>
                          <a:latin typeface="微软雅黑"/>
                          <a:ea typeface="微软雅黑"/>
                          <a:cs typeface="微软雅黑"/>
                        </a:rPr>
                        <a:t>，自带</a:t>
                      </a:r>
                      <a:r>
                        <a:rPr lang="zh-CN" altLang="en-US" sz="1050" b="0" i="0" u="none">
                          <a:solidFill>
                            <a:srgbClr val="44546A">
                              <a:alpha val="100000"/>
                            </a:srgbClr>
                          </a:solidFill>
                          <a:latin typeface="微软雅黑"/>
                          <a:ea typeface="微软雅黑"/>
                          <a:cs typeface="微软雅黑"/>
                        </a:rPr>
                        <a:t>体外实验</a:t>
                      </a:r>
                      <a:r>
                        <a:rPr sz="1050" b="0" i="0" u="none">
                          <a:solidFill>
                            <a:srgbClr val="44546A">
                              <a:alpha val="100000"/>
                            </a:srgbClr>
                          </a:solidFill>
                          <a:latin typeface="微软雅黑"/>
                          <a:ea typeface="微软雅黑"/>
                          <a:cs typeface="微软雅黑"/>
                        </a:rPr>
                        <a:t>验证</a:t>
                      </a:r>
                      <a:r>
                        <a:rPr lang="zh-CN" altLang="en-US" sz="1050" b="0" i="0" u="none">
                          <a:solidFill>
                            <a:srgbClr val="44546A">
                              <a:alpha val="100000"/>
                            </a:srgbClr>
                          </a:solidFill>
                          <a:latin typeface="微软雅黑"/>
                          <a:ea typeface="微软雅黑"/>
                          <a:cs typeface="微软雅黑"/>
                        </a:rPr>
                        <a:t>链路</a:t>
                      </a:r>
                      <a:endParaRPr sz="1050">
                        <a:solidFill>
                          <a:srgbClr val="44546A">
                            <a:alpha val="100000"/>
                          </a:srgbClr>
                        </a:solidFill>
                        <a:latin typeface="微软雅黑"/>
                        <a:ea typeface="微软雅黑"/>
                        <a:cs typeface="微软雅黑"/>
                      </a:endParaRPr>
                    </a:p>
                  </a:txBody>
                  <a:tcPr marL="0" marR="0" marT="0" marB="0" anchor="ctr">
                    <a:lnL>
                      <a:noFill/>
                    </a:lnL>
                    <a:lnR>
                      <a:noFill/>
                    </a:lnR>
                    <a:lnT>
                      <a:noFill/>
                    </a:lnT>
                    <a:lnB>
                      <a:noFill/>
                    </a:lnB>
                    <a:solidFill>
                      <a:srgbClr val="F5F5F5"/>
                    </a:solidFill>
                  </a:tcPr>
                </a:tc>
              </a:tr>
            </a:tbl>
          </a:graphicData>
        </a:graphic>
      </p:graphicFrame>
      <p:sp>
        <p:nvSpPr>
          <p:cNvPr id="149" name="矩形 123"/>
          <p:cNvSpPr>
            <a:spLocks noGrp="1"/>
          </p:cNvSpPr>
          <p:nvPr/>
        </p:nvSpPr>
        <p:spPr>
          <a:xfrm>
            <a:off x="533400" y="4543425"/>
            <a:ext cx="5467350" cy="1695450"/>
          </a:xfrm>
          <a:prstGeom prst="rect">
            <a:avLst/>
          </a:prstGeom>
          <a:solidFill>
            <a:srgbClr val="061F32"/>
          </a:solidFill>
        </p:spPr>
        <p:txBody>
          <a:bodyPr/>
          <a:lstStyle/>
          <a:p/>
        </p:txBody>
      </p:sp>
      <p:sp>
        <p:nvSpPr>
          <p:cNvPr id="150" name="文本框 124"/>
          <p:cNvSpPr>
            <a:spLocks noGrp="1"/>
          </p:cNvSpPr>
          <p:nvPr/>
        </p:nvSpPr>
        <p:spPr>
          <a:xfrm>
            <a:off x="723900" y="5000625"/>
            <a:ext cx="5086350" cy="200025"/>
          </a:xfrm>
          <a:prstGeom prst="rect">
            <a:avLst/>
          </a:prstGeom>
        </p:spPr>
        <p:txBody>
          <a:bodyPr wrap="none" lIns="0" tIns="0" rIns="0" bIns="0"/>
          <a:lstStyle/>
          <a:p>
            <a:pPr>
              <a:lnSpc>
                <a:spcPct val="100000"/>
              </a:lnSpc>
              <a:buNone/>
            </a:pPr>
            <a:r>
              <a:rPr sz="1275" b="1">
                <a:solidFill>
                  <a:srgbClr val="08A6F6"/>
                </a:solidFill>
                <a:latin typeface="微软雅黑"/>
                <a:ea typeface="微软雅黑"/>
                <a:cs typeface="微软雅黑"/>
              </a:rPr>
              <a:t>赛道被资本验证</a:t>
            </a:r>
            <a:endParaRPr sz="1275" b="1">
              <a:solidFill>
                <a:srgbClr val="08A6F6"/>
              </a:solidFill>
              <a:latin typeface="微软雅黑"/>
              <a:ea typeface="微软雅黑"/>
              <a:cs typeface="微软雅黑"/>
            </a:endParaRPr>
          </a:p>
        </p:txBody>
      </p:sp>
      <p:sp>
        <p:nvSpPr>
          <p:cNvPr id="151" name="文本框 125"/>
          <p:cNvSpPr>
            <a:spLocks noGrp="1"/>
          </p:cNvSpPr>
          <p:nvPr/>
        </p:nvSpPr>
        <p:spPr>
          <a:xfrm>
            <a:off x="723900" y="5257800"/>
            <a:ext cx="5086350" cy="533400"/>
          </a:xfrm>
          <a:prstGeom prst="rect">
            <a:avLst/>
          </a:prstGeom>
        </p:spPr>
        <p:txBody>
          <a:bodyPr wrap="square" lIns="0" tIns="0" rIns="0" bIns="0">
            <a:normAutofit/>
          </a:bodyPr>
          <a:lstStyle/>
          <a:p>
            <a:pPr>
              <a:lnSpc>
                <a:spcPct val="145000"/>
              </a:lnSpc>
              <a:buNone/>
            </a:pPr>
            <a:r>
              <a:rPr sz="1200">
                <a:solidFill>
                  <a:srgbClr val="FFFFFF"/>
                </a:solidFill>
                <a:latin typeface="微软雅黑"/>
                <a:ea typeface="微软雅黑"/>
                <a:cs typeface="微软雅黑"/>
              </a:rPr>
              <a:t>Tahoe、Arc、英灵殿、深度细胞等项目的融资</a:t>
            </a:r>
            <a:r>
              <a:rPr sz="1200">
                <a:solidFill>
                  <a:srgbClr val="FFFFFF"/>
                </a:solidFill>
                <a:latin typeface="微软雅黑" charset="0"/>
                <a:ea typeface="微软雅黑" charset="0"/>
                <a:cs typeface="微软雅黑" charset="0"/>
              </a:rPr>
              <a:t>动态表明，</a:t>
            </a:r>
            <a:r>
              <a:rPr sz="1200">
                <a:solidFill>
                  <a:srgbClr val="FFFFFF"/>
                </a:solidFill>
                <a:latin typeface="微软雅黑"/>
                <a:ea typeface="微软雅黑"/>
                <a:cs typeface="微软雅黑"/>
              </a:rPr>
              <a:t>虚拟细胞和 AI4S</a:t>
            </a:r>
            <a:r>
              <a:rPr lang="zh-CN" altLang="en-US" sz="1200">
                <a:solidFill>
                  <a:srgbClr val="FFFFFF"/>
                </a:solidFill>
                <a:latin typeface="微软雅黑"/>
                <a:ea typeface="微软雅黑"/>
                <a:cs typeface="微软雅黑"/>
              </a:rPr>
              <a:t>赛道</a:t>
            </a:r>
            <a:r>
              <a:rPr sz="1200">
                <a:solidFill>
                  <a:srgbClr val="FFFFFF"/>
                </a:solidFill>
                <a:latin typeface="微软雅黑"/>
                <a:ea typeface="微软雅黑"/>
                <a:cs typeface="微软雅黑"/>
              </a:rPr>
              <a:t>已进入资本验证</a:t>
            </a:r>
            <a:r>
              <a:rPr lang="zh-CN" altLang="en-US" sz="1200">
                <a:solidFill>
                  <a:srgbClr val="FFFFFF"/>
                </a:solidFill>
                <a:latin typeface="微软雅黑"/>
                <a:ea typeface="微软雅黑"/>
                <a:cs typeface="微软雅黑"/>
              </a:rPr>
              <a:t>阶段。</a:t>
            </a:r>
            <a:r>
              <a:rPr sz="1200">
                <a:solidFill>
                  <a:srgbClr val="FFFFFF"/>
                </a:solidFill>
                <a:latin typeface="微软雅黑"/>
                <a:ea typeface="微软雅黑"/>
                <a:cs typeface="微软雅黑"/>
              </a:rPr>
              <a:t>我们以患者纵向</a:t>
            </a:r>
            <a:r>
              <a:rPr lang="zh-CN" altLang="en-US" sz="1200">
                <a:solidFill>
                  <a:srgbClr val="FFFFFF"/>
                </a:solidFill>
                <a:latin typeface="微软雅黑"/>
                <a:ea typeface="微软雅黑"/>
                <a:cs typeface="微软雅黑"/>
              </a:rPr>
              <a:t>配对</a:t>
            </a:r>
            <a:r>
              <a:rPr sz="1200">
                <a:solidFill>
                  <a:srgbClr val="FFFFFF"/>
                </a:solidFill>
                <a:latin typeface="微软雅黑"/>
                <a:ea typeface="微软雅黑"/>
                <a:cs typeface="微软雅黑"/>
              </a:rPr>
              <a:t>数据</a:t>
            </a:r>
            <a:r>
              <a:rPr lang="zh-CN" altLang="en-US" sz="1200">
                <a:solidFill>
                  <a:srgbClr val="FFFFFF"/>
                </a:solidFill>
                <a:latin typeface="微软雅黑"/>
                <a:ea typeface="微软雅黑"/>
                <a:cs typeface="微软雅黑"/>
              </a:rPr>
              <a:t>作为</a:t>
            </a:r>
            <a:r>
              <a:rPr sz="1200">
                <a:solidFill>
                  <a:srgbClr val="FFFFFF"/>
                </a:solidFill>
                <a:latin typeface="微软雅黑"/>
                <a:ea typeface="微软雅黑"/>
                <a:cs typeface="微软雅黑"/>
              </a:rPr>
              <a:t>切入</a:t>
            </a:r>
            <a:r>
              <a:rPr lang="zh-CN" altLang="en-US" sz="1200">
                <a:solidFill>
                  <a:srgbClr val="FFFFFF"/>
                </a:solidFill>
                <a:latin typeface="微软雅黑"/>
                <a:ea typeface="微软雅黑"/>
                <a:cs typeface="微软雅黑"/>
              </a:rPr>
              <a:t>点开展布局</a:t>
            </a:r>
            <a:r>
              <a:rPr sz="1200">
                <a:solidFill>
                  <a:srgbClr val="FFFFFF"/>
                </a:solidFill>
                <a:latin typeface="微软雅黑"/>
                <a:ea typeface="微软雅黑"/>
                <a:cs typeface="微软雅黑"/>
              </a:rPr>
              <a:t>。</a:t>
            </a:r>
            <a:endParaRPr sz="1200">
              <a:solidFill>
                <a:srgbClr val="FFFFFF"/>
              </a:solidFill>
              <a:latin typeface="微软雅黑"/>
              <a:ea typeface="微软雅黑"/>
              <a:cs typeface="微软雅黑"/>
            </a:endParaRPr>
          </a:p>
        </p:txBody>
      </p:sp>
      <p:sp>
        <p:nvSpPr>
          <p:cNvPr id="152" name="矩形 126"/>
          <p:cNvSpPr>
            <a:spLocks noGrp="1"/>
          </p:cNvSpPr>
          <p:nvPr/>
        </p:nvSpPr>
        <p:spPr>
          <a:xfrm>
            <a:off x="6191250" y="4543425"/>
            <a:ext cx="5467350" cy="1695450"/>
          </a:xfrm>
          <a:prstGeom prst="rect">
            <a:avLst/>
          </a:prstGeom>
          <a:ln w="19050">
            <a:solidFill>
              <a:srgbClr val="061F32"/>
            </a:solidFill>
            <a:prstDash val="solid"/>
          </a:ln>
        </p:spPr>
        <p:txBody>
          <a:bodyPr/>
          <a:lstStyle/>
          <a:p/>
        </p:txBody>
      </p:sp>
      <p:sp>
        <p:nvSpPr>
          <p:cNvPr id="153" name="文本框 127"/>
          <p:cNvSpPr>
            <a:spLocks noGrp="1"/>
          </p:cNvSpPr>
          <p:nvPr/>
        </p:nvSpPr>
        <p:spPr>
          <a:xfrm>
            <a:off x="6381750" y="5000625"/>
            <a:ext cx="5086350" cy="200025"/>
          </a:xfrm>
          <a:prstGeom prst="rect">
            <a:avLst/>
          </a:prstGeom>
        </p:spPr>
        <p:txBody>
          <a:bodyPr wrap="none" lIns="0" tIns="0" rIns="0" bIns="0"/>
          <a:lstStyle/>
          <a:p>
            <a:pPr>
              <a:lnSpc>
                <a:spcPct val="100000"/>
              </a:lnSpc>
              <a:buNone/>
            </a:pPr>
            <a:r>
              <a:rPr sz="1275" b="1">
                <a:solidFill>
                  <a:srgbClr val="061F32"/>
                </a:solidFill>
                <a:latin typeface="微软雅黑"/>
                <a:ea typeface="微软雅黑"/>
                <a:cs typeface="微软雅黑"/>
              </a:rPr>
              <a:t>差异化不在算法，</a:t>
            </a:r>
            <a:r>
              <a:rPr lang="zh-CN" altLang="en-US" sz="1275" b="1">
                <a:solidFill>
                  <a:srgbClr val="061F32"/>
                </a:solidFill>
                <a:latin typeface="微软雅黑"/>
                <a:ea typeface="微软雅黑"/>
                <a:cs typeface="微软雅黑"/>
              </a:rPr>
              <a:t>核心是</a:t>
            </a:r>
            <a:r>
              <a:rPr sz="1275" b="1">
                <a:solidFill>
                  <a:srgbClr val="061F32"/>
                </a:solidFill>
                <a:latin typeface="微软雅黑"/>
                <a:ea typeface="微软雅黑"/>
                <a:cs typeface="微软雅黑"/>
              </a:rPr>
              <a:t>数据</a:t>
            </a:r>
            <a:r>
              <a:rPr lang="zh-CN" altLang="en-US" sz="1275" b="1">
                <a:solidFill>
                  <a:srgbClr val="061F32"/>
                </a:solidFill>
                <a:latin typeface="微软雅黑"/>
                <a:ea typeface="微软雅黑"/>
                <a:cs typeface="微软雅黑"/>
              </a:rPr>
              <a:t>体系</a:t>
            </a:r>
            <a:r>
              <a:rPr sz="1275" b="1">
                <a:solidFill>
                  <a:srgbClr val="061F32"/>
                </a:solidFill>
                <a:latin typeface="微软雅黑"/>
                <a:ea typeface="微软雅黑"/>
                <a:cs typeface="微软雅黑"/>
              </a:rPr>
              <a:t>与</a:t>
            </a:r>
            <a:r>
              <a:rPr lang="zh-CN" altLang="en-US" sz="1275" b="1">
                <a:solidFill>
                  <a:srgbClr val="061F32"/>
                </a:solidFill>
                <a:latin typeface="微软雅黑"/>
                <a:ea typeface="微软雅黑"/>
                <a:cs typeface="微软雅黑"/>
              </a:rPr>
              <a:t>验证</a:t>
            </a:r>
            <a:r>
              <a:rPr sz="1275" b="1">
                <a:solidFill>
                  <a:srgbClr val="061F32"/>
                </a:solidFill>
                <a:latin typeface="微软雅黑"/>
                <a:ea typeface="微软雅黑"/>
                <a:cs typeface="微软雅黑"/>
              </a:rPr>
              <a:t>闭环</a:t>
            </a:r>
            <a:endParaRPr sz="1275" b="1">
              <a:solidFill>
                <a:srgbClr val="061F32"/>
              </a:solidFill>
              <a:latin typeface="微软雅黑"/>
              <a:ea typeface="微软雅黑"/>
              <a:cs typeface="微软雅黑"/>
            </a:endParaRPr>
          </a:p>
        </p:txBody>
      </p:sp>
      <p:sp>
        <p:nvSpPr>
          <p:cNvPr id="154" name="文本框 128"/>
          <p:cNvSpPr>
            <a:spLocks noGrp="1"/>
          </p:cNvSpPr>
          <p:nvPr/>
        </p:nvSpPr>
        <p:spPr>
          <a:xfrm>
            <a:off x="6381750" y="5257800"/>
            <a:ext cx="5086350" cy="764164"/>
          </a:xfrm>
          <a:prstGeom prst="rect">
            <a:avLst/>
          </a:prstGeom>
        </p:spPr>
        <p:txBody>
          <a:bodyPr wrap="square" lIns="0" tIns="0" rIns="0" bIns="0">
            <a:normAutofit lnSpcReduction="10000"/>
          </a:bodyPr>
          <a:lstStyle/>
          <a:p>
            <a:pPr>
              <a:lnSpc>
                <a:spcPct val="145000"/>
              </a:lnSpc>
              <a:buNone/>
            </a:pPr>
            <a:r>
              <a:rPr sz="1200">
                <a:solidFill>
                  <a:srgbClr val="44546A"/>
                </a:solidFill>
                <a:latin typeface="微软雅黑"/>
                <a:ea typeface="微软雅黑"/>
                <a:cs typeface="微软雅黑"/>
              </a:rPr>
              <a:t>差异化不</a:t>
            </a:r>
            <a:r>
              <a:rPr sz="1200">
                <a:solidFill>
                  <a:srgbClr val="44546A"/>
                </a:solidFill>
                <a:latin typeface="微软雅黑" charset="0"/>
                <a:ea typeface="微软雅黑" charset="0"/>
                <a:cs typeface="微软雅黑" charset="0"/>
              </a:rPr>
              <a:t>取决于模型架构</a:t>
            </a:r>
            <a:r>
              <a:rPr sz="1200">
                <a:solidFill>
                  <a:srgbClr val="44546A"/>
                </a:solidFill>
                <a:latin typeface="微软雅黑"/>
                <a:ea typeface="微软雅黑"/>
                <a:cs typeface="微软雅黑"/>
              </a:rPr>
              <a:t>，而在</a:t>
            </a:r>
            <a:r>
              <a:rPr lang="zh-CN" altLang="en-US" sz="1200">
                <a:solidFill>
                  <a:srgbClr val="44546A"/>
                </a:solidFill>
                <a:latin typeface="微软雅黑"/>
                <a:ea typeface="微软雅黑"/>
                <a:cs typeface="微软雅黑"/>
              </a:rPr>
              <a:t>于</a:t>
            </a:r>
            <a:r>
              <a:rPr sz="1200">
                <a:solidFill>
                  <a:srgbClr val="44546A"/>
                </a:solidFill>
                <a:latin typeface="微软雅黑"/>
                <a:ea typeface="微软雅黑"/>
                <a:cs typeface="微软雅黑"/>
              </a:rPr>
              <a:t>患者-PDO 纵向配对轨迹、培养偏差校正</a:t>
            </a:r>
            <a:r>
              <a:rPr lang="zh-CN" altLang="en-US" sz="1200">
                <a:solidFill>
                  <a:srgbClr val="44546A"/>
                </a:solidFill>
                <a:latin typeface="微软雅黑"/>
                <a:ea typeface="微软雅黑"/>
                <a:cs typeface="微软雅黑"/>
              </a:rPr>
              <a:t>机制</a:t>
            </a:r>
            <a:r>
              <a:rPr sz="1200">
                <a:solidFill>
                  <a:srgbClr val="44546A"/>
                </a:solidFill>
                <a:latin typeface="微软雅黑"/>
                <a:ea typeface="微软雅黑"/>
                <a:cs typeface="微软雅黑"/>
              </a:rPr>
              <a:t>和前瞻</a:t>
            </a:r>
            <a:r>
              <a:rPr lang="zh-CN" altLang="en-US" sz="1200">
                <a:solidFill>
                  <a:srgbClr val="44546A"/>
                </a:solidFill>
                <a:latin typeface="微软雅黑"/>
                <a:ea typeface="微软雅黑"/>
                <a:cs typeface="微软雅黑"/>
              </a:rPr>
              <a:t>性临床</a:t>
            </a:r>
            <a:r>
              <a:rPr sz="1200">
                <a:solidFill>
                  <a:srgbClr val="44546A"/>
                </a:solidFill>
                <a:latin typeface="微软雅黑"/>
                <a:ea typeface="微软雅黑"/>
                <a:cs typeface="微软雅黑"/>
              </a:rPr>
              <a:t>验证闭环。三类</a:t>
            </a:r>
            <a:r>
              <a:rPr lang="zh-CN" altLang="en-US" sz="1200">
                <a:solidFill>
                  <a:srgbClr val="44546A"/>
                </a:solidFill>
                <a:latin typeface="微软雅黑"/>
                <a:ea typeface="微软雅黑"/>
                <a:cs typeface="微软雅黑"/>
              </a:rPr>
              <a:t>核心</a:t>
            </a:r>
            <a:r>
              <a:rPr sz="1200">
                <a:solidFill>
                  <a:srgbClr val="44546A"/>
                </a:solidFill>
                <a:latin typeface="微软雅黑"/>
                <a:ea typeface="微软雅黑"/>
                <a:cs typeface="微软雅黑"/>
              </a:rPr>
              <a:t>资产</a:t>
            </a:r>
            <a:r>
              <a:rPr lang="zh-CN" altLang="en-US" sz="1200">
                <a:solidFill>
                  <a:srgbClr val="44546A"/>
                </a:solidFill>
                <a:latin typeface="微软雅黑"/>
                <a:ea typeface="微软雅黑"/>
                <a:cs typeface="微软雅黑"/>
              </a:rPr>
              <a:t>共同</a:t>
            </a:r>
            <a:r>
              <a:rPr sz="1200">
                <a:solidFill>
                  <a:srgbClr val="44546A"/>
                </a:solidFill>
                <a:latin typeface="微软雅黑"/>
                <a:ea typeface="微软雅黑"/>
                <a:cs typeface="微软雅黑"/>
              </a:rPr>
              <a:t>决定模型能否回</a:t>
            </a:r>
            <a:r>
              <a:rPr lang="zh-CN" altLang="en-US" sz="1200">
                <a:solidFill>
                  <a:srgbClr val="44546A"/>
                </a:solidFill>
                <a:latin typeface="微软雅黑"/>
                <a:ea typeface="微软雅黑"/>
                <a:cs typeface="微软雅黑"/>
              </a:rPr>
              <a:t>推至真实</a:t>
            </a:r>
            <a:r>
              <a:rPr sz="1200">
                <a:solidFill>
                  <a:srgbClr val="44546A"/>
                </a:solidFill>
                <a:latin typeface="微软雅黑"/>
                <a:ea typeface="微软雅黑"/>
                <a:cs typeface="微软雅黑"/>
              </a:rPr>
              <a:t>患者</a:t>
            </a:r>
            <a:r>
              <a:rPr lang="zh-CN" altLang="en-US" sz="1200">
                <a:solidFill>
                  <a:srgbClr val="44546A"/>
                </a:solidFill>
                <a:latin typeface="微软雅黑"/>
                <a:ea typeface="微软雅黑"/>
                <a:cs typeface="微软雅黑"/>
              </a:rPr>
              <a:t>场景</a:t>
            </a:r>
            <a:r>
              <a:rPr sz="1200">
                <a:solidFill>
                  <a:srgbClr val="44546A"/>
                </a:solidFill>
                <a:latin typeface="微软雅黑"/>
                <a:ea typeface="微软雅黑"/>
                <a:cs typeface="微软雅黑"/>
              </a:rPr>
              <a:t>。</a:t>
            </a:r>
            <a:endParaRPr sz="1200">
              <a:solidFill>
                <a:srgbClr val="44546A"/>
              </a:solidFill>
              <a:latin typeface="微软雅黑"/>
              <a:ea typeface="微软雅黑"/>
              <a:cs typeface="微软雅黑"/>
            </a:endParaRPr>
          </a:p>
        </p:txBody>
      </p:sp>
      <p:sp>
        <p:nvSpPr>
          <p:cNvPr id="155" name="文本框 129"/>
          <p:cNvSpPr>
            <a:spLocks noGrp="1"/>
          </p:cNvSpPr>
          <p:nvPr/>
        </p:nvSpPr>
        <p:spPr>
          <a:xfrm>
            <a:off x="533400" y="6381750"/>
            <a:ext cx="40767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Source: AIVC </a:t>
            </a:r>
            <a:r>
              <a:rPr sz="1050">
                <a:solidFill>
                  <a:srgbClr val="808080"/>
                </a:solidFill>
                <a:latin typeface="微软雅黑"/>
                <a:ea typeface="微软雅黑"/>
                <a:cs typeface="微软雅黑"/>
              </a:rPr>
              <a:t>商业故事</a:t>
            </a:r>
            <a:r>
              <a:rPr sz="1050">
                <a:solidFill>
                  <a:srgbClr val="808080"/>
                </a:solidFill>
                <a:latin typeface="微软雅黑"/>
                <a:ea typeface="微软雅黑"/>
                <a:cs typeface="微软雅黑"/>
              </a:rPr>
              <a:t> BP §7</a:t>
            </a:r>
            <a:r>
              <a:rPr sz="1050">
                <a:solidFill>
                  <a:srgbClr val="808080"/>
                </a:solidFill>
                <a:latin typeface="微软雅黑"/>
                <a:ea typeface="微软雅黑"/>
                <a:cs typeface="微软雅黑"/>
              </a:rPr>
              <a:t>；各公司公开融资信息（</a:t>
            </a:r>
            <a:r>
              <a:rPr sz="1050">
                <a:solidFill>
                  <a:srgbClr val="808080"/>
                </a:solidFill>
                <a:latin typeface="微软雅黑"/>
                <a:ea typeface="微软雅黑"/>
                <a:cs typeface="微软雅黑"/>
              </a:rPr>
              <a:t>2025–2026</a:t>
            </a:r>
            <a:r>
              <a:rPr sz="1050">
                <a:solidFill>
                  <a:srgbClr val="808080"/>
                </a:solidFill>
                <a:latin typeface="微软雅黑"/>
                <a:ea typeface="微软雅黑"/>
                <a:cs typeface="微软雅黑"/>
              </a:rPr>
              <a:t>）</a:t>
            </a:r>
            <a:endParaRPr sz="1050">
              <a:solidFill>
                <a:srgbClr val="808080"/>
              </a:solidFill>
              <a:latin typeface="微软雅黑"/>
              <a:ea typeface="微软雅黑"/>
              <a:cs typeface="微软雅黑"/>
            </a:endParaRPr>
          </a:p>
        </p:txBody>
      </p:sp>
      <p:sp>
        <p:nvSpPr>
          <p:cNvPr id="156" name="文本框 130"/>
          <p:cNvSpPr>
            <a:spLocks noGrp="1"/>
          </p:cNvSpPr>
          <p:nvPr/>
        </p:nvSpPr>
        <p:spPr>
          <a:xfrm>
            <a:off x="11201400" y="6381750"/>
            <a:ext cx="4572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16 / 18</a:t>
            </a:r>
            <a:endParaRPr sz="1050">
              <a:solidFill>
                <a:srgbClr val="808080"/>
              </a:solidFill>
              <a:latin typeface="微软雅黑"/>
              <a:ea typeface="微软雅黑"/>
              <a:cs typeface="微软雅黑"/>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 name="矩形 132"/>
          <p:cNvSpPr>
            <a:spLocks noGrp="1"/>
          </p:cNvSpPr>
          <p:nvPr/>
        </p:nvSpPr>
        <p:spPr>
          <a:xfrm>
            <a:off x="0" y="0"/>
            <a:ext cx="12192000" cy="6858000"/>
          </a:xfrm>
          <a:prstGeom prst="rect">
            <a:avLst/>
          </a:prstGeom>
          <a:solidFill>
            <a:srgbClr val="FFFFFF"/>
          </a:solidFill>
        </p:spPr>
        <p:txBody>
          <a:bodyPr/>
          <a:lstStyle/>
          <a:p/>
        </p:txBody>
      </p:sp>
      <p:sp>
        <p:nvSpPr>
          <p:cNvPr id="159" name="文本框 133"/>
          <p:cNvSpPr>
            <a:spLocks noGrp="1"/>
          </p:cNvSpPr>
          <p:nvPr/>
        </p:nvSpPr>
        <p:spPr>
          <a:xfrm>
            <a:off x="533400" y="419100"/>
            <a:ext cx="11125200" cy="381000"/>
          </a:xfrm>
          <a:prstGeom prst="rect">
            <a:avLst/>
          </a:prstGeom>
        </p:spPr>
        <p:txBody>
          <a:bodyPr wrap="none" lIns="0" tIns="0" rIns="0" bIns="0"/>
          <a:lstStyle/>
          <a:p>
            <a:pPr>
              <a:lnSpc>
                <a:spcPct val="100000"/>
              </a:lnSpc>
              <a:buNone/>
            </a:pPr>
            <a:r>
              <a:rPr sz="2475" b="1">
                <a:solidFill>
                  <a:srgbClr val="061F32"/>
                </a:solidFill>
                <a:latin typeface="微软雅黑"/>
                <a:ea typeface="微软雅黑"/>
                <a:cs typeface="微软雅黑"/>
              </a:rPr>
              <a:t>商业模式：</a:t>
            </a:r>
            <a:r>
              <a:rPr lang="zh-CN" altLang="en-US" sz="2475" b="1">
                <a:solidFill>
                  <a:srgbClr val="061F32"/>
                </a:solidFill>
                <a:latin typeface="微软雅黑"/>
                <a:ea typeface="微软雅黑"/>
                <a:cs typeface="微软雅黑"/>
              </a:rPr>
              <a:t>项目服务产生</a:t>
            </a:r>
            <a:r>
              <a:rPr sz="2475" b="1">
                <a:solidFill>
                  <a:srgbClr val="061F32"/>
                </a:solidFill>
                <a:latin typeface="微软雅黑"/>
                <a:ea typeface="微软雅黑"/>
                <a:cs typeface="微软雅黑"/>
              </a:rPr>
              <a:t>现金流，数据沉淀</a:t>
            </a:r>
            <a:r>
              <a:rPr lang="zh-CN" altLang="en-US" sz="2475" b="1">
                <a:solidFill>
                  <a:srgbClr val="061F32"/>
                </a:solidFill>
                <a:latin typeface="微软雅黑"/>
                <a:ea typeface="微软雅黑"/>
                <a:cs typeface="微软雅黑"/>
              </a:rPr>
              <a:t>搭建技术</a:t>
            </a:r>
            <a:r>
              <a:rPr sz="2475" b="1">
                <a:solidFill>
                  <a:srgbClr val="061F32"/>
                </a:solidFill>
                <a:latin typeface="微软雅黑"/>
                <a:ea typeface="微软雅黑"/>
                <a:cs typeface="微软雅黑"/>
              </a:rPr>
              <a:t>平台</a:t>
            </a:r>
            <a:endParaRPr sz="2475" b="1">
              <a:solidFill>
                <a:srgbClr val="061F32"/>
              </a:solidFill>
              <a:latin typeface="微软雅黑"/>
              <a:ea typeface="微软雅黑"/>
              <a:cs typeface="微软雅黑"/>
            </a:endParaRPr>
          </a:p>
        </p:txBody>
      </p:sp>
      <p:sp>
        <p:nvSpPr>
          <p:cNvPr id="160" name="矩形 134"/>
          <p:cNvSpPr>
            <a:spLocks noGrp="1"/>
          </p:cNvSpPr>
          <p:nvPr/>
        </p:nvSpPr>
        <p:spPr>
          <a:xfrm>
            <a:off x="533400" y="895350"/>
            <a:ext cx="11125200" cy="9525"/>
          </a:xfrm>
          <a:prstGeom prst="rect">
            <a:avLst/>
          </a:prstGeom>
          <a:solidFill>
            <a:srgbClr val="061F32"/>
          </a:solidFill>
        </p:spPr>
        <p:txBody>
          <a:bodyPr/>
          <a:lstStyle/>
          <a:p/>
        </p:txBody>
      </p:sp>
      <p:sp>
        <p:nvSpPr>
          <p:cNvPr id="161" name="矩形 135"/>
          <p:cNvSpPr>
            <a:spLocks noGrp="1"/>
          </p:cNvSpPr>
          <p:nvPr/>
        </p:nvSpPr>
        <p:spPr>
          <a:xfrm>
            <a:off x="533400" y="1019175"/>
            <a:ext cx="3419475" cy="1687825"/>
          </a:xfrm>
          <a:prstGeom prst="rect">
            <a:avLst/>
          </a:prstGeom>
          <a:solidFill>
            <a:srgbClr val="061F32"/>
          </a:solidFill>
        </p:spPr>
        <p:txBody>
          <a:bodyPr/>
          <a:lstStyle/>
          <a:p/>
        </p:txBody>
      </p:sp>
      <p:sp>
        <p:nvSpPr>
          <p:cNvPr id="162" name="文本框 136"/>
          <p:cNvSpPr>
            <a:spLocks noGrp="1"/>
          </p:cNvSpPr>
          <p:nvPr/>
        </p:nvSpPr>
        <p:spPr>
          <a:xfrm>
            <a:off x="742950" y="1190625"/>
            <a:ext cx="3000375" cy="171450"/>
          </a:xfrm>
          <a:prstGeom prst="rect">
            <a:avLst/>
          </a:prstGeom>
        </p:spPr>
        <p:txBody>
          <a:bodyPr wrap="none" lIns="0" tIns="0" rIns="0" bIns="0"/>
          <a:lstStyle/>
          <a:p>
            <a:pPr>
              <a:lnSpc>
                <a:spcPct val="100000"/>
              </a:lnSpc>
              <a:buNone/>
            </a:pPr>
            <a:r>
              <a:rPr sz="1125" b="1" spc="150">
                <a:solidFill>
                  <a:srgbClr val="99BDED"/>
                </a:solidFill>
                <a:latin typeface="微软雅黑"/>
                <a:ea typeface="微软雅黑"/>
                <a:cs typeface="微软雅黑"/>
              </a:rPr>
              <a:t>第一阶段</a:t>
            </a:r>
            <a:endParaRPr sz="1125" b="1" spc="150">
              <a:solidFill>
                <a:srgbClr val="99BDED"/>
              </a:solidFill>
              <a:latin typeface="微软雅黑"/>
              <a:ea typeface="微软雅黑"/>
              <a:cs typeface="微软雅黑"/>
            </a:endParaRPr>
          </a:p>
        </p:txBody>
      </p:sp>
      <p:sp>
        <p:nvSpPr>
          <p:cNvPr id="163" name="文本框 137"/>
          <p:cNvSpPr>
            <a:spLocks noGrp="1"/>
          </p:cNvSpPr>
          <p:nvPr/>
        </p:nvSpPr>
        <p:spPr>
          <a:xfrm>
            <a:off x="742950" y="1419225"/>
            <a:ext cx="3000375" cy="266700"/>
          </a:xfrm>
          <a:prstGeom prst="rect">
            <a:avLst/>
          </a:prstGeom>
        </p:spPr>
        <p:txBody>
          <a:bodyPr wrap="none" lIns="0" tIns="0" rIns="0" bIns="0"/>
          <a:lstStyle/>
          <a:p>
            <a:pPr>
              <a:lnSpc>
                <a:spcPct val="100000"/>
              </a:lnSpc>
              <a:buNone/>
            </a:pPr>
            <a:r>
              <a:rPr sz="1725" b="1">
                <a:solidFill>
                  <a:srgbClr val="FFFFFF"/>
                </a:solidFill>
                <a:latin typeface="微软雅黑"/>
                <a:ea typeface="微软雅黑"/>
                <a:cs typeface="微软雅黑"/>
              </a:rPr>
              <a:t>研究项目收费</a:t>
            </a:r>
            <a:endParaRPr sz="1725" b="1">
              <a:solidFill>
                <a:srgbClr val="FFFFFF"/>
              </a:solidFill>
              <a:latin typeface="微软雅黑"/>
              <a:ea typeface="微软雅黑"/>
              <a:cs typeface="微软雅黑"/>
            </a:endParaRPr>
          </a:p>
        </p:txBody>
      </p:sp>
      <p:sp>
        <p:nvSpPr>
          <p:cNvPr id="164" name="文本框 138"/>
          <p:cNvSpPr>
            <a:spLocks noGrp="1"/>
          </p:cNvSpPr>
          <p:nvPr/>
        </p:nvSpPr>
        <p:spPr>
          <a:xfrm>
            <a:off x="742950" y="1781175"/>
            <a:ext cx="3000375" cy="828675"/>
          </a:xfrm>
          <a:prstGeom prst="rect">
            <a:avLst/>
          </a:prstGeom>
        </p:spPr>
        <p:txBody>
          <a:bodyPr wrap="square" lIns="0" tIns="0" rIns="0" bIns="0">
            <a:normAutofit lnSpcReduction="10000"/>
          </a:bodyPr>
          <a:lstStyle/>
          <a:p>
            <a:pPr>
              <a:lnSpc>
                <a:spcPct val="150000"/>
              </a:lnSpc>
              <a:buNone/>
            </a:pPr>
            <a:r>
              <a:rPr sz="1100">
                <a:solidFill>
                  <a:srgbClr val="99BDED"/>
                </a:solidFill>
                <a:latin typeface="微软雅黑"/>
                <a:ea typeface="微软雅黑"/>
                <a:cs typeface="微软雅黑"/>
              </a:rPr>
              <a:t>围绕明确研发问题交付候选</a:t>
            </a:r>
            <a:r>
              <a:rPr lang="zh-CN" altLang="en-US" sz="1100">
                <a:solidFill>
                  <a:srgbClr val="99BDED"/>
                </a:solidFill>
                <a:latin typeface="微软雅黑"/>
                <a:ea typeface="微软雅黑"/>
                <a:cs typeface="微软雅黑"/>
              </a:rPr>
              <a:t>方案</a:t>
            </a:r>
            <a:r>
              <a:rPr sz="1100">
                <a:solidFill>
                  <a:srgbClr val="99BDED"/>
                </a:solidFill>
                <a:latin typeface="微软雅黑"/>
                <a:ea typeface="微软雅黑"/>
                <a:cs typeface="微软雅黑"/>
              </a:rPr>
              <a:t>排序、机制解释和验证结果。客户</a:t>
            </a:r>
            <a:r>
              <a:rPr lang="zh-CN" altLang="en-US" sz="1100">
                <a:solidFill>
                  <a:srgbClr val="99BDED"/>
                </a:solidFill>
                <a:latin typeface="微软雅黑"/>
                <a:ea typeface="微软雅黑"/>
                <a:cs typeface="微软雅黑"/>
              </a:rPr>
              <a:t>采购完整</a:t>
            </a:r>
            <a:r>
              <a:rPr sz="1100">
                <a:solidFill>
                  <a:srgbClr val="99BDED"/>
                </a:solidFill>
                <a:latin typeface="微软雅黑"/>
                <a:ea typeface="微软雅黑"/>
                <a:cs typeface="微软雅黑"/>
              </a:rPr>
              <a:t>研发</a:t>
            </a:r>
            <a:r>
              <a:rPr lang="zh-CN" altLang="en-US" sz="1100">
                <a:solidFill>
                  <a:srgbClr val="99BDED"/>
                </a:solidFill>
                <a:latin typeface="微软雅黑"/>
                <a:ea typeface="微软雅黑"/>
                <a:cs typeface="微软雅黑"/>
              </a:rPr>
              <a:t>解决方案</a:t>
            </a:r>
            <a:r>
              <a:rPr sz="1100">
                <a:solidFill>
                  <a:srgbClr val="99BDED"/>
                </a:solidFill>
                <a:latin typeface="微软雅黑"/>
                <a:ea typeface="微软雅黑"/>
                <a:cs typeface="微软雅黑"/>
              </a:rPr>
              <a:t>，</a:t>
            </a:r>
            <a:r>
              <a:rPr lang="zh-CN" altLang="en-US" sz="1100">
                <a:solidFill>
                  <a:srgbClr val="99BDED"/>
                </a:solidFill>
                <a:latin typeface="微软雅黑"/>
                <a:ea typeface="微软雅黑"/>
                <a:cs typeface="微软雅黑"/>
              </a:rPr>
              <a:t>并非</a:t>
            </a:r>
            <a:r>
              <a:rPr sz="1100">
                <a:solidFill>
                  <a:srgbClr val="99BDED"/>
                </a:solidFill>
                <a:latin typeface="微软雅黑"/>
                <a:ea typeface="微软雅黑"/>
                <a:cs typeface="微软雅黑"/>
              </a:rPr>
              <a:t>单次类器官培养</a:t>
            </a:r>
            <a:r>
              <a:rPr lang="zh-CN" altLang="en-US" sz="1100">
                <a:solidFill>
                  <a:srgbClr val="99BDED"/>
                </a:solidFill>
                <a:latin typeface="微软雅黑"/>
                <a:ea typeface="微软雅黑"/>
                <a:cs typeface="微软雅黑"/>
              </a:rPr>
              <a:t>服务</a:t>
            </a:r>
            <a:r>
              <a:rPr sz="1100">
                <a:solidFill>
                  <a:srgbClr val="99BDED"/>
                </a:solidFill>
                <a:latin typeface="微软雅黑"/>
                <a:ea typeface="微软雅黑"/>
                <a:cs typeface="微软雅黑"/>
              </a:rPr>
              <a:t>。</a:t>
            </a:r>
            <a:endParaRPr sz="1100">
              <a:solidFill>
                <a:srgbClr val="99BDED"/>
              </a:solidFill>
              <a:latin typeface="微软雅黑"/>
              <a:ea typeface="微软雅黑"/>
              <a:cs typeface="微软雅黑"/>
            </a:endParaRPr>
          </a:p>
        </p:txBody>
      </p:sp>
      <p:pic>
        <p:nvPicPr>
          <p:cNvPr id="207" name="图片 13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48125" y="1914525"/>
            <a:ext cx="247650" cy="209550"/>
          </a:xfrm>
          <a:prstGeom prst="rect">
            <a:avLst/>
          </a:prstGeom>
        </p:spPr>
      </p:pic>
      <p:sp>
        <p:nvSpPr>
          <p:cNvPr id="166" name="矩形 140"/>
          <p:cNvSpPr>
            <a:spLocks noGrp="1"/>
          </p:cNvSpPr>
          <p:nvPr/>
        </p:nvSpPr>
        <p:spPr>
          <a:xfrm>
            <a:off x="4391025" y="1019175"/>
            <a:ext cx="3409950" cy="1687863"/>
          </a:xfrm>
          <a:prstGeom prst="rect">
            <a:avLst/>
          </a:prstGeom>
          <a:solidFill>
            <a:srgbClr val="001965"/>
          </a:solidFill>
        </p:spPr>
        <p:txBody>
          <a:bodyPr/>
          <a:lstStyle/>
          <a:p/>
        </p:txBody>
      </p:sp>
      <p:sp>
        <p:nvSpPr>
          <p:cNvPr id="167" name="文本框 141"/>
          <p:cNvSpPr>
            <a:spLocks noGrp="1"/>
          </p:cNvSpPr>
          <p:nvPr/>
        </p:nvSpPr>
        <p:spPr>
          <a:xfrm>
            <a:off x="4600575" y="1190625"/>
            <a:ext cx="2990850" cy="171450"/>
          </a:xfrm>
          <a:prstGeom prst="rect">
            <a:avLst/>
          </a:prstGeom>
        </p:spPr>
        <p:txBody>
          <a:bodyPr wrap="none" lIns="0" tIns="0" rIns="0" bIns="0"/>
          <a:lstStyle/>
          <a:p>
            <a:pPr>
              <a:lnSpc>
                <a:spcPct val="100000"/>
              </a:lnSpc>
              <a:buNone/>
            </a:pPr>
            <a:r>
              <a:rPr sz="1125" b="1" spc="150">
                <a:solidFill>
                  <a:srgbClr val="99BDED"/>
                </a:solidFill>
                <a:latin typeface="微软雅黑"/>
                <a:ea typeface="微软雅黑"/>
                <a:cs typeface="微软雅黑"/>
              </a:rPr>
              <a:t>第二阶段</a:t>
            </a:r>
            <a:endParaRPr sz="1125" b="1" spc="150">
              <a:solidFill>
                <a:srgbClr val="99BDED"/>
              </a:solidFill>
              <a:latin typeface="微软雅黑"/>
              <a:ea typeface="微软雅黑"/>
              <a:cs typeface="微软雅黑"/>
            </a:endParaRPr>
          </a:p>
        </p:txBody>
      </p:sp>
      <p:sp>
        <p:nvSpPr>
          <p:cNvPr id="168" name="文本框 142"/>
          <p:cNvSpPr>
            <a:spLocks noGrp="1"/>
          </p:cNvSpPr>
          <p:nvPr/>
        </p:nvSpPr>
        <p:spPr>
          <a:xfrm>
            <a:off x="4600575" y="1419225"/>
            <a:ext cx="2990850" cy="266700"/>
          </a:xfrm>
          <a:prstGeom prst="rect">
            <a:avLst/>
          </a:prstGeom>
        </p:spPr>
        <p:txBody>
          <a:bodyPr wrap="none" lIns="0" tIns="0" rIns="0" bIns="0"/>
          <a:lstStyle/>
          <a:p>
            <a:pPr>
              <a:lnSpc>
                <a:spcPct val="100000"/>
              </a:lnSpc>
              <a:buNone/>
            </a:pPr>
            <a:r>
              <a:rPr sz="1725" b="1">
                <a:solidFill>
                  <a:srgbClr val="FFFFFF"/>
                </a:solidFill>
                <a:latin typeface="微软雅黑"/>
                <a:ea typeface="微软雅黑"/>
                <a:cs typeface="微软雅黑"/>
              </a:rPr>
              <a:t>队列共建</a:t>
            </a:r>
            <a:r>
              <a:rPr sz="1725" b="1">
                <a:solidFill>
                  <a:srgbClr val="FFFFFF"/>
                </a:solidFill>
                <a:latin typeface="微软雅黑"/>
                <a:ea typeface="微软雅黑"/>
                <a:cs typeface="微软雅黑"/>
              </a:rPr>
              <a:t> + 里程碑</a:t>
            </a:r>
            <a:r>
              <a:rPr lang="zh-CN" altLang="en-US" sz="1725" b="1">
                <a:solidFill>
                  <a:srgbClr val="FFFFFF"/>
                </a:solidFill>
                <a:latin typeface="微软雅黑"/>
                <a:ea typeface="微软雅黑"/>
                <a:cs typeface="微软雅黑"/>
              </a:rPr>
              <a:t>付款</a:t>
            </a:r>
            <a:endParaRPr sz="1725" b="1">
              <a:solidFill>
                <a:srgbClr val="FFFFFF"/>
              </a:solidFill>
              <a:latin typeface="微软雅黑"/>
              <a:ea typeface="微软雅黑"/>
              <a:cs typeface="微软雅黑"/>
            </a:endParaRPr>
          </a:p>
        </p:txBody>
      </p:sp>
      <p:sp>
        <p:nvSpPr>
          <p:cNvPr id="169" name="文本框 143"/>
          <p:cNvSpPr>
            <a:spLocks noGrp="1"/>
          </p:cNvSpPr>
          <p:nvPr/>
        </p:nvSpPr>
        <p:spPr>
          <a:xfrm>
            <a:off x="4600575" y="1781175"/>
            <a:ext cx="2990850" cy="828646"/>
          </a:xfrm>
          <a:prstGeom prst="rect">
            <a:avLst/>
          </a:prstGeom>
        </p:spPr>
        <p:txBody>
          <a:bodyPr wrap="square" lIns="0" tIns="0" rIns="0" bIns="0">
            <a:normAutofit/>
          </a:bodyPr>
          <a:lstStyle/>
          <a:p>
            <a:pPr>
              <a:lnSpc>
                <a:spcPct val="150000"/>
              </a:lnSpc>
              <a:buNone/>
            </a:pPr>
            <a:r>
              <a:rPr sz="1100">
                <a:solidFill>
                  <a:srgbClr val="99BDED"/>
                </a:solidFill>
                <a:latin typeface="微软雅黑"/>
                <a:ea typeface="微软雅黑"/>
                <a:cs typeface="微软雅黑"/>
              </a:rPr>
              <a:t>与药企和医院共建</a:t>
            </a:r>
            <a:r>
              <a:rPr lang="zh-CN" altLang="en-US" sz="1100">
                <a:solidFill>
                  <a:srgbClr val="99BDED"/>
                </a:solidFill>
                <a:latin typeface="微软雅黑"/>
                <a:ea typeface="微软雅黑"/>
                <a:cs typeface="微软雅黑"/>
              </a:rPr>
              <a:t>患者</a:t>
            </a:r>
            <a:r>
              <a:rPr sz="1100">
                <a:solidFill>
                  <a:srgbClr val="99BDED"/>
                </a:solidFill>
                <a:latin typeface="微软雅黑"/>
                <a:ea typeface="微软雅黑"/>
                <a:cs typeface="微软雅黑"/>
              </a:rPr>
              <a:t>队列与</a:t>
            </a:r>
            <a:r>
              <a:rPr lang="zh-CN" altLang="en-US" sz="1100">
                <a:solidFill>
                  <a:srgbClr val="99BDED"/>
                </a:solidFill>
                <a:latin typeface="微软雅黑"/>
                <a:ea typeface="微软雅黑"/>
                <a:cs typeface="微软雅黑"/>
              </a:rPr>
              <a:t>联合</a:t>
            </a:r>
            <a:r>
              <a:rPr sz="1100">
                <a:solidFill>
                  <a:srgbClr val="99BDED"/>
                </a:solidFill>
                <a:latin typeface="微软雅黑"/>
                <a:ea typeface="微软雅黑"/>
                <a:cs typeface="微软雅黑"/>
              </a:rPr>
              <a:t>验证项目，</a:t>
            </a:r>
            <a:r>
              <a:rPr lang="zh-CN" altLang="en-US" sz="1100">
                <a:solidFill>
                  <a:srgbClr val="99BDED"/>
                </a:solidFill>
                <a:latin typeface="微软雅黑"/>
                <a:ea typeface="微软雅黑"/>
                <a:cs typeface="微软雅黑"/>
              </a:rPr>
              <a:t>通过</a:t>
            </a:r>
            <a:r>
              <a:rPr sz="1100">
                <a:solidFill>
                  <a:srgbClr val="99BDED"/>
                </a:solidFill>
                <a:latin typeface="微软雅黑"/>
                <a:ea typeface="微软雅黑"/>
                <a:cs typeface="微软雅黑"/>
              </a:rPr>
              <a:t>首付款</a:t>
            </a:r>
            <a:r>
              <a:rPr lang="zh-CN" altLang="en-US" sz="1100">
                <a:solidFill>
                  <a:srgbClr val="99BDED"/>
                </a:solidFill>
                <a:latin typeface="微软雅黑"/>
                <a:ea typeface="微软雅黑"/>
                <a:cs typeface="微软雅黑"/>
              </a:rPr>
              <a:t>结合分阶段</a:t>
            </a:r>
            <a:r>
              <a:rPr sz="1100">
                <a:solidFill>
                  <a:srgbClr val="99BDED"/>
                </a:solidFill>
                <a:latin typeface="微软雅黑"/>
                <a:ea typeface="微软雅黑"/>
                <a:cs typeface="微软雅黑"/>
              </a:rPr>
              <a:t>里程碑付款</a:t>
            </a:r>
            <a:r>
              <a:rPr lang="zh-CN" altLang="en-US" sz="1100">
                <a:solidFill>
                  <a:srgbClr val="99BDED"/>
                </a:solidFill>
                <a:latin typeface="微软雅黑"/>
                <a:ea typeface="微软雅黑"/>
                <a:cs typeface="微软雅黑"/>
              </a:rPr>
              <a:t>，锁定</a:t>
            </a:r>
            <a:r>
              <a:rPr sz="1100">
                <a:solidFill>
                  <a:srgbClr val="99BDED"/>
                </a:solidFill>
                <a:latin typeface="微软雅黑"/>
                <a:ea typeface="微软雅黑"/>
                <a:cs typeface="微软雅黑"/>
              </a:rPr>
              <a:t>长期</a:t>
            </a:r>
            <a:r>
              <a:rPr lang="zh-CN" altLang="en-US" sz="1100">
                <a:solidFill>
                  <a:srgbClr val="99BDED"/>
                </a:solidFill>
                <a:latin typeface="微软雅黑"/>
                <a:ea typeface="微软雅黑"/>
                <a:cs typeface="微软雅黑"/>
              </a:rPr>
              <a:t>合作</a:t>
            </a:r>
            <a:r>
              <a:rPr sz="1100">
                <a:solidFill>
                  <a:srgbClr val="99BDED"/>
                </a:solidFill>
                <a:latin typeface="微软雅黑"/>
                <a:ea typeface="微软雅黑"/>
                <a:cs typeface="微软雅黑"/>
              </a:rPr>
              <a:t>价值</a:t>
            </a:r>
            <a:endParaRPr sz="1100">
              <a:solidFill>
                <a:srgbClr val="99BDED"/>
              </a:solidFill>
              <a:latin typeface="微软雅黑"/>
              <a:ea typeface="微软雅黑"/>
              <a:cs typeface="微软雅黑"/>
            </a:endParaRPr>
          </a:p>
        </p:txBody>
      </p:sp>
      <p:pic>
        <p:nvPicPr>
          <p:cNvPr id="212" name="图片 14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96225" y="1914525"/>
            <a:ext cx="247650" cy="209550"/>
          </a:xfrm>
          <a:prstGeom prst="rect">
            <a:avLst/>
          </a:prstGeom>
        </p:spPr>
      </p:pic>
      <p:sp>
        <p:nvSpPr>
          <p:cNvPr id="171" name="矩形 145"/>
          <p:cNvSpPr>
            <a:spLocks noGrp="1"/>
          </p:cNvSpPr>
          <p:nvPr/>
        </p:nvSpPr>
        <p:spPr>
          <a:xfrm>
            <a:off x="8239125" y="1019175"/>
            <a:ext cx="3419475" cy="1687863"/>
          </a:xfrm>
          <a:prstGeom prst="rect">
            <a:avLst/>
          </a:prstGeom>
          <a:solidFill>
            <a:srgbClr val="08A6F6"/>
          </a:solidFill>
        </p:spPr>
        <p:txBody>
          <a:bodyPr/>
          <a:lstStyle/>
          <a:p/>
        </p:txBody>
      </p:sp>
      <p:sp>
        <p:nvSpPr>
          <p:cNvPr id="172" name="文本框 146"/>
          <p:cNvSpPr>
            <a:spLocks noGrp="1"/>
          </p:cNvSpPr>
          <p:nvPr/>
        </p:nvSpPr>
        <p:spPr>
          <a:xfrm>
            <a:off x="8448675" y="1190625"/>
            <a:ext cx="3000375" cy="171450"/>
          </a:xfrm>
          <a:prstGeom prst="rect">
            <a:avLst/>
          </a:prstGeom>
        </p:spPr>
        <p:txBody>
          <a:bodyPr wrap="none" lIns="0" tIns="0" rIns="0" bIns="0"/>
          <a:lstStyle/>
          <a:p>
            <a:pPr>
              <a:lnSpc>
                <a:spcPct val="100000"/>
              </a:lnSpc>
              <a:buNone/>
            </a:pPr>
            <a:r>
              <a:rPr sz="1125" b="1" spc="150">
                <a:solidFill>
                  <a:srgbClr val="061F32"/>
                </a:solidFill>
                <a:latin typeface="微软雅黑"/>
                <a:ea typeface="微软雅黑"/>
                <a:cs typeface="微软雅黑"/>
              </a:rPr>
              <a:t>第三阶段</a:t>
            </a:r>
            <a:endParaRPr sz="1125" b="1" spc="150">
              <a:solidFill>
                <a:srgbClr val="061F32"/>
              </a:solidFill>
              <a:latin typeface="微软雅黑"/>
              <a:ea typeface="微软雅黑"/>
              <a:cs typeface="微软雅黑"/>
            </a:endParaRPr>
          </a:p>
        </p:txBody>
      </p:sp>
      <p:sp>
        <p:nvSpPr>
          <p:cNvPr id="173" name="文本框 147"/>
          <p:cNvSpPr>
            <a:spLocks noGrp="1"/>
          </p:cNvSpPr>
          <p:nvPr/>
        </p:nvSpPr>
        <p:spPr>
          <a:xfrm>
            <a:off x="8448675" y="1419225"/>
            <a:ext cx="3000375" cy="266700"/>
          </a:xfrm>
          <a:prstGeom prst="rect">
            <a:avLst/>
          </a:prstGeom>
        </p:spPr>
        <p:txBody>
          <a:bodyPr wrap="none" lIns="0" tIns="0" rIns="0" bIns="0"/>
          <a:lstStyle/>
          <a:p>
            <a:pPr>
              <a:lnSpc>
                <a:spcPct val="100000"/>
              </a:lnSpc>
              <a:buNone/>
            </a:pPr>
            <a:r>
              <a:rPr sz="1725" b="1">
                <a:solidFill>
                  <a:srgbClr val="061F32"/>
                </a:solidFill>
                <a:latin typeface="微软雅黑"/>
                <a:ea typeface="微软雅黑"/>
                <a:cs typeface="微软雅黑"/>
              </a:rPr>
              <a:t>平台许可</a:t>
            </a:r>
            <a:r>
              <a:rPr sz="1725" b="1">
                <a:solidFill>
                  <a:srgbClr val="061F32"/>
                </a:solidFill>
                <a:latin typeface="微软雅黑"/>
                <a:ea typeface="微软雅黑"/>
                <a:cs typeface="微软雅黑"/>
              </a:rPr>
              <a:t> + </a:t>
            </a:r>
            <a:r>
              <a:rPr sz="1725" b="1">
                <a:solidFill>
                  <a:srgbClr val="061F32"/>
                </a:solidFill>
                <a:latin typeface="微软雅黑"/>
                <a:ea typeface="微软雅黑"/>
                <a:cs typeface="微软雅黑"/>
              </a:rPr>
              <a:t>数据服务</a:t>
            </a:r>
            <a:endParaRPr sz="1725" b="1">
              <a:solidFill>
                <a:srgbClr val="061F32"/>
              </a:solidFill>
              <a:latin typeface="微软雅黑"/>
              <a:ea typeface="微软雅黑"/>
              <a:cs typeface="微软雅黑"/>
            </a:endParaRPr>
          </a:p>
        </p:txBody>
      </p:sp>
      <p:sp>
        <p:nvSpPr>
          <p:cNvPr id="174" name="文本框 148"/>
          <p:cNvSpPr>
            <a:spLocks noGrp="1"/>
          </p:cNvSpPr>
          <p:nvPr/>
        </p:nvSpPr>
        <p:spPr>
          <a:xfrm>
            <a:off x="8448675" y="1781175"/>
            <a:ext cx="3000375" cy="828675"/>
          </a:xfrm>
          <a:prstGeom prst="rect">
            <a:avLst/>
          </a:prstGeom>
        </p:spPr>
        <p:txBody>
          <a:bodyPr wrap="square" lIns="0" tIns="0" rIns="0" bIns="0">
            <a:normAutofit/>
          </a:bodyPr>
          <a:lstStyle/>
          <a:p>
            <a:pPr>
              <a:lnSpc>
                <a:spcPct val="150000"/>
              </a:lnSpc>
              <a:buNone/>
            </a:pPr>
            <a:r>
              <a:rPr sz="1100">
                <a:solidFill>
                  <a:srgbClr val="061F32"/>
                </a:solidFill>
                <a:latin typeface="微软雅黑"/>
                <a:ea typeface="微软雅黑"/>
                <a:cs typeface="微软雅黑"/>
              </a:rPr>
              <a:t>对外</a:t>
            </a:r>
            <a:r>
              <a:rPr sz="1100">
                <a:solidFill>
                  <a:srgbClr val="061F32"/>
                </a:solidFill>
                <a:latin typeface="微软雅黑"/>
                <a:ea typeface="微软雅黑"/>
                <a:cs typeface="Arial" panose="020B0604020202020204" pitchFamily="34" charset="0"/>
              </a:rPr>
              <a:t>输出</a:t>
            </a:r>
            <a:r>
              <a:rPr sz="1100">
                <a:solidFill>
                  <a:srgbClr val="061F32"/>
                </a:solidFill>
                <a:latin typeface="微软雅黑"/>
                <a:ea typeface="微软雅黑"/>
                <a:cs typeface="微软雅黑"/>
              </a:rPr>
              <a:t>平台</a:t>
            </a:r>
            <a:r>
              <a:rPr lang="zh-CN" altLang="en-US" sz="1100">
                <a:solidFill>
                  <a:srgbClr val="061F32"/>
                </a:solidFill>
                <a:latin typeface="微软雅黑"/>
                <a:ea typeface="微软雅黑"/>
                <a:cs typeface="微软雅黑"/>
              </a:rPr>
              <a:t>授权</a:t>
            </a:r>
            <a:r>
              <a:rPr sz="1100">
                <a:solidFill>
                  <a:srgbClr val="061F32"/>
                </a:solidFill>
                <a:latin typeface="微软雅黑"/>
                <a:ea typeface="微软雅黑"/>
                <a:cs typeface="微软雅黑"/>
              </a:rPr>
              <a:t>、</a:t>
            </a:r>
            <a:r>
              <a:rPr lang="zh-CN" altLang="en-US" sz="1100">
                <a:solidFill>
                  <a:srgbClr val="061F32"/>
                </a:solidFill>
                <a:latin typeface="微软雅黑"/>
                <a:ea typeface="微软雅黑"/>
                <a:cs typeface="微软雅黑"/>
              </a:rPr>
              <a:t>标准化</a:t>
            </a:r>
            <a:r>
              <a:rPr sz="1100">
                <a:solidFill>
                  <a:srgbClr val="061F32"/>
                </a:solidFill>
                <a:latin typeface="微软雅黑"/>
                <a:ea typeface="微软雅黑"/>
                <a:cs typeface="微软雅黑"/>
              </a:rPr>
              <a:t>数据服务</a:t>
            </a:r>
            <a:r>
              <a:rPr lang="zh-CN" altLang="en-US" sz="1100">
                <a:solidFill>
                  <a:srgbClr val="061F32"/>
                </a:solidFill>
                <a:latin typeface="微软雅黑"/>
                <a:ea typeface="微软雅黑"/>
                <a:cs typeface="微软雅黑"/>
              </a:rPr>
              <a:t>，探索</a:t>
            </a:r>
            <a:r>
              <a:rPr sz="1100">
                <a:solidFill>
                  <a:srgbClr val="061F32"/>
                </a:solidFill>
                <a:latin typeface="微软雅黑"/>
                <a:ea typeface="微软雅黑"/>
                <a:cs typeface="微软雅黑"/>
              </a:rPr>
              <a:t>资产合作</a:t>
            </a:r>
            <a:r>
              <a:rPr lang="zh-CN" altLang="en-US" sz="1100">
                <a:solidFill>
                  <a:srgbClr val="061F32"/>
                </a:solidFill>
                <a:latin typeface="微软雅黑"/>
                <a:ea typeface="微软雅黑"/>
                <a:cs typeface="微软雅黑"/>
              </a:rPr>
              <a:t>模式</a:t>
            </a:r>
            <a:r>
              <a:rPr sz="1100">
                <a:solidFill>
                  <a:srgbClr val="061F32"/>
                </a:solidFill>
                <a:latin typeface="微软雅黑"/>
                <a:ea typeface="微软雅黑"/>
                <a:cs typeface="微软雅黑"/>
              </a:rPr>
              <a:t>。</a:t>
            </a:r>
            <a:r>
              <a:rPr lang="zh-CN" altLang="en-US" sz="1100">
                <a:solidFill>
                  <a:srgbClr val="061F32"/>
                </a:solidFill>
                <a:latin typeface="微软雅黑"/>
                <a:ea typeface="微软雅黑"/>
                <a:cs typeface="微软雅黑"/>
              </a:rPr>
              <a:t>落地项目持续增加，纵向</a:t>
            </a:r>
            <a:r>
              <a:rPr sz="1100">
                <a:solidFill>
                  <a:srgbClr val="061F32"/>
                </a:solidFill>
                <a:latin typeface="微软雅黑"/>
                <a:ea typeface="微软雅黑"/>
                <a:cs typeface="微软雅黑"/>
              </a:rPr>
              <a:t>数据</a:t>
            </a:r>
            <a:r>
              <a:rPr lang="zh-CN" altLang="en-US" sz="1100">
                <a:solidFill>
                  <a:srgbClr val="061F32"/>
                </a:solidFill>
                <a:latin typeface="微软雅黑"/>
                <a:ea typeface="微软雅黑"/>
                <a:cs typeface="微软雅黑"/>
              </a:rPr>
              <a:t>不断积累，</a:t>
            </a:r>
            <a:r>
              <a:rPr sz="1100">
                <a:solidFill>
                  <a:srgbClr val="061F32"/>
                </a:solidFill>
                <a:latin typeface="微软雅黑"/>
                <a:ea typeface="微软雅黑"/>
                <a:cs typeface="微软雅黑"/>
              </a:rPr>
              <a:t>模型复用</a:t>
            </a:r>
            <a:r>
              <a:rPr lang="zh-CN" altLang="en-US" sz="1100">
                <a:solidFill>
                  <a:srgbClr val="061F32"/>
                </a:solidFill>
                <a:latin typeface="微软雅黑"/>
                <a:ea typeface="微软雅黑"/>
                <a:cs typeface="微软雅黑"/>
              </a:rPr>
              <a:t>效率与</a:t>
            </a:r>
            <a:r>
              <a:rPr sz="1100">
                <a:solidFill>
                  <a:srgbClr val="061F32"/>
                </a:solidFill>
                <a:latin typeface="微软雅黑"/>
                <a:ea typeface="微软雅黑"/>
                <a:cs typeface="微软雅黑"/>
              </a:rPr>
              <a:t>交付毛利</a:t>
            </a:r>
            <a:r>
              <a:rPr lang="zh-CN" altLang="en-US" sz="1100">
                <a:solidFill>
                  <a:srgbClr val="061F32"/>
                </a:solidFill>
                <a:latin typeface="微软雅黑"/>
                <a:ea typeface="微软雅黑"/>
                <a:cs typeface="微软雅黑"/>
              </a:rPr>
              <a:t>逐步</a:t>
            </a:r>
            <a:r>
              <a:rPr sz="1100">
                <a:solidFill>
                  <a:srgbClr val="061F32"/>
                </a:solidFill>
                <a:latin typeface="微软雅黑"/>
                <a:ea typeface="微软雅黑"/>
                <a:cs typeface="微软雅黑"/>
              </a:rPr>
              <a:t>提升</a:t>
            </a:r>
            <a:endParaRPr sz="1100">
              <a:solidFill>
                <a:srgbClr val="061F32"/>
              </a:solidFill>
              <a:latin typeface="微软雅黑"/>
              <a:ea typeface="微软雅黑"/>
              <a:cs typeface="微软雅黑"/>
            </a:endParaRPr>
          </a:p>
        </p:txBody>
      </p:sp>
      <p:sp>
        <p:nvSpPr>
          <p:cNvPr id="175" name="文本框 150"/>
          <p:cNvSpPr>
            <a:spLocks noGrp="1"/>
          </p:cNvSpPr>
          <p:nvPr/>
        </p:nvSpPr>
        <p:spPr>
          <a:xfrm>
            <a:off x="4610119" y="2840188"/>
            <a:ext cx="2997143" cy="400323"/>
          </a:xfrm>
          <a:prstGeom prst="rect">
            <a:avLst/>
          </a:prstGeom>
        </p:spPr>
        <p:txBody>
          <a:bodyPr wrap="none" lIns="0" tIns="0" rIns="0" bIns="0"/>
          <a:lstStyle/>
          <a:p>
            <a:pPr>
              <a:lnSpc>
                <a:spcPct val="100000"/>
              </a:lnSpc>
              <a:buNone/>
            </a:pPr>
            <a:r>
              <a:rPr sz="1700" b="1">
                <a:solidFill>
                  <a:srgbClr val="061F32"/>
                </a:solidFill>
                <a:latin typeface="微软雅黑"/>
                <a:ea typeface="微软雅黑"/>
                <a:cs typeface="微软雅黑"/>
              </a:rPr>
              <a:t>三类合作伙伴，三种</a:t>
            </a:r>
            <a:r>
              <a:rPr sz="1700" b="1">
                <a:solidFill>
                  <a:srgbClr val="061F32"/>
                </a:solidFill>
                <a:latin typeface="微软雅黑" charset="0"/>
                <a:ea typeface="微软雅黑" charset="0"/>
                <a:cs typeface="微软雅黑" charset="0"/>
              </a:rPr>
              <a:t>合作模式</a:t>
            </a:r>
            <a:endParaRPr sz="1700">
              <a:latin typeface="微软雅黑" charset="0"/>
              <a:ea typeface="微软雅黑" charset="0"/>
              <a:cs typeface="微软雅黑" charset="0"/>
            </a:endParaRPr>
          </a:p>
        </p:txBody>
      </p:sp>
      <p:sp>
        <p:nvSpPr>
          <p:cNvPr id="176" name="矩形 152"/>
          <p:cNvSpPr>
            <a:spLocks noGrp="1"/>
          </p:cNvSpPr>
          <p:nvPr/>
        </p:nvSpPr>
        <p:spPr>
          <a:xfrm>
            <a:off x="533400" y="4962578"/>
            <a:ext cx="5467350" cy="1276297"/>
          </a:xfrm>
          <a:prstGeom prst="rect">
            <a:avLst/>
          </a:prstGeom>
          <a:ln w="19050">
            <a:solidFill>
              <a:srgbClr val="061F32"/>
            </a:solidFill>
            <a:prstDash val="solid"/>
          </a:ln>
        </p:spPr>
        <p:txBody>
          <a:bodyPr/>
          <a:lstStyle/>
          <a:p/>
        </p:txBody>
      </p:sp>
      <p:sp>
        <p:nvSpPr>
          <p:cNvPr id="177" name="文本框 153"/>
          <p:cNvSpPr>
            <a:spLocks noGrp="1"/>
          </p:cNvSpPr>
          <p:nvPr/>
        </p:nvSpPr>
        <p:spPr>
          <a:xfrm>
            <a:off x="636394" y="5030752"/>
            <a:ext cx="5048250" cy="209550"/>
          </a:xfrm>
          <a:prstGeom prst="rect">
            <a:avLst/>
          </a:prstGeom>
        </p:spPr>
        <p:txBody>
          <a:bodyPr wrap="none" lIns="0" tIns="0" rIns="0" bIns="0"/>
          <a:lstStyle/>
          <a:p>
            <a:pPr>
              <a:lnSpc>
                <a:spcPct val="100000"/>
              </a:lnSpc>
              <a:buNone/>
            </a:pPr>
            <a:r>
              <a:rPr sz="1350" b="1">
                <a:solidFill>
                  <a:srgbClr val="061F32"/>
                </a:solidFill>
                <a:latin typeface="微软雅黑"/>
                <a:ea typeface="微软雅黑"/>
                <a:cs typeface="微软雅黑"/>
              </a:rPr>
              <a:t>为什么客户不自己建？</a:t>
            </a:r>
            <a:endParaRPr sz="1350" b="1">
              <a:solidFill>
                <a:srgbClr val="061F32"/>
              </a:solidFill>
              <a:latin typeface="微软雅黑"/>
              <a:ea typeface="微软雅黑"/>
              <a:cs typeface="微软雅黑"/>
            </a:endParaRPr>
          </a:p>
        </p:txBody>
      </p:sp>
      <p:sp>
        <p:nvSpPr>
          <p:cNvPr id="178" name="文本框 154"/>
          <p:cNvSpPr>
            <a:spLocks noGrp="1"/>
          </p:cNvSpPr>
          <p:nvPr/>
        </p:nvSpPr>
        <p:spPr>
          <a:xfrm>
            <a:off x="636366" y="5308647"/>
            <a:ext cx="5156200" cy="1073151"/>
          </a:xfrm>
          <a:prstGeom prst="rect">
            <a:avLst/>
          </a:prstGeom>
        </p:spPr>
        <p:txBody>
          <a:bodyPr wrap="square" lIns="0" tIns="0" rIns="0" bIns="0">
            <a:normAutofit/>
          </a:bodyPr>
          <a:lstStyle/>
          <a:p>
            <a:pPr>
              <a:lnSpc>
                <a:spcPct val="150000"/>
              </a:lnSpc>
              <a:buNone/>
            </a:pPr>
            <a:r>
              <a:rPr sz="1200">
                <a:solidFill>
                  <a:srgbClr val="44546A">
                    <a:alpha val="100000"/>
                  </a:srgbClr>
                </a:solidFill>
                <a:latin typeface="微软雅黑"/>
                <a:ea typeface="微软雅黑"/>
                <a:cs typeface="微软雅黑"/>
              </a:rPr>
              <a:t>核心壁垒</a:t>
            </a:r>
            <a:r>
              <a:rPr lang="zh-CN" altLang="en-US" sz="1200">
                <a:solidFill>
                  <a:srgbClr val="44546A">
                    <a:alpha val="100000"/>
                  </a:srgbClr>
                </a:solidFill>
                <a:latin typeface="微软雅黑"/>
                <a:ea typeface="微软雅黑"/>
                <a:cs typeface="微软雅黑"/>
              </a:rPr>
              <a:t>由</a:t>
            </a:r>
            <a:r>
              <a:rPr sz="1200">
                <a:solidFill>
                  <a:srgbClr val="44546A">
                    <a:alpha val="100000"/>
                  </a:srgbClr>
                </a:solidFill>
                <a:latin typeface="微软雅黑"/>
                <a:ea typeface="微软雅黑"/>
                <a:cs typeface="微软雅黑"/>
              </a:rPr>
              <a:t>患者-PDO </a:t>
            </a:r>
            <a:r>
              <a:rPr lang="zh-CN" altLang="en-US" sz="1200">
                <a:solidFill>
                  <a:srgbClr val="44546A">
                    <a:alpha val="100000"/>
                  </a:srgbClr>
                </a:solidFill>
                <a:latin typeface="微软雅黑"/>
                <a:ea typeface="微软雅黑"/>
                <a:cs typeface="微软雅黑"/>
              </a:rPr>
              <a:t>纵向</a:t>
            </a:r>
            <a:r>
              <a:rPr sz="1200">
                <a:solidFill>
                  <a:srgbClr val="44546A">
                    <a:alpha val="100000"/>
                  </a:srgbClr>
                </a:solidFill>
                <a:latin typeface="微软雅黑"/>
                <a:ea typeface="微软雅黑"/>
                <a:cs typeface="微软雅黑"/>
              </a:rPr>
              <a:t>配对队列、培养偏差校正</a:t>
            </a:r>
            <a:r>
              <a:rPr lang="zh-CN" altLang="en-US" sz="1200">
                <a:solidFill>
                  <a:srgbClr val="44546A">
                    <a:alpha val="100000"/>
                  </a:srgbClr>
                </a:solidFill>
                <a:latin typeface="微软雅黑"/>
                <a:ea typeface="微软雅黑"/>
                <a:cs typeface="微软雅黑"/>
              </a:rPr>
              <a:t>体系</a:t>
            </a:r>
            <a:r>
              <a:rPr sz="1200">
                <a:solidFill>
                  <a:srgbClr val="44546A">
                    <a:alpha val="100000"/>
                  </a:srgbClr>
                </a:solidFill>
                <a:latin typeface="微软雅黑"/>
                <a:ea typeface="微软雅黑"/>
                <a:cs typeface="微软雅黑"/>
              </a:rPr>
              <a:t>和跨项目模型复用</a:t>
            </a:r>
            <a:r>
              <a:rPr lang="zh-CN" altLang="en-US" sz="1200">
                <a:solidFill>
                  <a:srgbClr val="44546A">
                    <a:alpha val="100000"/>
                  </a:srgbClr>
                </a:solidFill>
                <a:latin typeface="微软雅黑"/>
                <a:ea typeface="微软雅黑"/>
                <a:cs typeface="微软雅黑"/>
              </a:rPr>
              <a:t>能力共同构成</a:t>
            </a:r>
            <a:r>
              <a:rPr sz="1200">
                <a:solidFill>
                  <a:srgbClr val="44546A">
                    <a:alpha val="100000"/>
                  </a:srgbClr>
                </a:solidFill>
                <a:latin typeface="微软雅黑"/>
                <a:ea typeface="微软雅黑"/>
                <a:cs typeface="微软雅黑"/>
              </a:rPr>
              <a:t>。</a:t>
            </a:r>
            <a:endParaRPr sz="1200">
              <a:solidFill>
                <a:srgbClr val="44546A">
                  <a:alpha val="100000"/>
                </a:srgbClr>
              </a:solidFill>
              <a:latin typeface="微软雅黑"/>
              <a:ea typeface="微软雅黑"/>
              <a:cs typeface="微软雅黑"/>
            </a:endParaRPr>
          </a:p>
          <a:p>
            <a:pPr>
              <a:lnSpc>
                <a:spcPct val="150000"/>
              </a:lnSpc>
              <a:buNone/>
            </a:pPr>
            <a:r>
              <a:rPr sz="1200">
                <a:solidFill>
                  <a:srgbClr val="44546A">
                    <a:alpha val="100000"/>
                  </a:srgbClr>
                </a:solidFill>
                <a:latin typeface="微软雅黑"/>
                <a:ea typeface="微软雅黑"/>
                <a:cs typeface="微软雅黑"/>
              </a:rPr>
              <a:t>数据越厚，</a:t>
            </a:r>
            <a:r>
              <a:rPr lang="zh-CN" altLang="en-US" sz="1200">
                <a:solidFill>
                  <a:srgbClr val="44546A">
                    <a:alpha val="100000"/>
                  </a:srgbClr>
                </a:solidFill>
                <a:latin typeface="微软雅黑"/>
                <a:ea typeface="微软雅黑"/>
                <a:cs typeface="微软雅黑"/>
              </a:rPr>
              <a:t>我们的</a:t>
            </a:r>
            <a:r>
              <a:rPr sz="1200">
                <a:solidFill>
                  <a:srgbClr val="44546A">
                    <a:alpha val="100000"/>
                  </a:srgbClr>
                </a:solidFill>
                <a:latin typeface="微软雅黑"/>
                <a:ea typeface="微软雅黑"/>
                <a:cs typeface="微软雅黑"/>
              </a:rPr>
              <a:t>边际交付成本</a:t>
            </a:r>
            <a:r>
              <a:rPr lang="zh-CN" altLang="en-US" sz="1200">
                <a:solidFill>
                  <a:srgbClr val="44546A">
                    <a:alpha val="100000"/>
                  </a:srgbClr>
                </a:solidFill>
                <a:latin typeface="微软雅黑"/>
                <a:ea typeface="微软雅黑"/>
                <a:cs typeface="微软雅黑"/>
              </a:rPr>
              <a:t>就</a:t>
            </a:r>
            <a:r>
              <a:rPr sz="1200">
                <a:solidFill>
                  <a:srgbClr val="44546A">
                    <a:alpha val="100000"/>
                  </a:srgbClr>
                </a:solidFill>
                <a:latin typeface="微软雅黑"/>
                <a:ea typeface="微软雅黑"/>
                <a:cs typeface="微软雅黑"/>
              </a:rPr>
              <a:t>越低</a:t>
            </a:r>
            <a:r>
              <a:rPr lang="zh-CN" altLang="en-US" sz="1200">
                <a:solidFill>
                  <a:srgbClr val="44546A">
                    <a:alpha val="100000"/>
                  </a:srgbClr>
                </a:solidFill>
                <a:latin typeface="微软雅黑"/>
                <a:ea typeface="微软雅黑"/>
                <a:cs typeface="微软雅黑"/>
              </a:rPr>
              <a:t>，客户自建的投入门槛则会不断拉大。</a:t>
            </a:r>
            <a:endParaRPr sz="1200">
              <a:solidFill>
                <a:srgbClr val="44546A">
                  <a:alpha val="100000"/>
                </a:srgbClr>
              </a:solidFill>
              <a:latin typeface="微软雅黑"/>
              <a:ea typeface="微软雅黑"/>
              <a:cs typeface="微软雅黑"/>
            </a:endParaRPr>
          </a:p>
        </p:txBody>
      </p:sp>
      <p:sp>
        <p:nvSpPr>
          <p:cNvPr id="179" name="矩形 155"/>
          <p:cNvSpPr>
            <a:spLocks noGrp="1"/>
          </p:cNvSpPr>
          <p:nvPr/>
        </p:nvSpPr>
        <p:spPr>
          <a:xfrm>
            <a:off x="6191250" y="4962578"/>
            <a:ext cx="5467350" cy="1276297"/>
          </a:xfrm>
          <a:prstGeom prst="rect">
            <a:avLst/>
          </a:prstGeom>
          <a:solidFill>
            <a:srgbClr val="061F32"/>
          </a:solidFill>
        </p:spPr>
        <p:txBody>
          <a:bodyPr/>
          <a:lstStyle/>
          <a:p/>
        </p:txBody>
      </p:sp>
      <p:sp>
        <p:nvSpPr>
          <p:cNvPr id="180" name="文本框 157"/>
          <p:cNvSpPr>
            <a:spLocks noGrp="1"/>
          </p:cNvSpPr>
          <p:nvPr/>
        </p:nvSpPr>
        <p:spPr>
          <a:xfrm>
            <a:off x="6407150" y="4962578"/>
            <a:ext cx="5048250" cy="1263597"/>
          </a:xfrm>
          <a:prstGeom prst="rect">
            <a:avLst/>
          </a:prstGeom>
        </p:spPr>
        <p:txBody>
          <a:bodyPr wrap="square" lIns="0" tIns="0" rIns="0" bIns="0">
            <a:normAutofit/>
          </a:bodyPr>
          <a:lstStyle/>
          <a:p>
            <a:pPr marL="0" lvl="0" algn="l" defTabSz="914400">
              <a:lnSpc>
                <a:spcPct val="150000"/>
              </a:lnSpc>
              <a:buNone/>
              <a:defRPr sz="1800">
                <a:solidFill>
                  <a:schemeClr val="tx1">
                    <a:alpha val="100000"/>
                  </a:schemeClr>
                </a:solidFill>
                <a:latin typeface="Calibri"/>
                <a:ea typeface="Calibri"/>
                <a:cs typeface="Calibri"/>
              </a:defRPr>
            </a:pPr>
            <a:r>
              <a:rPr sz="1725" b="1" i="0" u="none">
                <a:solidFill>
                  <a:srgbClr val="FFFFFF">
                    <a:alpha val="100000"/>
                  </a:srgbClr>
                </a:solidFill>
                <a:latin typeface="微软雅黑"/>
                <a:ea typeface="微软雅黑"/>
                <a:cs typeface="微软雅黑"/>
              </a:rPr>
              <a:t>平台效应</a:t>
            </a:r>
            <a:r>
              <a:rPr sz="1725" b="1">
                <a:solidFill>
                  <a:srgbClr val="FFFFFF">
                    <a:alpha val="100000"/>
                  </a:srgbClr>
                </a:solidFill>
                <a:latin typeface="微软雅黑" charset="0"/>
                <a:ea typeface="微软雅黑" charset="0"/>
                <a:cs typeface="微软雅黑" charset="0"/>
              </a:rPr>
              <a:t>自首批数据开始</a:t>
            </a:r>
            <a:r>
              <a:rPr lang="zh-CN" altLang="en-US" sz="1725" b="1">
                <a:solidFill>
                  <a:srgbClr val="FFFFFF">
                    <a:alpha val="100000"/>
                  </a:srgbClr>
                </a:solidFill>
                <a:latin typeface="微软雅黑" charset="0"/>
                <a:ea typeface="微软雅黑" charset="0"/>
                <a:cs typeface="微软雅黑" charset="0"/>
              </a:rPr>
              <a:t>形成</a:t>
            </a:r>
            <a:endParaRPr lang="zh-CN" altLang="en-US" sz="1725" b="1">
              <a:solidFill>
                <a:srgbClr val="FFFFFF">
                  <a:alpha val="100000"/>
                </a:srgbClr>
              </a:solidFill>
              <a:latin typeface="微软雅黑" charset="0"/>
              <a:ea typeface="微软雅黑" charset="0"/>
              <a:cs typeface="微软雅黑" charset="0"/>
            </a:endParaRPr>
          </a:p>
          <a:p>
            <a:pPr marL="0" lvl="0" algn="l" defTabSz="914400">
              <a:lnSpc>
                <a:spcPct val="150000"/>
              </a:lnSpc>
              <a:buNone/>
              <a:defRPr sz="1800">
                <a:solidFill>
                  <a:schemeClr val="tx1">
                    <a:alpha val="100000"/>
                  </a:schemeClr>
                </a:solidFill>
                <a:latin typeface="Calibri"/>
                <a:ea typeface="Calibri"/>
                <a:cs typeface="Calibri"/>
              </a:defRPr>
            </a:pPr>
            <a:endParaRPr sz="600">
              <a:solidFill>
                <a:srgbClr val="FFFFFF">
                  <a:alpha val="100000"/>
                </a:srgbClr>
              </a:solidFill>
              <a:latin typeface="微软雅黑"/>
              <a:ea typeface="微软雅黑"/>
              <a:cs typeface="微软雅黑"/>
            </a:endParaRPr>
          </a:p>
          <a:p>
            <a:pPr marL="0" lvl="0" algn="l" defTabSz="914400">
              <a:lnSpc>
                <a:spcPct val="150000"/>
              </a:lnSpc>
              <a:buNone/>
              <a:defRPr sz="1800">
                <a:solidFill>
                  <a:schemeClr val="tx1">
                    <a:alpha val="100000"/>
                  </a:schemeClr>
                </a:solidFill>
                <a:latin typeface="Calibri"/>
                <a:ea typeface="Calibri"/>
                <a:cs typeface="Calibri"/>
              </a:defRPr>
            </a:pPr>
            <a:r>
              <a:rPr sz="1200">
                <a:solidFill>
                  <a:srgbClr val="FFFFFF">
                    <a:alpha val="100000"/>
                  </a:srgbClr>
                </a:solidFill>
                <a:latin typeface="微软雅黑"/>
                <a:ea typeface="微软雅黑"/>
                <a:cs typeface="微软雅黑"/>
              </a:rPr>
              <a:t>所有合作项目共</a:t>
            </a:r>
            <a:r>
              <a:rPr lang="zh-CN" altLang="en-US" sz="1200">
                <a:solidFill>
                  <a:srgbClr val="FFFFFF">
                    <a:alpha val="100000"/>
                  </a:srgbClr>
                </a:solidFill>
                <a:latin typeface="微软雅黑"/>
                <a:ea typeface="微软雅黑"/>
                <a:cs typeface="微软雅黑"/>
              </a:rPr>
              <a:t>用</a:t>
            </a:r>
            <a:r>
              <a:rPr sz="1200">
                <a:solidFill>
                  <a:srgbClr val="FFFFFF">
                    <a:alpha val="100000"/>
                  </a:srgbClr>
                </a:solidFill>
                <a:latin typeface="微软雅黑"/>
                <a:ea typeface="微软雅黑"/>
                <a:cs typeface="微软雅黑"/>
              </a:rPr>
              <a:t>统一</a:t>
            </a:r>
            <a:r>
              <a:rPr lang="zh-CN" altLang="en-US" sz="1200">
                <a:solidFill>
                  <a:srgbClr val="FFFFFF">
                    <a:alpha val="100000"/>
                  </a:srgbClr>
                </a:solidFill>
                <a:latin typeface="微软雅黑"/>
                <a:ea typeface="微软雅黑"/>
                <a:cs typeface="微软雅黑"/>
              </a:rPr>
              <a:t>的</a:t>
            </a:r>
            <a:r>
              <a:rPr sz="1200">
                <a:solidFill>
                  <a:srgbClr val="FFFFFF">
                    <a:alpha val="100000"/>
                  </a:srgbClr>
                </a:solidFill>
                <a:latin typeface="微软雅黑"/>
                <a:ea typeface="微软雅黑"/>
                <a:cs typeface="微软雅黑"/>
              </a:rPr>
              <a:t>数据</a:t>
            </a:r>
            <a:r>
              <a:rPr lang="zh-CN" altLang="en-US" sz="1200">
                <a:solidFill>
                  <a:srgbClr val="FFFFFF">
                    <a:alpha val="100000"/>
                  </a:srgbClr>
                </a:solidFill>
                <a:latin typeface="微软雅黑"/>
                <a:ea typeface="微软雅黑"/>
                <a:cs typeface="微软雅黑"/>
              </a:rPr>
              <a:t>标准与</a:t>
            </a:r>
            <a:r>
              <a:rPr sz="1200">
                <a:solidFill>
                  <a:srgbClr val="FFFFFF">
                    <a:alpha val="100000"/>
                  </a:srgbClr>
                </a:solidFill>
                <a:latin typeface="微软雅黑"/>
                <a:ea typeface="微软雅黑"/>
                <a:cs typeface="微软雅黑"/>
              </a:rPr>
              <a:t>模型</a:t>
            </a:r>
            <a:r>
              <a:rPr lang="zh-CN" altLang="en-US" sz="1200">
                <a:solidFill>
                  <a:srgbClr val="FFFFFF">
                    <a:alpha val="100000"/>
                  </a:srgbClr>
                </a:solidFill>
                <a:latin typeface="微软雅黑"/>
                <a:ea typeface="微软雅黑"/>
                <a:cs typeface="微软雅黑"/>
              </a:rPr>
              <a:t>架构；</a:t>
            </a:r>
            <a:r>
              <a:rPr sz="1200">
                <a:solidFill>
                  <a:srgbClr val="FFFFFF">
                    <a:alpha val="100000"/>
                  </a:srgbClr>
                </a:solidFill>
                <a:latin typeface="微软雅黑"/>
                <a:ea typeface="微软雅黑"/>
                <a:cs typeface="微软雅黑"/>
              </a:rPr>
              <a:t>项目交付与模型</a:t>
            </a:r>
            <a:r>
              <a:rPr lang="zh-CN" altLang="en-US" sz="1200">
                <a:solidFill>
                  <a:srgbClr val="FFFFFF">
                    <a:alpha val="100000"/>
                  </a:srgbClr>
                </a:solidFill>
                <a:latin typeface="微软雅黑"/>
                <a:ea typeface="微软雅黑"/>
                <a:cs typeface="微软雅黑"/>
              </a:rPr>
              <a:t>迭代处在同一条</a:t>
            </a:r>
            <a:r>
              <a:rPr sz="1200">
                <a:solidFill>
                  <a:srgbClr val="FFFFFF">
                    <a:alpha val="100000"/>
                  </a:srgbClr>
                </a:solidFill>
                <a:latin typeface="微软雅黑"/>
                <a:ea typeface="微软雅黑"/>
                <a:cs typeface="微软雅黑"/>
              </a:rPr>
              <a:t>生产链</a:t>
            </a:r>
            <a:r>
              <a:rPr lang="zh-CN" altLang="en-US" sz="1200">
                <a:solidFill>
                  <a:srgbClr val="FFFFFF">
                    <a:alpha val="100000"/>
                  </a:srgbClr>
                </a:solidFill>
                <a:latin typeface="微软雅黑"/>
                <a:ea typeface="微软雅黑"/>
                <a:cs typeface="微软雅黑"/>
              </a:rPr>
              <a:t>路</a:t>
            </a:r>
            <a:r>
              <a:rPr sz="1200">
                <a:solidFill>
                  <a:srgbClr val="FFFFFF">
                    <a:alpha val="100000"/>
                  </a:srgbClr>
                </a:solidFill>
                <a:latin typeface="微软雅黑"/>
                <a:ea typeface="微软雅黑"/>
                <a:cs typeface="微软雅黑"/>
              </a:rPr>
              <a:t>，</a:t>
            </a:r>
            <a:r>
              <a:rPr lang="zh-CN" altLang="en-US" sz="1200">
                <a:solidFill>
                  <a:srgbClr val="FFFFFF">
                    <a:alpha val="100000"/>
                  </a:srgbClr>
                </a:solidFill>
                <a:latin typeface="微软雅黑"/>
                <a:ea typeface="微软雅黑"/>
                <a:cs typeface="微软雅黑"/>
              </a:rPr>
              <a:t>业务服务收入</a:t>
            </a:r>
            <a:r>
              <a:rPr sz="1200">
                <a:solidFill>
                  <a:srgbClr val="FFFFFF">
                    <a:alpha val="100000"/>
                  </a:srgbClr>
                </a:solidFill>
                <a:latin typeface="微软雅黑"/>
                <a:ea typeface="微软雅黑"/>
                <a:cs typeface="微软雅黑"/>
              </a:rPr>
              <a:t>与</a:t>
            </a:r>
            <a:r>
              <a:rPr lang="zh-CN" altLang="en-US" sz="1200">
                <a:solidFill>
                  <a:srgbClr val="FFFFFF">
                    <a:alpha val="100000"/>
                  </a:srgbClr>
                </a:solidFill>
                <a:latin typeface="微软雅黑"/>
                <a:ea typeface="微软雅黑"/>
                <a:cs typeface="微软雅黑"/>
              </a:rPr>
              <a:t>模型资产</a:t>
            </a:r>
            <a:r>
              <a:rPr sz="1200">
                <a:solidFill>
                  <a:srgbClr val="FFFFFF">
                    <a:alpha val="100000"/>
                  </a:srgbClr>
                </a:solidFill>
                <a:latin typeface="微软雅黑"/>
                <a:ea typeface="微软雅黑"/>
                <a:cs typeface="微软雅黑"/>
              </a:rPr>
              <a:t>沉淀同</a:t>
            </a:r>
            <a:r>
              <a:rPr lang="zh-CN" altLang="en-US" sz="1200">
                <a:solidFill>
                  <a:srgbClr val="FFFFFF">
                    <a:alpha val="100000"/>
                  </a:srgbClr>
                </a:solidFill>
                <a:latin typeface="微软雅黑"/>
                <a:ea typeface="微软雅黑"/>
                <a:cs typeface="微软雅黑"/>
              </a:rPr>
              <a:t>步完成</a:t>
            </a:r>
            <a:r>
              <a:rPr sz="1200">
                <a:solidFill>
                  <a:srgbClr val="FFFFFF">
                    <a:alpha val="100000"/>
                  </a:srgbClr>
                </a:solidFill>
                <a:latin typeface="微软雅黑"/>
                <a:ea typeface="微软雅黑"/>
                <a:cs typeface="微软雅黑"/>
              </a:rPr>
              <a:t>。</a:t>
            </a:r>
            <a:endParaRPr sz="1200">
              <a:solidFill>
                <a:srgbClr val="FFFFFF">
                  <a:alpha val="100000"/>
                </a:srgbClr>
              </a:solidFill>
              <a:latin typeface="微软雅黑"/>
              <a:ea typeface="微软雅黑"/>
              <a:cs typeface="微软雅黑"/>
            </a:endParaRPr>
          </a:p>
        </p:txBody>
      </p:sp>
      <p:sp>
        <p:nvSpPr>
          <p:cNvPr id="181" name="文本框 158"/>
          <p:cNvSpPr>
            <a:spLocks noGrp="1"/>
          </p:cNvSpPr>
          <p:nvPr/>
        </p:nvSpPr>
        <p:spPr>
          <a:xfrm>
            <a:off x="533400" y="6381750"/>
            <a:ext cx="1781175"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Source: AIVC </a:t>
            </a:r>
            <a:r>
              <a:rPr sz="1050">
                <a:solidFill>
                  <a:srgbClr val="808080"/>
                </a:solidFill>
                <a:latin typeface="微软雅黑"/>
                <a:ea typeface="微软雅黑"/>
                <a:cs typeface="微软雅黑"/>
              </a:rPr>
              <a:t>商业故事</a:t>
            </a:r>
            <a:r>
              <a:rPr sz="1050">
                <a:solidFill>
                  <a:srgbClr val="808080"/>
                </a:solidFill>
                <a:latin typeface="微软雅黑"/>
                <a:ea typeface="微软雅黑"/>
                <a:cs typeface="微软雅黑"/>
              </a:rPr>
              <a:t> BP §8</a:t>
            </a:r>
            <a:endParaRPr sz="1050">
              <a:solidFill>
                <a:srgbClr val="808080"/>
              </a:solidFill>
              <a:latin typeface="微软雅黑"/>
              <a:ea typeface="微软雅黑"/>
              <a:cs typeface="微软雅黑"/>
            </a:endParaRPr>
          </a:p>
        </p:txBody>
      </p:sp>
      <p:sp>
        <p:nvSpPr>
          <p:cNvPr id="182" name="文本框 159"/>
          <p:cNvSpPr>
            <a:spLocks noGrp="1"/>
          </p:cNvSpPr>
          <p:nvPr/>
        </p:nvSpPr>
        <p:spPr>
          <a:xfrm>
            <a:off x="11201400" y="6381750"/>
            <a:ext cx="4572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17 / 18</a:t>
            </a:r>
            <a:endParaRPr sz="1050">
              <a:solidFill>
                <a:srgbClr val="808080"/>
              </a:solidFill>
              <a:latin typeface="微软雅黑"/>
              <a:ea typeface="微软雅黑"/>
              <a:cs typeface="微软雅黑"/>
            </a:endParaRPr>
          </a:p>
        </p:txBody>
      </p:sp>
      <p:sp>
        <p:nvSpPr>
          <p:cNvPr id="183" name="矩形 182"/>
          <p:cNvSpPr>
            <a:spLocks noGrp="1"/>
          </p:cNvSpPr>
          <p:nvPr/>
        </p:nvSpPr>
        <p:spPr>
          <a:xfrm>
            <a:off x="578939" y="3240502"/>
            <a:ext cx="3370761" cy="1550951"/>
          </a:xfrm>
          <a:prstGeom prst="rect">
            <a:avLst/>
          </a:prstGeom>
          <a:ln w="12700">
            <a:solidFill>
              <a:srgbClr val="E7E6E6"/>
            </a:solidFill>
            <a:prstDash val="solid"/>
          </a:ln>
        </p:spPr>
        <p:txBody>
          <a:bodyPr/>
          <a:lstStyle/>
          <a:p/>
        </p:txBody>
      </p:sp>
      <p:sp>
        <p:nvSpPr>
          <p:cNvPr id="184" name="矩形 183"/>
          <p:cNvSpPr>
            <a:spLocks noGrp="1"/>
          </p:cNvSpPr>
          <p:nvPr/>
        </p:nvSpPr>
        <p:spPr>
          <a:xfrm>
            <a:off x="4390990" y="3240534"/>
            <a:ext cx="3419510" cy="1550891"/>
          </a:xfrm>
          <a:prstGeom prst="rect">
            <a:avLst/>
          </a:prstGeom>
          <a:ln w="12700">
            <a:solidFill>
              <a:srgbClr val="E7E6E6"/>
            </a:solidFill>
            <a:prstDash val="solid"/>
          </a:ln>
        </p:spPr>
        <p:txBody>
          <a:bodyPr/>
          <a:lstStyle/>
          <a:p/>
        </p:txBody>
      </p:sp>
      <p:sp>
        <p:nvSpPr>
          <p:cNvPr id="185" name="矩形 184"/>
          <p:cNvSpPr>
            <a:spLocks noGrp="1"/>
          </p:cNvSpPr>
          <p:nvPr/>
        </p:nvSpPr>
        <p:spPr>
          <a:xfrm>
            <a:off x="8239152" y="3240534"/>
            <a:ext cx="3419448" cy="1550891"/>
          </a:xfrm>
          <a:prstGeom prst="rect">
            <a:avLst/>
          </a:prstGeom>
          <a:ln w="12700">
            <a:solidFill>
              <a:srgbClr val="E7E6E6"/>
            </a:solidFill>
            <a:prstDash val="solid"/>
          </a:ln>
        </p:spPr>
        <p:txBody>
          <a:bodyPr/>
          <a:lstStyle/>
          <a:p/>
        </p:txBody>
      </p:sp>
      <p:sp>
        <p:nvSpPr>
          <p:cNvPr id="186" name="矩形 185"/>
          <p:cNvSpPr>
            <a:spLocks noGrp="1"/>
          </p:cNvSpPr>
          <p:nvPr/>
        </p:nvSpPr>
        <p:spPr>
          <a:xfrm>
            <a:off x="749300" y="3318115"/>
            <a:ext cx="2997200" cy="177800"/>
          </a:xfrm>
          <a:prstGeom prst="rect">
            <a:avLst/>
          </a:prstGeom>
          <a:noFill/>
          <a:ln>
            <a:noFill/>
          </a:ln>
        </p:spPr>
        <p:txBody>
          <a:bodyPr/>
          <a:lstStyle/>
          <a:p>
            <a:r>
              <a:rPr sz="1400" b="1">
                <a:solidFill>
                  <a:schemeClr val="tx1"/>
                </a:solidFill>
                <a:latin typeface="微软雅黑" charset="0"/>
                <a:ea typeface="微软雅黑" charset="0"/>
                <a:cs typeface="微软雅黑" charset="0"/>
              </a:rPr>
              <a:t>制药与生物技术企业 </a:t>
            </a:r>
            <a:r>
              <a:rPr lang="zh-CN" altLang="en-US" sz="1400" b="1">
                <a:solidFill>
                  <a:schemeClr val="tx1"/>
                </a:solidFill>
                <a:latin typeface="微软雅黑" charset="0"/>
                <a:ea typeface="微软雅黑" charset="0"/>
                <a:cs typeface="微软雅黑" charset="0"/>
              </a:rPr>
              <a:t>-</a:t>
            </a:r>
            <a:r>
              <a:rPr lang="zh-CN" altLang="en-US" sz="1400" b="1">
                <a:solidFill>
                  <a:srgbClr val="44546A">
                    <a:alpha val="100000"/>
                  </a:srgbClr>
                </a:solidFill>
              </a:rPr>
              <a:t> </a:t>
            </a:r>
            <a:r>
              <a:rPr sz="1400" b="1">
                <a:solidFill>
                  <a:srgbClr val="08A6F6">
                    <a:alpha val="100000"/>
                  </a:srgbClr>
                </a:solidFill>
                <a:sym typeface="+mn-ea"/>
              </a:rPr>
              <a:t>转化研发</a:t>
            </a:r>
            <a:endParaRPr lang="zh-CN" altLang="en-US" sz="1400" b="1">
              <a:solidFill>
                <a:srgbClr val="08A6F6">
                  <a:alpha val="100000"/>
                </a:srgbClr>
              </a:solidFill>
              <a:sym typeface="+mn-ea"/>
            </a:endParaRPr>
          </a:p>
        </p:txBody>
      </p:sp>
      <p:sp>
        <p:nvSpPr>
          <p:cNvPr id="188" name="矩形 187"/>
          <p:cNvSpPr>
            <a:spLocks noGrp="1"/>
          </p:cNvSpPr>
          <p:nvPr/>
        </p:nvSpPr>
        <p:spPr>
          <a:xfrm>
            <a:off x="749300" y="3733970"/>
            <a:ext cx="2997200" cy="304800"/>
          </a:xfrm>
          <a:prstGeom prst="rect">
            <a:avLst/>
          </a:prstGeom>
          <a:noFill/>
          <a:ln>
            <a:noFill/>
          </a:ln>
        </p:spPr>
        <p:txBody>
          <a:bodyPr/>
          <a:lstStyle/>
          <a:p>
            <a:r>
              <a:rPr lang="zh-CN" altLang="en-US" sz="1200">
                <a:solidFill>
                  <a:schemeClr val="tx1"/>
                </a:solidFill>
                <a:latin typeface="微软雅黑" charset="0"/>
                <a:ea typeface="微软雅黑" charset="0"/>
                <a:cs typeface="微软雅黑" charset="0"/>
              </a:rPr>
              <a:t>覆盖</a:t>
            </a:r>
            <a:r>
              <a:rPr sz="1200">
                <a:solidFill>
                  <a:schemeClr val="tx1"/>
                </a:solidFill>
                <a:latin typeface="微软雅黑" charset="0"/>
                <a:ea typeface="微软雅黑" charset="0"/>
                <a:cs typeface="微软雅黑" charset="0"/>
              </a:rPr>
              <a:t>CRO</a:t>
            </a:r>
            <a:r>
              <a:rPr lang="zh-CN" altLang="en-US" sz="1200">
                <a:solidFill>
                  <a:schemeClr val="tx1"/>
                </a:solidFill>
                <a:latin typeface="微软雅黑" charset="0"/>
                <a:ea typeface="微软雅黑" charset="0"/>
                <a:cs typeface="微软雅黑" charset="0"/>
              </a:rPr>
              <a:t>、</a:t>
            </a:r>
            <a:r>
              <a:rPr sz="1200">
                <a:solidFill>
                  <a:schemeClr val="tx1"/>
                </a:solidFill>
                <a:latin typeface="微软雅黑" charset="0"/>
                <a:ea typeface="微软雅黑" charset="0"/>
                <a:cs typeface="微软雅黑" charset="0"/>
              </a:rPr>
              <a:t>CGT</a:t>
            </a:r>
            <a:r>
              <a:rPr lang="zh-CN" altLang="en-US" sz="1200">
                <a:solidFill>
                  <a:schemeClr val="tx1"/>
                </a:solidFill>
                <a:latin typeface="微软雅黑" charset="0"/>
                <a:ea typeface="微软雅黑" charset="0"/>
                <a:cs typeface="微软雅黑" charset="0"/>
              </a:rPr>
              <a:t>企业；输出</a:t>
            </a:r>
            <a:r>
              <a:rPr sz="1200">
                <a:solidFill>
                  <a:schemeClr val="tx1"/>
                </a:solidFill>
                <a:latin typeface="微软雅黑" charset="0"/>
                <a:ea typeface="微软雅黑" charset="0"/>
                <a:cs typeface="微软雅黑" charset="0"/>
              </a:rPr>
              <a:t>候选排序、耐药机制与联合</a:t>
            </a:r>
            <a:r>
              <a:rPr lang="zh-CN" altLang="en-US" sz="1200">
                <a:solidFill>
                  <a:schemeClr val="tx1"/>
                </a:solidFill>
                <a:latin typeface="微软雅黑" charset="0"/>
                <a:ea typeface="微软雅黑" charset="0"/>
                <a:cs typeface="微软雅黑" charset="0"/>
              </a:rPr>
              <a:t>用药</a:t>
            </a:r>
            <a:r>
              <a:rPr sz="1200">
                <a:solidFill>
                  <a:schemeClr val="tx1"/>
                </a:solidFill>
                <a:latin typeface="微软雅黑" charset="0"/>
                <a:ea typeface="微软雅黑" charset="0"/>
                <a:cs typeface="微软雅黑" charset="0"/>
              </a:rPr>
              <a:t>方案，</a:t>
            </a:r>
            <a:r>
              <a:rPr lang="zh-CN" altLang="en-US" sz="1200">
                <a:solidFill>
                  <a:schemeClr val="tx1"/>
                </a:solidFill>
                <a:latin typeface="微软雅黑" charset="0"/>
                <a:ea typeface="微软雅黑" charset="0"/>
                <a:cs typeface="微软雅黑" charset="0"/>
              </a:rPr>
              <a:t>助力优化</a:t>
            </a:r>
            <a:r>
              <a:rPr sz="1200">
                <a:solidFill>
                  <a:schemeClr val="tx1"/>
                </a:solidFill>
                <a:latin typeface="微软雅黑" charset="0"/>
                <a:ea typeface="微软雅黑" charset="0"/>
                <a:cs typeface="微软雅黑" charset="0"/>
              </a:rPr>
              <a:t>试验设计</a:t>
            </a:r>
            <a:r>
              <a:rPr lang="zh-CN" altLang="en-US" sz="1200">
                <a:solidFill>
                  <a:schemeClr val="tx1"/>
                </a:solidFill>
                <a:latin typeface="微软雅黑" charset="0"/>
                <a:ea typeface="微软雅黑" charset="0"/>
                <a:cs typeface="微软雅黑" charset="0"/>
              </a:rPr>
              <a:t>并提供</a:t>
            </a:r>
            <a:r>
              <a:rPr sz="1200">
                <a:solidFill>
                  <a:schemeClr val="tx1"/>
                </a:solidFill>
                <a:latin typeface="微软雅黑" charset="0"/>
                <a:ea typeface="微软雅黑" charset="0"/>
                <a:cs typeface="微软雅黑" charset="0"/>
              </a:rPr>
              <a:t>机制证据</a:t>
            </a:r>
            <a:endParaRPr sz="1200">
              <a:solidFill>
                <a:schemeClr val="tx1"/>
              </a:solidFill>
              <a:latin typeface="微软雅黑" charset="0"/>
              <a:ea typeface="微软雅黑" charset="0"/>
              <a:cs typeface="微软雅黑" charset="0"/>
            </a:endParaRPr>
          </a:p>
        </p:txBody>
      </p:sp>
      <p:sp>
        <p:nvSpPr>
          <p:cNvPr id="189" name="矩形 188"/>
          <p:cNvSpPr>
            <a:spLocks noGrp="1"/>
          </p:cNvSpPr>
          <p:nvPr/>
        </p:nvSpPr>
        <p:spPr>
          <a:xfrm>
            <a:off x="749304" y="4391850"/>
            <a:ext cx="2997200" cy="152400"/>
          </a:xfrm>
          <a:prstGeom prst="rect">
            <a:avLst/>
          </a:prstGeom>
          <a:noFill/>
          <a:ln>
            <a:noFill/>
          </a:ln>
        </p:spPr>
        <p:txBody>
          <a:bodyPr/>
          <a:lstStyle/>
          <a:p>
            <a:r>
              <a:rPr sz="1200" b="1">
                <a:solidFill>
                  <a:schemeClr val="tx1"/>
                </a:solidFill>
                <a:latin typeface="微软雅黑" charset="0"/>
                <a:ea typeface="微软雅黑" charset="0"/>
                <a:cs typeface="微软雅黑" charset="0"/>
              </a:rPr>
              <a:t>初始合作：联合开发研究</a:t>
            </a:r>
            <a:endParaRPr sz="1200" b="1">
              <a:solidFill>
                <a:schemeClr val="tx1"/>
              </a:solidFill>
              <a:latin typeface="微软雅黑" charset="0"/>
              <a:ea typeface="微软雅黑" charset="0"/>
              <a:cs typeface="微软雅黑" charset="0"/>
            </a:endParaRPr>
          </a:p>
        </p:txBody>
      </p:sp>
      <p:sp>
        <p:nvSpPr>
          <p:cNvPr id="190" name="矩形 189"/>
          <p:cNvSpPr>
            <a:spLocks noGrp="1"/>
          </p:cNvSpPr>
          <p:nvPr/>
        </p:nvSpPr>
        <p:spPr>
          <a:xfrm>
            <a:off x="4389813" y="3318115"/>
            <a:ext cx="3627813" cy="339234"/>
          </a:xfrm>
          <a:prstGeom prst="rect">
            <a:avLst/>
          </a:prstGeom>
          <a:noFill/>
          <a:ln>
            <a:noFill/>
          </a:ln>
        </p:spPr>
        <p:txBody>
          <a:bodyPr/>
          <a:lstStyle/>
          <a:p>
            <a:r>
              <a:rPr sz="1400" b="1">
                <a:solidFill>
                  <a:schemeClr val="tx1"/>
                </a:solidFill>
                <a:latin typeface="微软雅黑" charset="0"/>
                <a:ea typeface="微软雅黑" charset="0"/>
                <a:cs typeface="微软雅黑" charset="0"/>
              </a:rPr>
              <a:t>肿瘤中心 · </a:t>
            </a:r>
            <a:r>
              <a:rPr lang="zh-CN" altLang="en-US" sz="1400" b="1">
                <a:solidFill>
                  <a:schemeClr val="tx1"/>
                </a:solidFill>
                <a:latin typeface="微软雅黑" charset="0"/>
                <a:ea typeface="微软雅黑" charset="0"/>
                <a:cs typeface="微软雅黑" charset="0"/>
              </a:rPr>
              <a:t>临床</a:t>
            </a:r>
            <a:r>
              <a:rPr sz="1400" b="1">
                <a:solidFill>
                  <a:schemeClr val="tx1"/>
                </a:solidFill>
                <a:latin typeface="微软雅黑" charset="0"/>
                <a:ea typeface="微软雅黑" charset="0"/>
                <a:cs typeface="微软雅黑" charset="0"/>
              </a:rPr>
              <a:t>研究者 </a:t>
            </a:r>
            <a:r>
              <a:rPr lang="zh-CN" altLang="en-US" sz="1400" b="1">
                <a:solidFill>
                  <a:schemeClr val="tx1"/>
                </a:solidFill>
                <a:latin typeface="微软雅黑" charset="0"/>
                <a:ea typeface="微软雅黑" charset="0"/>
                <a:cs typeface="微软雅黑" charset="0"/>
              </a:rPr>
              <a:t>-</a:t>
            </a:r>
            <a:r>
              <a:rPr lang="zh-CN" altLang="en-US" sz="1400" b="1">
                <a:solidFill>
                  <a:srgbClr val="44546A">
                    <a:alpha val="100000"/>
                  </a:srgbClr>
                </a:solidFill>
              </a:rPr>
              <a:t> </a:t>
            </a:r>
            <a:r>
              <a:rPr sz="1400" b="1">
                <a:solidFill>
                  <a:srgbClr val="08A6F6">
                    <a:alpha val="100000"/>
                  </a:srgbClr>
                </a:solidFill>
                <a:sym typeface="+mn-ea"/>
              </a:rPr>
              <a:t>前瞻性决策研究</a:t>
            </a:r>
            <a:endParaRPr lang="zh-CN" altLang="en-US" sz="1400" b="1">
              <a:solidFill>
                <a:srgbClr val="08A6F6">
                  <a:alpha val="100000"/>
                </a:srgbClr>
              </a:solidFill>
              <a:sym typeface="+mn-ea"/>
            </a:endParaRPr>
          </a:p>
        </p:txBody>
      </p:sp>
      <p:sp>
        <p:nvSpPr>
          <p:cNvPr id="192" name="矩形 191"/>
          <p:cNvSpPr>
            <a:spLocks noGrp="1"/>
          </p:cNvSpPr>
          <p:nvPr/>
        </p:nvSpPr>
        <p:spPr>
          <a:xfrm>
            <a:off x="4389813" y="3733970"/>
            <a:ext cx="3060662" cy="304800"/>
          </a:xfrm>
          <a:prstGeom prst="rect">
            <a:avLst/>
          </a:prstGeom>
          <a:noFill/>
          <a:ln>
            <a:noFill/>
          </a:ln>
        </p:spPr>
        <p:txBody>
          <a:bodyPr/>
          <a:lstStyle/>
          <a:p>
            <a:r>
              <a:rPr sz="1200">
                <a:solidFill>
                  <a:schemeClr val="tx1"/>
                </a:solidFill>
                <a:latin typeface="微软雅黑" charset="0"/>
                <a:ea typeface="微软雅黑" charset="0"/>
                <a:cs typeface="微软雅黑" charset="0"/>
              </a:rPr>
              <a:t>在标准诊疗路径之外完成药效预判，</a:t>
            </a:r>
            <a:r>
              <a:rPr lang="zh-CN" altLang="en-US" sz="1200">
                <a:solidFill>
                  <a:schemeClr val="tx1"/>
                </a:solidFill>
                <a:latin typeface="微软雅黑" charset="0"/>
                <a:ea typeface="微软雅黑" charset="0"/>
                <a:cs typeface="微软雅黑" charset="0"/>
              </a:rPr>
              <a:t>为现有临床信息补充增量</a:t>
            </a:r>
            <a:r>
              <a:rPr sz="1200">
                <a:solidFill>
                  <a:schemeClr val="tx1"/>
                </a:solidFill>
                <a:latin typeface="微软雅黑" charset="0"/>
                <a:ea typeface="微软雅黑" charset="0"/>
                <a:cs typeface="微软雅黑" charset="0"/>
              </a:rPr>
              <a:t>价值</a:t>
            </a:r>
            <a:endParaRPr sz="1200">
              <a:solidFill>
                <a:schemeClr val="tx1"/>
              </a:solidFill>
              <a:latin typeface="微软雅黑" charset="0"/>
              <a:ea typeface="微软雅黑" charset="0"/>
              <a:cs typeface="微软雅黑" charset="0"/>
            </a:endParaRPr>
          </a:p>
        </p:txBody>
      </p:sp>
      <p:sp>
        <p:nvSpPr>
          <p:cNvPr id="193" name="矩形 192"/>
          <p:cNvSpPr>
            <a:spLocks noGrp="1"/>
          </p:cNvSpPr>
          <p:nvPr/>
        </p:nvSpPr>
        <p:spPr>
          <a:xfrm>
            <a:off x="4389813" y="4391828"/>
            <a:ext cx="3060662" cy="152400"/>
          </a:xfrm>
          <a:prstGeom prst="rect">
            <a:avLst/>
          </a:prstGeom>
          <a:noFill/>
          <a:ln>
            <a:noFill/>
          </a:ln>
        </p:spPr>
        <p:txBody>
          <a:bodyPr/>
          <a:lstStyle/>
          <a:p>
            <a:r>
              <a:rPr sz="1200" b="1">
                <a:solidFill>
                  <a:schemeClr val="tx1"/>
                </a:solidFill>
                <a:latin typeface="微软雅黑" charset="0"/>
                <a:ea typeface="微软雅黑" charset="0"/>
                <a:cs typeface="微软雅黑" charset="0"/>
              </a:rPr>
              <a:t>初始合作：前瞻性临床研究</a:t>
            </a:r>
            <a:endParaRPr sz="1200" b="1">
              <a:solidFill>
                <a:schemeClr val="tx1"/>
              </a:solidFill>
              <a:latin typeface="微软雅黑" charset="0"/>
              <a:ea typeface="微软雅黑" charset="0"/>
              <a:cs typeface="微软雅黑" charset="0"/>
            </a:endParaRPr>
          </a:p>
        </p:txBody>
      </p:sp>
      <p:sp>
        <p:nvSpPr>
          <p:cNvPr id="194" name="矩形 193"/>
          <p:cNvSpPr>
            <a:spLocks noGrp="1"/>
          </p:cNvSpPr>
          <p:nvPr/>
        </p:nvSpPr>
        <p:spPr>
          <a:xfrm>
            <a:off x="8458200" y="3318115"/>
            <a:ext cx="3200419" cy="339217"/>
          </a:xfrm>
          <a:prstGeom prst="rect">
            <a:avLst/>
          </a:prstGeom>
          <a:noFill/>
          <a:ln>
            <a:noFill/>
          </a:ln>
        </p:spPr>
        <p:txBody>
          <a:bodyPr/>
          <a:lstStyle/>
          <a:p>
            <a:r>
              <a:rPr sz="1400" b="1">
                <a:solidFill>
                  <a:schemeClr val="tx1"/>
                </a:solidFill>
                <a:latin typeface="微软雅黑" charset="0"/>
                <a:ea typeface="微软雅黑" charset="0"/>
                <a:cs typeface="微软雅黑" charset="0"/>
              </a:rPr>
              <a:t>类器官平台与实验室 </a:t>
            </a:r>
            <a:r>
              <a:rPr lang="zh-CN" altLang="en-US" sz="1400" b="1">
                <a:solidFill>
                  <a:schemeClr val="tx1"/>
                </a:solidFill>
                <a:latin typeface="微软雅黑" charset="0"/>
                <a:ea typeface="微软雅黑" charset="0"/>
                <a:cs typeface="微软雅黑" charset="0"/>
              </a:rPr>
              <a:t>- </a:t>
            </a:r>
            <a:r>
              <a:rPr sz="1400" b="1">
                <a:solidFill>
                  <a:srgbClr val="08A6F6">
                    <a:alpha val="100000"/>
                  </a:srgbClr>
                </a:solidFill>
                <a:sym typeface="+mn-ea"/>
              </a:rPr>
              <a:t>分析与预测层</a:t>
            </a:r>
            <a:endParaRPr lang="zh-CN" altLang="en-US" sz="1400" b="1">
              <a:solidFill>
                <a:srgbClr val="08A6F6">
                  <a:alpha val="100000"/>
                </a:srgbClr>
              </a:solidFill>
              <a:sym typeface="+mn-ea"/>
            </a:endParaRPr>
          </a:p>
        </p:txBody>
      </p:sp>
      <p:sp>
        <p:nvSpPr>
          <p:cNvPr id="196" name="矩形 195"/>
          <p:cNvSpPr>
            <a:spLocks noGrp="1"/>
          </p:cNvSpPr>
          <p:nvPr/>
        </p:nvSpPr>
        <p:spPr>
          <a:xfrm>
            <a:off x="8458200" y="3733970"/>
            <a:ext cx="2997200" cy="304800"/>
          </a:xfrm>
          <a:prstGeom prst="rect">
            <a:avLst/>
          </a:prstGeom>
          <a:noFill/>
          <a:ln>
            <a:noFill/>
          </a:ln>
        </p:spPr>
        <p:txBody>
          <a:bodyPr/>
          <a:lstStyle/>
          <a:p>
            <a:r>
              <a:rPr sz="1200">
                <a:solidFill>
                  <a:schemeClr val="tx1"/>
                </a:solidFill>
                <a:latin typeface="微软雅黑" charset="0"/>
                <a:ea typeface="微软雅黑" charset="0"/>
                <a:cs typeface="微软雅黑" charset="0"/>
              </a:rPr>
              <a:t>提供成熟检测</a:t>
            </a:r>
            <a:r>
              <a:rPr lang="zh-CN" altLang="en-US" sz="1200">
                <a:solidFill>
                  <a:schemeClr val="tx1"/>
                </a:solidFill>
                <a:latin typeface="微软雅黑" charset="0"/>
                <a:ea typeface="微软雅黑" charset="0"/>
                <a:cs typeface="微软雅黑" charset="0"/>
              </a:rPr>
              <a:t>模型、</a:t>
            </a:r>
            <a:r>
              <a:rPr sz="1200">
                <a:solidFill>
                  <a:schemeClr val="tx1"/>
                </a:solidFill>
                <a:latin typeface="微软雅黑" charset="0"/>
                <a:ea typeface="微软雅黑" charset="0"/>
                <a:cs typeface="微软雅黑" charset="0"/>
              </a:rPr>
              <a:t>标准化</a:t>
            </a:r>
            <a:r>
              <a:rPr lang="zh-CN" altLang="en-US" sz="1200">
                <a:solidFill>
                  <a:schemeClr val="tx1"/>
                </a:solidFill>
                <a:latin typeface="微软雅黑" charset="0"/>
                <a:ea typeface="微软雅黑" charset="0"/>
                <a:cs typeface="微软雅黑" charset="0"/>
              </a:rPr>
              <a:t>解读工具、</a:t>
            </a:r>
            <a:r>
              <a:rPr sz="1200">
                <a:solidFill>
                  <a:schemeClr val="tx1"/>
                </a:solidFill>
                <a:latin typeface="微软雅黑" charset="0"/>
                <a:ea typeface="微软雅黑" charset="0"/>
                <a:cs typeface="微软雅黑" charset="0"/>
              </a:rPr>
              <a:t>纵向</a:t>
            </a:r>
            <a:r>
              <a:rPr lang="zh-CN" altLang="en-US" sz="1200">
                <a:solidFill>
                  <a:schemeClr val="tx1"/>
                </a:solidFill>
                <a:latin typeface="微软雅黑" charset="0"/>
                <a:ea typeface="微软雅黑" charset="0"/>
                <a:cs typeface="微软雅黑" charset="0"/>
              </a:rPr>
              <a:t>偏差</a:t>
            </a:r>
            <a:r>
              <a:rPr sz="1200">
                <a:solidFill>
                  <a:schemeClr val="tx1"/>
                </a:solidFill>
                <a:latin typeface="微软雅黑" charset="0"/>
                <a:ea typeface="微软雅黑" charset="0"/>
                <a:cs typeface="微软雅黑" charset="0"/>
              </a:rPr>
              <a:t>校</a:t>
            </a:r>
            <a:r>
              <a:rPr lang="zh-CN" altLang="en-US" sz="1200">
                <a:solidFill>
                  <a:schemeClr val="tx1"/>
                </a:solidFill>
                <a:latin typeface="微软雅黑" charset="0"/>
                <a:ea typeface="微软雅黑" charset="0"/>
                <a:cs typeface="微软雅黑" charset="0"/>
              </a:rPr>
              <a:t>正模块，输出</a:t>
            </a:r>
            <a:r>
              <a:rPr sz="1200">
                <a:solidFill>
                  <a:schemeClr val="tx1"/>
                </a:solidFill>
                <a:latin typeface="微软雅黑" charset="0"/>
                <a:ea typeface="微软雅黑" charset="0"/>
                <a:cs typeface="微软雅黑" charset="0"/>
              </a:rPr>
              <a:t>面向临床的</a:t>
            </a:r>
            <a:r>
              <a:rPr lang="zh-CN" altLang="en-US" sz="1200">
                <a:solidFill>
                  <a:schemeClr val="tx1"/>
                </a:solidFill>
                <a:latin typeface="微软雅黑" charset="0"/>
                <a:ea typeface="微软雅黑" charset="0"/>
                <a:cs typeface="微软雅黑" charset="0"/>
              </a:rPr>
              <a:t>分析</a:t>
            </a:r>
            <a:r>
              <a:rPr sz="1200">
                <a:solidFill>
                  <a:schemeClr val="tx1"/>
                </a:solidFill>
                <a:latin typeface="微软雅黑" charset="0"/>
                <a:ea typeface="微软雅黑" charset="0"/>
                <a:cs typeface="微软雅黑" charset="0"/>
              </a:rPr>
              <a:t>报告</a:t>
            </a:r>
            <a:endParaRPr sz="1200">
              <a:solidFill>
                <a:schemeClr val="tx1"/>
              </a:solidFill>
              <a:latin typeface="微软雅黑" charset="0"/>
              <a:ea typeface="微软雅黑" charset="0"/>
              <a:cs typeface="微软雅黑" charset="0"/>
            </a:endParaRPr>
          </a:p>
        </p:txBody>
      </p:sp>
      <p:sp>
        <p:nvSpPr>
          <p:cNvPr id="197" name="矩形 196"/>
          <p:cNvSpPr>
            <a:spLocks noGrp="1"/>
          </p:cNvSpPr>
          <p:nvPr/>
        </p:nvSpPr>
        <p:spPr>
          <a:xfrm>
            <a:off x="8458200" y="4391828"/>
            <a:ext cx="2997200" cy="152400"/>
          </a:xfrm>
          <a:prstGeom prst="rect">
            <a:avLst/>
          </a:prstGeom>
          <a:noFill/>
          <a:ln>
            <a:noFill/>
          </a:ln>
        </p:spPr>
        <p:txBody>
          <a:bodyPr/>
          <a:lstStyle/>
          <a:p>
            <a:r>
              <a:rPr sz="1200" b="1">
                <a:solidFill>
                  <a:schemeClr val="tx1"/>
                </a:solidFill>
                <a:latin typeface="微软雅黑" charset="0"/>
                <a:ea typeface="微软雅黑" charset="0"/>
                <a:cs typeface="微软雅黑" charset="0"/>
              </a:rPr>
              <a:t>初始合作：平台</a:t>
            </a:r>
            <a:r>
              <a:rPr lang="zh-CN" altLang="en-US" sz="1200" b="1">
                <a:solidFill>
                  <a:schemeClr val="tx1"/>
                </a:solidFill>
                <a:latin typeface="微软雅黑" charset="0"/>
                <a:ea typeface="微软雅黑" charset="0"/>
                <a:cs typeface="微软雅黑" charset="0"/>
              </a:rPr>
              <a:t>模块</a:t>
            </a:r>
            <a:r>
              <a:rPr sz="1200" b="1">
                <a:solidFill>
                  <a:schemeClr val="tx1"/>
                </a:solidFill>
                <a:latin typeface="微软雅黑" charset="0"/>
                <a:ea typeface="微软雅黑" charset="0"/>
                <a:cs typeface="微软雅黑" charset="0"/>
              </a:rPr>
              <a:t>集成</a:t>
            </a:r>
            <a:endParaRPr sz="1200" b="1">
              <a:solidFill>
                <a:schemeClr val="tx1"/>
              </a:solidFill>
              <a:latin typeface="微软雅黑" charset="0"/>
              <a:ea typeface="微软雅黑" charset="0"/>
              <a:cs typeface="微软雅黑"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 name="矩形 161"/>
          <p:cNvSpPr>
            <a:spLocks noGrp="1"/>
          </p:cNvSpPr>
          <p:nvPr/>
        </p:nvSpPr>
        <p:spPr>
          <a:xfrm>
            <a:off x="0" y="0"/>
            <a:ext cx="12192000" cy="6858000"/>
          </a:xfrm>
          <a:prstGeom prst="rect">
            <a:avLst/>
          </a:prstGeom>
          <a:solidFill>
            <a:srgbClr val="061F32"/>
          </a:solidFill>
        </p:spPr>
        <p:txBody>
          <a:bodyPr/>
          <a:lstStyle/>
          <a:p/>
        </p:txBody>
      </p:sp>
      <p:sp>
        <p:nvSpPr>
          <p:cNvPr id="200" name="文本框 162"/>
          <p:cNvSpPr>
            <a:spLocks noGrp="1"/>
          </p:cNvSpPr>
          <p:nvPr/>
        </p:nvSpPr>
        <p:spPr>
          <a:xfrm>
            <a:off x="685800" y="495300"/>
            <a:ext cx="10820400" cy="190500"/>
          </a:xfrm>
          <a:prstGeom prst="rect">
            <a:avLst/>
          </a:prstGeom>
        </p:spPr>
        <p:txBody>
          <a:bodyPr wrap="none" lIns="0" tIns="0" rIns="0" bIns="0"/>
          <a:lstStyle/>
          <a:p>
            <a:pPr>
              <a:lnSpc>
                <a:spcPct val="100000"/>
              </a:lnSpc>
              <a:buNone/>
            </a:pPr>
            <a:r>
              <a:rPr sz="1200" b="1" spc="225">
                <a:solidFill>
                  <a:srgbClr val="08A6F6"/>
                </a:solidFill>
                <a:latin typeface="微软雅黑"/>
                <a:ea typeface="微软雅黑"/>
                <a:cs typeface="微软雅黑"/>
              </a:rPr>
              <a:t>本轮融资</a:t>
            </a:r>
            <a:r>
              <a:rPr sz="1200" b="1" spc="225">
                <a:solidFill>
                  <a:srgbClr val="08A6F6"/>
                </a:solidFill>
                <a:latin typeface="微软雅黑"/>
                <a:ea typeface="微软雅黑"/>
                <a:cs typeface="微软雅黑"/>
              </a:rPr>
              <a:t> · THE ASK</a:t>
            </a:r>
            <a:endParaRPr sz="1200" b="1" spc="225">
              <a:solidFill>
                <a:srgbClr val="08A6F6"/>
              </a:solidFill>
              <a:latin typeface="微软雅黑"/>
              <a:ea typeface="微软雅黑"/>
              <a:cs typeface="微软雅黑"/>
            </a:endParaRPr>
          </a:p>
        </p:txBody>
      </p:sp>
      <p:sp>
        <p:nvSpPr>
          <p:cNvPr id="201" name="文本框 163"/>
          <p:cNvSpPr>
            <a:spLocks noGrp="1"/>
          </p:cNvSpPr>
          <p:nvPr/>
        </p:nvSpPr>
        <p:spPr>
          <a:xfrm>
            <a:off x="685800" y="742950"/>
            <a:ext cx="3933825" cy="1209675"/>
          </a:xfrm>
          <a:prstGeom prst="rect">
            <a:avLst/>
          </a:prstGeom>
        </p:spPr>
        <p:txBody>
          <a:bodyPr wrap="none" lIns="0" tIns="0" rIns="0" bIns="0"/>
          <a:lstStyle/>
          <a:p>
            <a:pPr>
              <a:lnSpc>
                <a:spcPct val="110000"/>
              </a:lnSpc>
              <a:buNone/>
            </a:pPr>
            <a:r>
              <a:rPr sz="7200" b="1">
                <a:solidFill>
                  <a:srgbClr val="FFFFFF"/>
                </a:solidFill>
                <a:latin typeface="微软雅黑"/>
                <a:ea typeface="微软雅黑"/>
                <a:cs typeface="微软雅黑"/>
              </a:rPr>
              <a:t>¥5000 </a:t>
            </a:r>
            <a:r>
              <a:rPr sz="3300" b="1">
                <a:solidFill>
                  <a:srgbClr val="FFFFFF"/>
                </a:solidFill>
                <a:latin typeface="微软雅黑"/>
                <a:ea typeface="微软雅黑"/>
                <a:cs typeface="微软雅黑"/>
              </a:rPr>
              <a:t>万元</a:t>
            </a:r>
            <a:endParaRPr sz="3300" b="1">
              <a:solidFill>
                <a:srgbClr val="FFFFFF"/>
              </a:solidFill>
              <a:latin typeface="微软雅黑"/>
              <a:ea typeface="微软雅黑"/>
              <a:cs typeface="微软雅黑"/>
            </a:endParaRPr>
          </a:p>
        </p:txBody>
      </p:sp>
      <p:sp>
        <p:nvSpPr>
          <p:cNvPr id="202" name="文本框 164"/>
          <p:cNvSpPr>
            <a:spLocks noGrp="1"/>
          </p:cNvSpPr>
          <p:nvPr/>
        </p:nvSpPr>
        <p:spPr>
          <a:xfrm>
            <a:off x="4962525" y="1362075"/>
            <a:ext cx="1323975" cy="590550"/>
          </a:xfrm>
          <a:prstGeom prst="rect">
            <a:avLst/>
          </a:prstGeom>
        </p:spPr>
        <p:txBody>
          <a:bodyPr wrap="none" lIns="0" tIns="0" rIns="0" bIns="128588"/>
          <a:lstStyle/>
          <a:p>
            <a:pPr>
              <a:lnSpc>
                <a:spcPct val="150000"/>
              </a:lnSpc>
              <a:buNone/>
            </a:pPr>
            <a:r>
              <a:rPr sz="1800">
                <a:solidFill>
                  <a:srgbClr val="99BDED"/>
                </a:solidFill>
                <a:latin typeface="微软雅黑"/>
                <a:ea typeface="微软雅黑"/>
                <a:cs typeface="微软雅黑"/>
              </a:rPr>
              <a:t>覆盖</a:t>
            </a:r>
            <a:r>
              <a:rPr lang="zh-CN" altLang="en-US" sz="1800">
                <a:solidFill>
                  <a:srgbClr val="99BDED"/>
                </a:solidFill>
                <a:latin typeface="微软雅黑"/>
                <a:ea typeface="微软雅黑"/>
                <a:cs typeface="微软雅黑"/>
              </a:rPr>
              <a:t>运营周期</a:t>
            </a:r>
            <a:r>
              <a:rPr sz="1800">
                <a:solidFill>
                  <a:srgbClr val="99BDED"/>
                </a:solidFill>
                <a:latin typeface="微软雅黑"/>
                <a:ea typeface="微软雅黑"/>
                <a:cs typeface="微软雅黑"/>
              </a:rPr>
              <a:t> 24 </a:t>
            </a:r>
            <a:r>
              <a:rPr sz="1800">
                <a:solidFill>
                  <a:srgbClr val="99BDED"/>
                </a:solidFill>
                <a:latin typeface="微软雅黑"/>
                <a:ea typeface="微软雅黑"/>
                <a:cs typeface="微软雅黑"/>
              </a:rPr>
              <a:t>个月</a:t>
            </a:r>
            <a:endParaRPr sz="1800">
              <a:solidFill>
                <a:srgbClr val="99BDED"/>
              </a:solidFill>
              <a:latin typeface="微软雅黑"/>
              <a:ea typeface="微软雅黑"/>
              <a:cs typeface="微软雅黑"/>
            </a:endParaRPr>
          </a:p>
        </p:txBody>
      </p:sp>
      <p:sp>
        <p:nvSpPr>
          <p:cNvPr id="203" name="文本框 165"/>
          <p:cNvSpPr>
            <a:spLocks noGrp="1"/>
          </p:cNvSpPr>
          <p:nvPr/>
        </p:nvSpPr>
        <p:spPr>
          <a:xfrm>
            <a:off x="676222" y="2009775"/>
            <a:ext cx="10820400" cy="200025"/>
          </a:xfrm>
          <a:prstGeom prst="rect">
            <a:avLst/>
          </a:prstGeom>
        </p:spPr>
        <p:txBody>
          <a:bodyPr wrap="none" lIns="0" tIns="0" rIns="0" bIns="0"/>
          <a:lstStyle/>
          <a:p>
            <a:pPr>
              <a:lnSpc>
                <a:spcPct val="100000"/>
              </a:lnSpc>
              <a:buNone/>
            </a:pPr>
            <a:r>
              <a:rPr sz="1275">
                <a:solidFill>
                  <a:srgbClr val="99BDED">
                    <a:alpha val="100000"/>
                  </a:srgbClr>
                </a:solidFill>
                <a:latin typeface="微软雅黑"/>
                <a:ea typeface="微软雅黑"/>
                <a:cs typeface="微软雅黑"/>
              </a:rPr>
              <a:t>验收三指标：实验体系复现率（科学</a:t>
            </a:r>
            <a:r>
              <a:rPr lang="zh-CN" altLang="en-US" sz="1275">
                <a:solidFill>
                  <a:srgbClr val="99BDED">
                    <a:alpha val="100000"/>
                  </a:srgbClr>
                </a:solidFill>
                <a:latin typeface="微软雅黑"/>
                <a:ea typeface="微软雅黑"/>
                <a:cs typeface="微软雅黑"/>
              </a:rPr>
              <a:t>指标</a:t>
            </a:r>
            <a:r>
              <a:rPr sz="1275">
                <a:solidFill>
                  <a:srgbClr val="99BDED">
                    <a:alpha val="100000"/>
                  </a:srgbClr>
                </a:solidFill>
                <a:latin typeface="微软雅黑"/>
                <a:ea typeface="微软雅黑"/>
                <a:cs typeface="微软雅黑"/>
              </a:rPr>
              <a:t>） · 预测与临床结局一致性（科学</a:t>
            </a:r>
            <a:r>
              <a:rPr lang="zh-CN" altLang="en-US" sz="1275">
                <a:solidFill>
                  <a:srgbClr val="99BDED">
                    <a:alpha val="100000"/>
                  </a:srgbClr>
                </a:solidFill>
                <a:latin typeface="微软雅黑"/>
                <a:ea typeface="微软雅黑"/>
                <a:cs typeface="微软雅黑"/>
              </a:rPr>
              <a:t>指标</a:t>
            </a:r>
            <a:r>
              <a:rPr sz="1275">
                <a:solidFill>
                  <a:srgbClr val="99BDED">
                    <a:alpha val="100000"/>
                  </a:srgbClr>
                </a:solidFill>
                <a:latin typeface="微软雅黑"/>
                <a:ea typeface="微软雅黑"/>
                <a:cs typeface="微软雅黑"/>
              </a:rPr>
              <a:t>） · 客户付费意向与落地项目数量（商业</a:t>
            </a:r>
            <a:r>
              <a:rPr lang="zh-CN" altLang="en-US" sz="1275">
                <a:solidFill>
                  <a:srgbClr val="99BDED">
                    <a:alpha val="100000"/>
                  </a:srgbClr>
                </a:solidFill>
                <a:latin typeface="微软雅黑"/>
                <a:ea typeface="微软雅黑"/>
                <a:cs typeface="微软雅黑"/>
              </a:rPr>
              <a:t>指标</a:t>
            </a:r>
            <a:r>
              <a:rPr sz="1275">
                <a:solidFill>
                  <a:srgbClr val="99BDED">
                    <a:alpha val="100000"/>
                  </a:srgbClr>
                </a:solidFill>
                <a:latin typeface="微软雅黑"/>
                <a:ea typeface="微软雅黑"/>
                <a:cs typeface="微软雅黑"/>
              </a:rPr>
              <a:t>）</a:t>
            </a:r>
            <a:endParaRPr sz="1275" b="1">
              <a:solidFill>
                <a:srgbClr val="FFFFFF">
                  <a:alpha val="100000"/>
                </a:srgbClr>
              </a:solidFill>
              <a:latin typeface="微软雅黑"/>
              <a:ea typeface="微软雅黑"/>
              <a:cs typeface="微软雅黑"/>
            </a:endParaRPr>
          </a:p>
        </p:txBody>
      </p:sp>
      <p:sp>
        <p:nvSpPr>
          <p:cNvPr id="204" name="文本框 166"/>
          <p:cNvSpPr>
            <a:spLocks noGrp="1"/>
          </p:cNvSpPr>
          <p:nvPr/>
        </p:nvSpPr>
        <p:spPr>
          <a:xfrm>
            <a:off x="685800" y="2667000"/>
            <a:ext cx="10820400" cy="200025"/>
          </a:xfrm>
          <a:prstGeom prst="rect">
            <a:avLst/>
          </a:prstGeom>
        </p:spPr>
        <p:txBody>
          <a:bodyPr wrap="none" lIns="0" tIns="0" rIns="0" bIns="0"/>
          <a:lstStyle/>
          <a:p>
            <a:pPr>
              <a:lnSpc>
                <a:spcPct val="100000"/>
              </a:lnSpc>
              <a:buNone/>
            </a:pPr>
            <a:r>
              <a:rPr sz="1275" b="1">
                <a:solidFill>
                  <a:srgbClr val="99BDED"/>
                </a:solidFill>
                <a:latin typeface="微软雅黑"/>
                <a:ea typeface="微软雅黑"/>
                <a:cs typeface="微软雅黑"/>
              </a:rPr>
              <a:t>资金用途</a:t>
            </a:r>
            <a:endParaRPr sz="1275" b="1">
              <a:solidFill>
                <a:srgbClr val="99BDED"/>
              </a:solidFill>
              <a:latin typeface="微软雅黑"/>
              <a:ea typeface="微软雅黑"/>
              <a:cs typeface="微软雅黑"/>
            </a:endParaRPr>
          </a:p>
        </p:txBody>
      </p:sp>
      <p:sp>
        <p:nvSpPr>
          <p:cNvPr id="205" name="矩形 167"/>
          <p:cNvSpPr>
            <a:spLocks noGrp="1"/>
          </p:cNvSpPr>
          <p:nvPr/>
        </p:nvSpPr>
        <p:spPr>
          <a:xfrm>
            <a:off x="685800" y="2962275"/>
            <a:ext cx="3743325" cy="381000"/>
          </a:xfrm>
          <a:prstGeom prst="rect">
            <a:avLst/>
          </a:prstGeom>
          <a:solidFill>
            <a:srgbClr val="08A6F6"/>
          </a:solidFill>
        </p:spPr>
        <p:txBody>
          <a:bodyPr/>
          <a:lstStyle/>
          <a:p/>
        </p:txBody>
      </p:sp>
      <p:sp>
        <p:nvSpPr>
          <p:cNvPr id="206" name="文本框 168"/>
          <p:cNvSpPr>
            <a:spLocks noGrp="1"/>
          </p:cNvSpPr>
          <p:nvPr/>
        </p:nvSpPr>
        <p:spPr>
          <a:xfrm>
            <a:off x="819150" y="3057525"/>
            <a:ext cx="3609975" cy="190500"/>
          </a:xfrm>
          <a:prstGeom prst="rect">
            <a:avLst/>
          </a:prstGeom>
        </p:spPr>
        <p:txBody>
          <a:bodyPr wrap="none" lIns="0" tIns="0" rIns="0" bIns="0"/>
          <a:lstStyle/>
          <a:p>
            <a:pPr>
              <a:lnSpc>
                <a:spcPct val="100000"/>
              </a:lnSpc>
              <a:buNone/>
            </a:pPr>
            <a:r>
              <a:rPr sz="1200" b="1">
                <a:solidFill>
                  <a:srgbClr val="061F32"/>
                </a:solidFill>
                <a:latin typeface="微软雅黑"/>
                <a:ea typeface="微软雅黑"/>
                <a:cs typeface="微软雅黑"/>
              </a:rPr>
              <a:t>实验与样本体系</a:t>
            </a:r>
            <a:r>
              <a:rPr sz="1200" b="1">
                <a:solidFill>
                  <a:srgbClr val="061F32"/>
                </a:solidFill>
                <a:latin typeface="微软雅黑"/>
                <a:ea typeface="微软雅黑"/>
                <a:cs typeface="微软雅黑"/>
              </a:rPr>
              <a:t> 35%</a:t>
            </a:r>
            <a:endParaRPr sz="1200" b="1">
              <a:solidFill>
                <a:srgbClr val="061F32"/>
              </a:solidFill>
              <a:latin typeface="微软雅黑"/>
              <a:ea typeface="微软雅黑"/>
              <a:cs typeface="微软雅黑"/>
            </a:endParaRPr>
          </a:p>
        </p:txBody>
      </p:sp>
      <p:sp>
        <p:nvSpPr>
          <p:cNvPr id="207" name="矩形 169"/>
          <p:cNvSpPr>
            <a:spLocks noGrp="1"/>
          </p:cNvSpPr>
          <p:nvPr/>
        </p:nvSpPr>
        <p:spPr>
          <a:xfrm>
            <a:off x="4457700" y="2962275"/>
            <a:ext cx="2676525" cy="381000"/>
          </a:xfrm>
          <a:prstGeom prst="rect">
            <a:avLst/>
          </a:prstGeom>
          <a:solidFill>
            <a:srgbClr val="99BDED"/>
          </a:solidFill>
        </p:spPr>
        <p:txBody>
          <a:bodyPr/>
          <a:lstStyle/>
          <a:p/>
        </p:txBody>
      </p:sp>
      <p:sp>
        <p:nvSpPr>
          <p:cNvPr id="208" name="文本框 170"/>
          <p:cNvSpPr>
            <a:spLocks noGrp="1"/>
          </p:cNvSpPr>
          <p:nvPr/>
        </p:nvSpPr>
        <p:spPr>
          <a:xfrm>
            <a:off x="4591050" y="3057525"/>
            <a:ext cx="2543175" cy="190500"/>
          </a:xfrm>
          <a:prstGeom prst="rect">
            <a:avLst/>
          </a:prstGeom>
        </p:spPr>
        <p:txBody>
          <a:bodyPr wrap="none" lIns="0" tIns="0" rIns="0" bIns="0"/>
          <a:lstStyle/>
          <a:p>
            <a:pPr>
              <a:lnSpc>
                <a:spcPct val="100000"/>
              </a:lnSpc>
              <a:buNone/>
            </a:pPr>
            <a:r>
              <a:rPr sz="1200" b="1">
                <a:solidFill>
                  <a:srgbClr val="061F32"/>
                </a:solidFill>
                <a:latin typeface="微软雅黑"/>
                <a:ea typeface="微软雅黑"/>
                <a:cs typeface="微软雅黑"/>
              </a:rPr>
              <a:t>数据与</a:t>
            </a:r>
            <a:r>
              <a:rPr sz="1200" b="1">
                <a:solidFill>
                  <a:srgbClr val="061F32"/>
                </a:solidFill>
                <a:latin typeface="微软雅黑"/>
                <a:ea typeface="微软雅黑"/>
                <a:cs typeface="微软雅黑"/>
              </a:rPr>
              <a:t> AI 25%</a:t>
            </a:r>
            <a:endParaRPr sz="1200" b="1">
              <a:solidFill>
                <a:srgbClr val="061F32"/>
              </a:solidFill>
              <a:latin typeface="微软雅黑"/>
              <a:ea typeface="微软雅黑"/>
              <a:cs typeface="微软雅黑"/>
            </a:endParaRPr>
          </a:p>
        </p:txBody>
      </p:sp>
      <p:sp>
        <p:nvSpPr>
          <p:cNvPr id="209" name="矩形 171"/>
          <p:cNvSpPr>
            <a:spLocks noGrp="1"/>
          </p:cNvSpPr>
          <p:nvPr/>
        </p:nvSpPr>
        <p:spPr>
          <a:xfrm>
            <a:off x="7162800" y="2962275"/>
            <a:ext cx="2143125" cy="381000"/>
          </a:xfrm>
          <a:prstGeom prst="rect">
            <a:avLst/>
          </a:prstGeom>
          <a:solidFill>
            <a:srgbClr val="FFFFFF"/>
          </a:solidFill>
        </p:spPr>
        <p:txBody>
          <a:bodyPr/>
          <a:lstStyle/>
          <a:p/>
        </p:txBody>
      </p:sp>
      <p:sp>
        <p:nvSpPr>
          <p:cNvPr id="210" name="文本框 172"/>
          <p:cNvSpPr>
            <a:spLocks noGrp="1"/>
          </p:cNvSpPr>
          <p:nvPr/>
        </p:nvSpPr>
        <p:spPr>
          <a:xfrm>
            <a:off x="7296150" y="3057525"/>
            <a:ext cx="2009775" cy="190500"/>
          </a:xfrm>
          <a:prstGeom prst="rect">
            <a:avLst/>
          </a:prstGeom>
        </p:spPr>
        <p:txBody>
          <a:bodyPr wrap="none" lIns="0" tIns="0" rIns="0" bIns="0"/>
          <a:lstStyle/>
          <a:p>
            <a:pPr>
              <a:lnSpc>
                <a:spcPct val="100000"/>
              </a:lnSpc>
              <a:buNone/>
            </a:pPr>
            <a:r>
              <a:rPr sz="1200" b="1">
                <a:solidFill>
                  <a:srgbClr val="061F32"/>
                </a:solidFill>
                <a:latin typeface="微软雅黑"/>
                <a:ea typeface="微软雅黑"/>
                <a:cs typeface="微软雅黑"/>
              </a:rPr>
              <a:t>核心人才</a:t>
            </a:r>
            <a:r>
              <a:rPr sz="1200" b="1">
                <a:solidFill>
                  <a:srgbClr val="061F32"/>
                </a:solidFill>
                <a:latin typeface="微软雅黑"/>
                <a:ea typeface="微软雅黑"/>
                <a:cs typeface="微软雅黑"/>
              </a:rPr>
              <a:t> 20%</a:t>
            </a:r>
            <a:endParaRPr sz="1200" b="1">
              <a:solidFill>
                <a:srgbClr val="061F32"/>
              </a:solidFill>
              <a:latin typeface="微软雅黑"/>
              <a:ea typeface="微软雅黑"/>
              <a:cs typeface="微软雅黑"/>
            </a:endParaRPr>
          </a:p>
        </p:txBody>
      </p:sp>
      <p:sp>
        <p:nvSpPr>
          <p:cNvPr id="211" name="矩形 173"/>
          <p:cNvSpPr>
            <a:spLocks noGrp="1"/>
          </p:cNvSpPr>
          <p:nvPr/>
        </p:nvSpPr>
        <p:spPr>
          <a:xfrm>
            <a:off x="9334500" y="2962275"/>
            <a:ext cx="1076325" cy="381000"/>
          </a:xfrm>
          <a:prstGeom prst="rect">
            <a:avLst/>
          </a:prstGeom>
          <a:solidFill>
            <a:srgbClr val="44546A"/>
          </a:solidFill>
        </p:spPr>
        <p:txBody>
          <a:bodyPr/>
          <a:lstStyle/>
          <a:p/>
        </p:txBody>
      </p:sp>
      <p:sp>
        <p:nvSpPr>
          <p:cNvPr id="212" name="文本框 174"/>
          <p:cNvSpPr>
            <a:spLocks noGrp="1"/>
          </p:cNvSpPr>
          <p:nvPr/>
        </p:nvSpPr>
        <p:spPr>
          <a:xfrm>
            <a:off x="9429750" y="3076575"/>
            <a:ext cx="981075" cy="161925"/>
          </a:xfrm>
          <a:prstGeom prst="rect">
            <a:avLst/>
          </a:prstGeom>
        </p:spPr>
        <p:txBody>
          <a:bodyPr wrap="none" lIns="0" tIns="0" rIns="0" bIns="0"/>
          <a:lstStyle/>
          <a:p>
            <a:pPr>
              <a:lnSpc>
                <a:spcPct val="100000"/>
              </a:lnSpc>
              <a:buNone/>
            </a:pPr>
            <a:r>
              <a:rPr sz="1050">
                <a:solidFill>
                  <a:srgbClr val="FFFFFF"/>
                </a:solidFill>
                <a:latin typeface="微软雅黑"/>
                <a:ea typeface="微软雅黑"/>
                <a:cs typeface="微软雅黑"/>
              </a:rPr>
              <a:t>合作与</a:t>
            </a:r>
            <a:r>
              <a:rPr sz="1050">
                <a:solidFill>
                  <a:srgbClr val="FFFFFF"/>
                </a:solidFill>
                <a:latin typeface="微软雅黑"/>
                <a:ea typeface="微软雅黑"/>
                <a:cs typeface="微软雅黑"/>
              </a:rPr>
              <a:t> IP 10%</a:t>
            </a:r>
            <a:endParaRPr sz="1050">
              <a:solidFill>
                <a:srgbClr val="FFFFFF"/>
              </a:solidFill>
              <a:latin typeface="微软雅黑"/>
              <a:ea typeface="微软雅黑"/>
              <a:cs typeface="微软雅黑"/>
            </a:endParaRPr>
          </a:p>
        </p:txBody>
      </p:sp>
      <p:sp>
        <p:nvSpPr>
          <p:cNvPr id="213" name="矩形 175"/>
          <p:cNvSpPr>
            <a:spLocks noGrp="1"/>
          </p:cNvSpPr>
          <p:nvPr/>
        </p:nvSpPr>
        <p:spPr>
          <a:xfrm>
            <a:off x="10439400" y="2962275"/>
            <a:ext cx="1066800" cy="381000"/>
          </a:xfrm>
          <a:prstGeom prst="rect">
            <a:avLst/>
          </a:prstGeom>
          <a:solidFill>
            <a:srgbClr val="2E4457"/>
          </a:solidFill>
        </p:spPr>
        <p:txBody>
          <a:bodyPr/>
          <a:lstStyle/>
          <a:p/>
        </p:txBody>
      </p:sp>
      <p:sp>
        <p:nvSpPr>
          <p:cNvPr id="214" name="文本框 176"/>
          <p:cNvSpPr>
            <a:spLocks noGrp="1"/>
          </p:cNvSpPr>
          <p:nvPr/>
        </p:nvSpPr>
        <p:spPr>
          <a:xfrm>
            <a:off x="10486762" y="3076575"/>
            <a:ext cx="971550" cy="161925"/>
          </a:xfrm>
          <a:prstGeom prst="rect">
            <a:avLst/>
          </a:prstGeom>
        </p:spPr>
        <p:txBody>
          <a:bodyPr wrap="none" lIns="0" tIns="0" rIns="0" bIns="0"/>
          <a:lstStyle/>
          <a:p>
            <a:pPr>
              <a:lnSpc>
                <a:spcPct val="100000"/>
              </a:lnSpc>
              <a:buNone/>
            </a:pPr>
            <a:r>
              <a:rPr sz="1050">
                <a:solidFill>
                  <a:srgbClr val="FFFFFF"/>
                </a:solidFill>
                <a:latin typeface="微软雅黑"/>
                <a:ea typeface="微软雅黑"/>
                <a:cs typeface="微软雅黑"/>
              </a:rPr>
              <a:t>商务</a:t>
            </a:r>
            <a:r>
              <a:rPr lang="zh-CN" altLang="en-US" sz="1050">
                <a:solidFill>
                  <a:srgbClr val="FFFFFF"/>
                </a:solidFill>
                <a:latin typeface="微软雅黑"/>
                <a:ea typeface="微软雅黑"/>
                <a:cs typeface="微软雅黑"/>
              </a:rPr>
              <a:t>与</a:t>
            </a:r>
            <a:r>
              <a:rPr sz="1050">
                <a:solidFill>
                  <a:srgbClr val="FFFFFF"/>
                </a:solidFill>
                <a:latin typeface="微软雅黑"/>
                <a:ea typeface="微软雅黑"/>
                <a:cs typeface="微软雅黑"/>
              </a:rPr>
              <a:t>运营</a:t>
            </a:r>
            <a:r>
              <a:rPr sz="1050">
                <a:solidFill>
                  <a:srgbClr val="FFFFFF"/>
                </a:solidFill>
                <a:latin typeface="微软雅黑"/>
                <a:ea typeface="微软雅黑"/>
                <a:cs typeface="微软雅黑"/>
              </a:rPr>
              <a:t> 10%</a:t>
            </a:r>
            <a:endParaRPr sz="1050">
              <a:solidFill>
                <a:srgbClr val="FFFFFF"/>
              </a:solidFill>
              <a:latin typeface="微软雅黑"/>
              <a:ea typeface="微软雅黑"/>
              <a:cs typeface="微软雅黑"/>
            </a:endParaRPr>
          </a:p>
        </p:txBody>
      </p:sp>
      <p:sp>
        <p:nvSpPr>
          <p:cNvPr id="215" name="文本框 177"/>
          <p:cNvSpPr>
            <a:spLocks noGrp="1"/>
          </p:cNvSpPr>
          <p:nvPr/>
        </p:nvSpPr>
        <p:spPr>
          <a:xfrm>
            <a:off x="685800" y="3800475"/>
            <a:ext cx="10820400" cy="200025"/>
          </a:xfrm>
          <a:prstGeom prst="rect">
            <a:avLst/>
          </a:prstGeom>
        </p:spPr>
        <p:txBody>
          <a:bodyPr wrap="none" lIns="0" tIns="0" rIns="0" bIns="0"/>
          <a:lstStyle/>
          <a:p>
            <a:pPr>
              <a:lnSpc>
                <a:spcPct val="100000"/>
              </a:lnSpc>
              <a:buNone/>
            </a:pPr>
            <a:r>
              <a:rPr sz="1275" b="1">
                <a:solidFill>
                  <a:srgbClr val="99BDED"/>
                </a:solidFill>
                <a:latin typeface="微软雅黑"/>
                <a:ea typeface="微软雅黑"/>
                <a:cs typeface="微软雅黑"/>
              </a:rPr>
              <a:t>24 </a:t>
            </a:r>
            <a:r>
              <a:rPr sz="1275" b="1">
                <a:solidFill>
                  <a:srgbClr val="99BDED"/>
                </a:solidFill>
                <a:latin typeface="微软雅黑"/>
                <a:ea typeface="微软雅黑"/>
                <a:cs typeface="微软雅黑"/>
              </a:rPr>
              <a:t>个月关键里程碑</a:t>
            </a:r>
            <a:endParaRPr sz="1275" b="1">
              <a:solidFill>
                <a:srgbClr val="99BDED"/>
              </a:solidFill>
              <a:latin typeface="微软雅黑"/>
              <a:ea typeface="微软雅黑"/>
              <a:cs typeface="微软雅黑"/>
            </a:endParaRPr>
          </a:p>
        </p:txBody>
      </p:sp>
      <p:sp>
        <p:nvSpPr>
          <p:cNvPr id="216" name="任意多边形 178"/>
          <p:cNvSpPr>
            <a:spLocks noGrp="1"/>
          </p:cNvSpPr>
          <p:nvPr/>
        </p:nvSpPr>
        <p:spPr>
          <a:xfrm>
            <a:off x="685800" y="4114800"/>
            <a:ext cx="2590800" cy="962025"/>
          </a:xfrm>
          <a:custGeom>
            <a:avLst/>
            <a:gdLst/>
            <a:ahLst/>
            <a:cxnLst/>
            <a:pathLst>
              <a:path w="272" h="101">
                <a:moveTo>
                  <a:pt x="0" y="0"/>
                </a:moveTo>
                <a:lnTo>
                  <a:pt x="272" y="0"/>
                </a:lnTo>
                <a:lnTo>
                  <a:pt x="272" y="3"/>
                </a:lnTo>
                <a:lnTo>
                  <a:pt x="0" y="3"/>
                </a:lnTo>
                <a:close/>
              </a:path>
            </a:pathLst>
          </a:custGeom>
          <a:solidFill>
            <a:srgbClr val="08A6F6"/>
          </a:solidFill>
        </p:spPr>
        <p:txBody>
          <a:bodyPr/>
          <a:lstStyle/>
          <a:p/>
        </p:txBody>
      </p:sp>
      <p:sp>
        <p:nvSpPr>
          <p:cNvPr id="217" name="文本框 179"/>
          <p:cNvSpPr>
            <a:spLocks noGrp="1"/>
          </p:cNvSpPr>
          <p:nvPr/>
        </p:nvSpPr>
        <p:spPr>
          <a:xfrm>
            <a:off x="685800" y="4257675"/>
            <a:ext cx="2590800" cy="219075"/>
          </a:xfrm>
          <a:prstGeom prst="rect">
            <a:avLst/>
          </a:prstGeom>
        </p:spPr>
        <p:txBody>
          <a:bodyPr wrap="none" lIns="0" tIns="0" rIns="0" bIns="0"/>
          <a:lstStyle/>
          <a:p>
            <a:pPr>
              <a:lnSpc>
                <a:spcPct val="100000"/>
              </a:lnSpc>
              <a:buNone/>
            </a:pPr>
            <a:r>
              <a:rPr sz="1425" b="1">
                <a:solidFill>
                  <a:srgbClr val="FFFFFF">
                    <a:alpha val="100000"/>
                  </a:srgbClr>
                </a:solidFill>
                <a:latin typeface="微软雅黑"/>
                <a:ea typeface="微软雅黑"/>
                <a:cs typeface="微软雅黑"/>
              </a:rPr>
              <a:t>第</a:t>
            </a:r>
            <a:r>
              <a:rPr sz="1425" b="1">
                <a:solidFill>
                  <a:srgbClr val="FFFFFF">
                    <a:alpha val="100000"/>
                  </a:srgbClr>
                </a:solidFill>
                <a:latin typeface="微软雅黑"/>
                <a:ea typeface="微软雅黑"/>
                <a:cs typeface="微软雅黑"/>
              </a:rPr>
              <a:t> 6 </a:t>
            </a:r>
            <a:r>
              <a:rPr sz="1425" b="1">
                <a:solidFill>
                  <a:srgbClr val="FFFFFF">
                    <a:alpha val="100000"/>
                  </a:srgbClr>
                </a:solidFill>
                <a:latin typeface="微软雅黑"/>
                <a:ea typeface="微软雅黑"/>
                <a:cs typeface="微软雅黑"/>
              </a:rPr>
              <a:t>个月</a:t>
            </a:r>
            <a:r>
              <a:rPr sz="1425" b="1">
                <a:solidFill>
                  <a:srgbClr val="FFFFFF">
                    <a:alpha val="100000"/>
                  </a:srgbClr>
                </a:solidFill>
                <a:latin typeface="微软雅黑"/>
                <a:ea typeface="微软雅黑"/>
                <a:cs typeface="微软雅黑"/>
              </a:rPr>
              <a:t> </a:t>
            </a:r>
            <a:endParaRPr sz="1425" b="1">
              <a:solidFill>
                <a:srgbClr val="FFFFFF">
                  <a:alpha val="100000"/>
                </a:srgbClr>
              </a:solidFill>
              <a:latin typeface="微软雅黑"/>
              <a:ea typeface="微软雅黑"/>
              <a:cs typeface="微软雅黑"/>
            </a:endParaRPr>
          </a:p>
        </p:txBody>
      </p:sp>
      <p:sp>
        <p:nvSpPr>
          <p:cNvPr id="218" name="文本框 180"/>
          <p:cNvSpPr>
            <a:spLocks noGrp="1"/>
          </p:cNvSpPr>
          <p:nvPr/>
        </p:nvSpPr>
        <p:spPr>
          <a:xfrm>
            <a:off x="685800" y="4533900"/>
            <a:ext cx="2590800" cy="705689"/>
          </a:xfrm>
          <a:prstGeom prst="rect">
            <a:avLst/>
          </a:prstGeom>
        </p:spPr>
        <p:txBody>
          <a:bodyPr wrap="square" lIns="0" tIns="0" rIns="0" bIns="0">
            <a:noAutofit/>
          </a:bodyPr>
          <a:lstStyle/>
          <a:p>
            <a:pPr>
              <a:lnSpc>
                <a:spcPct val="150000"/>
              </a:lnSpc>
              <a:buNone/>
            </a:pPr>
            <a:r>
              <a:rPr sz="1100">
                <a:solidFill>
                  <a:srgbClr val="99BDED">
                    <a:alpha val="100000"/>
                  </a:srgbClr>
                </a:solidFill>
                <a:latin typeface="微软雅黑"/>
                <a:ea typeface="微软雅黑"/>
                <a:cs typeface="微软雅黑"/>
              </a:rPr>
              <a:t>完成首批患者-PDO 配对队列</a:t>
            </a:r>
            <a:r>
              <a:rPr sz="1100">
                <a:solidFill>
                  <a:srgbClr val="99BDED">
                    <a:alpha val="100000"/>
                  </a:srgbClr>
                </a:solidFill>
                <a:latin typeface="微软雅黑" charset="0"/>
                <a:ea typeface="微软雅黑" charset="0"/>
                <a:cs typeface="微软雅黑" charset="0"/>
              </a:rPr>
              <a:t>，实现完整</a:t>
            </a:r>
            <a:r>
              <a:rPr sz="1100">
                <a:solidFill>
                  <a:srgbClr val="99BDED">
                    <a:alpha val="100000"/>
                  </a:srgbClr>
                </a:solidFill>
                <a:latin typeface="微软雅黑"/>
                <a:ea typeface="微软雅黑"/>
                <a:cs typeface="微软雅黑"/>
              </a:rPr>
              <a:t>实验数据流程</a:t>
            </a:r>
            <a:r>
              <a:rPr lang="zh-CN" altLang="en-US" sz="1100">
                <a:solidFill>
                  <a:srgbClr val="99BDED">
                    <a:alpha val="100000"/>
                  </a:srgbClr>
                </a:solidFill>
                <a:latin typeface="微软雅黑"/>
                <a:ea typeface="微软雅黑"/>
                <a:cs typeface="微软雅黑"/>
              </a:rPr>
              <a:t>稳定</a:t>
            </a:r>
            <a:r>
              <a:rPr sz="1100">
                <a:solidFill>
                  <a:srgbClr val="99BDED">
                    <a:alpha val="100000"/>
                  </a:srgbClr>
                </a:solidFill>
                <a:latin typeface="微软雅黑"/>
                <a:ea typeface="微软雅黑"/>
                <a:cs typeface="微软雅黑"/>
              </a:rPr>
              <a:t>复现。</a:t>
            </a:r>
            <a:endParaRPr sz="1100">
              <a:solidFill>
                <a:srgbClr val="99BDED">
                  <a:alpha val="100000"/>
                </a:srgbClr>
              </a:solidFill>
              <a:latin typeface="微软雅黑"/>
              <a:ea typeface="微软雅黑"/>
              <a:cs typeface="微软雅黑"/>
            </a:endParaRPr>
          </a:p>
        </p:txBody>
      </p:sp>
      <p:sp>
        <p:nvSpPr>
          <p:cNvPr id="219" name="任意多边形 181"/>
          <p:cNvSpPr>
            <a:spLocks noGrp="1"/>
          </p:cNvSpPr>
          <p:nvPr/>
        </p:nvSpPr>
        <p:spPr>
          <a:xfrm>
            <a:off x="3429000" y="4114800"/>
            <a:ext cx="2590800" cy="962025"/>
          </a:xfrm>
          <a:custGeom>
            <a:avLst/>
            <a:gdLst/>
            <a:ahLst/>
            <a:cxnLst/>
            <a:pathLst>
              <a:path w="272" h="101">
                <a:moveTo>
                  <a:pt x="0" y="0"/>
                </a:moveTo>
                <a:lnTo>
                  <a:pt x="272" y="0"/>
                </a:lnTo>
                <a:lnTo>
                  <a:pt x="272" y="3"/>
                </a:lnTo>
                <a:lnTo>
                  <a:pt x="0" y="3"/>
                </a:lnTo>
                <a:close/>
              </a:path>
            </a:pathLst>
          </a:custGeom>
          <a:solidFill>
            <a:srgbClr val="08A6F6"/>
          </a:solidFill>
        </p:spPr>
        <p:txBody>
          <a:bodyPr/>
          <a:lstStyle/>
          <a:p/>
        </p:txBody>
      </p:sp>
      <p:sp>
        <p:nvSpPr>
          <p:cNvPr id="220" name="文本框 182"/>
          <p:cNvSpPr>
            <a:spLocks noGrp="1"/>
          </p:cNvSpPr>
          <p:nvPr/>
        </p:nvSpPr>
        <p:spPr>
          <a:xfrm>
            <a:off x="3429000" y="4257675"/>
            <a:ext cx="2590800" cy="219075"/>
          </a:xfrm>
          <a:prstGeom prst="rect">
            <a:avLst/>
          </a:prstGeom>
        </p:spPr>
        <p:txBody>
          <a:bodyPr wrap="none" lIns="0" tIns="0" rIns="0" bIns="0"/>
          <a:lstStyle/>
          <a:p>
            <a:pPr>
              <a:lnSpc>
                <a:spcPct val="100000"/>
              </a:lnSpc>
              <a:buNone/>
            </a:pPr>
            <a:r>
              <a:rPr sz="1425" b="1">
                <a:solidFill>
                  <a:srgbClr val="FFFFFF">
                    <a:alpha val="100000"/>
                  </a:srgbClr>
                </a:solidFill>
                <a:latin typeface="微软雅黑"/>
                <a:ea typeface="微软雅黑"/>
                <a:cs typeface="微软雅黑"/>
              </a:rPr>
              <a:t>第</a:t>
            </a:r>
            <a:r>
              <a:rPr sz="1425" b="1">
                <a:solidFill>
                  <a:srgbClr val="FFFFFF">
                    <a:alpha val="100000"/>
                  </a:srgbClr>
                </a:solidFill>
                <a:latin typeface="微软雅黑"/>
                <a:ea typeface="微软雅黑"/>
                <a:cs typeface="微软雅黑"/>
              </a:rPr>
              <a:t> 12 </a:t>
            </a:r>
            <a:r>
              <a:rPr sz="1425" b="1">
                <a:solidFill>
                  <a:srgbClr val="FFFFFF">
                    <a:alpha val="100000"/>
                  </a:srgbClr>
                </a:solidFill>
                <a:latin typeface="微软雅黑"/>
                <a:ea typeface="微软雅黑"/>
                <a:cs typeface="微软雅黑"/>
              </a:rPr>
              <a:t>个月</a:t>
            </a:r>
            <a:r>
              <a:rPr sz="1425" b="1">
                <a:solidFill>
                  <a:srgbClr val="FFFFFF">
                    <a:alpha val="100000"/>
                  </a:srgbClr>
                </a:solidFill>
                <a:latin typeface="微软雅黑"/>
                <a:ea typeface="微软雅黑"/>
                <a:cs typeface="微软雅黑"/>
              </a:rPr>
              <a:t> </a:t>
            </a:r>
            <a:endParaRPr sz="1425" b="1">
              <a:solidFill>
                <a:srgbClr val="FFFFFF">
                  <a:alpha val="100000"/>
                </a:srgbClr>
              </a:solidFill>
              <a:latin typeface="微软雅黑"/>
              <a:ea typeface="微软雅黑"/>
              <a:cs typeface="微软雅黑"/>
            </a:endParaRPr>
          </a:p>
        </p:txBody>
      </p:sp>
      <p:sp>
        <p:nvSpPr>
          <p:cNvPr id="221" name="文本框 183"/>
          <p:cNvSpPr>
            <a:spLocks noGrp="1"/>
          </p:cNvSpPr>
          <p:nvPr/>
        </p:nvSpPr>
        <p:spPr>
          <a:xfrm>
            <a:off x="3429000" y="4533900"/>
            <a:ext cx="2590800" cy="705664"/>
          </a:xfrm>
          <a:prstGeom prst="rect">
            <a:avLst/>
          </a:prstGeom>
        </p:spPr>
        <p:txBody>
          <a:bodyPr wrap="square" lIns="0" tIns="0" rIns="0" bIns="0">
            <a:noAutofit/>
          </a:bodyPr>
          <a:lstStyle/>
          <a:p>
            <a:pPr>
              <a:lnSpc>
                <a:spcPct val="150000"/>
              </a:lnSpc>
              <a:buNone/>
            </a:pPr>
            <a:r>
              <a:rPr sz="1100">
                <a:solidFill>
                  <a:srgbClr val="99BDED">
                    <a:alpha val="100000"/>
                  </a:srgbClr>
                </a:solidFill>
                <a:latin typeface="微软雅黑"/>
                <a:ea typeface="微软雅黑"/>
                <a:cs typeface="微软雅黑"/>
              </a:rPr>
              <a:t>落地首个付费或联合开发项目，完成药物响应回顾性验证，启动双轨迹校准的前瞻</a:t>
            </a:r>
            <a:r>
              <a:rPr lang="zh-CN" altLang="en-US" sz="1100">
                <a:solidFill>
                  <a:srgbClr val="99BDED">
                    <a:alpha val="100000"/>
                  </a:srgbClr>
                </a:solidFill>
                <a:latin typeface="微软雅黑"/>
                <a:ea typeface="微软雅黑"/>
                <a:cs typeface="微软雅黑"/>
              </a:rPr>
              <a:t>性</a:t>
            </a:r>
            <a:r>
              <a:rPr sz="1100">
                <a:solidFill>
                  <a:srgbClr val="99BDED">
                    <a:alpha val="100000"/>
                  </a:srgbClr>
                </a:solidFill>
                <a:latin typeface="微软雅黑"/>
                <a:ea typeface="微软雅黑"/>
                <a:cs typeface="微软雅黑"/>
              </a:rPr>
              <a:t>评分。</a:t>
            </a:r>
            <a:endParaRPr sz="1100">
              <a:solidFill>
                <a:srgbClr val="99BDED">
                  <a:alpha val="100000"/>
                </a:srgbClr>
              </a:solidFill>
              <a:latin typeface="微软雅黑"/>
              <a:ea typeface="微软雅黑"/>
              <a:cs typeface="微软雅黑"/>
            </a:endParaRPr>
          </a:p>
        </p:txBody>
      </p:sp>
      <p:sp>
        <p:nvSpPr>
          <p:cNvPr id="222" name="任意多边形 184"/>
          <p:cNvSpPr>
            <a:spLocks noGrp="1"/>
          </p:cNvSpPr>
          <p:nvPr/>
        </p:nvSpPr>
        <p:spPr>
          <a:xfrm>
            <a:off x="6172200" y="4114800"/>
            <a:ext cx="2590800" cy="962025"/>
          </a:xfrm>
          <a:custGeom>
            <a:avLst/>
            <a:gdLst/>
            <a:ahLst/>
            <a:cxnLst/>
            <a:pathLst>
              <a:path w="272" h="101">
                <a:moveTo>
                  <a:pt x="0" y="0"/>
                </a:moveTo>
                <a:lnTo>
                  <a:pt x="272" y="0"/>
                </a:lnTo>
                <a:lnTo>
                  <a:pt x="272" y="3"/>
                </a:lnTo>
                <a:lnTo>
                  <a:pt x="0" y="3"/>
                </a:lnTo>
                <a:close/>
              </a:path>
            </a:pathLst>
          </a:custGeom>
          <a:solidFill>
            <a:srgbClr val="08A6F6"/>
          </a:solidFill>
        </p:spPr>
        <p:txBody>
          <a:bodyPr/>
          <a:lstStyle/>
          <a:p/>
        </p:txBody>
      </p:sp>
      <p:sp>
        <p:nvSpPr>
          <p:cNvPr id="223" name="文本框 185"/>
          <p:cNvSpPr>
            <a:spLocks noGrp="1"/>
          </p:cNvSpPr>
          <p:nvPr/>
        </p:nvSpPr>
        <p:spPr>
          <a:xfrm>
            <a:off x="6172200" y="4257675"/>
            <a:ext cx="2590800" cy="219075"/>
          </a:xfrm>
          <a:prstGeom prst="rect">
            <a:avLst/>
          </a:prstGeom>
        </p:spPr>
        <p:txBody>
          <a:bodyPr wrap="none" lIns="0" tIns="0" rIns="0" bIns="0"/>
          <a:lstStyle/>
          <a:p>
            <a:pPr>
              <a:lnSpc>
                <a:spcPct val="100000"/>
              </a:lnSpc>
              <a:buNone/>
            </a:pPr>
            <a:r>
              <a:rPr sz="1425" b="1">
                <a:solidFill>
                  <a:srgbClr val="FFFFFF">
                    <a:alpha val="100000"/>
                  </a:srgbClr>
                </a:solidFill>
                <a:latin typeface="微软雅黑"/>
                <a:ea typeface="微软雅黑"/>
                <a:cs typeface="微软雅黑"/>
              </a:rPr>
              <a:t>第</a:t>
            </a:r>
            <a:r>
              <a:rPr sz="1425" b="1">
                <a:solidFill>
                  <a:srgbClr val="FFFFFF">
                    <a:alpha val="100000"/>
                  </a:srgbClr>
                </a:solidFill>
                <a:latin typeface="微软雅黑"/>
                <a:ea typeface="微软雅黑"/>
                <a:cs typeface="微软雅黑"/>
              </a:rPr>
              <a:t> 18 </a:t>
            </a:r>
            <a:r>
              <a:rPr sz="1425" b="1">
                <a:solidFill>
                  <a:srgbClr val="FFFFFF">
                    <a:alpha val="100000"/>
                  </a:srgbClr>
                </a:solidFill>
                <a:latin typeface="微软雅黑"/>
                <a:ea typeface="微软雅黑"/>
                <a:cs typeface="微软雅黑"/>
              </a:rPr>
              <a:t>个月</a:t>
            </a:r>
            <a:r>
              <a:rPr sz="1425" b="1">
                <a:solidFill>
                  <a:srgbClr val="FFFFFF">
                    <a:alpha val="100000"/>
                  </a:srgbClr>
                </a:solidFill>
                <a:latin typeface="微软雅黑"/>
                <a:ea typeface="微软雅黑"/>
                <a:cs typeface="微软雅黑"/>
              </a:rPr>
              <a:t> </a:t>
            </a:r>
            <a:endParaRPr sz="1425" b="1">
              <a:solidFill>
                <a:srgbClr val="FFFFFF">
                  <a:alpha val="100000"/>
                </a:srgbClr>
              </a:solidFill>
              <a:latin typeface="微软雅黑"/>
              <a:ea typeface="微软雅黑"/>
              <a:cs typeface="微软雅黑"/>
            </a:endParaRPr>
          </a:p>
        </p:txBody>
      </p:sp>
      <p:sp>
        <p:nvSpPr>
          <p:cNvPr id="224" name="文本框 186"/>
          <p:cNvSpPr>
            <a:spLocks noGrp="1"/>
          </p:cNvSpPr>
          <p:nvPr/>
        </p:nvSpPr>
        <p:spPr>
          <a:xfrm>
            <a:off x="6172200" y="4533900"/>
            <a:ext cx="2590800" cy="705688"/>
          </a:xfrm>
          <a:prstGeom prst="rect">
            <a:avLst/>
          </a:prstGeom>
        </p:spPr>
        <p:txBody>
          <a:bodyPr wrap="square" lIns="0" tIns="0" rIns="0" bIns="0">
            <a:noAutofit/>
          </a:bodyPr>
          <a:lstStyle/>
          <a:p>
            <a:pPr>
              <a:lnSpc>
                <a:spcPct val="150000"/>
              </a:lnSpc>
              <a:buNone/>
            </a:pPr>
            <a:r>
              <a:rPr sz="1100">
                <a:solidFill>
                  <a:srgbClr val="99BDED">
                    <a:alpha val="100000"/>
                  </a:srgbClr>
                </a:solidFill>
                <a:latin typeface="微软雅黑"/>
                <a:ea typeface="微软雅黑"/>
                <a:cs typeface="微软雅黑"/>
              </a:rPr>
              <a:t>建成 </a:t>
            </a:r>
            <a:r>
              <a:rPr lang="zh-CN" altLang="en-US" sz="1100">
                <a:solidFill>
                  <a:srgbClr val="99BDED">
                    <a:alpha val="100000"/>
                  </a:srgbClr>
                </a:solidFill>
                <a:latin typeface="微软雅黑"/>
                <a:ea typeface="微软雅黑"/>
                <a:cs typeface="微软雅黑"/>
              </a:rPr>
              <a:t>规模超</a:t>
            </a:r>
            <a:r>
              <a:rPr sz="1100">
                <a:solidFill>
                  <a:srgbClr val="99BDED">
                    <a:alpha val="100000"/>
                  </a:srgbClr>
                </a:solidFill>
                <a:latin typeface="微软雅黑"/>
                <a:ea typeface="微软雅黑"/>
                <a:cs typeface="微软雅黑"/>
              </a:rPr>
              <a:t>100例</a:t>
            </a:r>
            <a:r>
              <a:rPr lang="zh-CN" altLang="en-US" sz="1100">
                <a:solidFill>
                  <a:srgbClr val="99BDED">
                    <a:alpha val="100000"/>
                  </a:srgbClr>
                </a:solidFill>
                <a:latin typeface="微软雅黑"/>
                <a:ea typeface="微软雅黑"/>
                <a:cs typeface="微软雅黑"/>
              </a:rPr>
              <a:t>的</a:t>
            </a:r>
            <a:r>
              <a:rPr sz="1100">
                <a:solidFill>
                  <a:srgbClr val="99BDED">
                    <a:alpha val="100000"/>
                  </a:srgbClr>
                </a:solidFill>
                <a:latin typeface="微软雅黑"/>
                <a:ea typeface="微软雅黑"/>
                <a:cs typeface="微软雅黑"/>
              </a:rPr>
              <a:t>目标</a:t>
            </a:r>
            <a:r>
              <a:rPr lang="zh-CN" altLang="en-US" sz="1100">
                <a:solidFill>
                  <a:srgbClr val="99BDED">
                    <a:alpha val="100000"/>
                  </a:srgbClr>
                </a:solidFill>
                <a:latin typeface="微软雅黑"/>
                <a:ea typeface="微软雅黑"/>
                <a:cs typeface="微软雅黑"/>
              </a:rPr>
              <a:t>配对</a:t>
            </a:r>
            <a:r>
              <a:rPr sz="1100">
                <a:solidFill>
                  <a:srgbClr val="99BDED">
                    <a:alpha val="100000"/>
                  </a:srgbClr>
                </a:solidFill>
                <a:latin typeface="微软雅黑"/>
                <a:ea typeface="微软雅黑"/>
                <a:cs typeface="微软雅黑"/>
              </a:rPr>
              <a:t>队列，发布 AIVC 模型 v1</a:t>
            </a:r>
            <a:r>
              <a:rPr lang="zh-CN" altLang="en-US" sz="1100">
                <a:solidFill>
                  <a:srgbClr val="99BDED">
                    <a:alpha val="100000"/>
                  </a:srgbClr>
                </a:solidFill>
                <a:latin typeface="微软雅黑"/>
                <a:ea typeface="微软雅黑"/>
                <a:cs typeface="微软雅黑"/>
              </a:rPr>
              <a:t>版本</a:t>
            </a:r>
            <a:r>
              <a:rPr sz="1100">
                <a:solidFill>
                  <a:srgbClr val="99BDED">
                    <a:alpha val="100000"/>
                  </a:srgbClr>
                </a:solidFill>
                <a:latin typeface="微软雅黑"/>
                <a:ea typeface="微软雅黑"/>
                <a:cs typeface="微软雅黑"/>
              </a:rPr>
              <a:t>，启动虚拟组织引擎产品化</a:t>
            </a:r>
            <a:r>
              <a:rPr lang="zh-CN" altLang="en-US" sz="1100">
                <a:solidFill>
                  <a:srgbClr val="99BDED">
                    <a:alpha val="100000"/>
                  </a:srgbClr>
                </a:solidFill>
                <a:latin typeface="微软雅黑"/>
                <a:ea typeface="微软雅黑"/>
                <a:cs typeface="微软雅黑"/>
              </a:rPr>
              <a:t>开发</a:t>
            </a:r>
            <a:r>
              <a:rPr sz="1100">
                <a:solidFill>
                  <a:srgbClr val="99BDED">
                    <a:alpha val="100000"/>
                  </a:srgbClr>
                </a:solidFill>
                <a:latin typeface="微软雅黑"/>
                <a:ea typeface="微软雅黑"/>
                <a:cs typeface="微软雅黑"/>
              </a:rPr>
              <a:t>，评估第二</a:t>
            </a:r>
            <a:r>
              <a:rPr lang="zh-CN" altLang="en-US" sz="1100">
                <a:solidFill>
                  <a:srgbClr val="99BDED">
                    <a:alpha val="100000"/>
                  </a:srgbClr>
                </a:solidFill>
                <a:latin typeface="微软雅黑"/>
                <a:ea typeface="微软雅黑"/>
                <a:cs typeface="微软雅黑"/>
              </a:rPr>
              <a:t>类疾病场景</a:t>
            </a:r>
            <a:r>
              <a:rPr sz="1100">
                <a:solidFill>
                  <a:srgbClr val="99BDED">
                    <a:alpha val="100000"/>
                  </a:srgbClr>
                </a:solidFill>
                <a:latin typeface="微软雅黑"/>
                <a:ea typeface="微软雅黑"/>
                <a:cs typeface="微软雅黑"/>
              </a:rPr>
              <a:t>适配</a:t>
            </a:r>
            <a:r>
              <a:rPr lang="zh-CN" altLang="en-US" sz="1100">
                <a:solidFill>
                  <a:srgbClr val="99BDED">
                    <a:alpha val="100000"/>
                  </a:srgbClr>
                </a:solidFill>
                <a:latin typeface="微软雅黑"/>
                <a:ea typeface="微软雅黑"/>
                <a:cs typeface="微软雅黑"/>
              </a:rPr>
              <a:t>方案。</a:t>
            </a:r>
            <a:endParaRPr sz="1100">
              <a:solidFill>
                <a:srgbClr val="99BDED">
                  <a:alpha val="100000"/>
                </a:srgbClr>
              </a:solidFill>
              <a:latin typeface="微软雅黑"/>
              <a:ea typeface="微软雅黑"/>
              <a:cs typeface="微软雅黑"/>
            </a:endParaRPr>
          </a:p>
        </p:txBody>
      </p:sp>
      <p:sp>
        <p:nvSpPr>
          <p:cNvPr id="225" name="任意多边形 187"/>
          <p:cNvSpPr>
            <a:spLocks noGrp="1"/>
          </p:cNvSpPr>
          <p:nvPr/>
        </p:nvSpPr>
        <p:spPr>
          <a:xfrm>
            <a:off x="8915400" y="4114800"/>
            <a:ext cx="2590800" cy="962025"/>
          </a:xfrm>
          <a:custGeom>
            <a:avLst/>
            <a:gdLst/>
            <a:ahLst/>
            <a:cxnLst/>
            <a:pathLst>
              <a:path w="272" h="101">
                <a:moveTo>
                  <a:pt x="0" y="0"/>
                </a:moveTo>
                <a:lnTo>
                  <a:pt x="272" y="0"/>
                </a:lnTo>
                <a:lnTo>
                  <a:pt x="272" y="3"/>
                </a:lnTo>
                <a:lnTo>
                  <a:pt x="0" y="3"/>
                </a:lnTo>
                <a:close/>
              </a:path>
            </a:pathLst>
          </a:custGeom>
          <a:solidFill>
            <a:srgbClr val="08A6F6"/>
          </a:solidFill>
        </p:spPr>
        <p:txBody>
          <a:bodyPr/>
          <a:lstStyle/>
          <a:p/>
        </p:txBody>
      </p:sp>
      <p:sp>
        <p:nvSpPr>
          <p:cNvPr id="226" name="文本框 188"/>
          <p:cNvSpPr>
            <a:spLocks noGrp="1"/>
          </p:cNvSpPr>
          <p:nvPr/>
        </p:nvSpPr>
        <p:spPr>
          <a:xfrm>
            <a:off x="8915400" y="4257675"/>
            <a:ext cx="2590800" cy="219075"/>
          </a:xfrm>
          <a:prstGeom prst="rect">
            <a:avLst/>
          </a:prstGeom>
        </p:spPr>
        <p:txBody>
          <a:bodyPr wrap="none" lIns="0" tIns="0" rIns="0" bIns="0"/>
          <a:lstStyle/>
          <a:p>
            <a:pPr>
              <a:lnSpc>
                <a:spcPct val="100000"/>
              </a:lnSpc>
              <a:buNone/>
            </a:pPr>
            <a:r>
              <a:rPr sz="1425" b="1">
                <a:solidFill>
                  <a:srgbClr val="FFFFFF">
                    <a:alpha val="100000"/>
                  </a:srgbClr>
                </a:solidFill>
                <a:latin typeface="微软雅黑"/>
                <a:ea typeface="微软雅黑"/>
                <a:cs typeface="微软雅黑"/>
              </a:rPr>
              <a:t>第</a:t>
            </a:r>
            <a:r>
              <a:rPr sz="1425" b="1">
                <a:solidFill>
                  <a:srgbClr val="FFFFFF">
                    <a:alpha val="100000"/>
                  </a:srgbClr>
                </a:solidFill>
                <a:latin typeface="微软雅黑"/>
                <a:ea typeface="微软雅黑"/>
                <a:cs typeface="微软雅黑"/>
              </a:rPr>
              <a:t> 24 </a:t>
            </a:r>
            <a:r>
              <a:rPr sz="1425" b="1">
                <a:solidFill>
                  <a:srgbClr val="FFFFFF">
                    <a:alpha val="100000"/>
                  </a:srgbClr>
                </a:solidFill>
                <a:latin typeface="微软雅黑"/>
                <a:ea typeface="微软雅黑"/>
                <a:cs typeface="微软雅黑"/>
              </a:rPr>
              <a:t>个月</a:t>
            </a:r>
            <a:endParaRPr sz="1425" b="1">
              <a:solidFill>
                <a:srgbClr val="FFFFFF">
                  <a:alpha val="100000"/>
                </a:srgbClr>
              </a:solidFill>
              <a:latin typeface="微软雅黑"/>
              <a:ea typeface="微软雅黑"/>
              <a:cs typeface="微软雅黑"/>
            </a:endParaRPr>
          </a:p>
        </p:txBody>
      </p:sp>
      <p:sp>
        <p:nvSpPr>
          <p:cNvPr id="227" name="文本框 189"/>
          <p:cNvSpPr>
            <a:spLocks noGrp="1"/>
          </p:cNvSpPr>
          <p:nvPr/>
        </p:nvSpPr>
        <p:spPr>
          <a:xfrm>
            <a:off x="8915400" y="4533900"/>
            <a:ext cx="2590800" cy="822674"/>
          </a:xfrm>
          <a:prstGeom prst="rect">
            <a:avLst/>
          </a:prstGeom>
        </p:spPr>
        <p:txBody>
          <a:bodyPr wrap="square" lIns="0" tIns="0" rIns="0" bIns="0">
            <a:noAutofit/>
          </a:bodyPr>
          <a:lstStyle/>
          <a:p>
            <a:pPr>
              <a:lnSpc>
                <a:spcPct val="150000"/>
              </a:lnSpc>
              <a:buNone/>
            </a:pPr>
            <a:r>
              <a:rPr sz="1100">
                <a:solidFill>
                  <a:srgbClr val="99BDED">
                    <a:alpha val="100000"/>
                  </a:srgbClr>
                </a:solidFill>
                <a:latin typeface="微软雅黑"/>
                <a:ea typeface="微软雅黑"/>
                <a:cs typeface="微软雅黑"/>
              </a:rPr>
              <a:t>落地 2-3 个付费合作项目，完成第二</a:t>
            </a:r>
            <a:r>
              <a:rPr lang="zh-CN" altLang="en-US" sz="1100">
                <a:solidFill>
                  <a:srgbClr val="99BDED">
                    <a:alpha val="100000"/>
                  </a:srgbClr>
                </a:solidFill>
                <a:latin typeface="微软雅黑"/>
                <a:ea typeface="微软雅黑"/>
                <a:cs typeface="微软雅黑"/>
              </a:rPr>
              <a:t>类</a:t>
            </a:r>
            <a:r>
              <a:rPr sz="1100">
                <a:solidFill>
                  <a:srgbClr val="99BDED">
                    <a:alpha val="100000"/>
                  </a:srgbClr>
                </a:solidFill>
                <a:latin typeface="微软雅黑"/>
                <a:ea typeface="微软雅黑"/>
                <a:cs typeface="微软雅黑"/>
              </a:rPr>
              <a:t>疾病场景验证，</a:t>
            </a:r>
            <a:r>
              <a:rPr lang="zh-CN" altLang="en-US" sz="1100">
                <a:solidFill>
                  <a:srgbClr val="99BDED">
                    <a:alpha val="100000"/>
                  </a:srgbClr>
                </a:solidFill>
                <a:latin typeface="微软雅黑"/>
                <a:ea typeface="微软雅黑"/>
                <a:cs typeface="微软雅黑"/>
              </a:rPr>
              <a:t>构建可供</a:t>
            </a:r>
            <a:r>
              <a:rPr sz="1100">
                <a:solidFill>
                  <a:srgbClr val="99BDED">
                    <a:alpha val="100000"/>
                  </a:srgbClr>
                </a:solidFill>
                <a:latin typeface="微软雅黑"/>
                <a:ea typeface="微软雅黑"/>
                <a:cs typeface="微软雅黑"/>
              </a:rPr>
              <a:t>下一轮融资</a:t>
            </a:r>
            <a:r>
              <a:rPr lang="zh-CN" altLang="en-US" sz="1100">
                <a:solidFill>
                  <a:srgbClr val="99BDED">
                    <a:alpha val="100000"/>
                  </a:srgbClr>
                </a:solidFill>
                <a:latin typeface="微软雅黑"/>
                <a:ea typeface="微软雅黑"/>
                <a:cs typeface="微软雅黑"/>
              </a:rPr>
              <a:t>使用</a:t>
            </a:r>
            <a:r>
              <a:rPr sz="1100">
                <a:solidFill>
                  <a:srgbClr val="99BDED">
                    <a:alpha val="100000"/>
                  </a:srgbClr>
                </a:solidFill>
                <a:latin typeface="微软雅黑"/>
                <a:ea typeface="微软雅黑"/>
                <a:cs typeface="微软雅黑"/>
              </a:rPr>
              <a:t>的</a:t>
            </a:r>
            <a:r>
              <a:rPr lang="zh-CN" altLang="en-US" sz="1100">
                <a:solidFill>
                  <a:srgbClr val="99BDED">
                    <a:alpha val="100000"/>
                  </a:srgbClr>
                </a:solidFill>
                <a:latin typeface="微软雅黑"/>
                <a:ea typeface="微软雅黑"/>
                <a:cs typeface="微软雅黑"/>
              </a:rPr>
              <a:t>标准化</a:t>
            </a:r>
            <a:r>
              <a:rPr sz="1100">
                <a:solidFill>
                  <a:srgbClr val="99BDED">
                    <a:alpha val="100000"/>
                  </a:srgbClr>
                </a:solidFill>
                <a:latin typeface="微软雅黑"/>
                <a:ea typeface="微软雅黑"/>
                <a:cs typeface="微软雅黑"/>
              </a:rPr>
              <a:t>数据</a:t>
            </a:r>
            <a:r>
              <a:rPr lang="zh-CN" altLang="en-US" sz="1100">
                <a:solidFill>
                  <a:srgbClr val="99BDED">
                    <a:alpha val="100000"/>
                  </a:srgbClr>
                </a:solidFill>
                <a:latin typeface="微软雅黑"/>
                <a:ea typeface="微软雅黑"/>
                <a:cs typeface="微软雅黑"/>
              </a:rPr>
              <a:t>集。</a:t>
            </a:r>
            <a:endParaRPr sz="1100">
              <a:solidFill>
                <a:srgbClr val="99BDED">
                  <a:alpha val="100000"/>
                </a:srgbClr>
              </a:solidFill>
              <a:latin typeface="微软雅黑"/>
              <a:ea typeface="微软雅黑"/>
              <a:cs typeface="微软雅黑"/>
            </a:endParaRPr>
          </a:p>
        </p:txBody>
      </p:sp>
      <p:sp>
        <p:nvSpPr>
          <p:cNvPr id="228" name="文本框 190"/>
          <p:cNvSpPr>
            <a:spLocks noGrp="1"/>
          </p:cNvSpPr>
          <p:nvPr/>
        </p:nvSpPr>
        <p:spPr>
          <a:xfrm>
            <a:off x="676184" y="5649115"/>
            <a:ext cx="771616" cy="286277"/>
          </a:xfrm>
          <a:prstGeom prst="rect">
            <a:avLst/>
          </a:prstGeom>
        </p:spPr>
        <p:txBody>
          <a:bodyPr wrap="none" lIns="0" tIns="0" rIns="0" bIns="0"/>
          <a:lstStyle/>
          <a:p>
            <a:pPr>
              <a:lnSpc>
                <a:spcPct val="100000"/>
              </a:lnSpc>
              <a:buNone/>
            </a:pPr>
            <a:r>
              <a:rPr sz="1400" b="1">
                <a:solidFill>
                  <a:srgbClr val="99BDED"/>
                </a:solidFill>
                <a:latin typeface="微软雅黑"/>
                <a:ea typeface="微软雅黑"/>
                <a:cs typeface="微软雅黑"/>
              </a:rPr>
              <a:t>愿景阶梯：</a:t>
            </a:r>
            <a:endParaRPr sz="1400" b="1">
              <a:solidFill>
                <a:srgbClr val="99BDED"/>
              </a:solidFill>
              <a:latin typeface="微软雅黑"/>
              <a:ea typeface="微软雅黑"/>
              <a:cs typeface="微软雅黑"/>
            </a:endParaRPr>
          </a:p>
        </p:txBody>
      </p:sp>
      <p:sp>
        <p:nvSpPr>
          <p:cNvPr id="229" name="文本框 191"/>
          <p:cNvSpPr>
            <a:spLocks noGrp="1"/>
          </p:cNvSpPr>
          <p:nvPr/>
        </p:nvSpPr>
        <p:spPr>
          <a:xfrm>
            <a:off x="1562100" y="5649115"/>
            <a:ext cx="1457325" cy="200025"/>
          </a:xfrm>
          <a:prstGeom prst="rect">
            <a:avLst/>
          </a:prstGeom>
        </p:spPr>
        <p:txBody>
          <a:bodyPr wrap="none" lIns="0" tIns="0" rIns="0" bIns="0"/>
          <a:lstStyle/>
          <a:p>
            <a:pPr>
              <a:lnSpc>
                <a:spcPct val="100000"/>
              </a:lnSpc>
              <a:buNone/>
            </a:pPr>
            <a:r>
              <a:rPr sz="1400" b="1">
                <a:solidFill>
                  <a:srgbClr val="FFFFFF"/>
                </a:solidFill>
                <a:latin typeface="微软雅黑"/>
                <a:ea typeface="微软雅黑"/>
                <a:cs typeface="微软雅黑"/>
              </a:rPr>
              <a:t>虚拟类器官（现在）</a:t>
            </a:r>
            <a:endParaRPr sz="1400" b="1">
              <a:solidFill>
                <a:srgbClr val="FFFFFF"/>
              </a:solidFill>
              <a:latin typeface="微软雅黑"/>
              <a:ea typeface="微软雅黑"/>
              <a:cs typeface="微软雅黑"/>
            </a:endParaRPr>
          </a:p>
        </p:txBody>
      </p:sp>
      <p:pic>
        <p:nvPicPr>
          <p:cNvPr id="271" name="图片 19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33725" y="5677690"/>
            <a:ext cx="209550" cy="152400"/>
          </a:xfrm>
          <a:prstGeom prst="rect">
            <a:avLst/>
          </a:prstGeom>
        </p:spPr>
      </p:pic>
      <p:sp>
        <p:nvSpPr>
          <p:cNvPr id="231" name="文本框 193"/>
          <p:cNvSpPr>
            <a:spLocks noGrp="1"/>
          </p:cNvSpPr>
          <p:nvPr/>
        </p:nvSpPr>
        <p:spPr>
          <a:xfrm>
            <a:off x="3457575" y="5649115"/>
            <a:ext cx="1619250" cy="200025"/>
          </a:xfrm>
          <a:prstGeom prst="rect">
            <a:avLst/>
          </a:prstGeom>
        </p:spPr>
        <p:txBody>
          <a:bodyPr wrap="none" lIns="0" tIns="0" rIns="0" bIns="0"/>
          <a:lstStyle/>
          <a:p>
            <a:pPr>
              <a:lnSpc>
                <a:spcPct val="100000"/>
              </a:lnSpc>
              <a:buNone/>
            </a:pPr>
            <a:r>
              <a:rPr sz="1400" b="1">
                <a:solidFill>
                  <a:srgbClr val="FFFFFF"/>
                </a:solidFill>
                <a:latin typeface="微软雅黑"/>
                <a:ea typeface="微软雅黑"/>
                <a:cs typeface="微软雅黑"/>
              </a:rPr>
              <a:t>虚拟组织引擎（中期）</a:t>
            </a:r>
            <a:endParaRPr sz="1400" b="1">
              <a:solidFill>
                <a:srgbClr val="FFFFFF"/>
              </a:solidFill>
              <a:latin typeface="微软雅黑"/>
              <a:ea typeface="微软雅黑"/>
              <a:cs typeface="微软雅黑"/>
            </a:endParaRPr>
          </a:p>
        </p:txBody>
      </p:sp>
      <p:pic>
        <p:nvPicPr>
          <p:cNvPr id="273" name="图片 19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91125" y="5677690"/>
            <a:ext cx="209550" cy="152400"/>
          </a:xfrm>
          <a:prstGeom prst="rect">
            <a:avLst/>
          </a:prstGeom>
        </p:spPr>
      </p:pic>
      <p:sp>
        <p:nvSpPr>
          <p:cNvPr id="233" name="文本框 195"/>
          <p:cNvSpPr>
            <a:spLocks noGrp="1"/>
          </p:cNvSpPr>
          <p:nvPr/>
        </p:nvSpPr>
        <p:spPr>
          <a:xfrm>
            <a:off x="5514975" y="5649115"/>
            <a:ext cx="1943100" cy="200025"/>
          </a:xfrm>
          <a:prstGeom prst="rect">
            <a:avLst/>
          </a:prstGeom>
        </p:spPr>
        <p:txBody>
          <a:bodyPr wrap="none" lIns="0" tIns="0" rIns="0" bIns="0"/>
          <a:lstStyle/>
          <a:p>
            <a:pPr>
              <a:lnSpc>
                <a:spcPct val="100000"/>
              </a:lnSpc>
              <a:buNone/>
            </a:pPr>
            <a:r>
              <a:rPr sz="1400" b="1">
                <a:solidFill>
                  <a:srgbClr val="08A6F6"/>
                </a:solidFill>
                <a:latin typeface="微软雅黑"/>
                <a:ea typeface="微软雅黑"/>
                <a:cs typeface="微软雅黑"/>
              </a:rPr>
              <a:t>临床</a:t>
            </a:r>
            <a:r>
              <a:rPr sz="1400" b="1">
                <a:solidFill>
                  <a:srgbClr val="08A6F6"/>
                </a:solidFill>
                <a:latin typeface="微软雅黑"/>
                <a:ea typeface="微软雅黑"/>
                <a:cs typeface="Arial" panose="020B0604020202020204" pitchFamily="34" charset="0"/>
              </a:rPr>
              <a:t>肿瘤数字孪生</a:t>
            </a:r>
            <a:r>
              <a:rPr sz="1400" b="1">
                <a:solidFill>
                  <a:srgbClr val="08A6F6"/>
                </a:solidFill>
                <a:latin typeface="微软雅黑"/>
                <a:ea typeface="微软雅黑"/>
                <a:cs typeface="微软雅黑"/>
              </a:rPr>
              <a:t>（终局</a:t>
            </a:r>
            <a:r>
              <a:rPr lang="zh-CN" altLang="en-US" sz="1400" b="1">
                <a:solidFill>
                  <a:srgbClr val="08A6F6"/>
                </a:solidFill>
                <a:latin typeface="微软雅黑"/>
                <a:ea typeface="微软雅黑"/>
                <a:cs typeface="微软雅黑"/>
              </a:rPr>
              <a:t>，底层：因果生物世界模型）</a:t>
            </a:r>
            <a:endParaRPr sz="1400" b="1">
              <a:solidFill>
                <a:srgbClr val="08A6F6"/>
              </a:solidFill>
              <a:latin typeface="微软雅黑"/>
              <a:ea typeface="微软雅黑"/>
              <a:cs typeface="微软雅黑"/>
            </a:endParaRPr>
          </a:p>
        </p:txBody>
      </p:sp>
      <p:sp>
        <p:nvSpPr>
          <p:cNvPr id="235" name="任意多边形 197"/>
          <p:cNvSpPr>
            <a:spLocks noGrp="1"/>
          </p:cNvSpPr>
          <p:nvPr/>
        </p:nvSpPr>
        <p:spPr>
          <a:xfrm>
            <a:off x="685800" y="6162675"/>
            <a:ext cx="10820400" cy="323850"/>
          </a:xfrm>
          <a:custGeom>
            <a:avLst/>
            <a:gdLst/>
            <a:ahLst/>
            <a:cxnLst/>
            <a:pathLst>
              <a:path w="1136" h="34">
                <a:moveTo>
                  <a:pt x="0" y="0"/>
                </a:moveTo>
                <a:lnTo>
                  <a:pt x="1136" y="0"/>
                </a:lnTo>
                <a:lnTo>
                  <a:pt x="1136" y="1"/>
                </a:lnTo>
                <a:lnTo>
                  <a:pt x="0" y="1"/>
                </a:lnTo>
                <a:close/>
              </a:path>
            </a:pathLst>
          </a:custGeom>
          <a:solidFill>
            <a:srgbClr val="44546A"/>
          </a:solidFill>
        </p:spPr>
        <p:txBody>
          <a:bodyPr/>
          <a:lstStyle/>
          <a:p/>
        </p:txBody>
      </p:sp>
      <p:sp>
        <p:nvSpPr>
          <p:cNvPr id="236" name="文本框 198"/>
          <p:cNvSpPr>
            <a:spLocks noGrp="1"/>
          </p:cNvSpPr>
          <p:nvPr/>
        </p:nvSpPr>
        <p:spPr>
          <a:xfrm>
            <a:off x="685800" y="6305550"/>
            <a:ext cx="5495925" cy="171450"/>
          </a:xfrm>
          <a:prstGeom prst="rect">
            <a:avLst/>
          </a:prstGeom>
        </p:spPr>
        <p:txBody>
          <a:bodyPr wrap="none" lIns="0" tIns="0" rIns="0" bIns="0"/>
          <a:lstStyle/>
          <a:p>
            <a:pPr>
              <a:lnSpc>
                <a:spcPct val="100000"/>
              </a:lnSpc>
              <a:buNone/>
            </a:pPr>
            <a:r>
              <a:rPr sz="1100" b="1">
                <a:solidFill>
                  <a:srgbClr val="99BDED"/>
                </a:solidFill>
                <a:latin typeface="微软雅黑"/>
                <a:ea typeface="微软雅黑"/>
                <a:cs typeface="微软雅黑"/>
              </a:rPr>
              <a:t>AIVC 虚拟类器官 · 在虚拟空间</a:t>
            </a:r>
            <a:r>
              <a:rPr lang="zh-CN" altLang="en-US" sz="1100" b="1">
                <a:solidFill>
                  <a:srgbClr val="99BDED"/>
                </a:solidFill>
                <a:latin typeface="微软雅黑"/>
                <a:ea typeface="微软雅黑"/>
                <a:cs typeface="微软雅黑"/>
              </a:rPr>
              <a:t>完成药效推演</a:t>
            </a:r>
            <a:r>
              <a:rPr sz="1100" b="1">
                <a:solidFill>
                  <a:srgbClr val="99BDED"/>
                </a:solidFill>
                <a:latin typeface="微软雅黑"/>
                <a:ea typeface="微软雅黑"/>
                <a:cs typeface="微软雅黑"/>
              </a:rPr>
              <a:t>，再</a:t>
            </a:r>
            <a:r>
              <a:rPr lang="zh-CN" altLang="en-US" sz="1100" b="1">
                <a:solidFill>
                  <a:srgbClr val="99BDED"/>
                </a:solidFill>
                <a:latin typeface="微软雅黑"/>
                <a:ea typeface="微软雅黑"/>
                <a:cs typeface="微软雅黑"/>
              </a:rPr>
              <a:t>经由</a:t>
            </a:r>
            <a:r>
              <a:rPr sz="1100" b="1">
                <a:solidFill>
                  <a:srgbClr val="99BDED"/>
                </a:solidFill>
                <a:latin typeface="微软雅黑"/>
                <a:ea typeface="微软雅黑"/>
                <a:cs typeface="微软雅黑"/>
              </a:rPr>
              <a:t>真实类器官</a:t>
            </a:r>
            <a:r>
              <a:rPr lang="zh-CN" altLang="en-US" sz="1100" b="1">
                <a:solidFill>
                  <a:srgbClr val="99BDED"/>
                </a:solidFill>
                <a:latin typeface="微软雅黑"/>
                <a:ea typeface="微软雅黑"/>
                <a:cs typeface="微软雅黑"/>
              </a:rPr>
              <a:t>实验</a:t>
            </a:r>
            <a:r>
              <a:rPr sz="1100" b="1">
                <a:solidFill>
                  <a:srgbClr val="99BDED"/>
                </a:solidFill>
                <a:latin typeface="微软雅黑"/>
                <a:ea typeface="微软雅黑"/>
                <a:cs typeface="微软雅黑"/>
              </a:rPr>
              <a:t>与患者</a:t>
            </a:r>
            <a:r>
              <a:rPr lang="zh-CN" altLang="en-US" sz="1100" b="1">
                <a:solidFill>
                  <a:srgbClr val="99BDED"/>
                </a:solidFill>
                <a:latin typeface="微软雅黑"/>
                <a:ea typeface="微软雅黑"/>
                <a:cs typeface="微软雅黑"/>
              </a:rPr>
              <a:t>临床结局完成闭环验证。</a:t>
            </a:r>
            <a:endParaRPr sz="1100" b="1">
              <a:solidFill>
                <a:srgbClr val="99BDED"/>
              </a:solidFill>
              <a:latin typeface="微软雅黑"/>
              <a:ea typeface="微软雅黑"/>
              <a:cs typeface="微软雅黑"/>
            </a:endParaRPr>
          </a:p>
        </p:txBody>
      </p:sp>
      <p:sp>
        <p:nvSpPr>
          <p:cNvPr id="237" name="文本框 199"/>
          <p:cNvSpPr>
            <a:spLocks noGrp="1"/>
          </p:cNvSpPr>
          <p:nvPr/>
        </p:nvSpPr>
        <p:spPr>
          <a:xfrm>
            <a:off x="11049000" y="6315075"/>
            <a:ext cx="457200" cy="161925"/>
          </a:xfrm>
          <a:prstGeom prst="rect">
            <a:avLst/>
          </a:prstGeom>
        </p:spPr>
        <p:txBody>
          <a:bodyPr wrap="none" lIns="0" tIns="0" rIns="0" bIns="0"/>
          <a:lstStyle/>
          <a:p>
            <a:pPr>
              <a:lnSpc>
                <a:spcPct val="100000"/>
              </a:lnSpc>
              <a:buNone/>
            </a:pPr>
            <a:r>
              <a:rPr sz="1050">
                <a:solidFill>
                  <a:srgbClr val="808080"/>
                </a:solidFill>
                <a:latin typeface="微软雅黑"/>
                <a:ea typeface="微软雅黑"/>
                <a:cs typeface="微软雅黑"/>
              </a:rPr>
              <a:t>18 / 18</a:t>
            </a:r>
            <a:endParaRPr sz="1050">
              <a:solidFill>
                <a:srgbClr val="808080"/>
              </a:solidFill>
              <a:latin typeface="微软雅黑"/>
              <a:ea typeface="微软雅黑"/>
              <a:cs typeface="微软雅黑"/>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7375</Words>
  <Application>WPS Office WWO_wpscloud_20260902094840-997daf6cd0</Application>
  <PresentationFormat>Converted Presentation</PresentationFormat>
  <Paragraphs>640</Paragraphs>
  <Slides>18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18</vt:i4>
      </vt:variant>
    </vt:vector>
  </HeadingPairs>
  <TitlesOfParts>
    <vt:vector size="31" baseType="lpstr">
      <vt:lpstr>Arial</vt:lpstr>
      <vt:lpstr>宋体</vt:lpstr>
      <vt:lpstr>Wingdings</vt:lpstr>
      <vt:lpstr>Arial</vt:lpstr>
      <vt:lpstr>微软雅黑</vt:lpstr>
      <vt:lpstr>汉仪旗黑KW 55S</vt:lpstr>
      <vt:lpstr>Calibri</vt:lpstr>
      <vt:lpstr>微软雅黑</vt:lpstr>
      <vt:lpstr>Calibri</vt:lpstr>
      <vt:lpstr>微软雅黑</vt:lpstr>
      <vt:lpstr>汉仪书宋二KW</vt:lpstr>
      <vt:lpstr>Kingsoft Confetti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Walnut Exporter</cp:lastModifiedBy>
  <dcterms:created xsi:type="dcterms:W3CDTF">2026-09-14T21:32:23Z</dcterms:created>
  <dcterms:modified xsi:type="dcterms:W3CDTF">2026-09-14T21:32:23Z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21C91B9422BFD48899299F6A1ACD7A80_42</vt:lpwstr>
  </property>
  <property fmtid="{D5CDD505-2E9C-101B-9397-08002B2CF9AE}" pid="3" name="KSOProductBuildVer">
    <vt:lpwstr>2052-12.9.0.28579</vt:lpwstr>
  </property>
</Properties>
</file>