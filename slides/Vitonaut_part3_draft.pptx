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svg" ContentType="image/svg+xml"/>
  <Override PartName="/ppt/notesMasters/notesMaster1.xml" ContentType="application/vnd.openxmlformats-officedocument.presentationml.notesMaster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18"/>
    <p:sldId id="271" r:id="rId19"/>
    <p:sldId id="273" r:id="rId21"/>
    <p:sldId id="261" r:id="rId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slide" Target="slides/slide6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技术依据：虚拟实现路径提出 Patient-specific longitudinal virtual organoid，以同一患者体内轨迹与体外 PDO 平行实验系统进行纵向校准；AIVC_BUSINESS_PLAN_ZH_SELF_CONTAINED_EXPORT 明确首个场景应由样本可获得、类器官可靠、决策窗口适配和结局可评分决定，且不代表特定瘤种已经完成筛选。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外部事实核对：Tahoe Therapeutics 2025-08-11 宣布 3000 万美元 A 轮，总融资 4200 万美元，Forbes 报道估值 1.2 亿美元；Arc Institute 2026-02-24 宣布入选 TED Audacious Project 2025 cohort，年度资助池 10.3 亿美元；CZI 2025 年披露将科学 AI 算力扩至 10,000 GPUs；英灵殿科技官网/公开报道披露三个月累计融资近 5000 万美元；投资界 2026 年报道深度细胞近亿元种子轮。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svg"/><Relationship Id="rId1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18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19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里程碑与回报：每过一道闸门，风险降一级、价值升一级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0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3" name="文本框 305"/>
          <p:cNvSpPr>
            <a:spLocks noGrp="1"/>
          </p:cNvSpPr>
          <p:nvPr/>
        </p:nvSpPr>
        <p:spPr>
          <a:xfrm>
            <a:off x="533400" y="6163056"/>
            <a:ext cx="10058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Vitonaut 第一年执行计划；Tahoe Therapeutics 公开融资信息（2025）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4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04 / 04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8" name="时间轴"/>
          <p:cNvSpPr/>
          <p:nvPr/>
        </p:nvSpPr>
        <p:spPr>
          <a:xfrm>
            <a:off x="822960" y="1901952"/>
            <a:ext cx="10515600" cy="36576"/>
          </a:xfrm>
          <a:prstGeom prst="rect">
            <a:avLst/>
          </a:prstGeom>
          <a:solidFill>
            <a:srgbClr val="99BDED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19" name="节点时间 1"/>
          <p:cNvSpPr txBox="1"/>
          <p:nvPr/>
        </p:nvSpPr>
        <p:spPr>
          <a:xfrm>
            <a:off x="548640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第 3 个月</a:t>
            </a:r>
          </a:p>
        </p:txBody>
      </p:sp>
      <p:sp>
        <p:nvSpPr>
          <p:cNvPr id="920" name="节点 1"/>
          <p:cNvSpPr/>
          <p:nvPr/>
        </p:nvSpPr>
        <p:spPr>
          <a:xfrm>
            <a:off x="1481328" y="1801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BDED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21" name="节点关键词 1"/>
          <p:cNvSpPr txBox="1"/>
          <p:nvPr/>
        </p:nvSpPr>
        <p:spPr>
          <a:xfrm>
            <a:off x="548640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体系就位</a:t>
            </a:r>
          </a:p>
        </p:txBody>
      </p:sp>
      <p:sp>
        <p:nvSpPr>
          <p:cNvPr id="922" name="节点说明 1"/>
          <p:cNvSpPr txBox="1"/>
          <p:nvPr/>
        </p:nvSpPr>
        <p:spPr>
          <a:xfrm>
            <a:off x="594360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伦理获批 · 首批 PDO · 分析管线上线</a:t>
            </a:r>
          </a:p>
        </p:txBody>
      </p:sp>
      <p:sp>
        <p:nvSpPr>
          <p:cNvPr id="923" name="节点时间 2"/>
          <p:cNvSpPr txBox="1"/>
          <p:nvPr/>
        </p:nvSpPr>
        <p:spPr>
          <a:xfrm>
            <a:off x="2798064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第 6 个月 · 闸门</a:t>
            </a:r>
          </a:p>
        </p:txBody>
      </p:sp>
      <p:sp>
        <p:nvSpPr>
          <p:cNvPr id="924" name="节点 2"/>
          <p:cNvSpPr/>
          <p:nvPr/>
        </p:nvSpPr>
        <p:spPr>
          <a:xfrm>
            <a:off x="3675887" y="1746504"/>
            <a:ext cx="347472" cy="347472"/>
          </a:xfrm>
          <a:prstGeom prst="ellipse">
            <a:avLst/>
          </a:prstGeom>
          <a:solidFill>
            <a:srgbClr val="08A6F6"/>
          </a:solidFill>
          <a:ln w="12700">
            <a:solidFill>
              <a:srgbClr val="08A6F6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25" name="节点关键词 2"/>
          <p:cNvSpPr txBox="1"/>
          <p:nvPr/>
        </p:nvSpPr>
        <p:spPr>
          <a:xfrm>
            <a:off x="2798064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证明可行</a:t>
            </a:r>
          </a:p>
        </p:txBody>
      </p:sp>
      <p:sp>
        <p:nvSpPr>
          <p:cNvPr id="926" name="节点说明 2"/>
          <p:cNvSpPr txBox="1"/>
          <p:nvPr/>
        </p:nvSpPr>
        <p:spPr>
          <a:xfrm>
            <a:off x="2843784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≥30 例配对 · 稳定复现 · 深度读出跑通</a:t>
            </a:r>
          </a:p>
        </p:txBody>
      </p:sp>
      <p:sp>
        <p:nvSpPr>
          <p:cNvPr id="927" name="价值跃升 2"/>
          <p:cNvSpPr/>
          <p:nvPr/>
        </p:nvSpPr>
        <p:spPr>
          <a:xfrm>
            <a:off x="2843784" y="3456432"/>
            <a:ext cx="2011680" cy="347472"/>
          </a:xfrm>
          <a:prstGeom prst="roundRect">
            <a:avLst/>
          </a:prstGeom>
          <a:solidFill>
            <a:srgbClr val="061F32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价值跃升 ①  科学可行</a:t>
            </a:r>
          </a:p>
        </p:txBody>
      </p:sp>
      <p:sp>
        <p:nvSpPr>
          <p:cNvPr id="928" name="节点时间 3"/>
          <p:cNvSpPr txBox="1"/>
          <p:nvPr/>
        </p:nvSpPr>
        <p:spPr>
          <a:xfrm>
            <a:off x="5047488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第 9 个月</a:t>
            </a:r>
          </a:p>
        </p:txBody>
      </p:sp>
      <p:sp>
        <p:nvSpPr>
          <p:cNvPr id="929" name="节点 3"/>
          <p:cNvSpPr/>
          <p:nvPr/>
        </p:nvSpPr>
        <p:spPr>
          <a:xfrm>
            <a:off x="5980176" y="1801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BDED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30" name="节点关键词 3"/>
          <p:cNvSpPr txBox="1"/>
          <p:nvPr/>
        </p:nvSpPr>
        <p:spPr>
          <a:xfrm>
            <a:off x="5047488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中期评估</a:t>
            </a:r>
          </a:p>
        </p:txBody>
      </p:sp>
      <p:sp>
        <p:nvSpPr>
          <p:cNvPr id="931" name="节点说明 3"/>
          <p:cNvSpPr txBox="1"/>
          <p:nvPr/>
        </p:nvSpPr>
        <p:spPr>
          <a:xfrm>
            <a:off x="5093207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回顾性预测准确度首评 · 药企合作洽谈</a:t>
            </a:r>
          </a:p>
        </p:txBody>
      </p:sp>
      <p:sp>
        <p:nvSpPr>
          <p:cNvPr id="932" name="节点时间 4"/>
          <p:cNvSpPr txBox="1"/>
          <p:nvPr/>
        </p:nvSpPr>
        <p:spPr>
          <a:xfrm>
            <a:off x="7296911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第 12 个月 · 闸门</a:t>
            </a:r>
          </a:p>
        </p:txBody>
      </p:sp>
      <p:sp>
        <p:nvSpPr>
          <p:cNvPr id="933" name="节点 4"/>
          <p:cNvSpPr/>
          <p:nvPr/>
        </p:nvSpPr>
        <p:spPr>
          <a:xfrm>
            <a:off x="8174736" y="1746504"/>
            <a:ext cx="347472" cy="347472"/>
          </a:xfrm>
          <a:prstGeom prst="ellipse">
            <a:avLst/>
          </a:prstGeom>
          <a:solidFill>
            <a:srgbClr val="08A6F6"/>
          </a:solidFill>
          <a:ln w="12700">
            <a:solidFill>
              <a:srgbClr val="08A6F6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34" name="节点关键词 4"/>
          <p:cNvSpPr txBox="1"/>
          <p:nvPr/>
        </p:nvSpPr>
        <p:spPr>
          <a:xfrm>
            <a:off x="7296911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证明有用</a:t>
            </a:r>
          </a:p>
        </p:txBody>
      </p:sp>
      <p:sp>
        <p:nvSpPr>
          <p:cNvPr id="935" name="节点说明 4"/>
          <p:cNvSpPr txBox="1"/>
          <p:nvPr/>
        </p:nvSpPr>
        <p:spPr>
          <a:xfrm>
            <a:off x="7342631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约 100 例配对 · 预测准确度验证 · 双轨迹首个结果 · 首个付费项目</a:t>
            </a:r>
          </a:p>
        </p:txBody>
      </p:sp>
      <p:sp>
        <p:nvSpPr>
          <p:cNvPr id="936" name="价值跃升 4"/>
          <p:cNvSpPr/>
          <p:nvPr/>
        </p:nvSpPr>
        <p:spPr>
          <a:xfrm>
            <a:off x="7342631" y="3456432"/>
            <a:ext cx="2011680" cy="347472"/>
          </a:xfrm>
          <a:prstGeom prst="roundRect">
            <a:avLst/>
          </a:prstGeom>
          <a:solidFill>
            <a:srgbClr val="061F32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价值跃升 ②  商业验证</a:t>
            </a:r>
          </a:p>
        </p:txBody>
      </p:sp>
      <p:sp>
        <p:nvSpPr>
          <p:cNvPr id="937" name="节点时间 5"/>
          <p:cNvSpPr txBox="1"/>
          <p:nvPr/>
        </p:nvSpPr>
        <p:spPr>
          <a:xfrm>
            <a:off x="9546336" y="1298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下一轮</a:t>
            </a:r>
          </a:p>
        </p:txBody>
      </p:sp>
      <p:sp>
        <p:nvSpPr>
          <p:cNvPr id="938" name="节点 5"/>
          <p:cNvSpPr/>
          <p:nvPr/>
        </p:nvSpPr>
        <p:spPr>
          <a:xfrm>
            <a:off x="10479024" y="1801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9BDED"/>
            </a:solidFill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39" name="节点关键词 5"/>
          <p:cNvSpPr txBox="1"/>
          <p:nvPr/>
        </p:nvSpPr>
        <p:spPr>
          <a:xfrm>
            <a:off x="9546336" y="2212848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临床证据</a:t>
            </a:r>
          </a:p>
        </p:txBody>
      </p:sp>
      <p:sp>
        <p:nvSpPr>
          <p:cNvPr id="940" name="节点说明 5"/>
          <p:cNvSpPr txBox="1"/>
          <p:nvPr/>
        </p:nvSpPr>
        <p:spPr>
          <a:xfrm>
            <a:off x="9592056" y="2670048"/>
            <a:ext cx="2011679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11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多中心前瞻评分 · AIVC v1 发布 · 2–3 个付费项目</a:t>
            </a:r>
          </a:p>
        </p:txBody>
      </p:sp>
      <p:sp>
        <p:nvSpPr>
          <p:cNvPr id="941" name="价值跃升 5"/>
          <p:cNvSpPr/>
          <p:nvPr/>
        </p:nvSpPr>
        <p:spPr>
          <a:xfrm>
            <a:off x="9592056" y="3456432"/>
            <a:ext cx="2011680" cy="347472"/>
          </a:xfrm>
          <a:prstGeom prst="roundRect">
            <a:avLst/>
          </a:prstGeom>
          <a:solidFill>
            <a:srgbClr val="061F32"/>
          </a:solidFill>
          <a:ln>
            <a:noFill/>
          </a:ln>
        </p:spPr>
        <p:txBody>
          <a:bodyPr wrap="square" lIns="36576" tIns="36576" rIns="36576" bIns="36576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价值跃升 ③  下一轮融资</a:t>
            </a:r>
          </a:p>
        </p:txBody>
      </p:sp>
      <p:sp>
        <p:nvSpPr>
          <p:cNvPr id="942" name="回报卡 1"/>
          <p:cNvSpPr/>
          <p:nvPr/>
        </p:nvSpPr>
        <p:spPr>
          <a:xfrm>
            <a:off x="530352" y="4041648"/>
            <a:ext cx="3526536" cy="11430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退出路径</a:t>
            </a:r>
          </a:p>
          <a:p>
            <a:pPr algn="l">
              <a:lnSpc>
                <a:spcPct val="110000"/>
              </a:lnSpc>
              <a:buNone/>
            </a:pP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战略并购（药企 / CRO / AI 制药平台）或 IPO</a:t>
            </a:r>
          </a:p>
        </p:txBody>
      </p:sp>
      <p:sp>
        <p:nvSpPr>
          <p:cNvPr id="943" name="回报卡 2"/>
          <p:cNvSpPr/>
          <p:nvPr/>
        </p:nvSpPr>
        <p:spPr>
          <a:xfrm>
            <a:off x="4331208" y="4041648"/>
            <a:ext cx="3526536" cy="11430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赛道参照</a:t>
            </a:r>
          </a:p>
          <a:p>
            <a:pPr algn="l">
              <a:lnSpc>
                <a:spcPct val="110000"/>
              </a:lnSpc>
              <a:buNone/>
            </a:pP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Tahoe Therapeutics：2025 年 A 轮 3000 万美元，估值 1.2 亿美元</a:t>
            </a:r>
          </a:p>
        </p:txBody>
      </p:sp>
      <p:sp>
        <p:nvSpPr>
          <p:cNvPr id="944" name="回报卡 3"/>
          <p:cNvSpPr/>
          <p:nvPr/>
        </p:nvSpPr>
        <p:spPr>
          <a:xfrm>
            <a:off x="8132064" y="4041648"/>
            <a:ext cx="3526536" cy="114300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长期愿景</a:t>
            </a:r>
          </a:p>
          <a:p>
            <a:pPr algn="l">
              <a:lnSpc>
                <a:spcPct val="110000"/>
              </a:lnSpc>
              <a:buNone/>
            </a:pPr>
            <a:r>
              <a:rPr lang="zh-CN" altLang="en-US" sz="1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虚拟类器官 → 虚拟组织引擎 → 临床肿瘤数字孪生（长期愿景）</a:t>
            </a:r>
          </a:p>
        </p:txBody>
      </p:sp>
      <p:sp>
        <p:nvSpPr>
          <p:cNvPr id="945" name="结语带"/>
          <p:cNvSpPr/>
          <p:nvPr/>
        </p:nvSpPr>
        <p:spPr>
          <a:xfrm>
            <a:off x="530352" y="5321808"/>
            <a:ext cx="11128248" cy="749808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46" name="结语标语"/>
          <p:cNvSpPr txBox="1"/>
          <p:nvPr/>
        </p:nvSpPr>
        <p:spPr>
          <a:xfrm>
            <a:off x="777240" y="5321808"/>
            <a:ext cx="301752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多维探索，推演生命</a:t>
            </a:r>
          </a:p>
        </p:txBody>
      </p:sp>
      <p:sp>
        <p:nvSpPr>
          <p:cNvPr id="947" name="结语 1"/>
          <p:cNvSpPr txBox="1"/>
          <p:nvPr/>
        </p:nvSpPr>
        <p:spPr>
          <a:xfrm>
            <a:off x="3977639" y="5321808"/>
            <a:ext cx="251460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洞见｜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研发试错代价已不可承受</a:t>
            </a:r>
          </a:p>
        </p:txBody>
      </p:sp>
      <p:sp>
        <p:nvSpPr>
          <p:cNvPr id="948" name="结语 2"/>
          <p:cNvSpPr txBox="1"/>
          <p:nvPr/>
        </p:nvSpPr>
        <p:spPr>
          <a:xfrm>
            <a:off x="6537959" y="5321808"/>
            <a:ext cx="251460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推演｜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平行实验 + 双轨校准</a:t>
            </a:r>
          </a:p>
        </p:txBody>
      </p:sp>
      <p:sp>
        <p:nvSpPr>
          <p:cNvPr id="949" name="结语 3"/>
          <p:cNvSpPr txBox="1"/>
          <p:nvPr/>
        </p:nvSpPr>
        <p:spPr>
          <a:xfrm>
            <a:off x="9098280" y="5321808"/>
            <a:ext cx="251460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启航｜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数据越厚，成本越低</a:t>
            </a:r>
          </a:p>
        </p:txBody>
      </p:sp>
      <p:sp>
        <p:nvSpPr>
          <p:cNvPr id="950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0" name="矩形 114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141" name="文本框 115"/>
          <p:cNvSpPr>
            <a:spLocks noGrp="1"/>
          </p:cNvSpPr>
          <p:nvPr/>
        </p:nvSpPr>
        <p:spPr>
          <a:xfrm>
            <a:off x="4429125" y="2981325"/>
            <a:ext cx="28384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启航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2" name="文本框 116"/>
          <p:cNvSpPr>
            <a:spLocks noGrp="1"/>
          </p:cNvSpPr>
          <p:nvPr/>
        </p:nvSpPr>
        <p:spPr>
          <a:xfrm>
            <a:off x="4429125" y="3648075"/>
            <a:ext cx="28384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THE UPSIDE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3" name="文本框 117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5" name="矩形 119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146" name="文本框 120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商业模式：每过一道闸门，解锁一类合作伙伴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7" name="矩形 121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155" name="文本框 129"/>
          <p:cNvSpPr>
            <a:spLocks noGrp="1"/>
          </p:cNvSpPr>
          <p:nvPr/>
        </p:nvSpPr>
        <p:spPr>
          <a:xfrm>
            <a:off x="533400" y="6163056"/>
            <a:ext cx="10058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Vitonaut 第一年执行计划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6" name="文本框 130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04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01" name="阶段卡 1"/>
          <p:cNvSpPr/>
          <p:nvPr/>
        </p:nvSpPr>
        <p:spPr>
          <a:xfrm>
            <a:off x="530352" y="1965960"/>
            <a:ext cx="2576322" cy="301752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STAGE 1 · 第 0–6 个月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闸门  </a:t>
            </a:r>
            <a:r>
              <a:rPr lang="zh-CN" altLang="en-US" sz="13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Level 1 体系稳定复现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3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合作医院 · 肿瘤中心 · 测序服务商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1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3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投入期，不计收入</a:t>
            </a:r>
          </a:p>
        </p:txBody>
      </p:sp>
      <p:sp>
        <p:nvSpPr>
          <p:cNvPr id="902" name="阶段箭头 1"/>
          <p:cNvSpPr txBox="1"/>
          <p:nvPr/>
        </p:nvSpPr>
        <p:spPr>
          <a:xfrm>
            <a:off x="3106674" y="32004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903" name="阶段卡 2"/>
          <p:cNvSpPr/>
          <p:nvPr/>
        </p:nvSpPr>
        <p:spPr>
          <a:xfrm>
            <a:off x="3380994" y="1691640"/>
            <a:ext cx="2576322" cy="3291840"/>
          </a:xfrm>
          <a:prstGeom prst="rect">
            <a:avLst/>
          </a:prstGeom>
          <a:solidFill>
            <a:srgbClr val="D6E6F7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1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STAGE 2 · 第 6–12 个月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1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闸门  </a:t>
            </a:r>
            <a:r>
              <a:rPr lang="zh-CN" altLang="en-US" sz="13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Level 2 预测准确度 + 双轨迹首个结果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1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3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药企 / Biotech · CRO · 类器官平台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100" b="1">
                <a:solidFill>
                  <a:srgbClr val="0B5AA8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3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研究预算 + 里程碑 → 首个付费项目</a:t>
            </a:r>
          </a:p>
        </p:txBody>
      </p:sp>
      <p:sp>
        <p:nvSpPr>
          <p:cNvPr id="904" name="阶段箭头 2"/>
          <p:cNvSpPr txBox="1"/>
          <p:nvPr/>
        </p:nvSpPr>
        <p:spPr>
          <a:xfrm>
            <a:off x="5957316" y="32004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905" name="阶段卡 3"/>
          <p:cNvSpPr/>
          <p:nvPr/>
        </p:nvSpPr>
        <p:spPr>
          <a:xfrm>
            <a:off x="6231636" y="1417320"/>
            <a:ext cx="2576322" cy="3566160"/>
          </a:xfrm>
          <a:prstGeom prst="rect">
            <a:avLst/>
          </a:prstGeom>
          <a:solidFill>
            <a:srgbClr val="08A6F6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1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STAGE 3 · 下一轮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扩张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1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证据  </a:t>
            </a:r>
            <a:r>
              <a:rPr lang="zh-CN" altLang="en-US"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多中心前瞻性评分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1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3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药企（队列共建）· 肿瘤中心 · 类器官平台（模块授权）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100" b="1">
                <a:solidFill>
                  <a:srgbClr val="E3F4FE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首付款 + 里程碑；按例收费</a:t>
            </a:r>
          </a:p>
        </p:txBody>
      </p:sp>
      <p:sp>
        <p:nvSpPr>
          <p:cNvPr id="906" name="阶段箭头 3"/>
          <p:cNvSpPr txBox="1"/>
          <p:nvPr/>
        </p:nvSpPr>
        <p:spPr>
          <a:xfrm>
            <a:off x="8807958" y="32004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zh-CN" altLang="en-US" sz="2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907" name="阶段卡 4"/>
          <p:cNvSpPr/>
          <p:nvPr/>
        </p:nvSpPr>
        <p:spPr>
          <a:xfrm>
            <a:off x="9082278" y="1143000"/>
            <a:ext cx="2576322" cy="3840480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STAGE 4 · 长期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平台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证据  </a:t>
            </a:r>
            <a:r>
              <a:rPr lang="zh-CN" altLang="en-US"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前瞻性验证完成</a:t>
            </a:r>
          </a:p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合作伙伴</a:t>
            </a:r>
          </a:p>
          <a:p>
            <a:pPr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zh-CN" altLang="en-US" sz="13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合格合作伙伴 · 医疗机构 / 支付方</a:t>
            </a:r>
          </a:p>
          <a:p>
            <a:pPr algn="l">
              <a:lnSpc>
                <a:spcPct val="105000"/>
              </a:lnSpc>
              <a:buNone/>
            </a:pPr>
            <a:r>
              <a:rPr lang="zh-CN" altLang="en-US" sz="11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收入  </a:t>
            </a:r>
            <a:r>
              <a:rPr lang="zh-CN" altLang="en-US"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平台许可 + 使用费；临床决策支持</a:t>
            </a:r>
          </a:p>
        </p:txBody>
      </p:sp>
      <p:sp>
        <p:nvSpPr>
          <p:cNvPr id="917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  <p:sp>
        <p:nvSpPr>
          <p:cNvPr id="901" name="飞轮带"/>
          <p:cNvSpPr/>
          <p:nvPr/>
        </p:nvSpPr>
        <p:spPr>
          <a:xfrm>
            <a:off x="530352" y="5193792"/>
            <a:ext cx="11128248" cy="749808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/>
        </p:txBody>
      </p:sp>
      <p:sp>
        <p:nvSpPr>
          <p:cNvPr id="902" name="飞轮标签"/>
          <p:cNvSpPr txBox="1"/>
          <p:nvPr/>
        </p:nvSpPr>
        <p:spPr>
          <a:xfrm>
            <a:off x="777240" y="5193792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飞轮复利</a:t>
            </a:r>
          </a:p>
        </p:txBody>
      </p:sp>
      <p:sp>
        <p:nvSpPr>
          <p:cNvPr id="903" name="飞轮说明"/>
          <p:cNvSpPr txBox="1"/>
          <p:nvPr/>
        </p:nvSpPr>
        <p:spPr>
          <a:xfrm>
            <a:off x="2834640" y="5193792"/>
            <a:ext cx="859536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zh-CN" altLang="en-US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每个付费项目都沉淀配对数据</a:t>
            </a:r>
            <a:r>
              <a:rPr lang="zh-CN" altLang="en-US"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→  </a:t>
            </a:r>
            <a:r>
              <a:rPr lang="zh-CN" altLang="en-US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模型越用越准</a:t>
            </a:r>
            <a:r>
              <a:rPr lang="zh-CN" altLang="en-US"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→  </a:t>
            </a:r>
            <a:r>
              <a:rPr lang="zh-CN" altLang="en-US"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交付越做越省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9" name="矩形 16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00" name="文本框 162"/>
          <p:cNvSpPr>
            <a:spLocks noGrp="1"/>
          </p:cNvSpPr>
          <p:nvPr/>
        </p:nvSpPr>
        <p:spPr>
          <a:xfrm>
            <a:off x="685800" y="495300"/>
            <a:ext cx="10820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 spc="225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本轮融资</a:t>
            </a:r>
            <a:r>
              <a:rPr sz="1200" b="1" spc="225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· THE ASK</a:t>
            </a:r>
            <a:endParaRPr sz="1200" b="1" spc="225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1" name="文本框 163"/>
          <p:cNvSpPr>
            <a:spLocks noGrp="1"/>
          </p:cNvSpPr>
          <p:nvPr/>
        </p:nvSpPr>
        <p:spPr>
          <a:xfrm>
            <a:off x="685800" y="742950"/>
            <a:ext cx="3933825" cy="12096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0000"/>
              </a:lnSpc>
              <a:buNone/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¥5000 </a:t>
            </a: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万元</a:t>
            </a:r>
            <a:endParaRPr sz="33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2" name="文本框 164"/>
          <p:cNvSpPr>
            <a:spLocks noGrp="1"/>
          </p:cNvSpPr>
          <p:nvPr/>
        </p:nvSpPr>
        <p:spPr>
          <a:xfrm>
            <a:off x="5440680" y="1362075"/>
            <a:ext cx="2743200" cy="590550"/>
          </a:xfrm>
          <a:prstGeom prst="rect">
            <a:avLst/>
          </a:prstGeom>
        </p:spPr>
        <p:txBody>
          <a:bodyPr wrap="none" lIns="0" tIns="0" rIns="0" bIns="128588"/>
          <a:lstStyle/>
          <a:p>
            <a:pPr>
              <a:lnSpc>
                <a:spcPct val="150000"/>
              </a:lnSpc>
              <a:buNone/>
            </a:pPr>
            <a:r>
              <a:rPr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覆盖</a:t>
            </a:r>
            <a:r>
              <a:rPr lang="zh-CN" altLang="en-US"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运营周期</a:t>
            </a:r>
            <a:r>
              <a:rPr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 12 </a:t>
            </a:r>
            <a:r>
              <a:rPr sz="18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个月</a:t>
            </a:r>
            <a:endParaRPr sz="18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3" name="文本框 165"/>
          <p:cNvSpPr>
            <a:spLocks noGrp="1"/>
          </p:cNvSpPr>
          <p:nvPr/>
        </p:nvSpPr>
        <p:spPr>
          <a:xfrm>
            <a:off x="676222" y="2009775"/>
            <a:ext cx="10820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八成用于拿到第 12 个月的关键证据，两成作为运营储备；融资期内不计收入（保守口径）</a:t>
            </a:r>
            <a:r>
              <a:rPr lang="zh-CN" altLang="en-US"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4" name="文本框 166"/>
          <p:cNvSpPr>
            <a:spLocks noGrp="1"/>
          </p:cNvSpPr>
          <p:nvPr/>
        </p:nvSpPr>
        <p:spPr>
          <a:xfrm>
            <a:off x="685800" y="2667000"/>
            <a:ext cx="10820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75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资金用途</a:t>
            </a:r>
            <a:endParaRPr sz="1275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5" name="矩形 167"/>
          <p:cNvSpPr>
            <a:spLocks noGrp="1"/>
          </p:cNvSpPr>
          <p:nvPr/>
        </p:nvSpPr>
        <p:spPr>
          <a:xfrm>
            <a:off x="685800" y="2962275"/>
            <a:ext cx="2999232" cy="381000"/>
          </a:xfrm>
          <a:prstGeom prst="rect">
            <a:avLst/>
          </a:pr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06" name="文本框 168"/>
          <p:cNvSpPr>
            <a:spLocks noGrp="1"/>
          </p:cNvSpPr>
          <p:nvPr/>
        </p:nvSpPr>
        <p:spPr>
          <a:xfrm>
            <a:off x="795528" y="3057525"/>
            <a:ext cx="2852927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 核心数据</a:t>
            </a: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28%</a:t>
            </a:r>
            <a:endParaRPr sz="12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7" name="矩形 169"/>
          <p:cNvSpPr>
            <a:spLocks noGrp="1"/>
          </p:cNvSpPr>
          <p:nvPr/>
        </p:nvSpPr>
        <p:spPr>
          <a:xfrm>
            <a:off x="3721608" y="2962275"/>
            <a:ext cx="4069080" cy="381000"/>
          </a:xfrm>
          <a:prstGeom prst="rect">
            <a:avLst/>
          </a:prstGeom>
          <a:solidFill>
            <a:srgbClr val="99BDED"/>
          </a:solidFill>
        </p:spPr>
        <p:txBody>
          <a:bodyPr/>
          <a:lstStyle/>
          <a:p/>
        </p:txBody>
      </p:sp>
      <p:sp>
        <p:nvSpPr>
          <p:cNvPr id="208" name="文本框 170"/>
          <p:cNvSpPr>
            <a:spLocks noGrp="1"/>
          </p:cNvSpPr>
          <p:nvPr/>
        </p:nvSpPr>
        <p:spPr>
          <a:xfrm>
            <a:off x="3831336" y="3057525"/>
            <a:ext cx="3922776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B 能力建设</a:t>
            </a: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38%</a:t>
            </a:r>
            <a:endParaRPr sz="12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9" name="矩形 171"/>
          <p:cNvSpPr>
            <a:spLocks noGrp="1"/>
          </p:cNvSpPr>
          <p:nvPr/>
        </p:nvSpPr>
        <p:spPr>
          <a:xfrm>
            <a:off x="7827264" y="2962275"/>
            <a:ext cx="1499616" cy="381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10" name="文本框 172"/>
          <p:cNvSpPr>
            <a:spLocks noGrp="1"/>
          </p:cNvSpPr>
          <p:nvPr/>
        </p:nvSpPr>
        <p:spPr>
          <a:xfrm>
            <a:off x="7936992" y="3057525"/>
            <a:ext cx="1353312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 商业合规</a:t>
            </a:r>
            <a:r>
              <a:rPr sz="12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14%</a:t>
            </a:r>
            <a:endParaRPr sz="12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1" name="矩形 173"/>
          <p:cNvSpPr>
            <a:spLocks noGrp="1"/>
          </p:cNvSpPr>
          <p:nvPr/>
        </p:nvSpPr>
        <p:spPr>
          <a:xfrm>
            <a:off x="9363456" y="2962275"/>
            <a:ext cx="2139696" cy="3810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212" name="文本框 174"/>
          <p:cNvSpPr>
            <a:spLocks noGrp="1"/>
          </p:cNvSpPr>
          <p:nvPr/>
        </p:nvSpPr>
        <p:spPr>
          <a:xfrm>
            <a:off x="9473184" y="3076575"/>
            <a:ext cx="1993391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运营储备</a:t>
            </a:r>
            <a:r>
              <a:rPr sz="10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20%</a:t>
            </a:r>
            <a:endParaRPr sz="105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5" name="文本框 177"/>
          <p:cNvSpPr>
            <a:spLocks noGrp="1"/>
          </p:cNvSpPr>
          <p:nvPr/>
        </p:nvSpPr>
        <p:spPr>
          <a:xfrm>
            <a:off x="685800" y="3800475"/>
            <a:ext cx="108204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75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资金换来什么</a:t>
            </a:r>
            <a:r>
              <a:rPr sz="1275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6" name="任意多边形 178"/>
          <p:cNvSpPr>
            <a:spLocks noGrp="1"/>
          </p:cNvSpPr>
          <p:nvPr/>
        </p:nvSpPr>
        <p:spPr>
          <a:xfrm>
            <a:off x="6858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17" name="文本框 179"/>
          <p:cNvSpPr>
            <a:spLocks noGrp="1"/>
          </p:cNvSpPr>
          <p:nvPr/>
        </p:nvSpPr>
        <p:spPr>
          <a:xfrm>
            <a:off x="6858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A 核心数据｜约 1410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8" name="文本框 180"/>
          <p:cNvSpPr>
            <a:spLocks noGrp="1"/>
          </p:cNvSpPr>
          <p:nvPr/>
        </p:nvSpPr>
        <p:spPr>
          <a:xfrm>
            <a:off x="685800" y="4533900"/>
            <a:ext cx="2590800" cy="705689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150 例入组、60 例深度读出、30 对回顾性纵向配对、30 例回顾性验证</a:t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 charset="0"/>
                <a:ea typeface="微软雅黑" charset="0"/>
                <a:cs typeface="微软雅黑" charset="0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9" name="任意多边形 181"/>
          <p:cNvSpPr>
            <a:spLocks noGrp="1"/>
          </p:cNvSpPr>
          <p:nvPr/>
        </p:nvSpPr>
        <p:spPr>
          <a:xfrm>
            <a:off x="34290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20" name="文本框 182"/>
          <p:cNvSpPr>
            <a:spLocks noGrp="1"/>
          </p:cNvSpPr>
          <p:nvPr/>
        </p:nvSpPr>
        <p:spPr>
          <a:xfrm>
            <a:off x="34290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B 能力建设｜约 1890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1" name="文本框 183"/>
          <p:cNvSpPr>
            <a:spLocks noGrp="1"/>
          </p:cNvSpPr>
          <p:nvPr/>
        </p:nvSpPr>
        <p:spPr>
          <a:xfrm>
            <a:off x="3429000" y="4533900"/>
            <a:ext cx="2590800" cy="70566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团队 14 → 约 26 人；设备约 650 万、实验室约 500 m²；算力与数据平台</a:t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2" name="任意多边形 184"/>
          <p:cNvSpPr>
            <a:spLocks noGrp="1"/>
          </p:cNvSpPr>
          <p:nvPr/>
        </p:nvSpPr>
        <p:spPr>
          <a:xfrm>
            <a:off x="61722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23" name="文本框 185"/>
          <p:cNvSpPr>
            <a:spLocks noGrp="1"/>
          </p:cNvSpPr>
          <p:nvPr/>
        </p:nvSpPr>
        <p:spPr>
          <a:xfrm>
            <a:off x="61722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C 商业合规等｜约 710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4" name="文本框 186"/>
          <p:cNvSpPr>
            <a:spLocks noGrp="1"/>
          </p:cNvSpPr>
          <p:nvPr/>
        </p:nvSpPr>
        <p:spPr>
          <a:xfrm>
            <a:off x="6172200" y="4533900"/>
            <a:ext cx="2590800" cy="70568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4 家合作医院、遗传资源与数据合规、8 件专利、BD 试点、运营；含不可预见费约 190 万</a:t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5" name="任意多边形 187"/>
          <p:cNvSpPr>
            <a:spLocks noGrp="1"/>
          </p:cNvSpPr>
          <p:nvPr/>
        </p:nvSpPr>
        <p:spPr>
          <a:xfrm>
            <a:off x="8915400" y="4114800"/>
            <a:ext cx="2590800" cy="962025"/>
          </a:xfrm>
          <a:custGeom>
            <a:avLst/>
            <a:gdLst/>
            <a:ahLst/>
            <a:cxnLst/>
            <a:pathLst>
              <a:path w="272" h="101">
                <a:moveTo>
                  <a:pt x="0" y="0"/>
                </a:moveTo>
                <a:lnTo>
                  <a:pt x="272" y="0"/>
                </a:lnTo>
                <a:lnTo>
                  <a:pt x="2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226" name="文本框 188"/>
          <p:cNvSpPr>
            <a:spLocks noGrp="1"/>
          </p:cNvSpPr>
          <p:nvPr/>
        </p:nvSpPr>
        <p:spPr>
          <a:xfrm>
            <a:off x="8915400" y="4257675"/>
            <a:ext cx="259080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运营储备｜约 990 万</a:t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42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42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7" name="文本框 189"/>
          <p:cNvSpPr>
            <a:spLocks noGrp="1"/>
          </p:cNvSpPr>
          <p:nvPr/>
        </p:nvSpPr>
        <p:spPr>
          <a:xfrm>
            <a:off x="8915400" y="4533900"/>
            <a:ext cx="2590800" cy="82267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延长跑道，应对入组或融资节奏变化</a:t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1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1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5" name="任意多边形 197"/>
          <p:cNvSpPr>
            <a:spLocks noGrp="1"/>
          </p:cNvSpPr>
          <p:nvPr/>
        </p:nvSpPr>
        <p:spPr>
          <a:xfrm>
            <a:off x="685800" y="6162675"/>
            <a:ext cx="10820400" cy="323850"/>
          </a:xfrm>
          <a:custGeom>
            <a:avLst/>
            <a:gdLst/>
            <a:ahLst/>
            <a:cxnLst/>
            <a:pathLst>
              <a:path w="1136" h="34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236" name="文本框 198"/>
          <p:cNvSpPr>
            <a:spLocks noGrp="1"/>
          </p:cNvSpPr>
          <p:nvPr/>
        </p:nvSpPr>
        <p:spPr>
          <a:xfrm>
            <a:off x="685800" y="5532120"/>
            <a:ext cx="10789920" cy="365760"/>
          </a:xfrm>
          <a:prstGeom prst="rect">
            <a:avLst/>
          </a:prstGeom>
        </p:spPr>
        <p:txBody>
          <a:bodyPr anchor="ctr"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钱先投给决定第 12 个月证据的地方：配对队列、深度读出、双轨迹校准首个结果。</a:t>
            </a: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7" name="文本框 199"/>
          <p:cNvSpPr>
            <a:spLocks noGrp="1"/>
          </p:cNvSpPr>
          <p:nvPr/>
        </p:nvSpPr>
        <p:spPr>
          <a:xfrm>
            <a:off x="11049000" y="6315075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03 / 04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